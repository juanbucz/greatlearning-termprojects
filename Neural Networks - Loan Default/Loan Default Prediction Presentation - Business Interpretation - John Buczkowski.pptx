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61"/>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316" r:id="rId21"/>
    <p:sldId id="311" r:id="rId22"/>
    <p:sldId id="263" r:id="rId23"/>
    <p:sldId id="264" r:id="rId24"/>
    <p:sldId id="298" r:id="rId25"/>
    <p:sldId id="299" r:id="rId26"/>
    <p:sldId id="300" r:id="rId27"/>
    <p:sldId id="301" r:id="rId28"/>
    <p:sldId id="321" r:id="rId29"/>
    <p:sldId id="322" r:id="rId30"/>
    <p:sldId id="266" r:id="rId31"/>
    <p:sldId id="303" r:id="rId32"/>
    <p:sldId id="304" r:id="rId33"/>
    <p:sldId id="305" r:id="rId34"/>
    <p:sldId id="306" r:id="rId35"/>
    <p:sldId id="307" r:id="rId36"/>
    <p:sldId id="308" r:id="rId37"/>
    <p:sldId id="309" r:id="rId38"/>
    <p:sldId id="310" r:id="rId39"/>
    <p:sldId id="312" r:id="rId40"/>
    <p:sldId id="313" r:id="rId41"/>
    <p:sldId id="320" r:id="rId42"/>
    <p:sldId id="318" r:id="rId43"/>
    <p:sldId id="319" r:id="rId44"/>
    <p:sldId id="267" r:id="rId45"/>
    <p:sldId id="269" r:id="rId46"/>
    <p:sldId id="317" r:id="rId47"/>
    <p:sldId id="314" r:id="rId48"/>
    <p:sldId id="315" r:id="rId49"/>
    <p:sldId id="270" r:id="rId50"/>
    <p:sldId id="323" r:id="rId51"/>
    <p:sldId id="325" r:id="rId52"/>
    <p:sldId id="324" r:id="rId53"/>
    <p:sldId id="272" r:id="rId54"/>
    <p:sldId id="326" r:id="rId55"/>
    <p:sldId id="273" r:id="rId56"/>
    <p:sldId id="274" r:id="rId57"/>
    <p:sldId id="275" r:id="rId58"/>
    <p:sldId id="276" r:id="rId59"/>
    <p:sldId id="277" r:id="rId60"/>
  </p:sldIdLst>
  <p:sldSz cx="9144000" cy="5143500" type="screen16x9"/>
  <p:notesSz cx="6858000" cy="9144000"/>
  <p:embeddedFontLst>
    <p:embeddedFont>
      <p:font typeface="Century Gothic" panose="020B0502020202020204" pitchFamily="34" charset="0"/>
      <p:regular r:id="rId62"/>
      <p:bold r:id="rId63"/>
      <p:italic r:id="rId64"/>
      <p:boldItalic r:id="rId65"/>
    </p:embeddedFont>
    <p:embeddedFont>
      <p:font typeface="Nunito" pitchFamily="2" charset="0"/>
      <p:regular r:id="rId66"/>
      <p:bold r:id="rId67"/>
      <p:italic r:id="rId68"/>
      <p:boldItalic r:id="rId69"/>
    </p:embeddedFont>
    <p:embeddedFont>
      <p:font typeface="Nunito ExtraBold" pitchFamily="2" charset="0"/>
      <p:bold r:id="rId70"/>
      <p:boldItalic r:id="rId71"/>
    </p:embeddedFont>
    <p:embeddedFont>
      <p:font typeface="Nunito SemiBold" pitchFamily="2" charset="0"/>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918"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2.fntdata"/><Relationship Id="rId68" Type="http://schemas.openxmlformats.org/officeDocument/2006/relationships/font" Target="fonts/font7.fntdata"/><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font" Target="fonts/font5.fntdata"/><Relationship Id="rId74" Type="http://schemas.openxmlformats.org/officeDocument/2006/relationships/font" Target="fonts/font13.fntdata"/><Relationship Id="rId79"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notesMaster" Target="notesMasters/notesMaster1.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3.fntdata"/><Relationship Id="rId69" Type="http://schemas.openxmlformats.org/officeDocument/2006/relationships/font" Target="fonts/font8.fntdata"/><Relationship Id="rId77"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11.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font" Target="fonts/font6.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font" Target="fonts/font1.fntdata"/><Relationship Id="rId70" Type="http://schemas.openxmlformats.org/officeDocument/2006/relationships/font" Target="fonts/font9.fntdata"/><Relationship Id="rId75"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font" Target="fonts/font4.fntdata"/><Relationship Id="rId73" Type="http://schemas.openxmlformats.org/officeDocument/2006/relationships/font" Target="fonts/font12.fntdata"/><Relationship Id="rId78"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font" Target="fonts/font10.fntdata"/><Relationship Id="rId2" Type="http://schemas.openxmlformats.org/officeDocument/2006/relationships/slideMaster" Target="slideMasters/slideMaster2.xml"/><Relationship Id="rId29"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3E50D1A-2B01-3903-E6B3-6CFF7313684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746ACEE-0C37-AE3D-6DC4-B2A7D07607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A1CC811C-BCB1-1BB0-7862-35D39C8132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7212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13CEF2A-A1E3-FDA2-EB23-F1E218F7500C}"/>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CA924B1-D464-EEA2-1915-D88DC3A331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3B5F588-1191-EA3F-F810-30AAEB21539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34264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BBC8A7-50F5-F4BE-E26C-9D8763692E7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F1D2FE5-8E90-0086-758B-730670E2A1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03CE170-29A2-F59D-F460-2FC850199E3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19439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8B49736B-7CB5-9552-AFC0-418D6B4033C5}"/>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2E25AC67-621D-CC47-FB57-48CFF3B413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13B1C98-94C6-02E9-5F41-4728A5233C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01358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A2797675-3EB0-FD88-2BCF-E311102566F0}"/>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1177AB46-C740-A15D-BA49-0E1E682A57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562C021-FEBE-DF3A-D45C-9512324CA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92567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AF3E72F-331D-F7F7-721B-A69746FA0AC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330B6C8-164A-6743-641E-85E844372A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B32C59E7-0DC5-A070-DB2D-6F73773073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3974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00C7E367-75AB-0185-9893-4C2B92335A93}"/>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5515347E-5FFB-CCFD-1C2D-5C30947813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4BF06543-A910-BF99-70A9-6516F08A59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1346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7B613A09-EC7E-2515-F060-4A4A9224C623}"/>
            </a:ext>
          </a:extLst>
        </p:cNvPr>
        <p:cNvGrpSpPr/>
        <p:nvPr/>
      </p:nvGrpSpPr>
      <p:grpSpPr>
        <a:xfrm>
          <a:off x="0" y="0"/>
          <a:ext cx="0" cy="0"/>
          <a:chOff x="0" y="0"/>
          <a:chExt cx="0" cy="0"/>
        </a:xfrm>
      </p:grpSpPr>
      <p:sp>
        <p:nvSpPr>
          <p:cNvPr id="229" name="Google Shape;229;p19:notes">
            <a:extLst>
              <a:ext uri="{FF2B5EF4-FFF2-40B4-BE49-F238E27FC236}">
                <a16:creationId xmlns:a16="http://schemas.microsoft.com/office/drawing/2014/main" id="{C6784DA3-CC2D-64CC-C738-0968549AEB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a:extLst>
              <a:ext uri="{FF2B5EF4-FFF2-40B4-BE49-F238E27FC236}">
                <a16:creationId xmlns:a16="http://schemas.microsoft.com/office/drawing/2014/main" id="{B872F565-EA25-0FC1-6CC9-0B992F2EAF7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37445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31A8A89B-B53C-E031-E17D-3D2A39A36375}"/>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8099516A-B5B5-0488-DD5C-3F684DA84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A97F4D66-6423-FA8B-9215-2FE5C2045AF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426418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9C133F4A-6D78-706A-3A4D-EC2F65E7287D}"/>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C21957E3-7FE3-4B21-51FF-89B0B268A2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1DA55C91-504F-F983-EAE7-725B47CA4E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98662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a:extLst>
            <a:ext uri="{FF2B5EF4-FFF2-40B4-BE49-F238E27FC236}">
              <a16:creationId xmlns:a16="http://schemas.microsoft.com/office/drawing/2014/main" id="{4B951BB4-CF7F-EDC5-9F82-7D4EDECC2B92}"/>
            </a:ext>
          </a:extLst>
        </p:cNvPr>
        <p:cNvGrpSpPr/>
        <p:nvPr/>
      </p:nvGrpSpPr>
      <p:grpSpPr>
        <a:xfrm>
          <a:off x="0" y="0"/>
          <a:ext cx="0" cy="0"/>
          <a:chOff x="0" y="0"/>
          <a:chExt cx="0" cy="0"/>
        </a:xfrm>
      </p:grpSpPr>
      <p:sp>
        <p:nvSpPr>
          <p:cNvPr id="243" name="Google Shape;243;g385ad5efec9_0_2:notes">
            <a:extLst>
              <a:ext uri="{FF2B5EF4-FFF2-40B4-BE49-F238E27FC236}">
                <a16:creationId xmlns:a16="http://schemas.microsoft.com/office/drawing/2014/main" id="{CC64A296-6EAC-8348-C2A1-168BB56297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a:extLst>
              <a:ext uri="{FF2B5EF4-FFF2-40B4-BE49-F238E27FC236}">
                <a16:creationId xmlns:a16="http://schemas.microsoft.com/office/drawing/2014/main" id="{0BC47AC9-F351-C05B-D3A1-0E9FE945621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23970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57</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dirty="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BAD: Whether the client defaulted on the loan (0 = No, 1 = Yes)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LOAN: Amount of loan approved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MORTDUE: Amount due on the existing mortgage</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VALUE: Current value of the property</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REASON: Reason for the loan request (</a:t>
            </a:r>
            <a:r>
              <a:rPr lang="en-US" sz="1200" dirty="0" err="1">
                <a:solidFill>
                  <a:schemeClr val="dk1"/>
                </a:solidFill>
                <a:latin typeface="Century Gothic"/>
                <a:ea typeface="Century Gothic"/>
                <a:cs typeface="Century Gothic"/>
                <a:sym typeface="Century Gothic"/>
              </a:rPr>
              <a:t>HomeImp</a:t>
            </a:r>
            <a:r>
              <a:rPr lang="en-US" sz="1200" dirty="0">
                <a:solidFill>
                  <a:schemeClr val="dk1"/>
                </a:solidFill>
                <a:latin typeface="Century Gothic"/>
                <a:ea typeface="Century Gothic"/>
                <a:cs typeface="Century Gothic"/>
                <a:sym typeface="Century Gothic"/>
              </a:rPr>
              <a:t> = Home Improvement, </a:t>
            </a:r>
            <a:r>
              <a:rPr lang="en-US" sz="1200" dirty="0" err="1">
                <a:solidFill>
                  <a:schemeClr val="dk1"/>
                </a:solidFill>
                <a:latin typeface="Century Gothic"/>
                <a:ea typeface="Century Gothic"/>
                <a:cs typeface="Century Gothic"/>
                <a:sym typeface="Century Gothic"/>
              </a:rPr>
              <a:t>DebtCon</a:t>
            </a:r>
            <a:r>
              <a:rPr lang="en-US" sz="1200" dirty="0">
                <a:solidFill>
                  <a:schemeClr val="dk1"/>
                </a:solidFill>
                <a:latin typeface="Century Gothic"/>
                <a:ea typeface="Century Gothic"/>
                <a:cs typeface="Century Gothic"/>
                <a:sym typeface="Century Gothic"/>
              </a:rPr>
              <a:t> = Debt Consolidation)</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JOB: Type of job the applicant has (e.g., Manager, Self-employed)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YOJ: Years at present job</a:t>
            </a:r>
            <a:endParaRPr dirty="0"/>
          </a:p>
          <a:p>
            <a:pPr marL="457200" lvl="0" indent="0" algn="l" rtl="0">
              <a:lnSpc>
                <a:spcPct val="150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dirty="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dirty="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DEROG: Number of major derogatory reports (serious delinquency/late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DELINQ: Number of delinquent credit lines (past due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CLAGE: Age of the oldest credit line in months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NINQ: Number of recent credit inquiries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CLNO: Number of existing credit lines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DEBTINC: Debt-to-income ratio (all monthly debt payments divided by gross monthly income)</a:t>
            </a:r>
            <a:endParaRPr dirty="0"/>
          </a:p>
          <a:p>
            <a:pPr marL="914400" lvl="0" indent="-228600" algn="l" rtl="0">
              <a:lnSpc>
                <a:spcPct val="115000"/>
              </a:lnSpc>
              <a:spcBef>
                <a:spcPts val="1000"/>
              </a:spcBef>
              <a:spcAft>
                <a:spcPts val="0"/>
              </a:spcAft>
              <a:buClr>
                <a:srgbClr val="2D3B45"/>
              </a:buClr>
              <a:buSzPts val="1200"/>
              <a:buFont typeface="Century Gothic"/>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8200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a:t>
            </a:r>
            <a:r>
              <a:rPr lang="en-US" dirty="0" err="1"/>
              <a:t>efaults</a:t>
            </a:r>
            <a:r>
              <a:rPr lang="en-US" dirty="0"/>
              <a:t>.</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739190"/>
            <a:ext cx="8783321" cy="122697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 </a:t>
            </a:r>
            <a:r>
              <a:rPr lang="en-US" sz="1400" dirty="0">
                <a:solidFill>
                  <a:schemeClr val="dk1"/>
                </a:solidFill>
                <a:latin typeface="Nunito" pitchFamily="2" charset="0"/>
                <a:ea typeface="Century Gothic"/>
                <a:cs typeface="Century Gothic"/>
                <a:sym typeface="Century Gothic"/>
              </a:rPr>
              <a:t>A lot of rows have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 An imputation strategy is required to fill the missing values.</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76156" y="529489"/>
            <a:ext cx="3212540" cy="3209701"/>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70C3350-B058-7AE1-35EB-90E5EC5384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04E3B15-C669-65D1-08C3-E802DB41349B}"/>
              </a:ext>
            </a:extLst>
          </p:cNvPr>
          <p:cNvSpPr txBox="1"/>
          <p:nvPr/>
        </p:nvSpPr>
        <p:spPr>
          <a:xfrm>
            <a:off x="311700" y="85060"/>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(EDA) – Complete Statistical Analysis</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A419F-C91F-7719-2D1F-9FD77FD31297}"/>
              </a:ext>
            </a:extLst>
          </p:cNvPr>
          <p:cNvSpPr txBox="1">
            <a:spLocks noGrp="1"/>
          </p:cNvSpPr>
          <p:nvPr>
            <p:ph type="body" idx="1"/>
          </p:nvPr>
        </p:nvSpPr>
        <p:spPr>
          <a:xfrm>
            <a:off x="231678" y="542334"/>
            <a:ext cx="8783321" cy="439655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The original project specification slide deck contains statistical analysis for a few </a:t>
            </a:r>
          </a:p>
          <a:p>
            <a:pPr marL="0" indent="0" algn="just">
              <a:spcBef>
                <a:spcPts val="400"/>
              </a:spcBef>
              <a:buClr>
                <a:schemeClr val="dk1"/>
              </a:buClr>
              <a:buSzPts val="1400"/>
              <a:buNone/>
            </a:pPr>
            <a:r>
              <a:rPr lang="en-US" sz="1400" dirty="0"/>
              <a:t>select features (</a:t>
            </a:r>
            <a:r>
              <a:rPr lang="en-US" sz="1400" b="1" dirty="0"/>
              <a:t>BAD</a:t>
            </a:r>
            <a:r>
              <a:rPr lang="en-US" sz="1400" dirty="0"/>
              <a:t>, </a:t>
            </a:r>
            <a:r>
              <a:rPr lang="en-US" sz="1400" b="1" dirty="0"/>
              <a:t>CLAGE</a:t>
            </a:r>
            <a:r>
              <a:rPr lang="en-US" sz="1400" dirty="0"/>
              <a:t>, </a:t>
            </a:r>
            <a:r>
              <a:rPr lang="en-US" sz="1400" b="1" dirty="0"/>
              <a:t>CLNO</a:t>
            </a:r>
            <a:r>
              <a:rPr lang="en-US" sz="1400" dirty="0"/>
              <a:t>). They provide a overview of some basic statistics:</a:t>
            </a:r>
          </a:p>
          <a:p>
            <a:pPr lvl="0" indent="-304800">
              <a:lnSpc>
                <a:spcPct val="150000"/>
              </a:lnSpc>
              <a:spcBef>
                <a:spcPts val="800"/>
              </a:spcBef>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BAD</a:t>
            </a:r>
            <a:r>
              <a:rPr lang="en-US" sz="1400" dirty="0">
                <a:solidFill>
                  <a:schemeClr val="dk1"/>
                </a:solidFill>
                <a:latin typeface="Century Gothic"/>
                <a:ea typeface="Century Gothic"/>
                <a:cs typeface="Century Gothic"/>
                <a:sym typeface="Century Gothic"/>
              </a:rPr>
              <a:t>: Whether the client defaulted on the loan (0 = No, 1 = Yes)</a:t>
            </a:r>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CLAGE</a:t>
            </a:r>
            <a:r>
              <a:rPr lang="en-US" sz="1400" dirty="0">
                <a:solidFill>
                  <a:schemeClr val="dk1"/>
                </a:solidFill>
                <a:latin typeface="Century Gothic"/>
                <a:ea typeface="Century Gothic"/>
                <a:cs typeface="Century Gothic"/>
                <a:sym typeface="Century Gothic"/>
              </a:rPr>
              <a:t>: Age of the oldest credit line in months</a:t>
            </a:r>
            <a:endParaRPr lang="en-US" sz="1400" dirty="0"/>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CLNO</a:t>
            </a:r>
            <a:r>
              <a:rPr lang="en-US" sz="1400" dirty="0">
                <a:solidFill>
                  <a:schemeClr val="dk1"/>
                </a:solidFill>
                <a:latin typeface="Century Gothic"/>
                <a:ea typeface="Century Gothic"/>
                <a:cs typeface="Century Gothic"/>
                <a:sym typeface="Century Gothic"/>
              </a:rPr>
              <a:t>: Number of existing credit lines</a:t>
            </a:r>
          </a:p>
          <a:p>
            <a:pPr marL="152400" lvl="0" indent="0">
              <a:lnSpc>
                <a:spcPct val="150000"/>
              </a:lnSpc>
              <a:buClr>
                <a:schemeClr val="dk1"/>
              </a:buClr>
              <a:buSzPts val="1200"/>
              <a:buNone/>
            </a:pPr>
            <a:endParaRPr lang="en-US" sz="800" dirty="0"/>
          </a:p>
          <a:p>
            <a:pPr marL="0" indent="0" algn="just">
              <a:spcBef>
                <a:spcPts val="400"/>
              </a:spcBef>
              <a:buClr>
                <a:schemeClr val="dk1"/>
              </a:buClr>
              <a:buSzPts val="1400"/>
              <a:buNone/>
            </a:pPr>
            <a:r>
              <a:rPr lang="en-US" sz="1400" dirty="0"/>
              <a:t>While a high-level overview is a good place to start, it’s important (as data scientists) to </a:t>
            </a:r>
          </a:p>
          <a:p>
            <a:pPr marL="0" indent="0" algn="just">
              <a:spcBef>
                <a:spcPts val="400"/>
              </a:spcBef>
              <a:buClr>
                <a:schemeClr val="dk1"/>
              </a:buClr>
              <a:buSzPts val="1400"/>
              <a:buNone/>
            </a:pPr>
            <a:r>
              <a:rPr lang="en-US" sz="1400" dirty="0"/>
              <a:t>gain a thorough understanding of the complete dataset and its tendencies.</a:t>
            </a:r>
          </a:p>
          <a:p>
            <a:pPr marL="0" indent="0" algn="just">
              <a:spcBef>
                <a:spcPts val="400"/>
              </a:spcBef>
              <a:buClr>
                <a:schemeClr val="dk1"/>
              </a:buClr>
              <a:buSzPts val="1400"/>
              <a:buNone/>
            </a:pPr>
            <a:r>
              <a:rPr lang="en-US" sz="1400" dirty="0"/>
              <a:t>It is not in the best interest of model success to do anything else but.</a:t>
            </a:r>
          </a:p>
          <a:p>
            <a:pPr marL="0" indent="0" algn="just">
              <a:spcBef>
                <a:spcPts val="400"/>
              </a:spcBef>
              <a:buClr>
                <a:schemeClr val="dk1"/>
              </a:buClr>
              <a:buSzPts val="1400"/>
              <a:buNone/>
            </a:pPr>
            <a:endParaRPr lang="en-US" sz="1200" dirty="0"/>
          </a:p>
          <a:p>
            <a:pPr marL="0" indent="0" algn="just">
              <a:spcBef>
                <a:spcPts val="400"/>
              </a:spcBef>
              <a:buClr>
                <a:schemeClr val="dk1"/>
              </a:buClr>
              <a:buSzPts val="1400"/>
              <a:buNone/>
            </a:pPr>
            <a:r>
              <a:rPr lang="en-US" sz="1400" dirty="0"/>
              <a:t>Refer to the slides titled “Complete Statistical Analysis” for a more detailed examination of the data.</a:t>
            </a:r>
          </a:p>
          <a:p>
            <a:pPr marL="0" indent="0" algn="just">
              <a:spcBef>
                <a:spcPts val="400"/>
              </a:spcBef>
              <a:buClr>
                <a:schemeClr val="dk1"/>
              </a:buClr>
              <a:buSzPts val="1400"/>
              <a:buNone/>
            </a:pPr>
            <a:r>
              <a:rPr lang="en-US" sz="1400" dirty="0"/>
              <a:t>Those sections provide a thorough exploratory data analysis of all features, distributions</a:t>
            </a:r>
          </a:p>
          <a:p>
            <a:pPr marL="0" indent="0" algn="just">
              <a:spcBef>
                <a:spcPts val="400"/>
              </a:spcBef>
              <a:buClr>
                <a:schemeClr val="dk1"/>
              </a:buClr>
              <a:buSzPts val="1400"/>
              <a:buNone/>
            </a:pPr>
            <a:r>
              <a:rPr lang="en-US" sz="1400" dirty="0"/>
              <a:t>relationships, and key characteristics to ensure a comprehensive understanding of the data </a:t>
            </a:r>
          </a:p>
          <a:p>
            <a:pPr marL="0" indent="0" algn="just">
              <a:spcBef>
                <a:spcPts val="400"/>
              </a:spcBef>
              <a:buClr>
                <a:schemeClr val="dk1"/>
              </a:buClr>
              <a:buSzPts val="1400"/>
              <a:buNone/>
            </a:pPr>
            <a:r>
              <a:rPr lang="en-US" sz="1400" dirty="0"/>
              <a:t>before the commencement of model development.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6EBD1E0-6FB5-2A2F-7C5B-4E9517AD940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spTree>
    <p:extLst>
      <p:ext uri="{BB962C8B-B14F-4D97-AF65-F5344CB8AC3E}">
        <p14:creationId xmlns:p14="http://schemas.microsoft.com/office/powerpoint/2010/main" val="1078205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57100" y="1912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1240466" y="1609865"/>
            <a:ext cx="5302102" cy="1778377"/>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147900" y="53230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sp>
        <p:nvSpPr>
          <p:cNvPr id="4" name="Google Shape;190;p40">
            <a:extLst>
              <a:ext uri="{FF2B5EF4-FFF2-40B4-BE49-F238E27FC236}">
                <a16:creationId xmlns:a16="http://schemas.microsoft.com/office/drawing/2014/main" id="{BBC79FF2-4572-AC96-BF39-A56EB12E6C6A}"/>
              </a:ext>
            </a:extLst>
          </p:cNvPr>
          <p:cNvSpPr txBox="1">
            <a:spLocks/>
          </p:cNvSpPr>
          <p:nvPr/>
        </p:nvSpPr>
        <p:spPr>
          <a:xfrm>
            <a:off x="257100" y="3440508"/>
            <a:ext cx="8629800" cy="1612719"/>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BAD</a:t>
            </a:r>
            <a:r>
              <a:rPr lang="en-US" sz="1200" dirty="0">
                <a:solidFill>
                  <a:schemeClr val="dk1"/>
                </a:solidFill>
                <a:latin typeface="Century Gothic"/>
                <a:ea typeface="Century Gothic"/>
                <a:cs typeface="Century Gothic"/>
                <a:sym typeface="Century Gothic"/>
              </a:rPr>
              <a:t> – represents whether a loan was defaulted or not. </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Feature Label we are training model to predict. No normalization or modifications to be done.</a:t>
            </a:r>
          </a:p>
          <a:p>
            <a:pPr marL="311150" indent="-171450" algn="just">
              <a:spcBef>
                <a:spcPts val="200"/>
              </a:spcBef>
              <a:buClr>
                <a:schemeClr val="dk1"/>
              </a:buClr>
              <a:buSzPts val="1400"/>
            </a:pPr>
            <a:r>
              <a:rPr lang="en-US" sz="1200" b="1" dirty="0">
                <a:solidFill>
                  <a:schemeClr val="dk1"/>
                </a:solidFill>
                <a:latin typeface="Century Gothic"/>
                <a:ea typeface="Century Gothic"/>
                <a:cs typeface="Century Gothic"/>
                <a:sym typeface="Century Gothic"/>
              </a:rPr>
              <a:t>20% </a:t>
            </a:r>
            <a:r>
              <a:rPr lang="en-US" sz="1200" dirty="0">
                <a:solidFill>
                  <a:schemeClr val="dk1"/>
                </a:solidFill>
                <a:latin typeface="Century Gothic"/>
                <a:ea typeface="Century Gothic"/>
                <a:cs typeface="Century Gothic"/>
                <a:sym typeface="Century Gothic"/>
              </a:rPr>
              <a:t>of loans were defaulted / </a:t>
            </a:r>
            <a:r>
              <a:rPr lang="en-US" sz="1200" b="1" dirty="0">
                <a:solidFill>
                  <a:schemeClr val="dk1"/>
                </a:solidFill>
                <a:latin typeface="Century Gothic"/>
                <a:ea typeface="Century Gothic"/>
                <a:cs typeface="Century Gothic"/>
                <a:sym typeface="Century Gothic"/>
              </a:rPr>
              <a:t>80% </a:t>
            </a:r>
            <a:r>
              <a:rPr lang="en-US" sz="1200" dirty="0">
                <a:solidFill>
                  <a:schemeClr val="dk1"/>
                </a:solidFill>
                <a:latin typeface="Century Gothic"/>
                <a:ea typeface="Century Gothic"/>
                <a:cs typeface="Century Gothic"/>
                <a:sym typeface="Century Gothic"/>
              </a:rPr>
              <a:t>of loans were not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imbalance exists (for non-defaulting results)</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weighting will have to be calculated and applied during model training</a:t>
            </a:r>
          </a:p>
        </p:txBody>
      </p:sp>
    </p:spTree>
    <p:extLst>
      <p:ext uri="{BB962C8B-B14F-4D97-AF65-F5344CB8AC3E}">
        <p14:creationId xmlns:p14="http://schemas.microsoft.com/office/powerpoint/2010/main" val="1777190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816712" y="810697"/>
            <a:ext cx="7291386" cy="2839816"/>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sp>
        <p:nvSpPr>
          <p:cNvPr id="3" name="Google Shape;190;p40">
            <a:extLst>
              <a:ext uri="{FF2B5EF4-FFF2-40B4-BE49-F238E27FC236}">
                <a16:creationId xmlns:a16="http://schemas.microsoft.com/office/drawing/2014/main" id="{F1D31464-77F5-ACAB-56B5-9940236D6B40}"/>
              </a:ext>
            </a:extLst>
          </p:cNvPr>
          <p:cNvSpPr txBox="1">
            <a:spLocks/>
          </p:cNvSpPr>
          <p:nvPr/>
        </p:nvSpPr>
        <p:spPr>
          <a:xfrm>
            <a:off x="257100" y="3650513"/>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CLAGE</a:t>
            </a:r>
            <a:r>
              <a:rPr lang="en-US" sz="1200" dirty="0">
                <a:solidFill>
                  <a:schemeClr val="dk1"/>
                </a:solidFill>
                <a:latin typeface="Century Gothic"/>
                <a:ea typeface="Century Gothic"/>
                <a:cs typeface="Century Gothic"/>
                <a:sym typeface="Century Gothic"/>
              </a:rPr>
              <a:t> – age of oldest credit line (months).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years?) (Max 97 years?) – Cap/Clip</a:t>
            </a:r>
          </a:p>
        </p:txBody>
      </p:sp>
      <p:sp>
        <p:nvSpPr>
          <p:cNvPr id="4" name="Google Shape;188;p40">
            <a:extLst>
              <a:ext uri="{FF2B5EF4-FFF2-40B4-BE49-F238E27FC236}">
                <a16:creationId xmlns:a16="http://schemas.microsoft.com/office/drawing/2014/main" id="{C6C526D8-0D16-4ACE-AE4C-47A9984542AB}"/>
              </a:ext>
            </a:extLst>
          </p:cNvPr>
          <p:cNvSpPr txBox="1"/>
          <p:nvPr/>
        </p:nvSpPr>
        <p:spPr>
          <a:xfrm>
            <a:off x="202105" y="5536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68595" y="65670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sp>
        <p:nvSpPr>
          <p:cNvPr id="4" name="Google Shape;188;p40">
            <a:extLst>
              <a:ext uri="{FF2B5EF4-FFF2-40B4-BE49-F238E27FC236}">
                <a16:creationId xmlns:a16="http://schemas.microsoft.com/office/drawing/2014/main" id="{BE6503BC-C299-D7DE-6494-6C2B503EA5DD}"/>
              </a:ext>
            </a:extLst>
          </p:cNvPr>
          <p:cNvSpPr txBox="1"/>
          <p:nvPr/>
        </p:nvSpPr>
        <p:spPr>
          <a:xfrm>
            <a:off x="241005" y="84008"/>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
        <p:nvSpPr>
          <p:cNvPr id="5" name="Google Shape;190;p40">
            <a:extLst>
              <a:ext uri="{FF2B5EF4-FFF2-40B4-BE49-F238E27FC236}">
                <a16:creationId xmlns:a16="http://schemas.microsoft.com/office/drawing/2014/main" id="{4A6FD933-5073-BFF8-DC02-D0755C7A37EE}"/>
              </a:ext>
            </a:extLst>
          </p:cNvPr>
          <p:cNvSpPr txBox="1">
            <a:spLocks/>
          </p:cNvSpPr>
          <p:nvPr/>
        </p:nvSpPr>
        <p:spPr>
          <a:xfrm>
            <a:off x="202499" y="3810216"/>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CLNO</a:t>
            </a:r>
            <a:r>
              <a:rPr lang="en-US" sz="1200" dirty="0">
                <a:solidFill>
                  <a:schemeClr val="dk1"/>
                </a:solidFill>
                <a:latin typeface="Century Gothic"/>
                <a:ea typeface="Century Gothic"/>
                <a:cs typeface="Century Gothic"/>
                <a:sym typeface="Century Gothic"/>
              </a:rPr>
              <a:t> – number of existing credit lines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Near normal distribution with 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credit lines?) (Max 71 credit lines?) – Cap/Clip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 Right-skewed</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0F897E7-F950-2475-9212-07F81424C38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2D7124D0-CF27-D3DE-B80E-2CFFC24F2FE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960FF95B-8963-A79F-1272-BBE23E73F89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pic>
        <p:nvPicPr>
          <p:cNvPr id="6" name="Picture 5" descr="A diagram of a number of numbers&#10;&#10;AI-generated content may be incorrect.">
            <a:extLst>
              <a:ext uri="{FF2B5EF4-FFF2-40B4-BE49-F238E27FC236}">
                <a16:creationId xmlns:a16="http://schemas.microsoft.com/office/drawing/2014/main" id="{B8D140DE-4B78-0723-02A7-C585C55312F1}"/>
              </a:ext>
            </a:extLst>
          </p:cNvPr>
          <p:cNvPicPr>
            <a:picLocks noChangeAspect="1"/>
          </p:cNvPicPr>
          <p:nvPr/>
        </p:nvPicPr>
        <p:blipFill>
          <a:blip r:embed="rId3"/>
          <a:stretch>
            <a:fillRect/>
          </a:stretch>
        </p:blipFill>
        <p:spPr>
          <a:xfrm>
            <a:off x="1877346" y="523349"/>
            <a:ext cx="4636868" cy="4460582"/>
          </a:xfrm>
          <a:prstGeom prst="rect">
            <a:avLst/>
          </a:prstGeom>
        </p:spPr>
      </p:pic>
    </p:spTree>
    <p:extLst>
      <p:ext uri="{BB962C8B-B14F-4D97-AF65-F5344CB8AC3E}">
        <p14:creationId xmlns:p14="http://schemas.microsoft.com/office/powerpoint/2010/main" val="3361072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3AD4AC1-1AEE-C8D6-B19B-2BE1C9F8E09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D0CAF91-D710-4A04-0E17-AE2C838CA29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19FB97FE-6F77-FE0C-F57C-D9768DBE03F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7" name="Google Shape;190;p40">
            <a:extLst>
              <a:ext uri="{FF2B5EF4-FFF2-40B4-BE49-F238E27FC236}">
                <a16:creationId xmlns:a16="http://schemas.microsoft.com/office/drawing/2014/main" id="{0E180FD2-8125-8202-B140-6FDB0681E33A}"/>
              </a:ext>
            </a:extLst>
          </p:cNvPr>
          <p:cNvSpPr txBox="1">
            <a:spLocks noGrp="1"/>
          </p:cNvSpPr>
          <p:nvPr>
            <p:ph type="body" idx="1"/>
          </p:nvPr>
        </p:nvSpPr>
        <p:spPr>
          <a:xfrm>
            <a:off x="468977" y="3162391"/>
            <a:ext cx="7889010" cy="1888692"/>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Strongest Predictors of loan default (BAD)</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DELINQ</a:t>
            </a:r>
            <a:r>
              <a:rPr lang="en-US" sz="1000" dirty="0">
                <a:solidFill>
                  <a:schemeClr val="dk1"/>
                </a:solidFill>
                <a:latin typeface="Nunito" pitchFamily="2" charset="0"/>
                <a:ea typeface="Century Gothic"/>
                <a:cs typeface="Century Gothic"/>
                <a:sym typeface="Century Gothic"/>
              </a:rPr>
              <a:t> (0.35)</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DEROG</a:t>
            </a:r>
            <a:r>
              <a:rPr lang="en-US" sz="1000" dirty="0">
                <a:solidFill>
                  <a:schemeClr val="dk1"/>
                </a:solidFill>
                <a:latin typeface="Nunito" pitchFamily="2" charset="0"/>
                <a:ea typeface="Century Gothic"/>
                <a:cs typeface="Century Gothic"/>
                <a:sym typeface="Century Gothic"/>
              </a:rPr>
              <a:t> (0.28)</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DEBTINC</a:t>
            </a:r>
            <a:r>
              <a:rPr lang="en-US" sz="1000" dirty="0">
                <a:solidFill>
                  <a:schemeClr val="dk1"/>
                </a:solidFill>
                <a:latin typeface="Nunito" pitchFamily="2" charset="0"/>
                <a:ea typeface="Century Gothic"/>
                <a:cs typeface="Century Gothic"/>
                <a:sym typeface="Century Gothic"/>
              </a:rPr>
              <a:t> (0.20</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Multicollinearity:</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MORTDUE</a:t>
            </a:r>
            <a:r>
              <a:rPr lang="en-US" sz="1000" dirty="0">
                <a:solidFill>
                  <a:schemeClr val="dk1"/>
                </a:solidFill>
                <a:latin typeface="Nunito" pitchFamily="2" charset="0"/>
                <a:ea typeface="Century Gothic"/>
                <a:cs typeface="Century Gothic"/>
                <a:sym typeface="Century Gothic"/>
              </a:rPr>
              <a:t> and </a:t>
            </a:r>
            <a:r>
              <a:rPr lang="en-US" sz="1000" b="1" dirty="0">
                <a:solidFill>
                  <a:schemeClr val="dk1"/>
                </a:solidFill>
                <a:latin typeface="Nunito" pitchFamily="2" charset="0"/>
                <a:ea typeface="Century Gothic"/>
                <a:cs typeface="Century Gothic"/>
                <a:sym typeface="Century Gothic"/>
              </a:rPr>
              <a:t>VALUE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pic>
        <p:nvPicPr>
          <p:cNvPr id="9" name="Picture 8" descr="A table with numbers and symbols&#10;&#10;AI-generated content may be incorrect.">
            <a:extLst>
              <a:ext uri="{FF2B5EF4-FFF2-40B4-BE49-F238E27FC236}">
                <a16:creationId xmlns:a16="http://schemas.microsoft.com/office/drawing/2014/main" id="{46CCA69E-CF63-0D16-91D6-B0360319E96A}"/>
              </a:ext>
            </a:extLst>
          </p:cNvPr>
          <p:cNvPicPr>
            <a:picLocks noChangeAspect="1"/>
          </p:cNvPicPr>
          <p:nvPr/>
        </p:nvPicPr>
        <p:blipFill>
          <a:blip r:embed="rId3"/>
          <a:stretch>
            <a:fillRect/>
          </a:stretch>
        </p:blipFill>
        <p:spPr>
          <a:xfrm>
            <a:off x="157276" y="631280"/>
            <a:ext cx="8675023" cy="2174731"/>
          </a:xfrm>
          <a:prstGeom prst="rect">
            <a:avLst/>
          </a:prstGeom>
        </p:spPr>
      </p:pic>
    </p:spTree>
    <p:extLst>
      <p:ext uri="{BB962C8B-B14F-4D97-AF65-F5344CB8AC3E}">
        <p14:creationId xmlns:p14="http://schemas.microsoft.com/office/powerpoint/2010/main" val="1461844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188373" y="262270"/>
            <a:ext cx="8520600" cy="730102"/>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Complete Statistical Analysis: Normalization Comparisons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0" y="1217149"/>
            <a:ext cx="8629800" cy="3765359"/>
          </a:xfrm>
          <a:prstGeom prst="rect">
            <a:avLst/>
          </a:prstGeom>
          <a:noFill/>
          <a:ln>
            <a:noFill/>
          </a:ln>
        </p:spPr>
        <p:txBody>
          <a:bodyPr spcFirstLastPara="1" wrap="square" lIns="91425" tIns="91425" rIns="91425" bIns="91425" anchor="t" anchorCtr="0">
            <a:spAutoFit/>
          </a:bodyPr>
          <a:lstStyle/>
          <a:p>
            <a:pPr marL="139700" lvl="0" indent="0" algn="just" rtl="0">
              <a:lnSpc>
                <a:spcPct val="115000"/>
              </a:lnSpc>
              <a:spcBef>
                <a:spcPts val="1000"/>
              </a:spcBef>
              <a:spcAft>
                <a:spcPts val="0"/>
              </a:spcAft>
              <a:buClr>
                <a:schemeClr val="dk1"/>
              </a:buClr>
              <a:buSzPts val="1400"/>
              <a:buNone/>
            </a:pPr>
            <a:r>
              <a:rPr lang="en-US" dirty="0"/>
              <a:t>Preliminary </a:t>
            </a:r>
            <a:r>
              <a:rPr lang="en-US" sz="1400" dirty="0"/>
              <a:t>examinations</a:t>
            </a:r>
            <a:r>
              <a:rPr lang="en-US" dirty="0"/>
              <a:t> revealed the existence of heavily right-skewed features with extreme outliers. The effective course of action is to apply normalization techniques to produce more normalized distributions, reduce the skewness and effect of outliers. Capping/clipping should also be considered as corrective actions for outliers.</a:t>
            </a:r>
          </a:p>
          <a:p>
            <a:pPr marL="139700" lvl="0" indent="0" algn="just" rtl="0">
              <a:lnSpc>
                <a:spcPct val="115000"/>
              </a:lnSpc>
              <a:spcBef>
                <a:spcPts val="1000"/>
              </a:spcBef>
              <a:spcAft>
                <a:spcPts val="0"/>
              </a:spcAft>
              <a:buClr>
                <a:schemeClr val="dk1"/>
              </a:buClr>
              <a:buSzPts val="1400"/>
              <a:buNone/>
            </a:pPr>
            <a:r>
              <a:rPr lang="en-US" dirty="0"/>
              <a:t>The following slides compare 4 normalization functions and compare their results against the original distributions:</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Standard Scaling</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Log (log1p)</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Yeo-Johnson</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Box-Cox</a:t>
            </a:r>
            <a:endParaRPr lang="en-US" dirty="0"/>
          </a:p>
          <a:p>
            <a:pPr marL="425450" lvl="0" indent="-285750" algn="just" rtl="0">
              <a:lnSpc>
                <a:spcPct val="115000"/>
              </a:lnSpc>
              <a:spcBef>
                <a:spcPts val="1000"/>
              </a:spcBef>
              <a:spcAft>
                <a:spcPts val="0"/>
              </a:spcAft>
              <a:buClr>
                <a:schemeClr val="dk1"/>
              </a:buClr>
              <a:buSzPts val="1400"/>
              <a:buFontTx/>
              <a:buChar char="-"/>
            </a:pPr>
            <a:endParaRPr lang="en-US" dirty="0"/>
          </a:p>
        </p:txBody>
      </p:sp>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52598"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8443DFB2-5399-5CE4-9D70-726B171CC222}"/>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BACB5879-B620-06F1-5D70-B5CDB22FE7C3}"/>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D49D30F0-A463-8EC9-B437-4865ED1D4EF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A8A79E2-D343-FA68-BE3F-CF9FCC2DA1D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extLst>
      <p:ext uri="{BB962C8B-B14F-4D97-AF65-F5344CB8AC3E}">
        <p14:creationId xmlns:p14="http://schemas.microsoft.com/office/powerpoint/2010/main" val="2876353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1C9398AA-823C-4371-5F6D-D59C34CB7C48}"/>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3CC42F4D-EAB9-1C7C-F539-FFA665F65474}"/>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Feature Engineering – Derived Features: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7C5252BB-FE33-DC0B-7509-E0CD936051CF}"/>
              </a:ext>
            </a:extLst>
          </p:cNvPr>
          <p:cNvSpPr txBox="1">
            <a:spLocks noGrp="1"/>
          </p:cNvSpPr>
          <p:nvPr>
            <p:ph type="body" idx="1"/>
          </p:nvPr>
        </p:nvSpPr>
        <p:spPr>
          <a:xfrm>
            <a:off x="147950" y="919437"/>
            <a:ext cx="8629800" cy="4273960"/>
          </a:xfrm>
          <a:prstGeom prst="rect">
            <a:avLst/>
          </a:prstGeom>
          <a:noFill/>
          <a:ln>
            <a:noFill/>
          </a:ln>
        </p:spPr>
        <p:txBody>
          <a:bodyPr spcFirstLastPara="1" wrap="square" lIns="91425" tIns="91425" rIns="91425" bIns="91425" anchor="t" anchorCtr="0">
            <a:spAutoFit/>
          </a:bodyPr>
          <a:lstStyle/>
          <a:p>
            <a:pPr marL="139700" lvl="0" indent="0" algn="just">
              <a:spcBef>
                <a:spcPts val="1000"/>
              </a:spcBef>
              <a:buClr>
                <a:schemeClr val="dk1"/>
              </a:buClr>
              <a:buSzPts val="1400"/>
              <a:buNone/>
            </a:pPr>
            <a:r>
              <a:rPr lang="en-US" sz="1400" dirty="0"/>
              <a:t>Raw features don't always capture the full picture (in this case of borrower risks). Derived features combine existing data to create metrics that are more directly tied to the outcome being predicted.</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Benefits: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Captures relationships amongst features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Domain Knowledge</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Stronger predictive signals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Better Interpretability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Expose Hidden Patterns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Improves Model Performance</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Suggested Derived Features</a:t>
            </a:r>
            <a:r>
              <a:rPr lang="en-US" sz="1200" b="1" dirty="0">
                <a:solidFill>
                  <a:schemeClr val="dk1"/>
                </a:solidFill>
                <a:latin typeface="Century Gothic"/>
                <a:ea typeface="Century Gothic"/>
                <a:cs typeface="Century Gothic"/>
                <a:sym typeface="Century Gothic"/>
              </a:rPr>
              <a:t>:</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LTV </a:t>
            </a:r>
            <a:r>
              <a:rPr lang="en-US" sz="1200" dirty="0">
                <a:solidFill>
                  <a:schemeClr val="dk1"/>
                </a:solidFill>
                <a:latin typeface="Century Gothic"/>
                <a:sym typeface="Century Gothic"/>
              </a:rPr>
              <a:t>(Loan to Value Ratio) – MORTDUE/VALUE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EQUITY</a:t>
            </a:r>
            <a:r>
              <a:rPr lang="en-US" sz="1200" dirty="0">
                <a:solidFill>
                  <a:schemeClr val="dk1"/>
                </a:solidFill>
                <a:latin typeface="Century Gothic"/>
                <a:sym typeface="Century Gothic"/>
              </a:rPr>
              <a:t> – Value – MORTDUE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LOAN_TO_VALUE</a:t>
            </a:r>
            <a:r>
              <a:rPr lang="en-US" sz="1200" dirty="0">
                <a:solidFill>
                  <a:schemeClr val="dk1"/>
                </a:solidFill>
                <a:latin typeface="Century Gothic"/>
                <a:sym typeface="Century Gothic"/>
              </a:rPr>
              <a:t> – LOAN/VALUE</a:t>
            </a:r>
          </a:p>
          <a:p>
            <a:pPr marL="139700" lvl="0" indent="0" algn="just">
              <a:spcBef>
                <a:spcPts val="1000"/>
              </a:spcBef>
              <a:buClr>
                <a:schemeClr val="dk1"/>
              </a:buClr>
              <a:buSzPts val="1400"/>
              <a:buNone/>
            </a:pPr>
            <a:endParaRPr lang="en-US" sz="1200" b="1"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05D2925-9D4E-BB19-60B2-5A05C07FEF7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extLst>
      <p:ext uri="{BB962C8B-B14F-4D97-AF65-F5344CB8AC3E}">
        <p14:creationId xmlns:p14="http://schemas.microsoft.com/office/powerpoint/2010/main" val="2303732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BE458357-0949-E7D1-89EE-1A497205911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07C4C576-E24D-3E68-B2B4-C34A51DACE6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Feature Engineering – Derived Features:</a:t>
            </a:r>
          </a:p>
        </p:txBody>
      </p:sp>
      <p:sp>
        <p:nvSpPr>
          <p:cNvPr id="2" name="Slide Number Placeholder 1">
            <a:extLst>
              <a:ext uri="{FF2B5EF4-FFF2-40B4-BE49-F238E27FC236}">
                <a16:creationId xmlns:a16="http://schemas.microsoft.com/office/drawing/2014/main" id="{71A23115-5FAA-B749-51E3-F72575C8F30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
        <p:nvSpPr>
          <p:cNvPr id="14" name="Google Shape;190;p40">
            <a:extLst>
              <a:ext uri="{FF2B5EF4-FFF2-40B4-BE49-F238E27FC236}">
                <a16:creationId xmlns:a16="http://schemas.microsoft.com/office/drawing/2014/main" id="{AF4726B3-5DB4-2898-E2A9-26A7804743C4}"/>
              </a:ext>
            </a:extLst>
          </p:cNvPr>
          <p:cNvSpPr txBox="1">
            <a:spLocks noGrp="1"/>
          </p:cNvSpPr>
          <p:nvPr>
            <p:ph type="body" idx="1"/>
          </p:nvPr>
        </p:nvSpPr>
        <p:spPr>
          <a:xfrm>
            <a:off x="468977" y="3872241"/>
            <a:ext cx="8249721" cy="1011016"/>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b="1" dirty="0">
                <a:solidFill>
                  <a:schemeClr val="dk1"/>
                </a:solidFill>
                <a:latin typeface="Nunito" pitchFamily="2" charset="0"/>
                <a:ea typeface="Century Gothic"/>
                <a:cs typeface="Century Gothic"/>
                <a:sym typeface="Century Gothic"/>
              </a:rPr>
              <a:t>Derived Features Summary</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Generated Derived Features display right skew and outliers. They should be normalized before included.</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Additional derived features should be explored to find hidden patterns and relationships not visible in original data.</a:t>
            </a:r>
          </a:p>
        </p:txBody>
      </p:sp>
      <p:pic>
        <p:nvPicPr>
          <p:cNvPr id="4" name="Picture 3" descr="A graph of a number of numbers and a graph&#10;&#10;AI-generated content may be incorrect.">
            <a:extLst>
              <a:ext uri="{FF2B5EF4-FFF2-40B4-BE49-F238E27FC236}">
                <a16:creationId xmlns:a16="http://schemas.microsoft.com/office/drawing/2014/main" id="{4A13DE57-4BBC-01C9-3C34-9F17EBC99BC1}"/>
              </a:ext>
            </a:extLst>
          </p:cNvPr>
          <p:cNvPicPr>
            <a:picLocks noChangeAspect="1"/>
          </p:cNvPicPr>
          <p:nvPr/>
        </p:nvPicPr>
        <p:blipFill>
          <a:blip r:embed="rId3"/>
          <a:stretch>
            <a:fillRect/>
          </a:stretch>
        </p:blipFill>
        <p:spPr>
          <a:xfrm>
            <a:off x="588623" y="733939"/>
            <a:ext cx="7718626" cy="2140895"/>
          </a:xfrm>
          <a:prstGeom prst="rect">
            <a:avLst/>
          </a:prstGeom>
        </p:spPr>
      </p:pic>
      <p:pic>
        <p:nvPicPr>
          <p:cNvPr id="7" name="Picture 6">
            <a:extLst>
              <a:ext uri="{FF2B5EF4-FFF2-40B4-BE49-F238E27FC236}">
                <a16:creationId xmlns:a16="http://schemas.microsoft.com/office/drawing/2014/main" id="{CD6F4829-AB86-BD8A-81C9-F5C400018B0A}"/>
              </a:ext>
            </a:extLst>
          </p:cNvPr>
          <p:cNvPicPr>
            <a:picLocks noChangeAspect="1"/>
          </p:cNvPicPr>
          <p:nvPr/>
        </p:nvPicPr>
        <p:blipFill>
          <a:blip r:embed="rId4"/>
          <a:stretch>
            <a:fillRect/>
          </a:stretch>
        </p:blipFill>
        <p:spPr>
          <a:xfrm>
            <a:off x="627495" y="2943656"/>
            <a:ext cx="7790121" cy="859763"/>
          </a:xfrm>
          <a:prstGeom prst="rect">
            <a:avLst/>
          </a:prstGeom>
        </p:spPr>
      </p:pic>
    </p:spTree>
    <p:extLst>
      <p:ext uri="{BB962C8B-B14F-4D97-AF65-F5344CB8AC3E}">
        <p14:creationId xmlns:p14="http://schemas.microsoft.com/office/powerpoint/2010/main" val="2964559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403689" y="644674"/>
            <a:ext cx="7832680" cy="3157128"/>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
        <p:nvSpPr>
          <p:cNvPr id="3" name="Google Shape;210;p44">
            <a:extLst>
              <a:ext uri="{FF2B5EF4-FFF2-40B4-BE49-F238E27FC236}">
                <a16:creationId xmlns:a16="http://schemas.microsoft.com/office/drawing/2014/main" id="{F992FD17-2D1A-07B6-57FC-162C45F6A7C2}"/>
              </a:ext>
            </a:extLst>
          </p:cNvPr>
          <p:cNvSpPr txBox="1"/>
          <p:nvPr/>
        </p:nvSpPr>
        <p:spPr>
          <a:xfrm>
            <a:off x="219711" y="10498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FB354637-9BDA-8B3D-2C1F-5F7935E67390}"/>
              </a:ext>
            </a:extLst>
          </p:cNvPr>
          <p:cNvSpPr txBox="1">
            <a:spLocks/>
          </p:cNvSpPr>
          <p:nvPr/>
        </p:nvSpPr>
        <p:spPr>
          <a:xfrm>
            <a:off x="257100" y="3652609"/>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compressed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61028" y="619753"/>
            <a:ext cx="7377948" cy="3125202"/>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
        <p:nvSpPr>
          <p:cNvPr id="3" name="Google Shape;210;p44">
            <a:extLst>
              <a:ext uri="{FF2B5EF4-FFF2-40B4-BE49-F238E27FC236}">
                <a16:creationId xmlns:a16="http://schemas.microsoft.com/office/drawing/2014/main" id="{F2C8C0BF-21DC-5693-C2D0-E8DA08DEA2E5}"/>
              </a:ext>
            </a:extLst>
          </p:cNvPr>
          <p:cNvSpPr txBox="1"/>
          <p:nvPr/>
        </p:nvSpPr>
        <p:spPr>
          <a:xfrm>
            <a:off x="252169" y="10521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045311B1-DDDB-CF48-FD04-CA65C118F5B8}"/>
              </a:ext>
            </a:extLst>
          </p:cNvPr>
          <p:cNvSpPr txBox="1">
            <a:spLocks/>
          </p:cNvSpPr>
          <p:nvPr/>
        </p:nvSpPr>
        <p:spPr>
          <a:xfrm>
            <a:off x="385199" y="3578522"/>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Some outliers still exist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AE891912-0DF9-B00D-7E72-309ADBEFB02C}"/>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9FB5240F-20CC-FF0B-C11C-72B4D6E9D291}"/>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5EE02721-681E-54B5-DEE8-BFDB32633F8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91BA8EF-B8D6-D9CB-4075-4868BD92433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extLst>
      <p:ext uri="{BB962C8B-B14F-4D97-AF65-F5344CB8AC3E}">
        <p14:creationId xmlns:p14="http://schemas.microsoft.com/office/powerpoint/2010/main" val="751178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p:cNvSpPr txBox="1">
            <a:spLocks noGrp="1"/>
          </p:cNvSpPr>
          <p:nvPr>
            <p:ph type="body" idx="1"/>
          </p:nvPr>
        </p:nvSpPr>
        <p:spPr>
          <a:xfrm>
            <a:off x="415250" y="1935381"/>
            <a:ext cx="8307900" cy="3011525"/>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Definitions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 – </a:t>
            </a:r>
            <a:r>
              <a:rPr lang="en-US" sz="1000" dirty="0">
                <a:solidFill>
                  <a:schemeClr val="dk1"/>
                </a:solidFill>
                <a:latin typeface="Nunito" pitchFamily="2" charset="0"/>
                <a:ea typeface="Century Gothic"/>
                <a:cs typeface="Century Gothic"/>
                <a:sym typeface="Century Gothic"/>
              </a:rPr>
              <a:t>percentage of model predictions that are correct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 – (0&lt;-&gt;1.0) </a:t>
            </a:r>
            <a:r>
              <a:rPr lang="en-US" sz="1000" dirty="0">
                <a:solidFill>
                  <a:schemeClr val="dk1"/>
                </a:solidFill>
                <a:latin typeface="Nunito" pitchFamily="2" charset="0"/>
                <a:ea typeface="Century Gothic"/>
                <a:cs typeface="Century Gothic"/>
                <a:sym typeface="Century Gothic"/>
              </a:rPr>
              <a:t>how much model is better than random guessing</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Recall – </a:t>
            </a:r>
            <a:r>
              <a:rPr lang="en-US" sz="900" dirty="0"/>
              <a:t>percentage of defaults actually caught by model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Recall – </a:t>
            </a:r>
            <a:r>
              <a:rPr lang="en-US" sz="900" dirty="0"/>
              <a:t>average recall across both classes, weighted by class size</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Precision – </a:t>
            </a:r>
            <a:r>
              <a:rPr lang="en-US" sz="900" dirty="0"/>
              <a:t>of all predicted defaults, what percentage were actually correct?</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Precision – </a:t>
            </a:r>
            <a:r>
              <a:rPr lang="en-US" sz="900" dirty="0"/>
              <a:t>average precision across both classes, weighted by class size.</a:t>
            </a:r>
            <a:endParaRPr lang="en-US" sz="1000" dirty="0">
              <a:solidFill>
                <a:schemeClr val="dk1"/>
              </a:solidFill>
              <a:latin typeface="Nunito" pitchFamily="2" charset="0"/>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Why Weight?</a:t>
            </a:r>
          </a:p>
          <a:p>
            <a:pPr marL="628650" lvl="1" indent="-171450" algn="just">
              <a:spcBef>
                <a:spcPts val="400"/>
              </a:spcBef>
              <a:buClr>
                <a:schemeClr val="dk1"/>
              </a:buClr>
              <a:buSzPts val="1400"/>
            </a:pPr>
            <a:r>
              <a:rPr lang="en-US" sz="1000" dirty="0">
                <a:solidFill>
                  <a:schemeClr val="dk1"/>
                </a:solidFill>
                <a:latin typeface="Nunito" pitchFamily="2" charset="0"/>
                <a:sym typeface="Century Gothic"/>
              </a:rPr>
              <a:t>To account for class imbalance, weighting gives more importance to majority (non-default) so scores are reflection of population proportions</a:t>
            </a:r>
          </a:p>
        </p:txBody>
      </p:sp>
      <p:graphicFrame>
        <p:nvGraphicFramePr>
          <p:cNvPr id="234" name="Google Shape;234;p48"/>
          <p:cNvGraphicFramePr/>
          <p:nvPr>
            <p:extLst>
              <p:ext uri="{D42A27DB-BD31-4B8C-83A1-F6EECF244321}">
                <p14:modId xmlns:p14="http://schemas.microsoft.com/office/powerpoint/2010/main" val="2017363557"/>
              </p:ext>
            </p:extLst>
          </p:nvPr>
        </p:nvGraphicFramePr>
        <p:xfrm>
          <a:off x="1251404" y="661557"/>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76.71</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DB4A477-0DBF-DA9C-0021-9CE4AAE81086}"/>
            </a:ext>
          </a:extLst>
        </p:cNvPr>
        <p:cNvGrpSpPr/>
        <p:nvPr/>
      </p:nvGrpSpPr>
      <p:grpSpPr>
        <a:xfrm>
          <a:off x="0" y="0"/>
          <a:ext cx="0" cy="0"/>
          <a:chOff x="0" y="0"/>
          <a:chExt cx="0" cy="0"/>
        </a:xfrm>
      </p:grpSpPr>
      <p:sp>
        <p:nvSpPr>
          <p:cNvPr id="232" name="Google Shape;232;p48">
            <a:extLst>
              <a:ext uri="{FF2B5EF4-FFF2-40B4-BE49-F238E27FC236}">
                <a16:creationId xmlns:a16="http://schemas.microsoft.com/office/drawing/2014/main" id="{5CAFED05-77FB-EE72-881C-7D7C31E416E4}"/>
              </a:ext>
            </a:extLst>
          </p:cNvPr>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a:extLst>
              <a:ext uri="{FF2B5EF4-FFF2-40B4-BE49-F238E27FC236}">
                <a16:creationId xmlns:a16="http://schemas.microsoft.com/office/drawing/2014/main" id="{140E8793-5A0B-BA3B-41CC-CFE952BAFF76}"/>
              </a:ext>
            </a:extLst>
          </p:cNvPr>
          <p:cNvSpPr txBox="1">
            <a:spLocks noGrp="1"/>
          </p:cNvSpPr>
          <p:nvPr>
            <p:ph type="body" idx="1"/>
          </p:nvPr>
        </p:nvSpPr>
        <p:spPr>
          <a:xfrm>
            <a:off x="415250" y="873167"/>
            <a:ext cx="8307900" cy="3883131"/>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≈85% </a:t>
            </a:r>
            <a:r>
              <a:rPr lang="en-US" sz="900" dirty="0"/>
              <a:t>is roughly </a:t>
            </a:r>
            <a:r>
              <a:rPr lang="en-US" sz="900" b="1" dirty="0"/>
              <a:t>5%</a:t>
            </a:r>
            <a:r>
              <a:rPr lang="en-US" sz="900" dirty="0"/>
              <a:t> better than </a:t>
            </a:r>
            <a:r>
              <a:rPr lang="en-US" sz="900" b="1" dirty="0"/>
              <a:t>80%</a:t>
            </a:r>
            <a:r>
              <a:rPr lang="en-US" sz="900" dirty="0"/>
              <a:t> baseline (if model predicted non-default for every row)</a:t>
            </a:r>
          </a:p>
          <a:p>
            <a:pPr marL="1085850" lvl="2" indent="-171450" algn="just">
              <a:spcBef>
                <a:spcPts val="400"/>
              </a:spcBef>
              <a:buClr>
                <a:schemeClr val="dk1"/>
              </a:buClr>
              <a:buSzPts val="1400"/>
            </a:pPr>
            <a:r>
              <a:rPr lang="en-US" sz="900" dirty="0"/>
              <a:t>Model is learning</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Moderate agreement, better than random guessing (</a:t>
            </a:r>
            <a:r>
              <a:rPr lang="en-US" sz="900" b="1" dirty="0"/>
              <a:t>≈0.5</a:t>
            </a:r>
            <a:r>
              <a:rPr lang="en-US" sz="900" dirty="0"/>
              <a:t>)</a:t>
            </a:r>
          </a:p>
          <a:p>
            <a:pPr marL="1085850" lvl="2" indent="-171450" algn="just">
              <a:spcBef>
                <a:spcPts val="400"/>
              </a:spcBef>
              <a:buClr>
                <a:schemeClr val="dk1"/>
              </a:buClr>
              <a:buSzPts val="1400"/>
            </a:pPr>
            <a:r>
              <a:rPr lang="en-US" sz="900" dirty="0"/>
              <a:t>Room for improvement through tuning</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Confirms weighting offsets class imbalances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≈74% </a:t>
            </a:r>
            <a:r>
              <a:rPr lang="en-US" sz="900" dirty="0"/>
              <a:t>of actual cases</a:t>
            </a:r>
          </a:p>
          <a:p>
            <a:pPr marL="1085850" lvl="2" indent="-171450" algn="just">
              <a:spcBef>
                <a:spcPts val="400"/>
              </a:spcBef>
              <a:buClr>
                <a:schemeClr val="dk1"/>
              </a:buClr>
              <a:buSzPts val="1400"/>
            </a:pPr>
            <a:r>
              <a:rPr lang="en-US" sz="900" dirty="0"/>
              <a:t>Lower than </a:t>
            </a:r>
            <a:r>
              <a:rPr lang="en-US" sz="900" b="1" dirty="0"/>
              <a:t>Accuracy</a:t>
            </a:r>
            <a:r>
              <a:rPr lang="en-US" sz="900" dirty="0"/>
              <a:t>, missing some defaults</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≈77% </a:t>
            </a:r>
            <a:r>
              <a:rPr lang="en-US" sz="900" dirty="0"/>
              <a:t>correct when it makes a prediction (weighted)</a:t>
            </a:r>
          </a:p>
          <a:p>
            <a:pPr marL="1085850" lvl="2" indent="-171450" algn="just">
              <a:spcBef>
                <a:spcPts val="400"/>
              </a:spcBef>
              <a:buClr>
                <a:schemeClr val="dk1"/>
              </a:buClr>
              <a:buSzPts val="1400"/>
            </a:pPr>
            <a:r>
              <a:rPr lang="en-US" sz="900" dirty="0"/>
              <a:t>Average precision across both classes, weighted by class size.</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Room for improvement via parameter tuning (or additional derived features/polynomial features)</a:t>
            </a:r>
            <a:endParaRPr lang="en-US" sz="1000" dirty="0">
              <a:solidFill>
                <a:schemeClr val="dk1"/>
              </a:solidFill>
              <a:latin typeface="Nunito" pitchFamily="2" charset="0"/>
              <a:sym typeface="Century Gothic"/>
            </a:endParaRPr>
          </a:p>
        </p:txBody>
      </p:sp>
      <p:sp>
        <p:nvSpPr>
          <p:cNvPr id="2" name="Slide Number Placeholder 1">
            <a:extLst>
              <a:ext uri="{FF2B5EF4-FFF2-40B4-BE49-F238E27FC236}">
                <a16:creationId xmlns:a16="http://schemas.microsoft.com/office/drawing/2014/main" id="{01A09E3F-3A6F-B7CE-6449-9634F7CCEDA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extLst>
      <p:ext uri="{BB962C8B-B14F-4D97-AF65-F5344CB8AC3E}">
        <p14:creationId xmlns:p14="http://schemas.microsoft.com/office/powerpoint/2010/main" val="3753549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E4201AB8-FD3D-4164-6E90-83F7619B0B4F}"/>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4ACC343A-BB13-AF9E-239F-40322B9ABDA8}"/>
              </a:ext>
            </a:extLst>
          </p:cNvPr>
          <p:cNvSpPr txBox="1">
            <a:spLocks noGrp="1"/>
          </p:cNvSpPr>
          <p:nvPr>
            <p:ph type="title"/>
          </p:nvPr>
        </p:nvSpPr>
        <p:spPr>
          <a:xfrm>
            <a:off x="230895" y="21130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graphicFrame>
        <p:nvGraphicFramePr>
          <p:cNvPr id="241" name="Google Shape;241;p49">
            <a:extLst>
              <a:ext uri="{FF2B5EF4-FFF2-40B4-BE49-F238E27FC236}">
                <a16:creationId xmlns:a16="http://schemas.microsoft.com/office/drawing/2014/main" id="{722EBEE2-FDE2-5236-6728-50323A46FB1D}"/>
              </a:ext>
            </a:extLst>
          </p:cNvPr>
          <p:cNvGraphicFramePr/>
          <p:nvPr>
            <p:extLst>
              <p:ext uri="{D42A27DB-BD31-4B8C-83A1-F6EECF244321}">
                <p14:modId xmlns:p14="http://schemas.microsoft.com/office/powerpoint/2010/main" val="916334685"/>
              </p:ext>
            </p:extLst>
          </p:nvPr>
        </p:nvGraphicFramePr>
        <p:xfrm>
          <a:off x="1081281" y="1199123"/>
          <a:ext cx="5983350" cy="123509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594659">
                <a:tc>
                  <a:txBody>
                    <a:bodyPr/>
                    <a:lstStyle/>
                    <a:p>
                      <a:pPr marL="0" marR="0" lvl="0" indent="0" algn="ctr" rtl="0">
                        <a:lnSpc>
                          <a:spcPct val="100000"/>
                        </a:lnSpc>
                        <a:spcBef>
                          <a:spcPts val="0"/>
                        </a:spcBef>
                        <a:spcAft>
                          <a:spcPts val="0"/>
                        </a:spcAft>
                        <a:buClr>
                          <a:srgbClr val="000000"/>
                        </a:buClr>
                        <a:buSzPts val="1200"/>
                        <a:buFont typeface="Arial"/>
                        <a:buNone/>
                      </a:pPr>
                      <a:r>
                        <a:rPr lang="en-US" sz="1200" dirty="0">
                          <a:latin typeface="Nunito"/>
                          <a:ea typeface="Nunito"/>
                          <a:cs typeface="Nunito"/>
                          <a:sym typeface="Nunito"/>
                        </a:rPr>
                        <a:t>Neural Network with Parameter Tuning</a:t>
                      </a:r>
                      <a:endParaRPr sz="1200" u="none" strike="noStrike" cap="none" dirty="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83.17</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B0E80BC3-68AA-592E-E4D2-86FF88CD7EB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49</a:t>
            </a:fld>
            <a:endParaRPr lang="en-US"/>
          </a:p>
        </p:txBody>
      </p:sp>
    </p:spTree>
    <p:extLst>
      <p:ext uri="{BB962C8B-B14F-4D97-AF65-F5344CB8AC3E}">
        <p14:creationId xmlns:p14="http://schemas.microsoft.com/office/powerpoint/2010/main" val="30891467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9BA8AC34-A268-0FFF-C949-DF474C56F8D1}"/>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351A1495-AFA8-C8E4-C4AB-A76F2BE942F8}"/>
              </a:ext>
            </a:extLst>
          </p:cNvPr>
          <p:cNvSpPr txBox="1">
            <a:spLocks noGrp="1"/>
          </p:cNvSpPr>
          <p:nvPr>
            <p:ph type="title"/>
          </p:nvPr>
        </p:nvSpPr>
        <p:spPr>
          <a:xfrm>
            <a:off x="202541" y="16168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sp>
        <p:nvSpPr>
          <p:cNvPr id="2" name="Slide Number Placeholder 1">
            <a:extLst>
              <a:ext uri="{FF2B5EF4-FFF2-40B4-BE49-F238E27FC236}">
                <a16:creationId xmlns:a16="http://schemas.microsoft.com/office/drawing/2014/main" id="{FAD02AB6-BE6F-4948-0196-C474176FBC3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50</a:t>
            </a:fld>
            <a:endParaRPr lang="en-US"/>
          </a:p>
        </p:txBody>
      </p:sp>
      <p:sp>
        <p:nvSpPr>
          <p:cNvPr id="5" name="Google Shape;233;p48">
            <a:extLst>
              <a:ext uri="{FF2B5EF4-FFF2-40B4-BE49-F238E27FC236}">
                <a16:creationId xmlns:a16="http://schemas.microsoft.com/office/drawing/2014/main" id="{85E87858-410F-697C-D534-00497C89AE6D}"/>
              </a:ext>
            </a:extLst>
          </p:cNvPr>
          <p:cNvSpPr txBox="1">
            <a:spLocks/>
          </p:cNvSpPr>
          <p:nvPr/>
        </p:nvSpPr>
        <p:spPr>
          <a:xfrm>
            <a:off x="308891" y="808871"/>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 (if model predicted non-default for every row)</a:t>
            </a:r>
          </a:p>
          <a:p>
            <a:pPr marL="1085850" lvl="2" indent="-171450" algn="just">
              <a:spcBef>
                <a:spcPts val="400"/>
              </a:spcBef>
              <a:buClr>
                <a:schemeClr val="dk1"/>
              </a:buClr>
              <a:buSzPts val="1400"/>
            </a:pPr>
            <a:r>
              <a:rPr lang="en-US" sz="900" dirty="0"/>
              <a:t>Model is learning better (</a:t>
            </a:r>
            <a:r>
              <a:rPr lang="en-US" sz="900" b="1" dirty="0"/>
              <a:t>≈3%</a:t>
            </a:r>
            <a:r>
              <a:rPr lang="en-US" sz="900" dirty="0"/>
              <a:t> improvement over </a:t>
            </a:r>
            <a:r>
              <a:rPr lang="en-US" sz="900" b="1" dirty="0"/>
              <a:t>Basic NN</a:t>
            </a:r>
            <a:r>
              <a:rPr lang="en-US" sz="900" dirty="0"/>
              <a:t>)</a:t>
            </a:r>
          </a:p>
          <a:p>
            <a:pPr marL="1085850" lvl="2" indent="-171450" algn="just">
              <a:spcBef>
                <a:spcPts val="400"/>
              </a:spcBef>
              <a:buClr>
                <a:schemeClr val="dk1"/>
              </a:buClr>
              <a:buSzPts val="1400"/>
            </a:pPr>
            <a:r>
              <a:rPr lang="en-US" sz="900" dirty="0"/>
              <a:t>Tuning improved performance</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Better agreement, approaching good range (</a:t>
            </a:r>
            <a:r>
              <a:rPr lang="en-US" sz="900" b="1" dirty="0"/>
              <a:t>&gt;0.6</a:t>
            </a:r>
            <a:r>
              <a:rPr lang="en-US" sz="900" dirty="0"/>
              <a:t>)</a:t>
            </a:r>
          </a:p>
          <a:p>
            <a:pPr marL="1085850" lvl="2" indent="-171450" algn="just">
              <a:spcBef>
                <a:spcPts val="400"/>
              </a:spcBef>
              <a:buClr>
                <a:schemeClr val="dk1"/>
              </a:buClr>
              <a:buSzPts val="1400"/>
            </a:pPr>
            <a:r>
              <a:rPr lang="en-US" sz="900" b="1" dirty="0"/>
              <a:t>≈15% </a:t>
            </a:r>
            <a:r>
              <a:rPr lang="en-US" sz="900" dirty="0"/>
              <a:t>improvement over </a:t>
            </a:r>
            <a:r>
              <a:rPr lang="en-US" sz="900" b="1" dirty="0"/>
              <a:t>Basic NN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≈76% </a:t>
            </a:r>
            <a:r>
              <a:rPr lang="en-US" sz="900" dirty="0"/>
              <a:t>of actual cases – more cases overall</a:t>
            </a:r>
          </a:p>
          <a:p>
            <a:pPr marL="1085850" lvl="2" indent="-171450" algn="just">
              <a:spcBef>
                <a:spcPts val="400"/>
              </a:spcBef>
              <a:buClr>
                <a:schemeClr val="dk1"/>
              </a:buClr>
              <a:buSzPts val="1400"/>
            </a:pPr>
            <a:r>
              <a:rPr lang="en-US" sz="900" b="1" dirty="0"/>
              <a:t>≈2% </a:t>
            </a:r>
            <a:r>
              <a:rPr lang="en-US" sz="900" dirty="0"/>
              <a:t>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Tuning responsible for slight improvement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≈83%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Tuning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338379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graphicFrame>
        <p:nvGraphicFramePr>
          <p:cNvPr id="248" name="Google Shape;248;p50"/>
          <p:cNvGraphicFramePr/>
          <p:nvPr>
            <p:extLst>
              <p:ext uri="{D42A27DB-BD31-4B8C-83A1-F6EECF244321}">
                <p14:modId xmlns:p14="http://schemas.microsoft.com/office/powerpoint/2010/main" val="1855741574"/>
              </p:ext>
            </p:extLst>
          </p:nvPr>
        </p:nvGraphicFramePr>
        <p:xfrm>
          <a:off x="1208880" y="115969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Accuracy</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0.5</a:t>
                      </a:r>
                      <a:r>
                        <a:rPr lang="en-US" sz="1200" dirty="0">
                          <a:latin typeface="Nunito"/>
                          <a:ea typeface="Nunito"/>
                          <a:cs typeface="Nunito"/>
                          <a:sym typeface="Nunito"/>
                        </a:rPr>
                        <a:t>46</a:t>
                      </a:r>
                      <a:endParaRPr sz="1200" u="none" strike="noStrike" cap="none" dirty="0">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45">
          <a:extLst>
            <a:ext uri="{FF2B5EF4-FFF2-40B4-BE49-F238E27FC236}">
              <a16:creationId xmlns:a16="http://schemas.microsoft.com/office/drawing/2014/main" id="{6C1C70BE-589A-37D9-7620-E6936326C185}"/>
            </a:ext>
          </a:extLst>
        </p:cNvPr>
        <p:cNvGrpSpPr/>
        <p:nvPr/>
      </p:nvGrpSpPr>
      <p:grpSpPr>
        <a:xfrm>
          <a:off x="0" y="0"/>
          <a:ext cx="0" cy="0"/>
          <a:chOff x="0" y="0"/>
          <a:chExt cx="0" cy="0"/>
        </a:xfrm>
      </p:grpSpPr>
      <p:sp>
        <p:nvSpPr>
          <p:cNvPr id="246" name="Google Shape;246;p50">
            <a:extLst>
              <a:ext uri="{FF2B5EF4-FFF2-40B4-BE49-F238E27FC236}">
                <a16:creationId xmlns:a16="http://schemas.microsoft.com/office/drawing/2014/main" id="{9C21FE2F-D791-7CDF-AA80-B8D8617636D6}"/>
              </a:ext>
            </a:extLst>
          </p:cNvPr>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sp>
        <p:nvSpPr>
          <p:cNvPr id="2" name="Slide Number Placeholder 1">
            <a:extLst>
              <a:ext uri="{FF2B5EF4-FFF2-40B4-BE49-F238E27FC236}">
                <a16:creationId xmlns:a16="http://schemas.microsoft.com/office/drawing/2014/main" id="{D5666580-CCBA-220C-87EE-4CBE7C5C600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52</a:t>
            </a:fld>
            <a:endParaRPr lang="en-US"/>
          </a:p>
        </p:txBody>
      </p:sp>
      <p:sp>
        <p:nvSpPr>
          <p:cNvPr id="3" name="Google Shape;233;p48">
            <a:extLst>
              <a:ext uri="{FF2B5EF4-FFF2-40B4-BE49-F238E27FC236}">
                <a16:creationId xmlns:a16="http://schemas.microsoft.com/office/drawing/2014/main" id="{3F78552E-211B-84AD-1493-56DC748EDDF6}"/>
              </a:ext>
            </a:extLst>
          </p:cNvPr>
          <p:cNvSpPr txBox="1">
            <a:spLocks/>
          </p:cNvSpPr>
          <p:nvPr/>
        </p:nvSpPr>
        <p:spPr>
          <a:xfrm>
            <a:off x="524399" y="769830"/>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a:t>
            </a:r>
          </a:p>
          <a:p>
            <a:pPr marL="1085850" lvl="2" indent="-171450" algn="just">
              <a:spcBef>
                <a:spcPts val="400"/>
              </a:spcBef>
              <a:buClr>
                <a:schemeClr val="dk1"/>
              </a:buClr>
              <a:buSzPts val="1400"/>
            </a:pPr>
            <a:r>
              <a:rPr lang="en-US" sz="900" dirty="0"/>
              <a:t>Model is learning slightly better over tuned </a:t>
            </a:r>
            <a:r>
              <a:rPr lang="en-US" sz="900" b="1" dirty="0"/>
              <a:t>Basic NN</a:t>
            </a:r>
            <a:endParaRPr lang="en-US" sz="900" dirty="0"/>
          </a:p>
          <a:p>
            <a:pPr marL="1085850" lvl="2" indent="-171450" algn="just">
              <a:spcBef>
                <a:spcPts val="400"/>
              </a:spcBef>
              <a:buClr>
                <a:schemeClr val="dk1"/>
              </a:buClr>
              <a:buSzPts val="1400"/>
            </a:pPr>
            <a:r>
              <a:rPr lang="en-US" sz="900" dirty="0"/>
              <a:t>Best overall accuracy</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Decreased from hand tuned parameters</a:t>
            </a:r>
          </a:p>
          <a:p>
            <a:pPr marL="1085850" lvl="2" indent="-171450" algn="just">
              <a:spcBef>
                <a:spcPts val="400"/>
              </a:spcBef>
              <a:buClr>
                <a:schemeClr val="dk1"/>
              </a:buClr>
              <a:buSzPts val="1400"/>
            </a:pPr>
            <a:r>
              <a:rPr lang="en-US" sz="900" dirty="0"/>
              <a:t>Less balanced (weighted) prediction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Lowest overall</a:t>
            </a:r>
          </a:p>
          <a:p>
            <a:pPr marL="1085850" lvl="2" indent="-171450" algn="just">
              <a:spcBef>
                <a:spcPts val="400"/>
              </a:spcBef>
              <a:buClr>
                <a:schemeClr val="dk1"/>
              </a:buClr>
              <a:buSzPts val="1400"/>
            </a:pPr>
            <a:r>
              <a:rPr lang="en-US" sz="900" dirty="0"/>
              <a:t>Catching fewer cases overall</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Trade-off for higher precision</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≈89%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tuned </a:t>
            </a:r>
            <a:r>
              <a:rPr lang="en-US" sz="900" b="1" dirty="0"/>
              <a:t>Basic NN</a:t>
            </a:r>
          </a:p>
          <a:p>
            <a:pPr marL="1085850" lvl="2" indent="-171450" algn="just">
              <a:spcBef>
                <a:spcPts val="400"/>
              </a:spcBef>
              <a:buClr>
                <a:schemeClr val="dk1"/>
              </a:buClr>
              <a:buSzPts val="1400"/>
            </a:pPr>
            <a:r>
              <a:rPr lang="en-US" sz="900" b="1" dirty="0" err="1">
                <a:solidFill>
                  <a:schemeClr val="dk1"/>
                </a:solidFill>
                <a:latin typeface="Nunito" pitchFamily="2" charset="0"/>
                <a:sym typeface="Century Gothic"/>
              </a:rPr>
              <a:t>GricSearchCV</a:t>
            </a:r>
            <a:r>
              <a:rPr lang="en-US" sz="900" dirty="0">
                <a:solidFill>
                  <a:schemeClr val="dk1"/>
                </a:solidFill>
                <a:latin typeface="Nunito" pitchFamily="2" charset="0"/>
                <a:sym typeface="Century Gothic"/>
              </a:rPr>
              <a:t>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697495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57100" y="2768747"/>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dirty="0">
                <a:latin typeface="Century Gothic"/>
                <a:ea typeface="Century Gothic"/>
                <a:cs typeface="Century Gothic"/>
                <a:sym typeface="Century Gothic"/>
              </a:rPr>
              <a:t>Which model is best for predicting loan defaults, and which metric is most important to check? Why?</a:t>
            </a:r>
            <a:endParaRPr dirty="0"/>
          </a:p>
          <a:p>
            <a:pPr marL="457200" lvl="0" indent="-317500" algn="l" rtl="0">
              <a:lnSpc>
                <a:spcPct val="115000"/>
              </a:lnSpc>
              <a:spcBef>
                <a:spcPts val="1000"/>
              </a:spcBef>
              <a:spcAft>
                <a:spcPts val="0"/>
              </a:spcAft>
              <a:buSzPts val="1400"/>
              <a:buFont typeface="Century Gothic"/>
              <a:buChar char="●"/>
            </a:pPr>
            <a:r>
              <a:rPr lang="en-US" sz="1400" dirty="0">
                <a:latin typeface="Century Gothic"/>
                <a:ea typeface="Century Gothic"/>
                <a:cs typeface="Century Gothic"/>
                <a:sym typeface="Century Gothic"/>
              </a:rPr>
              <a:t>Which metric is most important, and why?</a:t>
            </a:r>
            <a:endParaRPr dirty="0"/>
          </a:p>
          <a:p>
            <a:pPr marL="457200" lvl="0" indent="-317500" algn="l" rtl="0">
              <a:lnSpc>
                <a:spcPct val="115000"/>
              </a:lnSpc>
              <a:spcBef>
                <a:spcPts val="1000"/>
              </a:spcBef>
              <a:spcAft>
                <a:spcPts val="0"/>
              </a:spcAft>
              <a:buSzPts val="1400"/>
              <a:buFont typeface="Century Gothic"/>
              <a:buChar char="●"/>
            </a:pPr>
            <a:r>
              <a:rPr lang="en-US" sz="1400" dirty="0">
                <a:latin typeface="Century Gothic"/>
                <a:ea typeface="Century Gothic"/>
                <a:cs typeface="Century Gothic"/>
                <a:sym typeface="Century Gothic"/>
              </a:rPr>
              <a:t>What advice would you give the business from this model?</a:t>
            </a:r>
            <a:endParaRPr sz="1400" dirty="0">
              <a:latin typeface="Century Gothic"/>
              <a:ea typeface="Century Gothic"/>
              <a:cs typeface="Century Gothic"/>
              <a:sym typeface="Century Gothic"/>
            </a:endParaRPr>
          </a:p>
        </p:txBody>
      </p:sp>
      <p:sp>
        <p:nvSpPr>
          <p:cNvPr id="254" name="Google Shape;254;p51"/>
          <p:cNvSpPr txBox="1"/>
          <p:nvPr/>
        </p:nvSpPr>
        <p:spPr>
          <a:xfrm>
            <a:off x="257100" y="36414"/>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graphicFrame>
        <p:nvGraphicFramePr>
          <p:cNvPr id="255" name="Google Shape;255;p51"/>
          <p:cNvGraphicFramePr/>
          <p:nvPr>
            <p:extLst>
              <p:ext uri="{D42A27DB-BD31-4B8C-83A1-F6EECF244321}">
                <p14:modId xmlns:p14="http://schemas.microsoft.com/office/powerpoint/2010/main" val="2698225295"/>
              </p:ext>
            </p:extLst>
          </p:nvPr>
        </p:nvGraphicFramePr>
        <p:xfrm>
          <a:off x="1753180" y="74291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57</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1933</TotalTime>
  <Words>3257</Words>
  <Application>Microsoft Office PowerPoint</Application>
  <PresentationFormat>On-screen Show (16:9)</PresentationFormat>
  <Paragraphs>466</Paragraphs>
  <Slides>57</Slides>
  <Notes>54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57</vt:i4>
      </vt:variant>
    </vt:vector>
  </HeadingPairs>
  <TitlesOfParts>
    <vt:vector size="66"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1: Basic Neural Network </vt:lpstr>
      <vt:lpstr>Scenario 2: Neural Network With Parameter Tuning</vt:lpstr>
      <vt:lpstr>Scenario 2: Neural Network With Parameter Tuning</vt:lpstr>
      <vt:lpstr>Scenario 3: Neural Network Using Grid Search </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232</cp:revision>
  <dcterms:modified xsi:type="dcterms:W3CDTF">2025-12-14T22:10:31Z</dcterms:modified>
</cp:coreProperties>
</file>