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3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  <p:sldMasterId id="2147483670" r:id="rId3"/>
    <p:sldMasterId id="2147483681" r:id="rId4"/>
  </p:sldMasterIdLst>
  <p:notesMasterIdLst>
    <p:notesMasterId r:id="rId72"/>
  </p:notesMasterIdLst>
  <p:sldIdLst>
    <p:sldId id="256" r:id="rId5"/>
    <p:sldId id="257" r:id="rId6"/>
    <p:sldId id="258" r:id="rId7"/>
    <p:sldId id="259" r:id="rId8"/>
    <p:sldId id="261" r:id="rId9"/>
    <p:sldId id="286" r:id="rId10"/>
    <p:sldId id="287" r:id="rId11"/>
    <p:sldId id="262" r:id="rId12"/>
    <p:sldId id="288" r:id="rId13"/>
    <p:sldId id="289" r:id="rId14"/>
    <p:sldId id="263" r:id="rId15"/>
    <p:sldId id="290" r:id="rId16"/>
    <p:sldId id="291" r:id="rId17"/>
    <p:sldId id="300" r:id="rId18"/>
    <p:sldId id="301" r:id="rId19"/>
    <p:sldId id="302" r:id="rId20"/>
    <p:sldId id="303" r:id="rId21"/>
    <p:sldId id="299" r:id="rId22"/>
    <p:sldId id="295" r:id="rId23"/>
    <p:sldId id="297" r:id="rId24"/>
    <p:sldId id="296" r:id="rId25"/>
    <p:sldId id="298" r:id="rId26"/>
    <p:sldId id="265" r:id="rId27"/>
    <p:sldId id="292" r:id="rId28"/>
    <p:sldId id="304" r:id="rId29"/>
    <p:sldId id="264" r:id="rId30"/>
    <p:sldId id="294" r:id="rId31"/>
    <p:sldId id="267" r:id="rId32"/>
    <p:sldId id="305" r:id="rId33"/>
    <p:sldId id="293" r:id="rId34"/>
    <p:sldId id="266" r:id="rId35"/>
    <p:sldId id="309" r:id="rId36"/>
    <p:sldId id="308" r:id="rId37"/>
    <p:sldId id="268" r:id="rId38"/>
    <p:sldId id="316" r:id="rId39"/>
    <p:sldId id="315" r:id="rId40"/>
    <p:sldId id="269" r:id="rId41"/>
    <p:sldId id="307" r:id="rId42"/>
    <p:sldId id="310" r:id="rId43"/>
    <p:sldId id="270" r:id="rId44"/>
    <p:sldId id="311" r:id="rId45"/>
    <p:sldId id="312" r:id="rId46"/>
    <p:sldId id="271" r:id="rId47"/>
    <p:sldId id="313" r:id="rId48"/>
    <p:sldId id="314" r:id="rId49"/>
    <p:sldId id="318" r:id="rId50"/>
    <p:sldId id="317" r:id="rId51"/>
    <p:sldId id="272" r:id="rId52"/>
    <p:sldId id="320" r:id="rId53"/>
    <p:sldId id="319" r:id="rId54"/>
    <p:sldId id="273" r:id="rId55"/>
    <p:sldId id="274" r:id="rId56"/>
    <p:sldId id="275" r:id="rId57"/>
    <p:sldId id="321" r:id="rId58"/>
    <p:sldId id="276" r:id="rId59"/>
    <p:sldId id="277" r:id="rId60"/>
    <p:sldId id="278" r:id="rId61"/>
    <p:sldId id="322" r:id="rId62"/>
    <p:sldId id="279" r:id="rId63"/>
    <p:sldId id="280" r:id="rId64"/>
    <p:sldId id="281" r:id="rId65"/>
    <p:sldId id="323" r:id="rId66"/>
    <p:sldId id="324" r:id="rId67"/>
    <p:sldId id="325" r:id="rId68"/>
    <p:sldId id="282" r:id="rId69"/>
    <p:sldId id="284" r:id="rId70"/>
    <p:sldId id="285" r:id="rId71"/>
  </p:sldIdLst>
  <p:sldSz cx="9144000" cy="5143500" type="screen16x9"/>
  <p:notesSz cx="7010400" cy="9296400"/>
  <p:embeddedFontLst>
    <p:embeddedFont>
      <p:font typeface="Century Gothic" panose="020B0502020202020204" pitchFamily="34" charset="0"/>
      <p:regular r:id="rId73"/>
      <p:bold r:id="rId74"/>
      <p:italic r:id="rId75"/>
      <p:boldItalic r:id="rId76"/>
    </p:embeddedFont>
    <p:embeddedFont>
      <p:font typeface="Nunito" pitchFamily="2" charset="0"/>
      <p:regular r:id="rId77"/>
      <p:bold r:id="rId78"/>
      <p:italic r:id="rId79"/>
      <p:boldItalic r:id="rId80"/>
    </p:embeddedFont>
    <p:embeddedFont>
      <p:font typeface="Nunito ExtraBold" pitchFamily="2" charset="0"/>
      <p:bold r:id="rId81"/>
      <p:boldItalic r:id="rId82"/>
    </p:embeddedFont>
    <p:embeddedFont>
      <p:font typeface="Nunito SemiBold" pitchFamily="2" charset="0"/>
      <p:regular r:id="rId83"/>
      <p:bold r:id="rId84"/>
      <p:italic r:id="rId85"/>
      <p:boldItalic r:id="rId8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8" roundtripDataSignature="AMtx7mgU5MxqWkBEcDZhVTSjLTVZSyau3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rejith Premkumar" initials="" lastIdx="5" clrIdx="0"/>
  <p:cmAuthor id="1" name="Akash Krishna" initials="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344643-9A85-4DB7-9F01-8C1698141E30}">
  <a:tblStyle styleId="{C1344643-9A85-4DB7-9F01-8C1698141E3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5B9BD5">
              <a:alpha val="20000"/>
            </a:srgbClr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rgbClr val="5B9BD5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C789D89-7B42-48A2-8941-39F5C445BB0A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EEEF"/>
          </a:solidFill>
        </a:fill>
      </a:tcStyle>
    </a:wholeTbl>
    <a:band1H>
      <a:tcTxStyle b="off" i="off"/>
      <a:tcStyle>
        <a:tcBdr/>
        <a:fill>
          <a:solidFill>
            <a:srgbClr val="D5DBD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5DBD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3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3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83" d="100"/>
          <a:sy n="183" d="100"/>
        </p:scale>
        <p:origin x="88" y="44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12.fntdata"/><Relationship Id="rId89" Type="http://schemas.openxmlformats.org/officeDocument/2006/relationships/commentAuthors" Target="commentAuthor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font" Target="fonts/font2.fntdata"/><Relationship Id="rId79" Type="http://schemas.openxmlformats.org/officeDocument/2006/relationships/font" Target="fonts/font7.fntdata"/><Relationship Id="rId5" Type="http://schemas.openxmlformats.org/officeDocument/2006/relationships/slide" Target="slides/slide1.xml"/><Relationship Id="rId90" Type="http://schemas.openxmlformats.org/officeDocument/2006/relationships/presProps" Target="presProps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font" Target="fonts/font5.fnt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notesMaster" Target="notesMasters/notesMaster1.xml"/><Relationship Id="rId80" Type="http://schemas.openxmlformats.org/officeDocument/2006/relationships/font" Target="fonts/font8.fntdata"/><Relationship Id="rId85" Type="http://schemas.openxmlformats.org/officeDocument/2006/relationships/font" Target="fonts/font13.fntdata"/><Relationship Id="rId9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font" Target="fonts/font3.fntdata"/><Relationship Id="rId83" Type="http://schemas.openxmlformats.org/officeDocument/2006/relationships/font" Target="fonts/font11.fntdata"/><Relationship Id="rId88" Type="http://customschemas.google.com/relationships/presentationmetadata" Target="metadata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font" Target="fonts/font1.fntdata"/><Relationship Id="rId78" Type="http://schemas.openxmlformats.org/officeDocument/2006/relationships/font" Target="fonts/font6.fntdata"/><Relationship Id="rId81" Type="http://schemas.openxmlformats.org/officeDocument/2006/relationships/font" Target="fonts/font9.fntdata"/><Relationship Id="rId86" Type="http://schemas.openxmlformats.org/officeDocument/2006/relationships/font" Target="fonts/font14.fntdata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font" Target="fonts/font4.fntdata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font" Target="fonts/font10.fntdata"/><Relationship Id="rId19" Type="http://schemas.openxmlformats.org/officeDocument/2006/relationships/slide" Target="slides/slide1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9" name="Google Shape;199;p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58837adcbf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g158837adcbf_0_5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245c43bb502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g245c43bb502_0_4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245c43bb502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g245c43bb502_0_5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9" name="Google Shape;229;p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886a1dc9e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5886a1dc9e_0_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DB9C910B-A15F-4607-90E2-5581F01B9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886a1dc9e_0_1:notes">
            <a:extLst>
              <a:ext uri="{FF2B5EF4-FFF2-40B4-BE49-F238E27FC236}">
                <a16:creationId xmlns:a16="http://schemas.microsoft.com/office/drawing/2014/main" id="{55A64E9B-43C8-1E88-D407-38985396AD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5886a1dc9e_0_1:notes">
            <a:extLst>
              <a:ext uri="{FF2B5EF4-FFF2-40B4-BE49-F238E27FC236}">
                <a16:creationId xmlns:a16="http://schemas.microsoft.com/office/drawing/2014/main" id="{737C1F68-E850-F89A-FEAB-29EB061212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15819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>
          <a:extLst>
            <a:ext uri="{FF2B5EF4-FFF2-40B4-BE49-F238E27FC236}">
              <a16:creationId xmlns:a16="http://schemas.microsoft.com/office/drawing/2014/main" id="{CCC3F00D-B6A6-FA5C-C2C9-85B9DCCD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886a1dc9e_0_1:notes">
            <a:extLst>
              <a:ext uri="{FF2B5EF4-FFF2-40B4-BE49-F238E27FC236}">
                <a16:creationId xmlns:a16="http://schemas.microsoft.com/office/drawing/2014/main" id="{4A366267-9DB1-8F3A-6E55-1C598117A5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g15886a1dc9e_0_1:notes">
            <a:extLst>
              <a:ext uri="{FF2B5EF4-FFF2-40B4-BE49-F238E27FC236}">
                <a16:creationId xmlns:a16="http://schemas.microsoft.com/office/drawing/2014/main" id="{0DF42954-9BC6-D63A-1095-E099D623F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891480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19b7728cb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419b7728cb_0_1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BCFDFCEC-582D-7504-666F-CAD8E13AA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19b7728cb_0_120:notes">
            <a:extLst>
              <a:ext uri="{FF2B5EF4-FFF2-40B4-BE49-F238E27FC236}">
                <a16:creationId xmlns:a16="http://schemas.microsoft.com/office/drawing/2014/main" id="{119CF834-A512-BD5F-5574-21A1425A1A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3" name="Google Shape;243;g2419b7728cb_0_120:notes">
            <a:extLst>
              <a:ext uri="{FF2B5EF4-FFF2-40B4-BE49-F238E27FC236}">
                <a16:creationId xmlns:a16="http://schemas.microsoft.com/office/drawing/2014/main" id="{12729895-2B16-F0E7-2484-2FEB9C158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639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A42F7915-9520-8835-A7C6-8E4CB2060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371A7DBD-D376-2C06-66D4-ACA0F34DC4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6D1C8511-9056-979F-1183-BA301200D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89595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EAD3FCE2-7150-E380-6443-6DA748BF1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CB678232-0428-5436-974E-A505885287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B139AA55-5E60-A86F-1240-6483DEEF9A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748286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66EBFA2-2CC8-1B44-7B31-12F801689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4B4472EB-0DE0-C993-8B1E-0EFA83DA18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C820F2A5-16C0-7764-7D36-77C0B187B2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63908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34A2592-9803-5718-87D1-F90C6D18B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FDC281B5-CB1C-ED07-4631-C72B0DB23F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F73B496E-7512-1445-AA14-C7BD4BA61C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33358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84797638-EBCA-C881-2E8B-5375F347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9EC2BF7B-D2D3-8AF7-3B27-50E89149CD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25332378-5709-61AE-CA37-BD7A1709CB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31489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95B01964-199C-9C99-EC82-DD7AC968E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A6D1CF1D-E3B3-E805-B0AA-69779700E8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17A4DA4B-2F55-A16A-79D8-C5607C7E15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293701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69AC646C-5120-A3DA-A826-E3F4D3DA4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E7129D8E-4C53-2D0A-47F0-0DC058A335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2239E4D2-ADFF-B462-EC7C-F152E64B3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954259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58ED0913-04D4-EDDC-3111-D17910C2C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6C1ECE35-2BC6-F42C-9D8C-7470B4637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4277FBF4-DB79-725C-A10D-EFB39528E0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85464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C40AFD42-9872-2BEA-7826-A3C8681AB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AC2F532A-28E3-11B9-298B-D834971915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DB6F8702-45B8-0C4A-EA16-C5FEB8BA4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75245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5EC76DA8-EEC8-0C65-0DDB-7CC53B7EF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9F64FB4B-F474-4903-ADA6-EF2C3722DF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905E503C-18BC-7679-7B72-C7E0CAF30D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2256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19b7728cb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2419b7728cb_0_13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1736BF51-54C5-DBB5-91E3-44180DAA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19b7728cb_0_137:notes">
            <a:extLst>
              <a:ext uri="{FF2B5EF4-FFF2-40B4-BE49-F238E27FC236}">
                <a16:creationId xmlns:a16="http://schemas.microsoft.com/office/drawing/2014/main" id="{306EB255-0996-FBC1-3F09-D6860EDD72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2419b7728cb_0_137:notes">
            <a:extLst>
              <a:ext uri="{FF2B5EF4-FFF2-40B4-BE49-F238E27FC236}">
                <a16:creationId xmlns:a16="http://schemas.microsoft.com/office/drawing/2014/main" id="{3B0F379E-6027-93CF-3436-9478296477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321694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>
          <a:extLst>
            <a:ext uri="{FF2B5EF4-FFF2-40B4-BE49-F238E27FC236}">
              <a16:creationId xmlns:a16="http://schemas.microsoft.com/office/drawing/2014/main" id="{2AC2B98D-818D-F4F8-D2AD-94149563C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419b7728cb_0_137:notes">
            <a:extLst>
              <a:ext uri="{FF2B5EF4-FFF2-40B4-BE49-F238E27FC236}">
                <a16:creationId xmlns:a16="http://schemas.microsoft.com/office/drawing/2014/main" id="{423545D1-416D-B8CE-C6BF-2C7E8355E0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g2419b7728cb_0_137:notes">
            <a:extLst>
              <a:ext uri="{FF2B5EF4-FFF2-40B4-BE49-F238E27FC236}">
                <a16:creationId xmlns:a16="http://schemas.microsoft.com/office/drawing/2014/main" id="{81637C3E-2689-F7C5-B1D9-1477535956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642311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CECD07BF-B471-AD66-7709-303003112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19b7728cb_0_127:notes">
            <a:extLst>
              <a:ext uri="{FF2B5EF4-FFF2-40B4-BE49-F238E27FC236}">
                <a16:creationId xmlns:a16="http://schemas.microsoft.com/office/drawing/2014/main" id="{81C6FD7E-AA5B-D58C-05A6-DDB041CACB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g2419b7728cb_0_127:notes">
            <a:extLst>
              <a:ext uri="{FF2B5EF4-FFF2-40B4-BE49-F238E27FC236}">
                <a16:creationId xmlns:a16="http://schemas.microsoft.com/office/drawing/2014/main" id="{84F3D1FF-DA99-4720-EC88-5C4F118558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894382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19b7728cb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19b7728cb_0_6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657A9F1F-D874-DAF5-5A15-CE849DDD3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19b7728cb_0_65:notes">
            <a:extLst>
              <a:ext uri="{FF2B5EF4-FFF2-40B4-BE49-F238E27FC236}">
                <a16:creationId xmlns:a16="http://schemas.microsoft.com/office/drawing/2014/main" id="{5F10E7F3-DA51-3C4B-25AC-2D82F6F06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19b7728cb_0_65:notes">
            <a:extLst>
              <a:ext uri="{FF2B5EF4-FFF2-40B4-BE49-F238E27FC236}">
                <a16:creationId xmlns:a16="http://schemas.microsoft.com/office/drawing/2014/main" id="{8E078040-46B0-17FA-EF4B-3B0D57F2EF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454226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>
          <a:extLst>
            <a:ext uri="{FF2B5EF4-FFF2-40B4-BE49-F238E27FC236}">
              <a16:creationId xmlns:a16="http://schemas.microsoft.com/office/drawing/2014/main" id="{7A58816C-48FC-6D9C-1A84-4614B0A47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419b7728cb_0_65:notes">
            <a:extLst>
              <a:ext uri="{FF2B5EF4-FFF2-40B4-BE49-F238E27FC236}">
                <a16:creationId xmlns:a16="http://schemas.microsoft.com/office/drawing/2014/main" id="{3B6C0AF0-3EF3-E2D0-F75B-80258CCE17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g2419b7728cb_0_65:notes">
            <a:extLst>
              <a:ext uri="{FF2B5EF4-FFF2-40B4-BE49-F238E27FC236}">
                <a16:creationId xmlns:a16="http://schemas.microsoft.com/office/drawing/2014/main" id="{F5AE873B-14C4-8942-3AA0-DE791F64C0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472292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5886a1dc9e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g15886a1dc9e_0_11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5892072E-E00B-6A69-CFA3-CF2DE6DBF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419b7728cb_0_155:notes">
            <a:extLst>
              <a:ext uri="{FF2B5EF4-FFF2-40B4-BE49-F238E27FC236}">
                <a16:creationId xmlns:a16="http://schemas.microsoft.com/office/drawing/2014/main" id="{B6E56F86-6DEB-6E1E-003E-7A255D4511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2419b7728cb_0_155:notes">
            <a:extLst>
              <a:ext uri="{FF2B5EF4-FFF2-40B4-BE49-F238E27FC236}">
                <a16:creationId xmlns:a16="http://schemas.microsoft.com/office/drawing/2014/main" id="{016226CC-7B76-5C67-1876-70DCE7907E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588650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ABAB96AA-C1A4-A48D-C9B0-6ED3E732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E13F8632-9680-3FF1-3B62-913F835F74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581ED341-7367-A189-D5E0-B3B82609AD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040977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419b7728cb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2419b7728cb_0_15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>
          <a:extLst>
            <a:ext uri="{FF2B5EF4-FFF2-40B4-BE49-F238E27FC236}">
              <a16:creationId xmlns:a16="http://schemas.microsoft.com/office/drawing/2014/main" id="{A7C2E92E-6C47-3E57-7D94-FF54E36E0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419b7728cb_0_155:notes">
            <a:extLst>
              <a:ext uri="{FF2B5EF4-FFF2-40B4-BE49-F238E27FC236}">
                <a16:creationId xmlns:a16="http://schemas.microsoft.com/office/drawing/2014/main" id="{6D8E53EF-1C71-2C23-3160-428675DC9A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2419b7728cb_0_155:notes">
            <a:extLst>
              <a:ext uri="{FF2B5EF4-FFF2-40B4-BE49-F238E27FC236}">
                <a16:creationId xmlns:a16="http://schemas.microsoft.com/office/drawing/2014/main" id="{8F09E4EC-42AA-A83C-B017-9D486BBF0C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703370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A472B34B-D068-7FF9-8D9E-CCB20EAA0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504CC011-F65F-F8D7-FBBD-2DD3FFC9251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11064FB8-251C-12DC-7052-785104E4BF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91129982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E608F1C5-0202-E5BC-B18D-AA689D9C7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7B05E870-E456-D664-2881-375BE9B499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205F2B7B-2F6D-6809-3B1D-3BF335D470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847076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8083AC41-65E9-ADB1-6D1B-CE0186D9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A0548C1D-7A40-77F1-B700-C5FF51AA71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2BDD89C6-FD49-C88A-A9B6-E281C4B27F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9279938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15886a1dc9e_0_2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15886a1dc9e_0_23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56E71109-D52A-D101-8FD5-4BF546010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99966AE1-5EF2-7951-568A-3F7B40F21F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0CA11978-3954-70A8-860A-98807F311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357709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0F92DC7E-BE46-0C00-5EC3-5D053F6D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B28ED205-510C-9EA2-0360-8701B73BA0D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175AE2E2-20E9-C922-F1A1-0F20D0D17F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63208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5886a1dc9e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15886a1dc9e_0_29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C89482A1-E4FB-11C3-54DA-EB9340A65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F950AAB8-6A91-8429-32AD-B5983AE0F3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869646DD-8F72-5561-6086-4CCA41E2D3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693040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>
          <a:extLst>
            <a:ext uri="{FF2B5EF4-FFF2-40B4-BE49-F238E27FC236}">
              <a16:creationId xmlns:a16="http://schemas.microsoft.com/office/drawing/2014/main" id="{446A0588-528C-6EE1-D809-E1C1643A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5886a1dc9e_0_174:notes">
            <a:extLst>
              <a:ext uri="{FF2B5EF4-FFF2-40B4-BE49-F238E27FC236}">
                <a16:creationId xmlns:a16="http://schemas.microsoft.com/office/drawing/2014/main" id="{10DC0830-BA19-3DA4-155F-843F4DEA68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9" name="Google Shape;289;g15886a1dc9e_0_174:notes">
            <a:extLst>
              <a:ext uri="{FF2B5EF4-FFF2-40B4-BE49-F238E27FC236}">
                <a16:creationId xmlns:a16="http://schemas.microsoft.com/office/drawing/2014/main" id="{69945E5A-512B-3366-A5C3-150764AFA0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910968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24049DC4-FE06-F4CB-5760-7FFD0AA90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5886a1dc9e_0_293:notes">
            <a:extLst>
              <a:ext uri="{FF2B5EF4-FFF2-40B4-BE49-F238E27FC236}">
                <a16:creationId xmlns:a16="http://schemas.microsoft.com/office/drawing/2014/main" id="{5C398477-CF06-9477-3384-0194B565CF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15886a1dc9e_0_293:notes">
            <a:extLst>
              <a:ext uri="{FF2B5EF4-FFF2-40B4-BE49-F238E27FC236}">
                <a16:creationId xmlns:a16="http://schemas.microsoft.com/office/drawing/2014/main" id="{1AB4FCC5-5D12-FBAA-3C32-0DFDA00F3B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0438034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>
          <a:extLst>
            <a:ext uri="{FF2B5EF4-FFF2-40B4-BE49-F238E27FC236}">
              <a16:creationId xmlns:a16="http://schemas.microsoft.com/office/drawing/2014/main" id="{EB3D05A7-F525-4684-EAA3-576EC25D8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15886a1dc9e_0_293:notes">
            <a:extLst>
              <a:ext uri="{FF2B5EF4-FFF2-40B4-BE49-F238E27FC236}">
                <a16:creationId xmlns:a16="http://schemas.microsoft.com/office/drawing/2014/main" id="{0A87AA7C-4B0A-0BF0-58F6-C0FE3DF9D3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g15886a1dc9e_0_293:notes">
            <a:extLst>
              <a:ext uri="{FF2B5EF4-FFF2-40B4-BE49-F238E27FC236}">
                <a16:creationId xmlns:a16="http://schemas.microsoft.com/office/drawing/2014/main" id="{7DEA0775-D70B-3C56-B9D6-BEBA8FEDD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439087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4d23124c0_1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244d23124c0_1_1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95E72F37-8429-9008-93A2-8E9CD6FE4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4d23124c0_1_11:notes">
            <a:extLst>
              <a:ext uri="{FF2B5EF4-FFF2-40B4-BE49-F238E27FC236}">
                <a16:creationId xmlns:a16="http://schemas.microsoft.com/office/drawing/2014/main" id="{EFC333F9-AC45-8BB1-B6D4-F7619D7B6B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244d23124c0_1_11:notes">
            <a:extLst>
              <a:ext uri="{FF2B5EF4-FFF2-40B4-BE49-F238E27FC236}">
                <a16:creationId xmlns:a16="http://schemas.microsoft.com/office/drawing/2014/main" id="{26CA066E-FDBE-E898-F6DA-3CA5A062EE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799371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>
          <a:extLst>
            <a:ext uri="{FF2B5EF4-FFF2-40B4-BE49-F238E27FC236}">
              <a16:creationId xmlns:a16="http://schemas.microsoft.com/office/drawing/2014/main" id="{0B688D4F-B5AF-3C4B-5480-0E128DF7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44d23124c0_1_11:notes">
            <a:extLst>
              <a:ext uri="{FF2B5EF4-FFF2-40B4-BE49-F238E27FC236}">
                <a16:creationId xmlns:a16="http://schemas.microsoft.com/office/drawing/2014/main" id="{3D2651A5-52BC-1F3D-9058-B63F07AC4AA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244d23124c0_1_11:notes">
            <a:extLst>
              <a:ext uri="{FF2B5EF4-FFF2-40B4-BE49-F238E27FC236}">
                <a16:creationId xmlns:a16="http://schemas.microsoft.com/office/drawing/2014/main" id="{AA4B324A-266E-32DB-B57F-F6216731FD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05903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44d23124c0_1_1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44d23124c0_1_15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24937ead0e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5" name="Google Shape;325;g24937ead0e2_0_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44d23124c0_1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g244d23124c0_1_18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>
          <a:extLst>
            <a:ext uri="{FF2B5EF4-FFF2-40B4-BE49-F238E27FC236}">
              <a16:creationId xmlns:a16="http://schemas.microsoft.com/office/drawing/2014/main" id="{9241B889-87C2-003A-A741-FD15807B3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244d23124c0_1_181:notes">
            <a:extLst>
              <a:ext uri="{FF2B5EF4-FFF2-40B4-BE49-F238E27FC236}">
                <a16:creationId xmlns:a16="http://schemas.microsoft.com/office/drawing/2014/main" id="{8A159042-A02F-17CD-0185-67CA5DFB38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2" name="Google Shape;332;g244d23124c0_1_181:notes">
            <a:extLst>
              <a:ext uri="{FF2B5EF4-FFF2-40B4-BE49-F238E27FC236}">
                <a16:creationId xmlns:a16="http://schemas.microsoft.com/office/drawing/2014/main" id="{CDC4C448-7915-7770-BF47-6AF86F1D70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83934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4d23124c0_1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244d23124c0_1_167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4937ead0e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6" name="Google Shape;346;g24937ead0e2_0_3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44d23124c0_1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g244d23124c0_1_174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>
          <a:extLst>
            <a:ext uri="{FF2B5EF4-FFF2-40B4-BE49-F238E27FC236}">
              <a16:creationId xmlns:a16="http://schemas.microsoft.com/office/drawing/2014/main" id="{A4E0A6A4-3FF8-8BE5-2018-D3D2ED857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44d23124c0_1_174:notes">
            <a:extLst>
              <a:ext uri="{FF2B5EF4-FFF2-40B4-BE49-F238E27FC236}">
                <a16:creationId xmlns:a16="http://schemas.microsoft.com/office/drawing/2014/main" id="{F19DA51E-E04C-4E6F-BF07-40CE6BBB83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3" name="Google Shape;353;g244d23124c0_1_174:notes">
            <a:extLst>
              <a:ext uri="{FF2B5EF4-FFF2-40B4-BE49-F238E27FC236}">
                <a16:creationId xmlns:a16="http://schemas.microsoft.com/office/drawing/2014/main" id="{77A1F472-7A6A-EA61-AA2D-CCEB9ECD12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319014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24937ead0e2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0" name="Google Shape;360;g24937ead0e2_0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15886a1dc9e_0_4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7" name="Google Shape;367;g15886a1dc9e_0_403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44c62e8fd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g244c62e8fd3_0_1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B4E504BC-88DB-23A3-8025-335AF7964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44c62e8fd3_0_10:notes">
            <a:extLst>
              <a:ext uri="{FF2B5EF4-FFF2-40B4-BE49-F238E27FC236}">
                <a16:creationId xmlns:a16="http://schemas.microsoft.com/office/drawing/2014/main" id="{4307223E-00F9-C1A2-9B4F-B019933F65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g244c62e8fd3_0_10:notes">
            <a:extLst>
              <a:ext uri="{FF2B5EF4-FFF2-40B4-BE49-F238E27FC236}">
                <a16:creationId xmlns:a16="http://schemas.microsoft.com/office/drawing/2014/main" id="{4ED835B7-2DEB-41F4-D619-4B501B53F5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165216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2A5EDCA2-9FE4-569A-61AD-C3FEF218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44c62e8fd3_0_10:notes">
            <a:extLst>
              <a:ext uri="{FF2B5EF4-FFF2-40B4-BE49-F238E27FC236}">
                <a16:creationId xmlns:a16="http://schemas.microsoft.com/office/drawing/2014/main" id="{CDBC3C5F-DA84-DBCC-35A8-6AE698E987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g244c62e8fd3_0_10:notes">
            <a:extLst>
              <a:ext uri="{FF2B5EF4-FFF2-40B4-BE49-F238E27FC236}">
                <a16:creationId xmlns:a16="http://schemas.microsoft.com/office/drawing/2014/main" id="{9312DD05-B8B2-5361-0675-EC60E380B9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69440712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>
          <a:extLst>
            <a:ext uri="{FF2B5EF4-FFF2-40B4-BE49-F238E27FC236}">
              <a16:creationId xmlns:a16="http://schemas.microsoft.com/office/drawing/2014/main" id="{D76A29EE-2361-2963-8B01-096B372D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244c62e8fd3_0_10:notes">
            <a:extLst>
              <a:ext uri="{FF2B5EF4-FFF2-40B4-BE49-F238E27FC236}">
                <a16:creationId xmlns:a16="http://schemas.microsoft.com/office/drawing/2014/main" id="{6820FB4A-7303-0B8B-2E9F-94EEF48FEF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4" name="Google Shape;374;g244c62e8fd3_0_10:notes">
            <a:extLst>
              <a:ext uri="{FF2B5EF4-FFF2-40B4-BE49-F238E27FC236}">
                <a16:creationId xmlns:a16="http://schemas.microsoft.com/office/drawing/2014/main" id="{23C392E4-FCDF-9D27-B07E-6B3BCD83D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306104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10e9006cb6c_1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0" name="Google Shape;380;g10e9006cb6c_1_20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44d23124c0_1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244d23124c0_1_9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0ee00f67ea_0_55:notes"/>
          <p:cNvSpPr txBox="1">
            <a:spLocks noGrp="1"/>
          </p:cNvSpPr>
          <p:nvPr>
            <p:ph type="body" idx="1"/>
          </p:nvPr>
        </p:nvSpPr>
        <p:spPr>
          <a:xfrm>
            <a:off x="701040" y="4473893"/>
            <a:ext cx="5608320" cy="3660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t" anchorCtr="0">
            <a:noAutofit/>
          </a:bodyPr>
          <a:lstStyle/>
          <a:p>
            <a:pPr marL="0" indent="0">
              <a:buSzPts val="1400"/>
              <a:buNone/>
            </a:pPr>
            <a:endParaRPr dirty="0"/>
          </a:p>
        </p:txBody>
      </p:sp>
      <p:sp>
        <p:nvSpPr>
          <p:cNvPr id="397" name="Google Shape;397;g10ee00f67e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8" name="Google Shape;398;g10ee00f67ea_0_55:notes"/>
          <p:cNvSpPr txBox="1">
            <a:spLocks noGrp="1"/>
          </p:cNvSpPr>
          <p:nvPr>
            <p:ph type="sldNum" idx="12"/>
          </p:nvPr>
        </p:nvSpPr>
        <p:spPr>
          <a:xfrm>
            <a:off x="3970938" y="8829967"/>
            <a:ext cx="3037840" cy="46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 algn="r">
              <a:buSzPts val="1200"/>
            </a:pPr>
            <a:fld id="{00000000-1234-1234-1234-123412341234}" type="slidenum"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algn="r">
                <a:buSzPts val="1200"/>
              </a:pPr>
              <a:t>67</a:t>
            </a:fld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g10ee00f67ea_0_55:notes"/>
          <p:cNvSpPr txBox="1">
            <a:spLocks noGrp="1"/>
          </p:cNvSpPr>
          <p:nvPr>
            <p:ph type="ftr" idx="11"/>
          </p:nvPr>
        </p:nvSpPr>
        <p:spPr>
          <a:xfrm>
            <a:off x="0" y="8829967"/>
            <a:ext cx="3037840" cy="466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46568" rIns="93162" bIns="46568" anchor="b" anchorCtr="0">
            <a:noAutofit/>
          </a:bodyPr>
          <a:lstStyle/>
          <a:p>
            <a:pPr>
              <a:buSzPts val="1400"/>
            </a:pPr>
            <a:r>
              <a:rPr lang="en"/>
              <a:t>| Proprietary content. ©Great Learning. All Rights Reserved. Unauthorized use or distribution prohibited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ge1a9588eba_0_9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" name="Google Shape;16;ge1a9588eba_0_9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e1a9588eba_0_15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e1a9588eba_0_15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20" name="Google Shape;20;ge1a9588eba_0_1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e1a9588eba_0_12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e1a9588eba_0_1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ge1a9588eba_0_1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26" name="Google Shape;26;ge1a9588eba_0_19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{C1344643-9A85-4DB7-9F01-8C1698141E30}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7" name="Google Shape;27;ge1a9588eba_0_1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e1a9588eba_0_23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e1a9588eba_0_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ge1a9588eba_0_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2" name="Google Shape;32;ge1a9588eba_0_2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1a9588eba_0_28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e1a9588eba_0_2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e1a9588eba_0_3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8" name="Google Shape;38;ge1a9588eba_0_3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e1a9588eba_0_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e1a9588eba_0_34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ge1a9588eba_0_34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ge1a9588eba_0_34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44" name="Google Shape;44;ge1a9588eba_0_3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e1a9588eba_0_4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e1a9588eba_0_42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9" name="Google Shape;49;ge1a9588eba_0_42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3" b="1914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e1a9588eba_0_42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ge1a9588eba_0_42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 dirty="0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ge1a9588eba_0_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419b7728cb_0_83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g2419b7728cb_0_8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65" name="Google Shape;65;g2419b7728cb_0_8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419b7728cb_0_80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68" name="Google Shape;68;g2419b7728cb_0_80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419b7728cb_0_87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g2419b7728cb_0_8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419b7728cb_0_9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74" name="Google Shape;74;g2419b7728cb_0_9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{C1344643-9A85-4DB7-9F01-8C1698141E30}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5" name="Google Shape;75;g2419b7728cb_0_9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419b7728cb_0_94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2419b7728cb_0_9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9" name="Google Shape;79;g2419b7728cb_0_9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80" name="Google Shape;80;g2419b7728cb_0_9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419b7728cb_0_99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g2419b7728cb_0_99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419b7728cb_0_10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6" name="Google Shape;86;g2419b7728cb_0_10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419b7728cb_0_10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2419b7728cb_0_10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0" name="Google Shape;90;g2419b7728cb_0_10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91" name="Google Shape;91;g2419b7728cb_0_10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g2419b7728cb_0_10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419b7728cb_0_11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419b7728cb_0_113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g2419b7728cb_0_113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60" r="37293" b="19147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g2419b7728cb_0_113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g2419b7728cb_0_113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 dirty="0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00" name="Google Shape;100;g2419b7728cb_0_1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44d23124c0_1_116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g244d23124c0_1_116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3" name="Google Shape;113;g244d23124c0_1_11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44d23124c0_1_113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16" name="Google Shape;116;g244d23124c0_1_113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44d23124c0_1_12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g244d23124c0_1_12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44d23124c0_1_123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122" name="Google Shape;122;g244d23124c0_1_123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{C1344643-9A85-4DB7-9F01-8C1698141E30}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3" name="Google Shape;123;g244d23124c0_1_12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44d23124c0_1_127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g244d23124c0_1_1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7" name="Google Shape;127;g244d23124c0_1_12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28" name="Google Shape;128;g244d23124c0_1_12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44d23124c0_1_13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g244d23124c0_1_13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44d23124c0_1_1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4" name="Google Shape;134;g244d23124c0_1_13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44d23124c0_1_1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244d23124c0_1_13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38" name="Google Shape;138;g244d23124c0_1_1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39" name="Google Shape;139;g244d23124c0_1_13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140" name="Google Shape;140;g244d23124c0_1_138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44d23124c0_1_14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44d23124c0_1_14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g244d23124c0_1_146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60" r="37294" b="19147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244d23124c0_1_146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g244d23124c0_1_14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 dirty="0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48" name="Google Shape;148;g244d23124c0_1_1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>
  <p:cSld name="BLANK_1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10ee00f67ea_0_104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g10ee00f67ea_0_104" descr="A close up of a logo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 l="42816" t="18358" r="37293" b="19149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g10ee00f67ea_0_104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g10ee00f67ea_0_104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 sz="3300" b="0" i="0" u="none" strike="noStrike" cap="non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sz="3300" b="0" i="0" u="none" strike="noStrike" cap="none" dirty="0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63" name="Google Shape;163;g10ee00f67ea_0_10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10ee00f67ea_0_71"/>
          <p:cNvSpPr txBox="1">
            <a:spLocks noGrp="1"/>
          </p:cNvSpPr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66" name="Google Shape;166;g10ee00f67ea_0_71"/>
          <p:cNvSpPr txBox="1">
            <a:spLocks noGrp="1"/>
          </p:cNvSpPr>
          <p:nvPr>
            <p:ph type="subTitle" idx="1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10ee00f67ea_0_7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g10ee00f67ea_0_7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0ee00f67ea_0_77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g10ee00f67ea_0_77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73" name="Google Shape;173;g10ee00f67ea_0_77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able">
  <p:cSld name="CUSTOM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10ee00f67ea_0_8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graphicFrame>
        <p:nvGraphicFramePr>
          <p:cNvPr id="176" name="Google Shape;176;g10ee00f67ea_0_81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{C1344643-9A85-4DB7-9F01-8C1698141E30}</a:tableStyleId>
              </a:tblPr>
              <a:tblGrid>
                <a:gridCol w="88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5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 baseline="30000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strike="noStrike" cap="non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95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endParaRPr sz="1200" u="none" strike="noStrike" cap="none" dirty="0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7" name="Google Shape;177;g10ee00f67ea_0_8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10ee00f67ea_0_85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g10ee00f67ea_0_8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1" name="Google Shape;181;g10ee00f67ea_0_8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82" name="Google Shape;182;g10ee00f67ea_0_85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10ee00f67ea_0_9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g10ee00f67ea_0_9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10ee00f67ea_0_9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88" name="Google Shape;188;g10ee00f67ea_0_93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10ee00f67ea_0_9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10ee00f67ea_0_9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2" name="Google Shape;192;g10ee00f67ea_0_9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3" name="Google Shape;193;g10ee00f67ea_0_9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857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marL="3200400" lvl="6" indent="-279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marL="3657600" lvl="7" indent="-27305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667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>
            <a:endParaRPr/>
          </a:p>
        </p:txBody>
      </p:sp>
      <p:sp>
        <p:nvSpPr>
          <p:cNvPr id="194" name="Google Shape;194;g10ee00f67ea_0_96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10ee00f67ea_0_10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e1a9588eba_0_0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7" name="Google Shape;7;ge1a9588eba_0_0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ge1a9588eba_0_0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 dirty="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ge1a9588eba_0_0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pic>
        <p:nvPicPr>
          <p:cNvPr id="10" name="Google Shape;10;ge1a9588eba_0_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ge1a9588eba_0_0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ge1a9588eba_0_0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ge1a9588eba_0_0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2419b7728cb_0_71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55" name="Google Shape;55;g2419b7728cb_0_71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56" name="Google Shape;56;g2419b7728cb_0_7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 dirty="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" name="Google Shape;57;g2419b7728cb_0_71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pic>
        <p:nvPicPr>
          <p:cNvPr id="58" name="Google Shape;58;g2419b7728cb_0_71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g2419b7728cb_0_7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60" name="Google Shape;60;g2419b7728cb_0_7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g2419b7728cb_0_7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44d23124c0_1_104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03" name="Google Shape;103;g244d23124c0_1_104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04" name="Google Shape;104;g244d23124c0_1_104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 dirty="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5" name="Google Shape;105;g244d23124c0_1_104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pic>
        <p:nvPicPr>
          <p:cNvPr id="106" name="Google Shape;106;g244d23124c0_1_104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5" cy="572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7" name="Google Shape;107;g244d23124c0_1_104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08" name="Google Shape;108;g244d23124c0_1_104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g244d23124c0_1_104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10ee00f67ea_0_62"/>
          <p:cNvSpPr txBox="1">
            <a:spLocks noGrp="1"/>
          </p:cNvSpPr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sz="22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sz="2500" b="0" i="0" u="none" strike="noStrike" cap="non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>
            <a:endParaRPr/>
          </a:p>
        </p:txBody>
      </p:sp>
      <p:sp>
        <p:nvSpPr>
          <p:cNvPr id="151" name="Google Shape;151;g10ee00f67ea_0_62"/>
          <p:cNvSpPr txBox="1">
            <a:spLocks noGrp="1"/>
          </p:cNvSpPr>
          <p:nvPr>
            <p:ph type="body" idx="1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sz="15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111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sz="13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sz="12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2921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sz="10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2857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sz="9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2794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sz="8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27305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sz="7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2667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sz="600" b="0" i="0" u="none" strike="noStrike" cap="non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152" name="Google Shape;152;g10ee00f67ea_0_62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" marR="0" lvl="0" indent="0" algn="ctr" rtl="0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" sz="7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sz="700" b="1" i="0" u="none" strike="noStrike" cap="none" dirty="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3" name="Google Shape;153;g10ee00f67ea_0_62"/>
          <p:cNvSpPr txBox="1">
            <a:spLocks noGrp="1"/>
          </p:cNvSpPr>
          <p:nvPr>
            <p:ph type="sldNum" idx="12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sz="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pic>
        <p:nvPicPr>
          <p:cNvPr id="154" name="Google Shape;154;g10ee00f67ea_0_62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g10ee00f67ea_0_62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56" name="Google Shape;156;g10ee00f67ea_0_62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g10ee00f67ea_0_62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</p:sldLayoutIdLst>
  <mc:AlternateContent xmlns:mc="http://schemas.openxmlformats.org/markup-compatibility/2006" xmlns:p14="http://schemas.microsoft.com/office/powerpoint/2010/main">
    <mc:Choice Requires="p14">
      <p:transition p14:dur="0">
        <p:fade thruBlk="1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"/>
          <p:cNvSpPr txBox="1">
            <a:spLocks noGrp="1"/>
          </p:cNvSpPr>
          <p:nvPr>
            <p:ph type="ctrTitle"/>
          </p:nvPr>
        </p:nvSpPr>
        <p:spPr>
          <a:xfrm>
            <a:off x="619200" y="1113200"/>
            <a:ext cx="8105400" cy="13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 dirty="0">
                <a:latin typeface="Century Gothic"/>
                <a:ea typeface="Century Gothic"/>
                <a:cs typeface="Century Gothic"/>
                <a:sym typeface="Century Gothic"/>
              </a:rPr>
              <a:t>Hotel Booking Cancellation Prediction</a:t>
            </a:r>
            <a:endParaRPr sz="330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2" name="Google Shape;202;p1"/>
          <p:cNvSpPr txBox="1">
            <a:spLocks noGrp="1"/>
          </p:cNvSpPr>
          <p:nvPr>
            <p:ph type="ctrTitle"/>
          </p:nvPr>
        </p:nvSpPr>
        <p:spPr>
          <a:xfrm>
            <a:off x="619200" y="2450950"/>
            <a:ext cx="790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000" b="0" dirty="0">
                <a:latin typeface="Century Gothic"/>
                <a:ea typeface="Century Gothic"/>
                <a:cs typeface="Century Gothic"/>
                <a:sym typeface="Century Gothic"/>
              </a:rPr>
              <a:t>Decision Systems</a:t>
            </a:r>
            <a:endParaRPr sz="3000" b="0" dirty="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Google Shape;202;p1">
            <a:extLst>
              <a:ext uri="{FF2B5EF4-FFF2-40B4-BE49-F238E27FC236}">
                <a16:creationId xmlns:a16="http://schemas.microsoft.com/office/drawing/2014/main" id="{0BB4866D-44ED-0CB3-9D1B-641C9D89F920}"/>
              </a:ext>
            </a:extLst>
          </p:cNvPr>
          <p:cNvSpPr txBox="1">
            <a:spLocks/>
          </p:cNvSpPr>
          <p:nvPr/>
        </p:nvSpPr>
        <p:spPr>
          <a:xfrm>
            <a:off x="575173" y="2769297"/>
            <a:ext cx="79056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1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 b="0" i="0" u="none" strike="noStrike" cap="non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algn="ctr"/>
            <a:r>
              <a:rPr lang="en-US" sz="1600" b="0" dirty="0">
                <a:latin typeface="Century Gothic"/>
                <a:ea typeface="Century Gothic"/>
                <a:cs typeface="Century Gothic"/>
                <a:sym typeface="Century Gothic"/>
              </a:rPr>
              <a:t>By John Buczkowski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158837adcbf_0_53"/>
          <p:cNvSpPr txBox="1">
            <a:spLocks noGrp="1"/>
          </p:cNvSpPr>
          <p:nvPr>
            <p:ph type="title"/>
          </p:nvPr>
        </p:nvSpPr>
        <p:spPr>
          <a:xfrm>
            <a:off x="202550" y="5285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Contents / Agenda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8" name="Google Shape;208;g158837adcbf_0_5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Dictionary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Problem Overview and Solution Approach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Results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Preprocessing 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Summary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Conclusions and Recommendations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D18616D-A00B-D895-7A71-A698644DA6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45c43bb502_0_48"/>
          <p:cNvSpPr txBox="1">
            <a:spLocks noGrp="1"/>
          </p:cNvSpPr>
          <p:nvPr>
            <p:ph type="title"/>
          </p:nvPr>
        </p:nvSpPr>
        <p:spPr>
          <a:xfrm>
            <a:off x="185166" y="737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Dictionary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14" name="Google Shape;214;g245c43bb502_0_48"/>
          <p:cNvSpPr txBox="1">
            <a:spLocks noGrp="1"/>
          </p:cNvSpPr>
          <p:nvPr>
            <p:ph type="body" idx="1"/>
          </p:nvPr>
        </p:nvSpPr>
        <p:spPr>
          <a:xfrm>
            <a:off x="311750" y="861975"/>
            <a:ext cx="85206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data contains the different attributes of</a:t>
            </a: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customers' booking details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The detailed data dictionary is given below: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Booking_ID: 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unique identifier of each booking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no_of_adults: 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adults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no_of_children: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Number of Children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no_of_weekend_nights: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Number of weekend nights (Saturday or Sunday) the guest stayed or booked to stay at the hotel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no_of_week_nights: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Number of weeknights (Monday to Friday) the guest stayed or booked to stay at the hotel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required_car_parking_space:</a:t>
            </a:r>
            <a:r>
              <a:rPr lang="en" sz="12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Does the customer require a car parking space? (0 - No, 1- Yes)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room_type_reserved: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Type of room reserved by the customer. The values are ciphered (encoded) by INN Hotels Group</a:t>
            </a:r>
            <a:endParaRPr sz="1200" dirty="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024E4C-26CE-86D9-6BB5-27F5BA7FEB2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45c43bb502_0_53"/>
          <p:cNvSpPr txBox="1">
            <a:spLocks noGrp="1"/>
          </p:cNvSpPr>
          <p:nvPr>
            <p:ph type="title"/>
          </p:nvPr>
        </p:nvSpPr>
        <p:spPr>
          <a:xfrm>
            <a:off x="216457" y="841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Dictionary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20" name="Google Shape;220;g245c43bb502_0_53"/>
          <p:cNvSpPr txBox="1">
            <a:spLocks noGrp="1"/>
          </p:cNvSpPr>
          <p:nvPr>
            <p:ph type="body" idx="1"/>
          </p:nvPr>
        </p:nvSpPr>
        <p:spPr>
          <a:xfrm>
            <a:off x="311750" y="861975"/>
            <a:ext cx="85206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lead_time: 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Number of days between the date of booking and the arrival date</a:t>
            </a:r>
            <a:endParaRPr sz="1200" dirty="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arrival_year: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Year of arrival date</a:t>
            </a:r>
            <a:endParaRPr sz="1200" dirty="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arrival_month: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Month of arrival date</a:t>
            </a:r>
            <a:endParaRPr sz="1200" dirty="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arrival_date: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Date of the month</a:t>
            </a:r>
            <a:endParaRPr sz="1200" dirty="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market_segment_type: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Market segment designation.</a:t>
            </a:r>
            <a:endParaRPr sz="1200" dirty="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repeated_guest: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Is the customer a repeated guest? (0 - No, 1- Yes)</a:t>
            </a:r>
            <a:endParaRPr sz="1200" dirty="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no_of_previous_cancellations: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Number of previous bookings that were canceled by the customer prior to the current booking</a:t>
            </a:r>
            <a:endParaRPr sz="1200" dirty="0">
              <a:solidFill>
                <a:srgbClr val="2D3B45"/>
              </a:solidFill>
              <a:highlight>
                <a:srgbClr val="FFFFFF"/>
              </a:highlight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914400" lvl="0" indent="-304800" algn="l" rtl="0">
              <a:spcBef>
                <a:spcPts val="1000"/>
              </a:spcBef>
              <a:spcAft>
                <a:spcPts val="0"/>
              </a:spcAft>
              <a:buClr>
                <a:srgbClr val="2D3B45"/>
              </a:buClr>
              <a:buSzPts val="1200"/>
              <a:buFont typeface="Century Gothic"/>
              <a:buChar char="●"/>
            </a:pPr>
            <a:r>
              <a:rPr lang="en" sz="1200" b="1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no_of_previous_bookings_not_canceled:</a:t>
            </a:r>
            <a:r>
              <a:rPr lang="en" sz="1200">
                <a:solidFill>
                  <a:srgbClr val="2D3B45"/>
                </a:solidFill>
                <a:highlight>
                  <a:srgbClr val="FFFFFF"/>
                </a:highlight>
                <a:latin typeface="Century Gothic"/>
                <a:ea typeface="Century Gothic"/>
                <a:cs typeface="Century Gothic"/>
                <a:sym typeface="Century Gothic"/>
              </a:rPr>
              <a:t> Number of previous bookings not canceled by the customer prior to the current booking</a:t>
            </a:r>
            <a:endParaRPr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FA0DEE7-AD12-1759-3895-B8B83A0FD6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"/>
          <p:cNvSpPr txBox="1">
            <a:spLocks noGrp="1"/>
          </p:cNvSpPr>
          <p:nvPr>
            <p:ph type="title"/>
          </p:nvPr>
        </p:nvSpPr>
        <p:spPr>
          <a:xfrm>
            <a:off x="254702" y="101531"/>
            <a:ext cx="473521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Problem Overview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32" name="Google Shape;232;p3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2569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indent="0">
              <a:spcBef>
                <a:spcPts val="1000"/>
              </a:spcBef>
              <a:buClr>
                <a:schemeClr val="dk1"/>
              </a:buClr>
              <a:buSzPts val="1400"/>
              <a:buNone/>
            </a:pPr>
            <a:r>
              <a:rPr lang="en-US" b="1" dirty="0"/>
              <a:t>INN Hotels Group</a:t>
            </a:r>
            <a:r>
              <a:rPr lang="en-US" dirty="0"/>
              <a:t>, a hotel chain operating in Portugal, has been seeing an increase in booking cancellations that have resulted in negatively impact their business operations and profitability. </a:t>
            </a:r>
          </a:p>
          <a:p>
            <a:pPr marL="139700" indent="0">
              <a:spcBef>
                <a:spcPts val="1000"/>
              </a:spcBef>
              <a:buClr>
                <a:schemeClr val="dk1"/>
              </a:buClr>
              <a:buSzPts val="1400"/>
              <a:buNone/>
            </a:pPr>
            <a:r>
              <a:rPr lang="en-US" dirty="0"/>
              <a:t>These cancellations result in:</a:t>
            </a:r>
          </a:p>
          <a:p>
            <a:pPr marL="139700" indent="0">
              <a:spcBef>
                <a:spcPts val="1000"/>
              </a:spcBef>
              <a:buClr>
                <a:schemeClr val="dk1"/>
              </a:buClr>
              <a:buSzPts val="1400"/>
              <a:buNone/>
            </a:pPr>
            <a:endParaRPr lang="en-US" sz="800" dirty="0"/>
          </a:p>
          <a:p>
            <a:pPr lvl="0"/>
            <a:r>
              <a:rPr lang="en-US" b="1" dirty="0"/>
              <a:t>Loss of Revenue </a:t>
            </a:r>
            <a:r>
              <a:rPr lang="en-US" dirty="0"/>
              <a:t>when rooms cannot be resold by the hotel</a:t>
            </a:r>
          </a:p>
          <a:p>
            <a:pPr lvl="0"/>
            <a:r>
              <a:rPr lang="en-US" b="1" dirty="0"/>
              <a:t>Increased distribution channel costs</a:t>
            </a:r>
            <a:r>
              <a:rPr lang="en-US" dirty="0"/>
              <a:t> through higher commissions and advertising expenses</a:t>
            </a:r>
          </a:p>
          <a:p>
            <a:pPr lvl="0"/>
            <a:r>
              <a:rPr lang="en-US" b="1" dirty="0"/>
              <a:t>Reduced profitability </a:t>
            </a:r>
            <a:r>
              <a:rPr lang="en-US" dirty="0"/>
              <a:t>from last-minute price reductions to ensure unsold rooms are filled</a:t>
            </a:r>
          </a:p>
          <a:p>
            <a:pPr lvl="0"/>
            <a:r>
              <a:rPr lang="en-US" b="1" dirty="0"/>
              <a:t>Additional Operational costs </a:t>
            </a:r>
            <a:r>
              <a:rPr lang="en-US" dirty="0"/>
              <a:t>requiring additional human resource allocation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F09D0F-AACB-5458-AB21-712F38BFE0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</a:t>
            </a:fld>
            <a:endParaRPr lang="e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1AC7F-EAFB-724B-5A24-394B8868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550" y="84147"/>
            <a:ext cx="8520600" cy="572700"/>
          </a:xfrm>
        </p:spPr>
        <p:txBody>
          <a:bodyPr/>
          <a:lstStyle/>
          <a:p>
            <a:r>
              <a:rPr lang="en-US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Solution Approach</a:t>
            </a:r>
            <a:br>
              <a:rPr lang="en-US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F664F-FE4B-F917-1F60-158FDC5B15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3350" indent="0">
              <a:buNone/>
            </a:pPr>
            <a:r>
              <a:rPr lang="en-US" b="1" dirty="0"/>
              <a:t>1. Analyze the Existing Model</a:t>
            </a:r>
            <a:endParaRPr lang="en-US" dirty="0"/>
          </a:p>
          <a:p>
            <a:pPr lvl="0"/>
            <a:r>
              <a:rPr lang="en-US" sz="1200" dirty="0"/>
              <a:t>Evaluate the Rapid Miner Decision Tree and Random Forest models provided</a:t>
            </a:r>
          </a:p>
          <a:p>
            <a:pPr lvl="0"/>
            <a:r>
              <a:rPr lang="en-US" sz="1200" dirty="0"/>
              <a:t>Compare their performance and understand their predictions</a:t>
            </a:r>
          </a:p>
          <a:p>
            <a:pPr lvl="0"/>
            <a:r>
              <a:rPr lang="en-US" sz="1200" dirty="0"/>
              <a:t>Identify which model works better for this business problem</a:t>
            </a:r>
          </a:p>
          <a:p>
            <a:endParaRPr lang="en-US" sz="1000" b="1" dirty="0"/>
          </a:p>
          <a:p>
            <a:pPr marL="133350" indent="0">
              <a:buNone/>
            </a:pPr>
            <a:r>
              <a:rPr lang="en-US" b="1" dirty="0"/>
              <a:t>2. Identify Cancellation Drivers</a:t>
            </a:r>
            <a:endParaRPr lang="en-US" dirty="0"/>
          </a:p>
          <a:p>
            <a:pPr marL="133350" indent="0">
              <a:buNone/>
            </a:pPr>
            <a:r>
              <a:rPr lang="en-US" sz="1200" dirty="0"/>
              <a:t>Identify and analyze which factors most influence cancellations:</a:t>
            </a:r>
          </a:p>
          <a:p>
            <a:pPr lvl="0"/>
            <a:r>
              <a:rPr lang="en-US" sz="1200" dirty="0"/>
              <a:t>Lead time and booking advance period</a:t>
            </a:r>
          </a:p>
          <a:p>
            <a:pPr lvl="0"/>
            <a:r>
              <a:rPr lang="en-US" sz="1200" dirty="0"/>
              <a:t>Customer history (previous cancellations, repeat guests)</a:t>
            </a:r>
          </a:p>
          <a:p>
            <a:pPr lvl="0"/>
            <a:r>
              <a:rPr lang="en-US" sz="1200" dirty="0"/>
              <a:t>Price, special requests, and market segment</a:t>
            </a:r>
          </a:p>
          <a:p>
            <a:pPr lvl="0"/>
            <a:r>
              <a:rPr lang="en-US" sz="1200" dirty="0"/>
              <a:t>Room type and length of stay patterns</a:t>
            </a:r>
          </a:p>
          <a:p>
            <a:pPr lvl="0"/>
            <a:endParaRPr lang="en-US" sz="1000" dirty="0"/>
          </a:p>
          <a:p>
            <a:r>
              <a:rPr lang="en-US" b="1" dirty="0"/>
              <a:t>3. Develop Revenue Optimization Strategies</a:t>
            </a:r>
            <a:endParaRPr lang="en-US" dirty="0"/>
          </a:p>
          <a:p>
            <a:pPr marL="133350" indent="0">
              <a:buNone/>
            </a:pPr>
            <a:r>
              <a:rPr lang="en-US" sz="1200" dirty="0"/>
              <a:t>Based on model investigation and cancellation patterns, provide recommendations to:</a:t>
            </a:r>
          </a:p>
          <a:p>
            <a:pPr lvl="0"/>
            <a:r>
              <a:rPr lang="en-US" sz="1200" dirty="0"/>
              <a:t>Reduce cancellation-related revenue losses</a:t>
            </a:r>
          </a:p>
          <a:p>
            <a:pPr lvl="0"/>
            <a:r>
              <a:rPr lang="en-US" sz="1200" dirty="0"/>
              <a:t>Improve operational efficiency</a:t>
            </a:r>
          </a:p>
          <a:p>
            <a:pPr lvl="0"/>
            <a:r>
              <a:rPr lang="en-US" sz="1200" dirty="0"/>
              <a:t>Identify additional strategies for increasing the revenue stream (bookings)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BBDE3-278D-35FB-7473-C3CF6999A3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36730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037BA-0C0B-D6EF-DEB7-071B819312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964" y="63286"/>
            <a:ext cx="8520600" cy="572700"/>
          </a:xfrm>
        </p:spPr>
        <p:txBody>
          <a:bodyPr/>
          <a:lstStyle/>
          <a:p>
            <a:r>
              <a:rPr lang="en-US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Expected Outcomes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2A709-F407-4469-B44F-89D09010B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364" y="1322561"/>
            <a:ext cx="8629800" cy="1989598"/>
          </a:xfrm>
        </p:spPr>
        <p:txBody>
          <a:bodyPr/>
          <a:lstStyle/>
          <a:p>
            <a:pPr lvl="0"/>
            <a:r>
              <a:rPr lang="en-US" b="1" dirty="0"/>
              <a:t>Improved revenue</a:t>
            </a:r>
            <a:r>
              <a:rPr lang="en-US" dirty="0"/>
              <a:t>: Better inventory management and optimized cancellation policies</a:t>
            </a:r>
          </a:p>
          <a:p>
            <a:pPr marL="133350" lvl="0" indent="0">
              <a:buNone/>
            </a:pPr>
            <a:endParaRPr lang="en-US" sz="400" dirty="0"/>
          </a:p>
          <a:p>
            <a:pPr lvl="0"/>
            <a:r>
              <a:rPr lang="en-US" b="1" dirty="0"/>
              <a:t>Reduced operational costs</a:t>
            </a:r>
            <a:r>
              <a:rPr lang="en-US" dirty="0"/>
              <a:t>: More efficient resource allocation</a:t>
            </a:r>
          </a:p>
          <a:p>
            <a:pPr marL="133350" lvl="0" indent="0">
              <a:buNone/>
            </a:pPr>
            <a:endParaRPr lang="en-US" sz="400" dirty="0"/>
          </a:p>
          <a:p>
            <a:pPr lvl="0"/>
            <a:r>
              <a:rPr lang="en-US" b="1" dirty="0"/>
              <a:t>Enhanced customer experience</a:t>
            </a:r>
            <a:r>
              <a:rPr lang="en-US" dirty="0"/>
              <a:t>: Customized policies for different risk segments</a:t>
            </a:r>
          </a:p>
          <a:p>
            <a:pPr marL="133350" lvl="0" indent="0">
              <a:buNone/>
            </a:pPr>
            <a:endParaRPr lang="en-US" sz="400" dirty="0"/>
          </a:p>
          <a:p>
            <a:pPr lvl="0"/>
            <a:r>
              <a:rPr lang="en-US" b="1" dirty="0"/>
              <a:t>Data-driven decision making</a:t>
            </a:r>
            <a:r>
              <a:rPr lang="en-US" dirty="0"/>
              <a:t>: Actionable insights for strategic planning</a:t>
            </a:r>
          </a:p>
          <a:p>
            <a:pPr marL="133350" lvl="0" indent="0">
              <a:buNone/>
            </a:pPr>
            <a:endParaRPr lang="en-US" sz="400" dirty="0"/>
          </a:p>
          <a:p>
            <a:r>
              <a:rPr lang="en-US" b="1" dirty="0"/>
              <a:t>Additional revenue streams: </a:t>
            </a:r>
            <a:r>
              <a:rPr lang="en-US" dirty="0"/>
              <a:t>Suggest new programs and strategies to capture untapped revenue streams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47B8F-A3E5-FA4D-B837-D46A815D8E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13878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5886a1dc9e_0_1"/>
          <p:cNvSpPr txBox="1">
            <a:spLocks noGrp="1"/>
          </p:cNvSpPr>
          <p:nvPr>
            <p:ph type="body" idx="1"/>
          </p:nvPr>
        </p:nvSpPr>
        <p:spPr>
          <a:xfrm>
            <a:off x="108373" y="1012025"/>
            <a:ext cx="4514427" cy="373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bar count plot of Booking Months, we can make the following deductions:</a:t>
            </a: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occupancy is October (10)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occupancy month range is June (6) thru October (10), with a small decline occurring in July (7)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booking months are August (8) thru October(10)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Lowest occupancy is in January (1)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Lowest occupancy month range is November (11) thru April (5)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January (1) and February (2) are the slowest months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is a notable increase in April (4) from March (3)  Is this due to school vacations?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Its unclear why there would be a drop off between June (6) and July (7). </a:t>
            </a:r>
          </a:p>
          <a:p>
            <a:pPr marL="139700" indent="0">
              <a:spcBef>
                <a:spcPts val="400"/>
              </a:spcBef>
              <a:buClr>
                <a:schemeClr val="dk1"/>
              </a:buClr>
              <a:buSzPts val="1400"/>
              <a:buNone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Note: **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are only examining 2 months of data. It would be interesting to see if additional years of data would show a consistent trend</a:t>
            </a:r>
          </a:p>
        </p:txBody>
      </p:sp>
      <p:sp>
        <p:nvSpPr>
          <p:cNvPr id="238" name="Google Shape;238;g15886a1dc9e_0_1"/>
          <p:cNvSpPr txBox="1"/>
          <p:nvPr/>
        </p:nvSpPr>
        <p:spPr>
          <a:xfrm>
            <a:off x="195596" y="7700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– Booking Months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9" name="Google Shape;239;g15886a1dc9e_0_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34193" y="1056051"/>
            <a:ext cx="4581225" cy="29825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g15886a1dc9e_0_1"/>
          <p:cNvSpPr txBox="1"/>
          <p:nvPr/>
        </p:nvSpPr>
        <p:spPr>
          <a:xfrm>
            <a:off x="5432998" y="4038626"/>
            <a:ext cx="30888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Arrival month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per month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6FF47D-809B-5011-6162-8406531840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8</a:t>
            </a:fld>
            <a:endParaRPr lang="e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2545360A-A4F7-67FE-BB5F-82C25C128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5886a1dc9e_0_1">
            <a:extLst>
              <a:ext uri="{FF2B5EF4-FFF2-40B4-BE49-F238E27FC236}">
                <a16:creationId xmlns:a16="http://schemas.microsoft.com/office/drawing/2014/main" id="{25A2BD6A-18CB-B480-6AD3-F7596EA24C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" y="1012025"/>
            <a:ext cx="4318000" cy="373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Dividing the Booking Months into Busy and Quiet seasons:</a:t>
            </a: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occupancy is October (10)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occupancy month range is June (6) thru October (10), with a small decline occurring in July (7)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booking months are August (8) thru October(10)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Lowest occupancy is in January (1)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Lowest occupancy month range is November (11) thru April (5)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is a notable increase in April (4) from March (3). Is this due to school vacations?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Its unclear why there would be a drop off between June (6) and July (7).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**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 are only examining 2 months of data. It would be interesting to see if additional years of data would show a consistent trend</a:t>
            </a:r>
          </a:p>
        </p:txBody>
      </p:sp>
      <p:sp>
        <p:nvSpPr>
          <p:cNvPr id="238" name="Google Shape;238;g15886a1dc9e_0_1">
            <a:extLst>
              <a:ext uri="{FF2B5EF4-FFF2-40B4-BE49-F238E27FC236}">
                <a16:creationId xmlns:a16="http://schemas.microsoft.com/office/drawing/2014/main" id="{0C213CFD-11D0-93E7-63B6-042EF5DC16D2}"/>
              </a:ext>
            </a:extLst>
          </p:cNvPr>
          <p:cNvSpPr txBox="1"/>
          <p:nvPr/>
        </p:nvSpPr>
        <p:spPr>
          <a:xfrm>
            <a:off x="233841" y="5404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Booking Months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1DDB0F-4F9B-0C14-19A8-2BED85793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850" y="1012025"/>
            <a:ext cx="4423244" cy="3119450"/>
          </a:xfrm>
          <a:prstGeom prst="rect">
            <a:avLst/>
          </a:prstGeom>
        </p:spPr>
      </p:pic>
      <p:sp>
        <p:nvSpPr>
          <p:cNvPr id="8" name="Google Shape;240;g15886a1dc9e_0_1">
            <a:extLst>
              <a:ext uri="{FF2B5EF4-FFF2-40B4-BE49-F238E27FC236}">
                <a16:creationId xmlns:a16="http://schemas.microsoft.com/office/drawing/2014/main" id="{92DC1E41-DDD5-CCF2-E803-7F1AEBB55668}"/>
              </a:ext>
            </a:extLst>
          </p:cNvPr>
          <p:cNvSpPr txBox="1"/>
          <p:nvPr/>
        </p:nvSpPr>
        <p:spPr>
          <a:xfrm>
            <a:off x="5508345" y="4131475"/>
            <a:ext cx="30888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Busy Months: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June - October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Quiet Months: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November - January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9AAD8A-3D94-BE96-1181-53625666455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43897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>
          <a:extLst>
            <a:ext uri="{FF2B5EF4-FFF2-40B4-BE49-F238E27FC236}">
              <a16:creationId xmlns:a16="http://schemas.microsoft.com/office/drawing/2014/main" id="{568564ED-E945-C56D-F541-588C18C6E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15886a1dc9e_0_1">
            <a:extLst>
              <a:ext uri="{FF2B5EF4-FFF2-40B4-BE49-F238E27FC236}">
                <a16:creationId xmlns:a16="http://schemas.microsoft.com/office/drawing/2014/main" id="{459F7D9D-D2CE-8B06-7F63-7206ABAA03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4987" y="1012025"/>
            <a:ext cx="4097463" cy="37360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Dividing the Booking Months into Peak and Other seasons:</a:t>
            </a:r>
          </a:p>
          <a:p>
            <a:pPr marL="139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peak booking season occurs between August (8) and October (10)</a:t>
            </a: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n-US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ose 3 months (August – October) account for almost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40%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years bookings.</a:t>
            </a:r>
          </a:p>
        </p:txBody>
      </p:sp>
      <p:sp>
        <p:nvSpPr>
          <p:cNvPr id="238" name="Google Shape;238;g15886a1dc9e_0_1">
            <a:extLst>
              <a:ext uri="{FF2B5EF4-FFF2-40B4-BE49-F238E27FC236}">
                <a16:creationId xmlns:a16="http://schemas.microsoft.com/office/drawing/2014/main" id="{1D6F59F0-D140-EC3B-F21A-9134E9BCB885}"/>
              </a:ext>
            </a:extLst>
          </p:cNvPr>
          <p:cNvSpPr txBox="1"/>
          <p:nvPr/>
        </p:nvSpPr>
        <p:spPr>
          <a:xfrm>
            <a:off x="268610" y="3547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Booking Months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8" name="Google Shape;240;g15886a1dc9e_0_1">
            <a:extLst>
              <a:ext uri="{FF2B5EF4-FFF2-40B4-BE49-F238E27FC236}">
                <a16:creationId xmlns:a16="http://schemas.microsoft.com/office/drawing/2014/main" id="{11128F4F-21A4-4960-013A-24E23923EB3A}"/>
              </a:ext>
            </a:extLst>
          </p:cNvPr>
          <p:cNvSpPr txBox="1"/>
          <p:nvPr/>
        </p:nvSpPr>
        <p:spPr>
          <a:xfrm>
            <a:off x="5508345" y="4131475"/>
            <a:ext cx="3088800" cy="523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Peak Months: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August - October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Rest of Year: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November - July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2F19AFF-54E1-67EB-976C-F337564DBE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495" y="989780"/>
            <a:ext cx="4206676" cy="314169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B99D93-F128-15AF-FB62-0F2B726E0D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53468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19b7728cb_0_120"/>
          <p:cNvSpPr txBox="1">
            <a:spLocks noGrp="1"/>
          </p:cNvSpPr>
          <p:nvPr>
            <p:ph type="body" idx="1"/>
          </p:nvPr>
        </p:nvSpPr>
        <p:spPr>
          <a:xfrm>
            <a:off x="50799" y="1012025"/>
            <a:ext cx="4378961" cy="27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histogram of booking market segments, we can make the following observations: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market segment type is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highest is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ranks a distance 3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and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Complementary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are almost negligible</a:t>
            </a:r>
          </a:p>
          <a:p>
            <a:pPr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Complementary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free rooms. Unless it can be verified that comped rooms lead to future bookings, it would be advisable to keep this number low</a:t>
            </a:r>
          </a:p>
        </p:txBody>
      </p:sp>
      <p:sp>
        <p:nvSpPr>
          <p:cNvPr id="246" name="Google Shape;246;g2419b7728cb_0_120"/>
          <p:cNvSpPr txBox="1"/>
          <p:nvPr/>
        </p:nvSpPr>
        <p:spPr>
          <a:xfrm>
            <a:off x="219934" y="702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– Market Segment Type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47" name="Google Shape;247;g2419b7728cb_0_1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7902" y="1004425"/>
            <a:ext cx="4516875" cy="2738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g2419b7728cb_0_120"/>
          <p:cNvSpPr txBox="1"/>
          <p:nvPr/>
        </p:nvSpPr>
        <p:spPr>
          <a:xfrm>
            <a:off x="4714240" y="3742725"/>
            <a:ext cx="4144729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customers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9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received in each market segment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BF1106-0AAA-8F9E-1CEE-360CA09738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78E6CEA5-1335-1902-C8A6-D70189B9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419b7728cb_0_120">
            <a:extLst>
              <a:ext uri="{FF2B5EF4-FFF2-40B4-BE49-F238E27FC236}">
                <a16:creationId xmlns:a16="http://schemas.microsoft.com/office/drawing/2014/main" id="{BECAA9E1-6000-9360-144E-5ABD360BBD3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13053" y="1012025"/>
            <a:ext cx="4172989" cy="18226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Market Segment percentages relative to overall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is by far the strongest market segment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still accounts for around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all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ranks a distance 3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accounts for less than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bookings</a:t>
            </a:r>
          </a:p>
        </p:txBody>
      </p:sp>
      <p:sp>
        <p:nvSpPr>
          <p:cNvPr id="246" name="Google Shape;246;g2419b7728cb_0_120">
            <a:extLst>
              <a:ext uri="{FF2B5EF4-FFF2-40B4-BE49-F238E27FC236}">
                <a16:creationId xmlns:a16="http://schemas.microsoft.com/office/drawing/2014/main" id="{F9459C96-61FC-D0E7-4E67-D6C5273F1AC3}"/>
              </a:ext>
            </a:extLst>
          </p:cNvPr>
          <p:cNvSpPr txBox="1"/>
          <p:nvPr/>
        </p:nvSpPr>
        <p:spPr>
          <a:xfrm>
            <a:off x="219934" y="6130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Market Segment Type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48" name="Google Shape;248;g2419b7728cb_0_120">
            <a:extLst>
              <a:ext uri="{FF2B5EF4-FFF2-40B4-BE49-F238E27FC236}">
                <a16:creationId xmlns:a16="http://schemas.microsoft.com/office/drawing/2014/main" id="{41B28C6F-172C-03A9-BEED-327905E45D8D}"/>
              </a:ext>
            </a:extLst>
          </p:cNvPr>
          <p:cNvSpPr txBox="1"/>
          <p:nvPr/>
        </p:nvSpPr>
        <p:spPr>
          <a:xfrm>
            <a:off x="4534747" y="3742725"/>
            <a:ext cx="4144729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customers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9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Percentages of Bookings received in each market segment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AFC2FC9-E0F3-BCBF-63F4-D937BB351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798" y="891188"/>
            <a:ext cx="4472626" cy="26681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284A30-8219-649E-E80B-64D2FA5E71C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8735911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49AD4D52-6C75-07A4-CA21-DCA4E7A9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5F1153A9-1392-81DA-23D7-4E8D36B8A5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Number of Guests 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number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Adult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Guests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Normal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rooms (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72%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have 2 adults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25%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rooms have a single adult occupant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number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Children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is Left-Skew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surprisingly number of rooms have no children (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93%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BF13C3F6-BDD6-D24E-341E-200BA4436D96}"/>
              </a:ext>
            </a:extLst>
          </p:cNvPr>
          <p:cNvSpPr txBox="1"/>
          <p:nvPr/>
        </p:nvSpPr>
        <p:spPr>
          <a:xfrm>
            <a:off x="202550" y="8299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Univariate Analysis  - Number of Guests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8387EFC8-3AE4-F074-5D97-3E928143A874}"/>
              </a:ext>
            </a:extLst>
          </p:cNvPr>
          <p:cNvSpPr txBox="1"/>
          <p:nvPr/>
        </p:nvSpPr>
        <p:spPr>
          <a:xfrm>
            <a:off x="5786792" y="4291866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occupants (adults/children)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occupancy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66B7B88-AC5E-E3D4-17F2-EC6A5BE30F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6648" y="695348"/>
            <a:ext cx="3113417" cy="185734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0B3802D-E0A3-7B36-CFF4-E592EF4BC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6648" y="2601150"/>
            <a:ext cx="3143504" cy="18752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4DE35F-7AAB-B126-16BE-7D67BFE7E67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5776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42072C88-E528-DDE6-229E-FEFD6D72E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031099A0-AF7E-FFAF-A3E7-DD32846E4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Booking Lead Times 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data has a definite right skewed distribution 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majority of the bookings occur 100 days or less ahead of the customer’s arrival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E57D8A5A-B692-FBF5-EB8E-91FADFC20D2D}"/>
              </a:ext>
            </a:extLst>
          </p:cNvPr>
          <p:cNvSpPr txBox="1"/>
          <p:nvPr/>
        </p:nvSpPr>
        <p:spPr>
          <a:xfrm>
            <a:off x="206027" y="737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Guests (Total Guests)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A5204670-29C8-8C8F-BC9A-F69247978DFD}"/>
              </a:ext>
            </a:extLst>
          </p:cNvPr>
          <p:cNvSpPr txBox="1"/>
          <p:nvPr/>
        </p:nvSpPr>
        <p:spPr>
          <a:xfrm>
            <a:off x="5381131" y="3591938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total occupants (adults and children)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occupancy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F2A796-2524-0E3E-7358-84F97CC3AC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654" y="1127996"/>
            <a:ext cx="4533160" cy="224942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E1A86A-09BF-9176-32F9-7158C650C4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294110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CCC70A34-5094-C879-0B3B-D8C7299AF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EC0FB6A9-BA56-66A6-3F2A-D70FD97A9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Number of Days Booked 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Weekday Bookings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plot looks like Normal Distribution with a Right-Skew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Weekend Bookings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looks like a Right-Skew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(0)days booked indicate the customer booked only weekdays or weekends for their stay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of the bookings had at least 1 weekday night included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Roughly ½ the bookings had 2 weekend nights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3E7B1F6E-DAB9-45AC-801B-7F9D9E064789}"/>
              </a:ext>
            </a:extLst>
          </p:cNvPr>
          <p:cNvSpPr txBox="1"/>
          <p:nvPr/>
        </p:nvSpPr>
        <p:spPr>
          <a:xfrm>
            <a:off x="172045" y="5633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Univariate Analysis  - Number of Days Booked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76EBEAEB-326C-B899-171D-8770D53546DE}"/>
              </a:ext>
            </a:extLst>
          </p:cNvPr>
          <p:cNvSpPr txBox="1"/>
          <p:nvPr/>
        </p:nvSpPr>
        <p:spPr>
          <a:xfrm>
            <a:off x="5786792" y="4204946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nights booked (weekday/weekend)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length of stay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0BE9C4-DA6D-E78D-FBAC-A196CA45A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6792" y="861979"/>
            <a:ext cx="3118104" cy="15472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06BD5D-68CB-403D-6A4A-854CA475F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6214" y="2534189"/>
            <a:ext cx="3188682" cy="158227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64E21D-4226-3F51-50C1-EF6861D849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98537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58888E0D-5BFF-A0ED-FB66-520B4698D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26C0C6C6-38F4-C059-DB1E-9A41BFA485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Total Number of Days Booked we see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total number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Nights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plot looks like Normal Distribution with a Right-Skew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total number of nights looks like a Right-Skew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Few clients book more than 7 days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(0)days booked looks like it could be a data error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of the bookings had at least 1 weekday night included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52D5B139-454D-4494-4386-80C548E7C370}"/>
              </a:ext>
            </a:extLst>
          </p:cNvPr>
          <p:cNvSpPr txBox="1"/>
          <p:nvPr/>
        </p:nvSpPr>
        <p:spPr>
          <a:xfrm>
            <a:off x="244272" y="6328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Total Days Booked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B45AF6AE-2D17-76EA-AD62-87B9BD698783}"/>
              </a:ext>
            </a:extLst>
          </p:cNvPr>
          <p:cNvSpPr txBox="1"/>
          <p:nvPr/>
        </p:nvSpPr>
        <p:spPr>
          <a:xfrm>
            <a:off x="5179021" y="3403731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Total number of occupants (adults and children)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occupancy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9A9E8F-703B-395C-021D-1F0C34D886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2850" y="1037383"/>
            <a:ext cx="4665102" cy="231489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ECDD73-1D7E-945C-4356-2EBEFBDC42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7930014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F6D96624-BFE9-938D-27ED-CE62686063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AA19105B-0DF5-937A-B3DD-EF38FA536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Total Number of Days Booked we see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By binning the data, we get a slightly different view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looks much more like a normal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From this, we can see that almost 80% of the bookings are for between 2 and 7 nights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3312497B-2393-DC58-EC8B-A3C6266554CA}"/>
              </a:ext>
            </a:extLst>
          </p:cNvPr>
          <p:cNvSpPr txBox="1"/>
          <p:nvPr/>
        </p:nvSpPr>
        <p:spPr>
          <a:xfrm>
            <a:off x="244272" y="8067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Total Days Booked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F88EF7A7-7434-65E1-81EA-0254FD7A7159}"/>
              </a:ext>
            </a:extLst>
          </p:cNvPr>
          <p:cNvSpPr txBox="1"/>
          <p:nvPr/>
        </p:nvSpPr>
        <p:spPr>
          <a:xfrm>
            <a:off x="5111798" y="3765749"/>
            <a:ext cx="3397602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Total number of occupants (adults and children)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(frequency count)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Distribution of bookings by occupancy level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7799F2-BE16-B057-EB49-4C83822D88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45" y="1020612"/>
            <a:ext cx="4587200" cy="273655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8FAF757-DCE4-3A0E-2D0C-C4A8244703F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941109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2F3992C7-71CD-7EA1-8AA5-B80AFD554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B7377151-13ED-86AD-F480-C00BEEF4F4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378159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Booking Lead Times we see: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data has a definite right skewed distribution 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majority of the bookings occur 100 days or less ahead of the customer’s arrival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AA4E8F7F-8D34-153F-1232-5F8B528EB8A7}"/>
              </a:ext>
            </a:extLst>
          </p:cNvPr>
          <p:cNvSpPr txBox="1"/>
          <p:nvPr/>
        </p:nvSpPr>
        <p:spPr>
          <a:xfrm>
            <a:off x="209503" y="7519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Univariate Analysis  - Booking Lead Times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3F62BD39-C587-2614-0205-38C4BDB6E044}"/>
              </a:ext>
            </a:extLst>
          </p:cNvPr>
          <p:cNvSpPr txBox="1"/>
          <p:nvPr/>
        </p:nvSpPr>
        <p:spPr>
          <a:xfrm>
            <a:off x="4571999" y="3596925"/>
            <a:ext cx="4294293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Booking Lead time in days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I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nstance count of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instances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of days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the number if instances days clients booked in advance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FFD4B-2314-F0B9-0CF1-BD4E24CB48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2346" y="1167578"/>
            <a:ext cx="4472255" cy="224835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8DB843-DA23-45AE-6F69-422E4358E1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632193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63E0D3E3-054E-A1F9-401E-FDA8A1E0B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C17C5DE0-B46A-4BD2-78B2-94CAE869D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Booking Lead Times continued: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Binning and plotting the percentages of 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reiterates the right 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2/3rds of clients book within 100 days of their arrival date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small percentage (11%) book more than 200 days in advance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E465C51F-6A0B-D950-9D49-3D367F5F2016}"/>
              </a:ext>
            </a:extLst>
          </p:cNvPr>
          <p:cNvSpPr txBox="1"/>
          <p:nvPr/>
        </p:nvSpPr>
        <p:spPr>
          <a:xfrm>
            <a:off x="219934" y="4698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Booking Lead Times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" name="Google Shape;256;g2419b7728cb_0_127">
            <a:extLst>
              <a:ext uri="{FF2B5EF4-FFF2-40B4-BE49-F238E27FC236}">
                <a16:creationId xmlns:a16="http://schemas.microsoft.com/office/drawing/2014/main" id="{61E300A4-C5F8-7E71-705A-4CF1FC8ADF62}"/>
              </a:ext>
            </a:extLst>
          </p:cNvPr>
          <p:cNvSpPr txBox="1"/>
          <p:nvPr/>
        </p:nvSpPr>
        <p:spPr>
          <a:xfrm>
            <a:off x="4702629" y="3882245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days client booked in advance in bins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number of 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the number if instances of previous cancellation/non-cancellation events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D0C7699-B1FE-FE3E-7589-F5C879C55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662" y="1092987"/>
            <a:ext cx="4675553" cy="278925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2272A8E-0E0F-1639-0A92-2AF4A50822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3197983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0D7E7310-F22B-2830-7763-02112D4FF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8A89B652-1224-8113-406B-97FE4C896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842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Booking Lead Times continued: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Binning and plotting the percentages of 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 reiterates the right 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2/3rds of clients book within 100 days of their arrival date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small percentage (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11%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book more than 200 days in advance</a:t>
            </a:r>
          </a:p>
          <a:p>
            <a:pPr lvl="1">
              <a:spcBef>
                <a:spcPts val="300"/>
              </a:spcBef>
            </a:pPr>
            <a:endParaRPr lang="en" sz="9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9DF987B4-DCDA-C090-A293-DC6B805124B8}"/>
              </a:ext>
            </a:extLst>
          </p:cNvPr>
          <p:cNvSpPr txBox="1"/>
          <p:nvPr/>
        </p:nvSpPr>
        <p:spPr>
          <a:xfrm>
            <a:off x="272086" y="4938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Lead Times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2AA009-250E-A7C0-58D0-18A22164C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9" y="724870"/>
            <a:ext cx="4412170" cy="329516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6FE512-3430-F472-5BDB-38B19ED8D91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8112802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2E4504CC-FE2B-1C35-21F2-5911A9901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3C64B7AD-BD57-6AE2-9E89-A68F40DA9E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Previous Bookings continued: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Binning 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Previous Booking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data into Canceled/Uncancelled and plotting the percentages reiterates the tight right 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2/3rds of clients book within 100 days of their arrival date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small percentage (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11%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book more than 200 days in advance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1FCD64E7-B768-20E5-D58D-0699159A28F7}"/>
              </a:ext>
            </a:extLst>
          </p:cNvPr>
          <p:cNvSpPr txBox="1"/>
          <p:nvPr/>
        </p:nvSpPr>
        <p:spPr>
          <a:xfrm>
            <a:off x="240795" y="8410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" sz="22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Univariate Analysis  - Previous </a:t>
            </a: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History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E667F73F-BDF6-6A13-9999-8D16C3E8659E}"/>
              </a:ext>
            </a:extLst>
          </p:cNvPr>
          <p:cNvSpPr txBox="1"/>
          <p:nvPr/>
        </p:nvSpPr>
        <p:spPr>
          <a:xfrm>
            <a:off x="4572000" y="3596925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instances of previous cancellation/non-cancellations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number of cancellation/non-cancellation instances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the number if instances of previous cancellation/non-cancellation events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32F19D-370B-9915-4DAD-E7979F926A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8479" y="1227429"/>
            <a:ext cx="4615974" cy="236949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0797BB2-BC04-9C05-F226-F40890216A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21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634247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D1E07416-CA42-B407-8E4C-324E93470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62D0B8C1-6D43-BD15-49ED-0E1CAE356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Previous Cancellations continued: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Looking at the supplied matrix data, it appears that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Previous Cancellations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are minimal, especially when comparing against the number of clients that </a:t>
            </a:r>
            <a:r>
              <a:rPr lang="en" sz="1000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did not have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Previous Cancellations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75AD314C-F7B4-CEC4-D32F-5CFE2A2F3B9C}"/>
              </a:ext>
            </a:extLst>
          </p:cNvPr>
          <p:cNvSpPr txBox="1"/>
          <p:nvPr/>
        </p:nvSpPr>
        <p:spPr>
          <a:xfrm>
            <a:off x="359006" y="6328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Previous Booking History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67224B-317C-A7A3-C313-F3C8915C0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979" y="749610"/>
            <a:ext cx="2779108" cy="415116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363AAC-0678-2D4C-6852-A20F7D1F4E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42795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19b7728cb_0_137"/>
          <p:cNvSpPr txBox="1">
            <a:spLocks noGrp="1"/>
          </p:cNvSpPr>
          <p:nvPr>
            <p:ph type="body" idx="1"/>
          </p:nvPr>
        </p:nvSpPr>
        <p:spPr>
          <a:xfrm>
            <a:off x="81279" y="1012024"/>
            <a:ext cx="4337867" cy="320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histogram of repeat customer business, we can deduce the following: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of the customers at the hotel are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</a:t>
            </a:r>
            <a:r>
              <a:rPr lang="en" sz="1000" b="1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time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There is very little (almost negligble) repeat business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might indicate that the hotel is good at drawing initial clients but poor at following through by reaching out to previous customers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also might speak to the level of quality of stay and service as when customers have a less than positive experience, they are not likely to rebook in the future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Its unclear to what degree guests having a potentially negative experience affects the bookings initialized by word of mouth</a:t>
            </a:r>
          </a:p>
        </p:txBody>
      </p:sp>
      <p:sp>
        <p:nvSpPr>
          <p:cNvPr id="262" name="Google Shape;262;g2419b7728cb_0_137"/>
          <p:cNvSpPr txBox="1"/>
          <p:nvPr/>
        </p:nvSpPr>
        <p:spPr>
          <a:xfrm>
            <a:off x="233841" y="8358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– Repeat Customers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63" name="Google Shape;263;g2419b7728cb_0_13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62850" y="861979"/>
            <a:ext cx="4520700" cy="2717739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g2419b7728cb_0_137"/>
          <p:cNvSpPr txBox="1"/>
          <p:nvPr/>
        </p:nvSpPr>
        <p:spPr>
          <a:xfrm>
            <a:off x="4788747" y="3579718"/>
            <a:ext cx="4151100" cy="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Repeated guests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Guests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Customers who have visited the hotel more than once vs customers who have visited the hotel only once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DB1FD1-B03E-2D1F-C982-C6AACB323D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23</a:t>
            </a:fld>
            <a:endParaRPr lang="e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74F40601-356C-5917-A953-72C16058D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19b7728cb_0_137">
            <a:extLst>
              <a:ext uri="{FF2B5EF4-FFF2-40B4-BE49-F238E27FC236}">
                <a16:creationId xmlns:a16="http://schemas.microsoft.com/office/drawing/2014/main" id="{DA107765-7CA3-C0B4-702A-8193972C88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9828" y="1012024"/>
            <a:ext cx="4329218" cy="3413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Repeat Customers percentages relative to overall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Roughly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98%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bookings are from new customers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Repeat customers make up less than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Those are incredibly skewed results in favor of 1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time clients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is especially alarming for an industry where reputation (from word of mouth, online reviews) is important in sustaining a profitable business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hotel really has to take a step back and examine it’s operations, cultural enviornment and guest experience</a:t>
            </a:r>
          </a:p>
        </p:txBody>
      </p:sp>
      <p:sp>
        <p:nvSpPr>
          <p:cNvPr id="262" name="Google Shape;262;g2419b7728cb_0_137">
            <a:extLst>
              <a:ext uri="{FF2B5EF4-FFF2-40B4-BE49-F238E27FC236}">
                <a16:creationId xmlns:a16="http://schemas.microsoft.com/office/drawing/2014/main" id="{AC821813-B642-CF62-D9B7-418229F1FDC9}"/>
              </a:ext>
            </a:extLst>
          </p:cNvPr>
          <p:cNvSpPr txBox="1"/>
          <p:nvPr/>
        </p:nvSpPr>
        <p:spPr>
          <a:xfrm>
            <a:off x="226888" y="9919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Repeat Customers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64" name="Google Shape;264;g2419b7728cb_0_137">
            <a:extLst>
              <a:ext uri="{FF2B5EF4-FFF2-40B4-BE49-F238E27FC236}">
                <a16:creationId xmlns:a16="http://schemas.microsoft.com/office/drawing/2014/main" id="{058E941A-D847-24B4-FB99-F05E67A3B595}"/>
              </a:ext>
            </a:extLst>
          </p:cNvPr>
          <p:cNvSpPr txBox="1"/>
          <p:nvPr/>
        </p:nvSpPr>
        <p:spPr>
          <a:xfrm>
            <a:off x="4572000" y="3624061"/>
            <a:ext cx="4329218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Repeated guests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Guests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Percentage of c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ustomers who have visited the hotel more than once vs customers who have visited the hotel only once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5FA0BD-96E0-FB66-2D43-59B8BF1BB3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813" y="780473"/>
            <a:ext cx="3771048" cy="2816352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9752F2-5B3E-F788-1509-F95581EC2C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893232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>
          <a:extLst>
            <a:ext uri="{FF2B5EF4-FFF2-40B4-BE49-F238E27FC236}">
              <a16:creationId xmlns:a16="http://schemas.microsoft.com/office/drawing/2014/main" id="{B6E2DC42-E76E-00D4-CEC4-E94547BBFE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419b7728cb_0_137">
            <a:extLst>
              <a:ext uri="{FF2B5EF4-FFF2-40B4-BE49-F238E27FC236}">
                <a16:creationId xmlns:a16="http://schemas.microsoft.com/office/drawing/2014/main" id="{84048894-6408-FC60-F3B6-F22BF582D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279" y="1012024"/>
            <a:ext cx="4743428" cy="320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remaining features: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Type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generally looks like a right-skewed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people book either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Type 1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(79%) or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T</a:t>
            </a:r>
            <a:r>
              <a:rPr lang="en-US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 4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16%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Parking Requirements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-  Almost all clients do indicate a preference for required parking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a right-skewed distribution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 ½ the bookings (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54%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have no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45% of the bookings have 1-2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</a:t>
            </a:r>
          </a:p>
        </p:txBody>
      </p:sp>
      <p:sp>
        <p:nvSpPr>
          <p:cNvPr id="262" name="Google Shape;262;g2419b7728cb_0_137">
            <a:extLst>
              <a:ext uri="{FF2B5EF4-FFF2-40B4-BE49-F238E27FC236}">
                <a16:creationId xmlns:a16="http://schemas.microsoft.com/office/drawing/2014/main" id="{9B4BF1A8-50D3-002C-521C-3DD7ABD70B47}"/>
              </a:ext>
            </a:extLst>
          </p:cNvPr>
          <p:cNvSpPr txBox="1"/>
          <p:nvPr/>
        </p:nvSpPr>
        <p:spPr>
          <a:xfrm>
            <a:off x="240794" y="737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– Additonal Features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B12543-98A7-DF43-B8DA-51D0653B0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454" y="728796"/>
            <a:ext cx="1978681" cy="11804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AA97E98-D93C-A1F6-BB75-5DFAA29A3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983" y="1955752"/>
            <a:ext cx="2166693" cy="16181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7E32AD0-3BC8-A609-3378-731E0C9361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7257" y="3620465"/>
            <a:ext cx="2246419" cy="134012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748601-C2CD-1409-062C-DAE89503617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717729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/>
          <p:cNvSpPr txBox="1">
            <a:spLocks noGrp="1"/>
          </p:cNvSpPr>
          <p:nvPr>
            <p:ph type="body" idx="1"/>
          </p:nvPr>
        </p:nvSpPr>
        <p:spPr>
          <a:xfrm>
            <a:off x="202550" y="1012025"/>
            <a:ext cx="4006650" cy="3261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histogram of booking status, we can make the following observations: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we are really looking at here is the labeled net effect (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Cancelled, Not Cancelled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which are contributed to by the other data features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bookings are N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 Cancelled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compared to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by a ratio of roughly 2 to 1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That is a high number of cancellations that the business has to deal with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Its not clear from this graph whether that ratio is consistent across the 2 years of data, or whether an event (weather, covid, economic) affected the results one of the years which would unduely sway the results</a:t>
            </a:r>
          </a:p>
        </p:txBody>
      </p:sp>
      <p:sp>
        <p:nvSpPr>
          <p:cNvPr id="254" name="Google Shape;254;g2419b7728cb_0_127"/>
          <p:cNvSpPr txBox="1"/>
          <p:nvPr/>
        </p:nvSpPr>
        <p:spPr>
          <a:xfrm>
            <a:off x="240795" y="1185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Univariate Analysis - Cancellations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55" name="Google Shape;255;g2419b7728cb_0_1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09200" y="861975"/>
            <a:ext cx="4590050" cy="273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g2419b7728cb_0_127"/>
          <p:cNvSpPr txBox="1"/>
          <p:nvPr/>
        </p:nvSpPr>
        <p:spPr>
          <a:xfrm>
            <a:off x="4572000" y="3596925"/>
            <a:ext cx="4151100" cy="7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Booking status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Count of bookings that are Cancelled v/s Not Cancelled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73344F-F38D-9B06-D351-323C58D94D2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26</a:t>
            </a:fld>
            <a:endParaRPr lang="e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>
          <a:extLst>
            <a:ext uri="{FF2B5EF4-FFF2-40B4-BE49-F238E27FC236}">
              <a16:creationId xmlns:a16="http://schemas.microsoft.com/office/drawing/2014/main" id="{FB77AD81-79A3-F17D-187E-C3FC08B939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419b7728cb_0_127">
            <a:extLst>
              <a:ext uri="{FF2B5EF4-FFF2-40B4-BE49-F238E27FC236}">
                <a16:creationId xmlns:a16="http://schemas.microsoft.com/office/drawing/2014/main" id="{0E524EC7-7540-7776-D527-601812AA90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4186" y="1012025"/>
            <a:ext cx="4294293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Booking Status percentages relative to overall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2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Roughly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70%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bookings are successful and not cancelled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30%-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ish cancellation rate is a very high rate of cancellation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high percentage of cancellations is huge cost for the business to absorb in terms of rebooking costs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It’s not clear from the data as to how many of those cancellations end up getting successfully rebooked and at what room rate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would be interesting the data set included more details surrounding booking prices and rebooking percentages to more accurately understand the costs</a:t>
            </a:r>
          </a:p>
        </p:txBody>
      </p:sp>
      <p:sp>
        <p:nvSpPr>
          <p:cNvPr id="254" name="Google Shape;254;g2419b7728cb_0_127">
            <a:extLst>
              <a:ext uri="{FF2B5EF4-FFF2-40B4-BE49-F238E27FC236}">
                <a16:creationId xmlns:a16="http://schemas.microsoft.com/office/drawing/2014/main" id="{0F3B0BD5-3297-8453-8A83-03F28D1C218E}"/>
              </a:ext>
            </a:extLst>
          </p:cNvPr>
          <p:cNvSpPr txBox="1"/>
          <p:nvPr/>
        </p:nvSpPr>
        <p:spPr>
          <a:xfrm>
            <a:off x="230365" y="14673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Cancellations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6" name="Google Shape;256;g2419b7728cb_0_127">
            <a:extLst>
              <a:ext uri="{FF2B5EF4-FFF2-40B4-BE49-F238E27FC236}">
                <a16:creationId xmlns:a16="http://schemas.microsoft.com/office/drawing/2014/main" id="{2D975018-3276-3828-3641-C97452E081C2}"/>
              </a:ext>
            </a:extLst>
          </p:cNvPr>
          <p:cNvSpPr txBox="1"/>
          <p:nvPr/>
        </p:nvSpPr>
        <p:spPr>
          <a:xfrm>
            <a:off x="4572000" y="3596925"/>
            <a:ext cx="4151100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Booking status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Percentage of bookings that are Cancelled v/s Not Cancelled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4ABA19-C9DB-106D-2E7C-2348ACD8E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765" y="917178"/>
            <a:ext cx="3768649" cy="281456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A96ACF-B6D4-C4F9-BA67-CB8D7FB5C01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648438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19b7728cb_0_65"/>
          <p:cNvSpPr txBox="1">
            <a:spLocks noGrp="1"/>
          </p:cNvSpPr>
          <p:nvPr>
            <p:ph type="title"/>
          </p:nvPr>
        </p:nvSpPr>
        <p:spPr>
          <a:xfrm>
            <a:off x="206922" y="8414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Univariate Analysis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2419b7728cb_0_65"/>
          <p:cNvSpPr txBox="1">
            <a:spLocks noGrp="1"/>
          </p:cNvSpPr>
          <p:nvPr>
            <p:ph type="body" idx="1"/>
          </p:nvPr>
        </p:nvSpPr>
        <p:spPr>
          <a:xfrm>
            <a:off x="202550" y="808773"/>
            <a:ext cx="8629800" cy="391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800" b="1" u="sng" dirty="0"/>
              <a:t>Key Findings - Univariate Analysis</a:t>
            </a:r>
          </a:p>
          <a:p>
            <a:pPr marL="133350" indent="0">
              <a:buNone/>
            </a:pPr>
            <a:endParaRPr lang="en-US" sz="1400" b="1" dirty="0"/>
          </a:p>
          <a:p>
            <a:pPr marL="133350" indent="0">
              <a:buNone/>
            </a:pPr>
            <a:r>
              <a:rPr lang="en-US" sz="1400" b="1" dirty="0"/>
              <a:t>Booking Patterns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Peak season:</a:t>
            </a:r>
            <a:r>
              <a:rPr lang="en-US" sz="1200" dirty="0"/>
              <a:t> August-October accounts for ~</a:t>
            </a:r>
            <a:r>
              <a:rPr lang="en-US" sz="1200" b="1" dirty="0"/>
              <a:t>40% </a:t>
            </a:r>
            <a:r>
              <a:rPr lang="en-US" sz="1200" dirty="0"/>
              <a:t>of annual bookings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Slowest months:</a:t>
            </a:r>
            <a:r>
              <a:rPr lang="en-US" sz="1200" dirty="0"/>
              <a:t> January-February show lowest occupancy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Seasonal split:</a:t>
            </a:r>
            <a:r>
              <a:rPr lang="en-US" sz="1200" dirty="0"/>
              <a:t> Busy season (June-October) vs. Quiet season (remaining months)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Booking behavior:</a:t>
            </a:r>
            <a:r>
              <a:rPr lang="en-US" sz="1200" dirty="0"/>
              <a:t> 2/3 of customers book within 100 days; only </a:t>
            </a:r>
            <a:r>
              <a:rPr lang="en-US" sz="1200" b="1" dirty="0"/>
              <a:t>11% </a:t>
            </a:r>
            <a:r>
              <a:rPr lang="en-US" sz="1200" dirty="0"/>
              <a:t>book 200+ days in advance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Stay duration:</a:t>
            </a:r>
            <a:r>
              <a:rPr lang="en-US" sz="1200" dirty="0"/>
              <a:t> ~</a:t>
            </a:r>
            <a:r>
              <a:rPr lang="en-US" sz="1200" b="1" dirty="0"/>
              <a:t>80% </a:t>
            </a:r>
            <a:r>
              <a:rPr lang="en-US" sz="1200" dirty="0"/>
              <a:t>of bookings are for 2-7 nights; very few extended stays</a:t>
            </a:r>
          </a:p>
          <a:p>
            <a:pPr marL="133350" indent="0">
              <a:buNone/>
            </a:pPr>
            <a:endParaRPr lang="en-US" sz="1400" b="1" dirty="0"/>
          </a:p>
          <a:p>
            <a:pPr marL="133350" indent="0">
              <a:buNone/>
            </a:pPr>
            <a:r>
              <a:rPr lang="en-US" sz="1400" b="1" dirty="0"/>
              <a:t>Guest Demographics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Party size:</a:t>
            </a:r>
            <a:r>
              <a:rPr lang="en-US" sz="1200" dirty="0"/>
              <a:t> </a:t>
            </a:r>
            <a:r>
              <a:rPr lang="en-US" sz="1200" b="1" dirty="0"/>
              <a:t>72% </a:t>
            </a:r>
            <a:r>
              <a:rPr lang="en-US" sz="1200" dirty="0"/>
              <a:t>of rooms have 2 adults; </a:t>
            </a:r>
            <a:r>
              <a:rPr lang="en-US" sz="1200" b="1" dirty="0"/>
              <a:t>25% </a:t>
            </a:r>
            <a:r>
              <a:rPr lang="en-US" sz="1200" dirty="0"/>
              <a:t>single occupancy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Limited Family Booking:</a:t>
            </a:r>
            <a:r>
              <a:rPr lang="en-US" sz="1200" dirty="0"/>
              <a:t> </a:t>
            </a:r>
            <a:r>
              <a:rPr lang="en-US" sz="1200" b="1" dirty="0"/>
              <a:t>93% </a:t>
            </a:r>
            <a:r>
              <a:rPr lang="en-US" sz="1200" dirty="0"/>
              <a:t>of bookings have no children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Guest type:</a:t>
            </a:r>
            <a:r>
              <a:rPr lang="en-US" sz="1200" dirty="0"/>
              <a:t> Normal distribution for adults; left-skewed for children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AAF4FB8-98AE-962C-A3FD-EA35427EEAD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28</a:t>
            </a:fld>
            <a:endParaRPr lang="e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BA59CDED-ABC0-7F68-011A-636856F18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19b7728cb_0_65">
            <a:extLst>
              <a:ext uri="{FF2B5EF4-FFF2-40B4-BE49-F238E27FC236}">
                <a16:creationId xmlns:a16="http://schemas.microsoft.com/office/drawing/2014/main" id="{42C502CE-1393-BACF-2A3D-BE921C9225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57150" y="11196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Univariate Analysis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2419b7728cb_0_65">
            <a:extLst>
              <a:ext uri="{FF2B5EF4-FFF2-40B4-BE49-F238E27FC236}">
                <a16:creationId xmlns:a16="http://schemas.microsoft.com/office/drawing/2014/main" id="{847A0832-0F5F-10F3-AFC9-023EF5063A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645844"/>
            <a:ext cx="8629800" cy="4291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400" b="1" dirty="0"/>
              <a:t>Market Segments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Online dominates:</a:t>
            </a:r>
            <a:r>
              <a:rPr lang="en-US" sz="1200" dirty="0"/>
              <a:t> Largest booking channel by significant margin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Offline remains strong:</a:t>
            </a:r>
            <a:r>
              <a:rPr lang="en-US" sz="1200" dirty="0"/>
              <a:t> ~</a:t>
            </a:r>
            <a:r>
              <a:rPr lang="en-US" sz="1200" b="1" dirty="0"/>
              <a:t>30% </a:t>
            </a:r>
            <a:r>
              <a:rPr lang="en-US" sz="1200" dirty="0"/>
              <a:t>of total bookings, but could decrease as older/less </a:t>
            </a:r>
          </a:p>
          <a:p>
            <a:pPr marL="603250" lvl="1" indent="0">
              <a:spcBef>
                <a:spcPts val="0"/>
              </a:spcBef>
              <a:buNone/>
            </a:pPr>
            <a:r>
              <a:rPr lang="en-US" sz="1200" dirty="0"/>
              <a:t>	than tech savvy tech clients age out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Corporate distant third:</a:t>
            </a:r>
            <a:r>
              <a:rPr lang="en-US" sz="1200" dirty="0"/>
              <a:t> Limited corporate segment penetration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Aviation negligible:</a:t>
            </a:r>
            <a:r>
              <a:rPr lang="en-US" sz="1200" dirty="0"/>
              <a:t> Less than </a:t>
            </a:r>
            <a:r>
              <a:rPr lang="en-US" sz="1200" b="1" dirty="0"/>
              <a:t>1% </a:t>
            </a:r>
            <a:r>
              <a:rPr lang="en-US" sz="1200" dirty="0"/>
              <a:t>of bookings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  <a:p>
            <a:pPr marL="133350" indent="0">
              <a:buNone/>
            </a:pPr>
            <a:r>
              <a:rPr lang="en-US" sz="1400" b="1" dirty="0"/>
              <a:t>Room Preferences and Requests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Room concentration:</a:t>
            </a:r>
            <a:r>
              <a:rPr lang="en-US" sz="1200" dirty="0"/>
              <a:t> </a:t>
            </a:r>
            <a:r>
              <a:rPr lang="en-US" sz="1200" b="1" dirty="0"/>
              <a:t>79% </a:t>
            </a:r>
            <a:r>
              <a:rPr lang="en-US" sz="1200" dirty="0"/>
              <a:t>book Room Type 1; </a:t>
            </a:r>
            <a:r>
              <a:rPr lang="en-US" sz="1200" b="1" dirty="0"/>
              <a:t>16% </a:t>
            </a:r>
            <a:r>
              <a:rPr lang="en-US" sz="1200" dirty="0"/>
              <a:t>book Room Type 4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Parking demand:</a:t>
            </a:r>
            <a:r>
              <a:rPr lang="en-US" sz="1200" dirty="0"/>
              <a:t> Nearly all clients do not require parking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Special requests:</a:t>
            </a:r>
            <a:r>
              <a:rPr lang="en-US" sz="1200" dirty="0"/>
              <a:t> </a:t>
            </a:r>
            <a:r>
              <a:rPr lang="en-US" sz="1200" b="1" dirty="0"/>
              <a:t>54% </a:t>
            </a:r>
            <a:r>
              <a:rPr lang="en-US" sz="1200" dirty="0"/>
              <a:t>have no requests; </a:t>
            </a:r>
            <a:r>
              <a:rPr lang="en-US" sz="1200" b="1" dirty="0"/>
              <a:t>45%</a:t>
            </a:r>
            <a:r>
              <a:rPr lang="en-US" sz="1200" dirty="0"/>
              <a:t> make 1-2 requests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  <a:p>
            <a:pPr marL="133350" indent="0">
              <a:buNone/>
            </a:pPr>
            <a:r>
              <a:rPr lang="en-US" sz="1400" b="1" dirty="0"/>
              <a:t>Booking Lead Time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High variability:</a:t>
            </a:r>
            <a:r>
              <a:rPr lang="en-US" sz="1200" dirty="0"/>
              <a:t> Standard deviation (86 days) nearly equals mean (85 days)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Same-day bookings:</a:t>
            </a:r>
            <a:r>
              <a:rPr lang="en-US" sz="1200" dirty="0"/>
              <a:t> Mode of 0 days indicates frequent last-minute reservations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Unpredictable patterns:</a:t>
            </a:r>
            <a:r>
              <a:rPr lang="en-US" sz="1200" dirty="0"/>
              <a:t> Wide range (0-443 days) makes forecasting difficult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56B6AB2-2A25-8F01-ED47-9436B4E30E8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15975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>
          <a:extLst>
            <a:ext uri="{FF2B5EF4-FFF2-40B4-BE49-F238E27FC236}">
              <a16:creationId xmlns:a16="http://schemas.microsoft.com/office/drawing/2014/main" id="{9DD76C8C-7EAC-4F74-0BF6-9C9EBF753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419b7728cb_0_65">
            <a:extLst>
              <a:ext uri="{FF2B5EF4-FFF2-40B4-BE49-F238E27FC236}">
                <a16:creationId xmlns:a16="http://schemas.microsoft.com/office/drawing/2014/main" id="{ECD28B72-5178-A4B3-F8C0-004985E383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10500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Univariate Analysis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78" name="Google Shape;278;g2419b7728cb_0_65">
            <a:extLst>
              <a:ext uri="{FF2B5EF4-FFF2-40B4-BE49-F238E27FC236}">
                <a16:creationId xmlns:a16="http://schemas.microsoft.com/office/drawing/2014/main" id="{81118878-80EE-8A8D-3E26-878E031D3E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40225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400" b="1" dirty="0"/>
              <a:t>Customer Retention Problem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98% new customers:</a:t>
            </a:r>
            <a:r>
              <a:rPr lang="en-US" sz="1200" dirty="0"/>
              <a:t> Nearly all bookings are first-time guests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&lt;3% repeat business:</a:t>
            </a:r>
            <a:r>
              <a:rPr lang="en-US" sz="1200" dirty="0"/>
              <a:t> Alarmingly low customer loyalty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Service quality concern:</a:t>
            </a:r>
            <a:r>
              <a:rPr lang="en-US" sz="1200" dirty="0"/>
              <a:t> Poor retention suggests negative guest experiences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Reputation risk:</a:t>
            </a:r>
            <a:r>
              <a:rPr lang="en-US" sz="1200" dirty="0"/>
              <a:t> Low repeat rates may indicate poor reviews via online reviews and word-of-mouth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  <a:p>
            <a:pPr marL="133350" indent="0">
              <a:buNone/>
            </a:pPr>
            <a:r>
              <a:rPr lang="en-US" sz="1400" b="1" dirty="0"/>
              <a:t>Cancellation Crisis?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30% cancellation rate:</a:t>
            </a:r>
            <a:r>
              <a:rPr lang="en-US" sz="1200" dirty="0"/>
              <a:t> Extremely high and costly for operations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2:1 ratio:</a:t>
            </a:r>
            <a:r>
              <a:rPr lang="en-US" sz="1200" dirty="0"/>
              <a:t> Roughly 2 successful bookings for every 1 cancellation</a:t>
            </a:r>
          </a:p>
          <a:p>
            <a:pPr lvl="1">
              <a:spcBef>
                <a:spcPts val="600"/>
              </a:spcBef>
            </a:pPr>
            <a:r>
              <a:rPr lang="en-US" sz="1200" b="1" dirty="0"/>
              <a:t>Revenue impact:</a:t>
            </a:r>
            <a:r>
              <a:rPr lang="en-US" sz="1200" dirty="0"/>
              <a:t> Significant rebooking costs and potential revenue loss</a:t>
            </a:r>
          </a:p>
          <a:p>
            <a:pPr lvl="1">
              <a:spcBef>
                <a:spcPts val="0"/>
              </a:spcBef>
            </a:pPr>
            <a:endParaRPr lang="en-US" sz="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2518EB4-178E-C864-E4A2-2BB5AC88995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5044047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15886a1dc9e_0_116"/>
          <p:cNvSpPr txBox="1">
            <a:spLocks noGrp="1"/>
          </p:cNvSpPr>
          <p:nvPr>
            <p:ph type="body" idx="1"/>
          </p:nvPr>
        </p:nvSpPr>
        <p:spPr>
          <a:xfrm>
            <a:off x="202549" y="861975"/>
            <a:ext cx="4212875" cy="329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Market Segments and how they relate to Price Variations: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has the highest median price ($110-$115)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has a pretty wide price variance, maxing out at just under $400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has 2</a:t>
            </a:r>
            <a:r>
              <a:rPr lang="en" sz="10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nd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highest median ($100-$100), but avaition bookings are the smallest of the hotel’s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is next with a median of ($95-$100)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has the highest variability spanning between ~$90 - $550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bookings have the next highest median (~$95), once again it is a smaller share of segments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Complementary does not directly figure into the hotel’s revenue stream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could be profitability factor if the hotel comps out more higher priced rooms than it should</a:t>
            </a:r>
          </a:p>
        </p:txBody>
      </p:sp>
      <p:sp>
        <p:nvSpPr>
          <p:cNvPr id="270" name="Google Shape;270;g15886a1dc9e_0_116"/>
          <p:cNvSpPr txBox="1"/>
          <p:nvPr/>
        </p:nvSpPr>
        <p:spPr>
          <a:xfrm>
            <a:off x="202549" y="6676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</a:t>
            </a:r>
            <a:r>
              <a:rPr lang="en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Bi</a:t>
            </a: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variate Analysis</a:t>
            </a:r>
            <a:r>
              <a:rPr lang="en-US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– Market Segment Price Variations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71" name="Google Shape;271;g15886a1dc9e_0_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0288" y="841537"/>
            <a:ext cx="4105404" cy="2619587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g15886a1dc9e_0_116"/>
          <p:cNvSpPr txBox="1"/>
          <p:nvPr/>
        </p:nvSpPr>
        <p:spPr>
          <a:xfrm>
            <a:off x="4825958" y="3533321"/>
            <a:ext cx="3754064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Average price per room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Price per room across various  market segments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603DB7-E97D-F363-E515-C806E57C36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31</a:t>
            </a:fld>
            <a:endParaRPr lang="e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1144E969-D9D0-755A-4967-6F7EFECB1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19b7728cb_0_155">
            <a:extLst>
              <a:ext uri="{FF2B5EF4-FFF2-40B4-BE49-F238E27FC236}">
                <a16:creationId xmlns:a16="http://schemas.microsoft.com/office/drawing/2014/main" id="{D79DF3E0-3CBA-B1B1-EFA2-B369ED1D00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2647" y="583271"/>
            <a:ext cx="4910856" cy="3529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Explanations for how Market Segments correlate to Room Prices: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These plots represent a different visualization of the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/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Price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relationship: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Has the higher prices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should be the most profitable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Accounts for highest percentage of bookings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Company cost to book rooms online is cheaper and less labor intensive than direct contact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Widest price variance suggests price inconsistencies across sales channels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Suggest wide range of customer types: from budget conscious to premium clientele (where price isn’t an issue)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is the most unpredictable and least optimized segment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smaller price range indicates probable use of negotiated (corporate rates)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Since the prices are tightly clustered, </a:t>
            </a: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might indicate use of standardized/fixed (reduced) rates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4" name="Google Shape;284;g2419b7728cb_0_155">
            <a:extLst>
              <a:ext uri="{FF2B5EF4-FFF2-40B4-BE49-F238E27FC236}">
                <a16:creationId xmlns:a16="http://schemas.microsoft.com/office/drawing/2014/main" id="{29AAF6EF-1B7C-B07F-6BF3-FE172A37202C}"/>
              </a:ext>
            </a:extLst>
          </p:cNvPr>
          <p:cNvSpPr txBox="1"/>
          <p:nvPr/>
        </p:nvSpPr>
        <p:spPr>
          <a:xfrm>
            <a:off x="196287" y="5882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SzPts val="2200"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</a:t>
            </a: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 Price Variations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F7FFA-A1E8-4571-1338-E1CA8729E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3503" y="656394"/>
            <a:ext cx="3937153" cy="17736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5AD0E9-8AD4-2ACF-4952-C5F7652D60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357" y="2454917"/>
            <a:ext cx="3936299" cy="1953252"/>
          </a:xfrm>
          <a:prstGeom prst="rect">
            <a:avLst/>
          </a:prstGeom>
        </p:spPr>
      </p:pic>
      <p:sp>
        <p:nvSpPr>
          <p:cNvPr id="10" name="Google Shape;272;g15886a1dc9e_0_116">
            <a:extLst>
              <a:ext uri="{FF2B5EF4-FFF2-40B4-BE49-F238E27FC236}">
                <a16:creationId xmlns:a16="http://schemas.microsoft.com/office/drawing/2014/main" id="{1C3BEA4F-9B03-0C27-E079-4E92D4099199}"/>
              </a:ext>
            </a:extLst>
          </p:cNvPr>
          <p:cNvSpPr txBox="1"/>
          <p:nvPr/>
        </p:nvSpPr>
        <p:spPr>
          <a:xfrm>
            <a:off x="5772748" y="4408169"/>
            <a:ext cx="3754064" cy="6093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 </a:t>
            </a:r>
            <a:r>
              <a:rPr lang="en" sz="8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8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 </a:t>
            </a:r>
            <a:r>
              <a:rPr lang="en" sz="8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Average price per room</a:t>
            </a:r>
            <a:endParaRPr sz="8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8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Price per room across various  market segments</a:t>
            </a:r>
            <a:endParaRPr sz="8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220201-D1F2-F579-02A6-EFC0D2EA23A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814953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197DDFED-A757-E009-FBD8-6C978F78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1D7A8790-3C81-6574-7ADC-6282C9EF2B89}"/>
              </a:ext>
            </a:extLst>
          </p:cNvPr>
          <p:cNvSpPr txBox="1"/>
          <p:nvPr/>
        </p:nvSpPr>
        <p:spPr>
          <a:xfrm>
            <a:off x="311700" y="888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SzPts val="2200"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</a:t>
            </a:r>
            <a:r>
              <a:rPr lang="en-US" sz="24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 Price Variations</a:t>
            </a:r>
            <a:endParaRPr lang="en"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80F4467B-18FA-2A79-408B-A0E0D8A6EB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1815" y="609798"/>
            <a:ext cx="8275599" cy="440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optimizing Price Variations across market segments: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Booking/Offline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 time price adjustment to keep room prices competitive with competition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Rate parity across channels and online presentations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Set a price floor where selling a room below a prespecified value is not deemed profitable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Bundle air travel and hotel stay as packages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surge pricing during peak seasons/special events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Show real time room inventory levels to motivate customers to complete booking process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sales email compaigns and measured increased advertising 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Make sure to have clearly visible “special requests” as part the online experience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Booking: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Standardized pricing strategies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Restructured commission plans and incentives for travel agents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training for agents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Volume based discounts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Tiered room packages and add 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development – campaign to reach out to new potential clients (including local companies) 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corporate discounts to frequent guests for private stays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Re-evaluate and adjust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contract rates according to market conditions and inflation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 new/additional airlines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airline crew specific amenities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Crew member personal stay discounts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02B8EE-BDEE-2354-6500-6878A67035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560453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19b7728cb_0_155"/>
          <p:cNvSpPr txBox="1">
            <a:spLocks noGrp="1"/>
          </p:cNvSpPr>
          <p:nvPr>
            <p:ph type="body" idx="1"/>
          </p:nvPr>
        </p:nvSpPr>
        <p:spPr>
          <a:xfrm>
            <a:off x="72875" y="861975"/>
            <a:ext cx="4283051" cy="2095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Market Segments and how they relate to Cancelled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and Offline booking result in the highest number of cancellation both in total count and as percentages relative to their specific segments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and Aviation booking have fewer overall cancellations in terms of count and segment percentages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Complementary bookings have no cancellations because they are free (no cost to the customer)</a:t>
            </a:r>
          </a:p>
        </p:txBody>
      </p:sp>
      <p:sp>
        <p:nvSpPr>
          <p:cNvPr id="284" name="Google Shape;284;g2419b7728cb_0_155"/>
          <p:cNvSpPr txBox="1"/>
          <p:nvPr/>
        </p:nvSpPr>
        <p:spPr>
          <a:xfrm>
            <a:off x="141992" y="17454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Bivariate Analysis – Booking Status and Market Segments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85" name="Google Shape;285;g2419b7728cb_0_15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97100" y="1014178"/>
            <a:ext cx="4224375" cy="276832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g2419b7728cb_0_155"/>
          <p:cNvSpPr txBox="1"/>
          <p:nvPr/>
        </p:nvSpPr>
        <p:spPr>
          <a:xfrm>
            <a:off x="4571988" y="3861825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that are cancelled vs not cancelled across various market segments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005384-0932-A39A-8D80-E54559C0B6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34</a:t>
            </a:fld>
            <a:endParaRPr lang="e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>
          <a:extLst>
            <a:ext uri="{FF2B5EF4-FFF2-40B4-BE49-F238E27FC236}">
              <a16:creationId xmlns:a16="http://schemas.microsoft.com/office/drawing/2014/main" id="{D6387BE2-F4F2-E1D9-F6EF-77D6CE69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419b7728cb_0_155">
            <a:extLst>
              <a:ext uri="{FF2B5EF4-FFF2-40B4-BE49-F238E27FC236}">
                <a16:creationId xmlns:a16="http://schemas.microsoft.com/office/drawing/2014/main" id="{C2ABC666-E3D1-0CEC-BEFB-EC6AE38BA7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340" y="861975"/>
            <a:ext cx="4531660" cy="3299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Explainations for how Market Segments correlate to Cancelled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and Offline booking accounts for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97%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Roughly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30%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all Online and Offline bookings get cancelled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Majority of people today book online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Easy to book online, easy to cancel online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Although still substantial, fewer and fewer people are booking offline (phone/travel agencies)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 as convenient as online cancellation, but still easy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Customers that make special requests are more engaged planners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understand what they want and are less impulsive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Directly tied to airline cancellations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Likelyhood of Aviation booking cancellation is directly related to whether a flight gets cancelled or not</a:t>
            </a:r>
          </a:p>
        </p:txBody>
      </p:sp>
      <p:sp>
        <p:nvSpPr>
          <p:cNvPr id="284" name="Google Shape;284;g2419b7728cb_0_155">
            <a:extLst>
              <a:ext uri="{FF2B5EF4-FFF2-40B4-BE49-F238E27FC236}">
                <a16:creationId xmlns:a16="http://schemas.microsoft.com/office/drawing/2014/main" id="{6D419C39-4FE5-D9D0-FDB7-7227AE46EDAA}"/>
              </a:ext>
            </a:extLst>
          </p:cNvPr>
          <p:cNvSpPr txBox="1"/>
          <p:nvPr/>
        </p:nvSpPr>
        <p:spPr>
          <a:xfrm>
            <a:off x="145469" y="1295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– Effects of Market Segments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86" name="Google Shape;286;g2419b7728cb_0_155">
            <a:extLst>
              <a:ext uri="{FF2B5EF4-FFF2-40B4-BE49-F238E27FC236}">
                <a16:creationId xmlns:a16="http://schemas.microsoft.com/office/drawing/2014/main" id="{D6FA5B79-CAAD-0479-9B54-6E989C48D959}"/>
              </a:ext>
            </a:extLst>
          </p:cNvPr>
          <p:cNvSpPr txBox="1"/>
          <p:nvPr/>
        </p:nvSpPr>
        <p:spPr>
          <a:xfrm>
            <a:off x="4952559" y="3799702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Market Segment type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cancelled/non-cancelled bookings (percentages)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 that are cancelled vs not cancelled as percentages across the various market segments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CF7BA1-647D-BD5B-1BF2-3590B87701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840" y="1014178"/>
            <a:ext cx="4487819" cy="2756156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19F561-6878-BFB1-9FD7-B7DFB3929D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496820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84437D14-D6E2-6804-A92C-7DC562F636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9DFEF040-C396-3581-AEDA-3784534209CF}"/>
              </a:ext>
            </a:extLst>
          </p:cNvPr>
          <p:cNvSpPr txBox="1"/>
          <p:nvPr/>
        </p:nvSpPr>
        <p:spPr>
          <a:xfrm>
            <a:off x="311700" y="88863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Market Segments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D99AEC4F-39B1-1F76-8EDB-69E4F4FC7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71815" y="609798"/>
            <a:ext cx="8275599" cy="4406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minimizing cancellation risks associated with market segments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Booking/Offline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Progressive cancellation penalties as booking nears check in date 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credit instead of refunding booking cost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Loyalty program for completed bookings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Follow up confirmation (emails, phone calls)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Regular automated reminders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Post booking engagement – emails/mailers about local attractions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Booking: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Make the actual online cancellation process more difficult (add steps)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Make “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” a prominent part of the online booking experience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Have a deliberate multi-step online confirmation process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free cancellation with 1</a:t>
            </a:r>
            <a:r>
              <a:rPr lang="en" sz="800" baseline="30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24 hours after booking to incentivize uncertain customers to cancel early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Ability to rebook/modify dates instead of outright cancelling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Clearly display the cancellation policy and ask for confirmation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Booking: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Bonuses to travel agents with lowest cancellation rate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training – help agents identify higher risk bookings, direct telephone follow up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Warning system that alerts agents to high risk bookings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Save client profiles (preferences, room styles, special requests)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VIP treatment for top executives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Maintain direct contact with existing corporate clients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corporate discounts to frequent guests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Aviation Booking: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Real time communications/alert system for early notification of cancellations so rooms will have more time to be rebooked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Reward airlines that minimize short notice cancellations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Tiered partnership/rewards programs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0090530-66D8-8D42-644A-C5A31E9B20A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919905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/>
          <p:cNvSpPr txBox="1"/>
          <p:nvPr/>
        </p:nvSpPr>
        <p:spPr>
          <a:xfrm>
            <a:off x="223411" y="10500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Bivariate Analysis -  Effects of Special Requests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93" name="Google Shape;293;g15886a1dc9e_0_17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8031" y="1014376"/>
            <a:ext cx="4040943" cy="325504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65951E69-5B59-DC79-169B-2688254C08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5"/>
            <a:ext cx="4429761" cy="31603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Special Requests and how they relate to Cancelled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the existing plot, it’s easy to identify an inversely proportional relationship.</a:t>
            </a: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the number of special requests increases, the number of cancelled bookings decreases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That relationship is consistently strong across all request levels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are a strong indicator of reservation commitment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-US" sz="1000" dirty="0"/>
              <a:t>Zero requests is a clear red flag for a risk of cancellation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-US" sz="1000" dirty="0"/>
              <a:t>A subsequent plot on the following page compares the percentage of cancellations/non-cancellations with special request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B2B6A35-D6EC-2F64-C00B-3B9FF982A2B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37</a:t>
            </a:fld>
            <a:endParaRPr lang="en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BFC11759-972F-9858-3B3F-AD94449F9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0F6F1B33-5017-2CFB-67F9-8FB2CA479814}"/>
              </a:ext>
            </a:extLst>
          </p:cNvPr>
          <p:cNvSpPr txBox="1"/>
          <p:nvPr/>
        </p:nvSpPr>
        <p:spPr>
          <a:xfrm>
            <a:off x="240795" y="8711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Special Requests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6311EA63-A245-2243-1AAD-17E7F8032A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4"/>
            <a:ext cx="4429761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Explainations for how Special Requests correlate to decreased Cancelled Bookings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Greater Personal Commitment: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Clients who make special requests are active in their trip planning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time it takes to do so indicates a higher level of commitment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Trip Purpose: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can be associated with events such as weddings, anniversaries, business meetings – events less likley to be cancelled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time it takes to do so indicates higher trip commitment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 Engagement: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Customers that make special requests are more engaged planners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understand what they want and are less impulsive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Timeline: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more likely to have booked in advance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Their hotel stay is combined with other trip elements – flights, events and are less likely to be cancelled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Increased Personal Investment: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Business/Frequent travellers often make more requests because they know what they want/like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Business/Frequent travellers are less likely to cancel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Casual/First Time guests are likely to make fewer requests and more more likely to cancel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506810C-9676-FA7A-A0FB-60FDF62EB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3797" y="981913"/>
            <a:ext cx="4331676" cy="2831616"/>
          </a:xfrm>
          <a:prstGeom prst="rect">
            <a:avLst/>
          </a:prstGeom>
        </p:spPr>
      </p:pic>
      <p:sp>
        <p:nvSpPr>
          <p:cNvPr id="5" name="Google Shape;272;g15886a1dc9e_0_116">
            <a:extLst>
              <a:ext uri="{FF2B5EF4-FFF2-40B4-BE49-F238E27FC236}">
                <a16:creationId xmlns:a16="http://schemas.microsoft.com/office/drawing/2014/main" id="{A9FBAA85-70C3-3FA4-8C47-972844A9F520}"/>
              </a:ext>
            </a:extLst>
          </p:cNvPr>
          <p:cNvSpPr txBox="1"/>
          <p:nvPr/>
        </p:nvSpPr>
        <p:spPr>
          <a:xfrm>
            <a:off x="5023549" y="3933463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Special Requests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cancellations/non-cancellations (percentages)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Compares the special requests to the overall percentage of cancellations/non-cancellations at each request level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4BAADD-027D-5B61-2886-FC0E26A183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992930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99BE9A1A-8E74-15FC-69B5-806560FB8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55E9F517-BF8A-4109-95F4-4F0EFDEB73E5}"/>
              </a:ext>
            </a:extLst>
          </p:cNvPr>
          <p:cNvSpPr txBox="1"/>
          <p:nvPr/>
        </p:nvSpPr>
        <p:spPr>
          <a:xfrm>
            <a:off x="251225" y="5285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Special Requests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07E75C62-560C-8BF1-FD0A-FFC5A97467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4"/>
            <a:ext cx="8275599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minimizing cancellation risks associated with decreased special requests</a:t>
            </a:r>
            <a:r>
              <a:rPr lang="en" sz="12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Promote/Encourage addition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during the booking process: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prompts for special requests during the booking process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bundled special requests at a discount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Stricter cancellation policies for zero(0) request bookings: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at a higher risk and are more likely to be cancelled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 to mitigate risk by automated follow up emails and booking confirmation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flexible cancellation policies for mulit-request bookings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lower risk and the booking is much more likely to be honoured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initial deposits for multi-request bookings: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more likely to have booked in advance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Their hotel stay is combined with other trip elements – flights, events and are less likely to be cancelled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Save premium priced rooms for travellers with </a:t>
            </a:r>
            <a:r>
              <a:rPr lang="en-US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higher number of requests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Pricing: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Incetivise by adjusting prices based on the number of special requests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Overbook rooms to compensate for the anticpated loss due to 0 request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Requirement prepayment for zero request rooms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C6B808-E0FD-257C-15C4-F84BF74594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4415819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15886a1dc9e_0_231"/>
          <p:cNvSpPr txBox="1">
            <a:spLocks noGrp="1"/>
          </p:cNvSpPr>
          <p:nvPr>
            <p:ph type="body" idx="1"/>
          </p:nvPr>
        </p:nvSpPr>
        <p:spPr>
          <a:xfrm>
            <a:off x="106471" y="929424"/>
            <a:ext cx="4625236" cy="1706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Booking Lead Times and how they relate to Cancelled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Shorter Book Lead Time results in higher number of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the lead time increases, the number of cancellations decrease (this could be related to the fact the number of bookings decrease as the lead time increases)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distribution has a definite although uneven right-skew</a:t>
            </a:r>
            <a:endParaRPr lang="en-US" sz="1000" dirty="0"/>
          </a:p>
        </p:txBody>
      </p:sp>
      <p:sp>
        <p:nvSpPr>
          <p:cNvPr id="299" name="Google Shape;299;g15886a1dc9e_0_231"/>
          <p:cNvSpPr txBox="1"/>
          <p:nvPr/>
        </p:nvSpPr>
        <p:spPr>
          <a:xfrm>
            <a:off x="209504" y="9457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Bivariate Analysis – Effects of Booking Lead Times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00" name="Google Shape;300;g15886a1dc9e_0_231"/>
          <p:cNvSpPr txBox="1"/>
          <p:nvPr/>
        </p:nvSpPr>
        <p:spPr>
          <a:xfrm>
            <a:off x="5058300" y="3193177"/>
            <a:ext cx="3525160" cy="76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Lead time</a:t>
            </a:r>
            <a:endParaRPr sz="10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bookings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Lead time of the bookings that were cancelled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01" name="Google Shape;301;g15886a1dc9e_0_2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75548" y="791503"/>
            <a:ext cx="4165902" cy="242768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FB4AF5-B15A-298D-EA27-A1AAD03C7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40</a:t>
            </a:fld>
            <a:endParaRPr lang="e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CB89A02D-6177-0215-8228-2A7E2D730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8DBF5D15-6945-32DF-A099-03D2ADDB181C}"/>
              </a:ext>
            </a:extLst>
          </p:cNvPr>
          <p:cNvSpPr txBox="1"/>
          <p:nvPr/>
        </p:nvSpPr>
        <p:spPr>
          <a:xfrm>
            <a:off x="216458" y="6289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Booking Lead Times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ECD43A7C-DD25-CC36-E572-923B5ED72B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768" y="910424"/>
            <a:ext cx="4740433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Explanations for how Booking Lead Times correlate to increased Cancelled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Perceived Timeline: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Trips booked too far in the future don’t feel as </a:t>
            </a: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“concrete”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Shorter termed bookings feel more real and build excitement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Easier to cancel future trip booked far in future than one that is imminent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Commitment Levels: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Shorter lead times are more delierate actions – “decision’s  been made”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Longer lead times lead to “book now, make final decision later”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Bookings made on impulse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too far in the future are often regretted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 changes over longer lead times can lead to cancellations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Client Engagement: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shorter lead times, clients are excited and actively planning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Longer lead times, customers tend to forget about bookings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When not actively engaged, clients attention fades over time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Other Factors: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Far future bookings allow clients to find better deals on other properties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Inadequate cancellation policies encourage consumers to competitive shop without fear of repercussions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Google Shape;272;g15886a1dc9e_0_116">
            <a:extLst>
              <a:ext uri="{FF2B5EF4-FFF2-40B4-BE49-F238E27FC236}">
                <a16:creationId xmlns:a16="http://schemas.microsoft.com/office/drawing/2014/main" id="{713243AF-A344-737C-02E8-FCB37725C0E8}"/>
              </a:ext>
            </a:extLst>
          </p:cNvPr>
          <p:cNvSpPr txBox="1"/>
          <p:nvPr/>
        </p:nvSpPr>
        <p:spPr>
          <a:xfrm>
            <a:off x="5046599" y="3810821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</a:t>
            </a:r>
            <a:r>
              <a:rPr lang="en-GB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Days of Booking Lead Time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cancellations/non-cancellations (percentages)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Compares the dayd of Lead Time to the overall percentage of cancellations/non-cancellations at each request level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6561E-2618-3124-31B4-DE66DA13C2C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41</a:t>
            </a:fld>
            <a:endParaRPr lang="e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B75814-3A5D-CA53-D143-6C172DE79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7108" y="771035"/>
            <a:ext cx="4207891" cy="2831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133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41AF1259-9EEE-EB1F-9B82-AA610CB46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ACD1D260-9D86-8AFC-0EBC-64FA23A68E54}"/>
              </a:ext>
            </a:extLst>
          </p:cNvPr>
          <p:cNvSpPr txBox="1"/>
          <p:nvPr/>
        </p:nvSpPr>
        <p:spPr>
          <a:xfrm>
            <a:off x="222938" y="8762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Booking Lead Times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029553B9-69FF-3107-5C51-F1AC1E0A37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4"/>
            <a:ext cx="8275599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minimizing cancellation risks related with Booking Lead Times: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Promote/Encourage addition of </a:t>
            </a: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during the booking process: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 prompts for special requests during the booking process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bundled special requests at a discount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Stricter cancellation policies for zero(0) request bookings: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at a higher risk and are more likely to be cancelled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 to mitigate risk by automated follow up emails and booking confirmation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flexible cancellation policies for mulit-request bookings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lower risk and the booking is much more likely to be honoured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initial deposits for multi-request bookings: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are more likely to have booked in advance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Their hotel stay is combined with other tip elements – flights, events and are less likely to be cancelled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Save premium priced rooms for travellers wi</a:t>
            </a:r>
            <a:r>
              <a:rPr lang="en-US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 a 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higher number of requests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Dynamic Pricing: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Incetivise by adjusting prices based on the number of special requests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Overbook rooms to compensate for the anticpated loss due to 0 request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Requirement prepayment for zero request rooms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F8B7AE-015F-B19E-89EA-7B245C917E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0272086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886a1dc9e_0_293"/>
          <p:cNvSpPr txBox="1">
            <a:spLocks noGrp="1"/>
          </p:cNvSpPr>
          <p:nvPr>
            <p:ph type="body" idx="1"/>
          </p:nvPr>
        </p:nvSpPr>
        <p:spPr>
          <a:xfrm>
            <a:off x="83560" y="861979"/>
            <a:ext cx="4488439" cy="2591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Examining Check-in Month and how it relates to Cancelled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Summer through early fall is the peak travel season with the highest number of arrivals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Cancellations are noticeably increased during this period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July has the highest number of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offseason (November through March) has fewer cancellations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January has the lowest cancellation rate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-US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left-skewed (if not somewhat normalized) distribution, but in the case the distribution would change depending on which month we start our plots with</a:t>
            </a:r>
          </a:p>
        </p:txBody>
      </p:sp>
      <p:sp>
        <p:nvSpPr>
          <p:cNvPr id="307" name="Google Shape;307;g15886a1dc9e_0_293"/>
          <p:cNvSpPr txBox="1"/>
          <p:nvPr/>
        </p:nvSpPr>
        <p:spPr>
          <a:xfrm>
            <a:off x="226888" y="8067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Bivariate Analysis – Effects of </a:t>
            </a:r>
            <a:r>
              <a:rPr lang="en-US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Check-in Month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08" name="Google Shape;308;g15886a1dc9e_0_29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1603" y="908947"/>
            <a:ext cx="3344449" cy="2075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g15886a1dc9e_0_29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15259" y="3057181"/>
            <a:ext cx="3210793" cy="169018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EFA482-65B9-845A-9247-C8C65CC2FD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43</a:t>
            </a:fld>
            <a:endParaRPr lang="en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2C7BA08C-111D-5312-CAE4-FC6B62F04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68DC5960-FBBD-DA69-BC6D-F229CA6E987A}"/>
              </a:ext>
            </a:extLst>
          </p:cNvPr>
          <p:cNvSpPr txBox="1"/>
          <p:nvPr/>
        </p:nvSpPr>
        <p:spPr>
          <a:xfrm>
            <a:off x="199073" y="2868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Check-in Month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717CC54D-6927-E8E9-3B83-8F17F5AD1A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6973" y="910424"/>
            <a:ext cx="4728228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Explanations for how Check-in Month correlates to Cancelled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plot provides a clearer picture showing the bookings per month along with a stacked view of t</a:t>
            </a: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cancelled/non-cancelled bookings and their percentages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Base on this view we can see that June – August have the highest percentage of calculations along with April (is that a school vacation month?)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Higher Cancellations in Summer/Fall: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season booked far in advance – cancellation more likely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time it takes to do so indicates a higher level of commitment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Vacaton plans often change from the time they are first booked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People will often shop around for better deals. </a:t>
            </a: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 suitable cancellation penalties don’t exist, they will book the better deals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Cancellations in Winter: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Holiday/Family plans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– are often firmer plans (Christmas at grandmas)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Bookings are made closer to travel dates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prices/more deals in the off season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Increased relative percentage of business/corporate bookings which are generally more reliable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" name="Google Shape;272;g15886a1dc9e_0_116">
            <a:extLst>
              <a:ext uri="{FF2B5EF4-FFF2-40B4-BE49-F238E27FC236}">
                <a16:creationId xmlns:a16="http://schemas.microsoft.com/office/drawing/2014/main" id="{7D1CAD9D-A270-A327-D0DB-C76A4AF7915A}"/>
              </a:ext>
            </a:extLst>
          </p:cNvPr>
          <p:cNvSpPr txBox="1"/>
          <p:nvPr/>
        </p:nvSpPr>
        <p:spPr>
          <a:xfrm>
            <a:off x="5023549" y="3933463"/>
            <a:ext cx="4151100" cy="927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X-axis: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-US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Arrival (Check-in) month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Y-axis:</a:t>
            </a:r>
            <a:r>
              <a:rPr lang="en" sz="10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Number of cancellations/non-cancellations (percentages)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Description:</a:t>
            </a:r>
            <a:r>
              <a:rPr lang="en" sz="10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en" sz="900" dirty="0">
                <a:solidFill>
                  <a:srgbClr val="1155CC"/>
                </a:solidFill>
                <a:latin typeface="Nunito"/>
                <a:ea typeface="Nunito"/>
                <a:cs typeface="Nunito"/>
                <a:sym typeface="Nunito"/>
              </a:rPr>
              <a:t>Compares the client arrival month to the overall percentage of cancellations/non-cancellations at each request level</a:t>
            </a:r>
            <a:endParaRPr sz="900" dirty="0">
              <a:solidFill>
                <a:srgbClr val="1155C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E3354-7520-C74D-CDDF-5AAE3A28FA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46" y="1132831"/>
            <a:ext cx="4109736" cy="275524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FE6E962-D13F-ED60-6054-2512672149C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2186250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>
          <a:extLst>
            <a:ext uri="{FF2B5EF4-FFF2-40B4-BE49-F238E27FC236}">
              <a16:creationId xmlns:a16="http://schemas.microsoft.com/office/drawing/2014/main" id="{F9EED1B9-9D1E-2D7A-371E-34705012F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5886a1dc9e_0_174">
            <a:extLst>
              <a:ext uri="{FF2B5EF4-FFF2-40B4-BE49-F238E27FC236}">
                <a16:creationId xmlns:a16="http://schemas.microsoft.com/office/drawing/2014/main" id="{F5721161-7D19-2331-36FA-46B85DE54B9E}"/>
              </a:ext>
            </a:extLst>
          </p:cNvPr>
          <p:cNvSpPr txBox="1"/>
          <p:nvPr/>
        </p:nvSpPr>
        <p:spPr>
          <a:xfrm>
            <a:off x="222938" y="10500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Effects of Booking Month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" name="Google Shape;253;g2419b7728cb_0_127">
            <a:extLst>
              <a:ext uri="{FF2B5EF4-FFF2-40B4-BE49-F238E27FC236}">
                <a16:creationId xmlns:a16="http://schemas.microsoft.com/office/drawing/2014/main" id="{3FDBBBE9-AE3D-8C6D-C889-65822897D23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45439" y="910424"/>
            <a:ext cx="8275599" cy="3799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Strategies for minimizing cancellation risks related with Booking Month: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Season (June – October):</a:t>
            </a:r>
            <a:r>
              <a:rPr lang="en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[Including April as school vacation month]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Stricter cancellation policies – reduce window for free cancellations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Shorten the booking window – release rooms with less lead time for booking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Non-refundable deposits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Automated customer follow up at predefined intervals before arrival date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Strategic overbooking – overbook rooms with the knowledge of the predicted cancellation rates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Offseason (November – March):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Creative all inclusive vacation stay packages (partner with other local businesses?)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 more reliable booking segments (corporate, repeat clients)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(bonus) customer loyalty programs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room deposit requirements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Extended stay discounts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Last minute sales/deals to appeal to the more spontaneous travellers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289C710-47E5-B732-B511-B8CB7583DF0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45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126941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00571E71-74C0-177E-3067-F70BA9513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886a1dc9e_0_293">
            <a:extLst>
              <a:ext uri="{FF2B5EF4-FFF2-40B4-BE49-F238E27FC236}">
                <a16:creationId xmlns:a16="http://schemas.microsoft.com/office/drawing/2014/main" id="{E3752EC5-C925-3A66-6AF7-6E6849E545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4185" y="804301"/>
            <a:ext cx="8180485" cy="149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Examine how combined features of Price Distribution and Market Segment relate to Cancelled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following plots illustrate the cancellation/non-cancellations by market segments across different ranges of room costs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bookings occur in the $51 - $150 price range in the Online/Offline market segments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Consequently most cancellations occur in these ranges as well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sym typeface="Century Gothic"/>
              </a:rPr>
              <a:t>T</a:t>
            </a:r>
            <a:r>
              <a:rPr lang="en-US" sz="1000" dirty="0">
                <a:solidFill>
                  <a:schemeClr val="dk1"/>
                </a:solidFill>
                <a:latin typeface="Century Gothic"/>
                <a:sym typeface="Century Gothic"/>
              </a:rPr>
              <a:t>h</a:t>
            </a:r>
            <a:r>
              <a:rPr lang="en" sz="1000" dirty="0">
                <a:solidFill>
                  <a:schemeClr val="dk1"/>
                </a:solidFill>
                <a:latin typeface="Century Gothic"/>
                <a:sym typeface="Century Gothic"/>
              </a:rPr>
              <a:t>ere is a spike in number of online bookings in the highest price ranges (&gt; $150)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sym typeface="Century Gothic"/>
              </a:rPr>
              <a:t>Few rooms are offered under $50, so there are few bookings and few cancellations</a:t>
            </a:r>
            <a:endParaRPr lang="en-US" sz="1000" dirty="0"/>
          </a:p>
        </p:txBody>
      </p:sp>
      <p:sp>
        <p:nvSpPr>
          <p:cNvPr id="307" name="Google Shape;307;g15886a1dc9e_0_293">
            <a:extLst>
              <a:ext uri="{FF2B5EF4-FFF2-40B4-BE49-F238E27FC236}">
                <a16:creationId xmlns:a16="http://schemas.microsoft.com/office/drawing/2014/main" id="{028C44FA-3198-70E7-3C2E-77E1A3243638}"/>
              </a:ext>
            </a:extLst>
          </p:cNvPr>
          <p:cNvSpPr txBox="1"/>
          <p:nvPr/>
        </p:nvSpPr>
        <p:spPr>
          <a:xfrm>
            <a:off x="554959" y="59498"/>
            <a:ext cx="8520600" cy="87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Multivariate Analysis – </a:t>
            </a:r>
            <a:r>
              <a:rPr lang="en-US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Comparing </a:t>
            </a: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Status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by Price Distribution and Market Segment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45D627-F05A-9190-0907-6C5C25299A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05" y="2323578"/>
            <a:ext cx="7420989" cy="255796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19B22B2-DDEC-528C-21AE-CE579DA00D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46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6010005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>
          <a:extLst>
            <a:ext uri="{FF2B5EF4-FFF2-40B4-BE49-F238E27FC236}">
              <a16:creationId xmlns:a16="http://schemas.microsoft.com/office/drawing/2014/main" id="{4692DA03-6E31-059D-A9FA-A2B4E930A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15886a1dc9e_0_293">
            <a:extLst>
              <a:ext uri="{FF2B5EF4-FFF2-40B4-BE49-F238E27FC236}">
                <a16:creationId xmlns:a16="http://schemas.microsoft.com/office/drawing/2014/main" id="{8119ED1B-7175-806B-596C-99E67493E4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59134" y="930057"/>
            <a:ext cx="4341258" cy="3713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2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Distribution and Market Segment as related to Cancelled Bookings: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2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Prices are consistent within market segments</a:t>
            </a:r>
            <a:endParaRPr lang="en" sz="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ranges generally stay consistent within market segments regardless of booking status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isn’t affected by cancellations:</a:t>
            </a:r>
            <a:endParaRPr lang="en" sz="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Cancelled/non-cancelled have identical price distributions across all individual market segments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prices have highest variability:</a:t>
            </a:r>
            <a:endParaRPr lang="en" sz="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Offline prices have the highest price ranges ($50 - $550) for both cancelled and non-cancelled bookings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All price levels seem to cancel equally:</a:t>
            </a:r>
            <a:endParaRPr lang="en" sz="6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Expensive and cheaper bookings cancel at the same rates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proves price does not predicitive of cancellation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10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Since price doesn’t have a predicitive impact on cancellations, more research needs to be done to identify other cancellation reduction strategies</a:t>
            </a:r>
          </a:p>
        </p:txBody>
      </p:sp>
      <p:sp>
        <p:nvSpPr>
          <p:cNvPr id="307" name="Google Shape;307;g15886a1dc9e_0_293">
            <a:extLst>
              <a:ext uri="{FF2B5EF4-FFF2-40B4-BE49-F238E27FC236}">
                <a16:creationId xmlns:a16="http://schemas.microsoft.com/office/drawing/2014/main" id="{51EEA2A1-486A-0FA3-5519-12C0EF6F17C8}"/>
              </a:ext>
            </a:extLst>
          </p:cNvPr>
          <p:cNvSpPr txBox="1"/>
          <p:nvPr/>
        </p:nvSpPr>
        <p:spPr>
          <a:xfrm>
            <a:off x="554959" y="59498"/>
            <a:ext cx="8520600" cy="870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EDA - </a:t>
            </a:r>
            <a:r>
              <a:rPr lang="en-US" sz="20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Comparing </a:t>
            </a: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Booking Status by Price Distribution 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000" b="1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Market Segment</a:t>
            </a:r>
            <a:endParaRPr sz="20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671D45-BE0F-86E2-A5EB-2B039B5F90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1339" y="720237"/>
            <a:ext cx="3843285" cy="1907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6180ED-D6A8-6403-4351-926090D96B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11338" y="2698657"/>
            <a:ext cx="3843286" cy="19070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4394EA-72BA-6A15-2CD1-5E71BC41500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47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512685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4d23124c0_1_11"/>
          <p:cNvSpPr txBox="1">
            <a:spLocks noGrp="1"/>
          </p:cNvSpPr>
          <p:nvPr>
            <p:ph type="title"/>
          </p:nvPr>
        </p:nvSpPr>
        <p:spPr>
          <a:xfrm>
            <a:off x="230364" y="493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Bivariate Analysis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244d23124c0_1_11"/>
          <p:cNvSpPr txBox="1">
            <a:spLocks noGrp="1"/>
          </p:cNvSpPr>
          <p:nvPr>
            <p:ph type="body" idx="1"/>
          </p:nvPr>
        </p:nvSpPr>
        <p:spPr>
          <a:xfrm>
            <a:off x="202550" y="770352"/>
            <a:ext cx="8629800" cy="41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800" b="1" u="sng" dirty="0"/>
              <a:t>Key Findings - Bivariate Analysis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Price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Room prices have no impact on number of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Expensive and lower priced rooms are cancelled at roughly the same rate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Cancelled and non-cancelled rooms have identical distributions across market segments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Price is not a predictor of client cancellations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Special Requests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Zero (0) requests have a </a:t>
            </a:r>
            <a:r>
              <a:rPr lang="en-US" sz="1000" b="1" dirty="0"/>
              <a:t>43% </a:t>
            </a:r>
            <a:r>
              <a:rPr lang="en-US" sz="1000" dirty="0"/>
              <a:t>cancellation rate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As number of requests increases, the likely of cancellation decreases substantially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Customers making special requests are more engaged and committed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Business and frequent guests make more requests and cancel less often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Business trips and special events (weddings, conferences) are less likely to be cancelled</a:t>
            </a:r>
          </a:p>
          <a:p>
            <a:pPr lvl="1">
              <a:spcBef>
                <a:spcPts val="600"/>
              </a:spcBef>
            </a:pPr>
            <a:endParaRPr lang="en-US" sz="1400" dirty="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7E5348-020F-F479-1E7A-FE7D76717B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48</a:t>
            </a:fld>
            <a:endParaRPr lang="e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D4EA81EC-82A3-D239-6619-8CC2AFF04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4d23124c0_1_11">
            <a:extLst>
              <a:ext uri="{FF2B5EF4-FFF2-40B4-BE49-F238E27FC236}">
                <a16:creationId xmlns:a16="http://schemas.microsoft.com/office/drawing/2014/main" id="{101B70E3-B100-46F8-C52D-EA58847711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6922" y="7371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Bivariate Analysis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244d23124c0_1_11">
            <a:extLst>
              <a:ext uri="{FF2B5EF4-FFF2-40B4-BE49-F238E27FC236}">
                <a16:creationId xmlns:a16="http://schemas.microsoft.com/office/drawing/2014/main" id="{B289116D-7FAE-157A-F2E1-4297460315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7100" y="757944"/>
            <a:ext cx="8629800" cy="3927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spcBef>
                <a:spcPts val="600"/>
              </a:spcBef>
              <a:buNone/>
            </a:pPr>
            <a:endParaRPr lang="en-US" sz="1200" b="1" dirty="0"/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Market Segments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Online (~</a:t>
            </a:r>
            <a:r>
              <a:rPr lang="en-US" sz="1000" b="1" dirty="0"/>
              <a:t>36% </a:t>
            </a:r>
            <a:r>
              <a:rPr lang="en-US" sz="1000" dirty="0"/>
              <a:t>cancelled)  Offline (~</a:t>
            </a:r>
            <a:r>
              <a:rPr lang="en-US" sz="1000" b="1" dirty="0"/>
              <a:t>30% </a:t>
            </a:r>
            <a:r>
              <a:rPr lang="en-US" sz="1000" dirty="0"/>
              <a:t>cancelled) bookings for roughly </a:t>
            </a:r>
            <a:r>
              <a:rPr lang="en-US" sz="1000" b="1" dirty="0"/>
              <a:t>95% </a:t>
            </a:r>
            <a:r>
              <a:rPr lang="en-US" sz="1000" dirty="0"/>
              <a:t>of all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Corporate (~</a:t>
            </a:r>
            <a:r>
              <a:rPr lang="en-US" sz="1000" b="1" dirty="0"/>
              <a:t>10% </a:t>
            </a:r>
            <a:r>
              <a:rPr lang="en-US" sz="1000" dirty="0"/>
              <a:t>cancelled) are a more reliable booking source – same could be probably said of frequent return clients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Aviation bookings have minimal cancellations - standard contractual rooms - (unless flights outright cancelled) 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Comped rooms don’t get cancelled (but mismanaged can negatively affect bottom line)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Special Requests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Zero (0) requests have a </a:t>
            </a:r>
            <a:r>
              <a:rPr lang="en-US" sz="1000" b="1" dirty="0"/>
              <a:t>43% </a:t>
            </a:r>
            <a:r>
              <a:rPr lang="en-US" sz="1000" dirty="0"/>
              <a:t>cancellation rate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As number of requests increases, the likely of cancellation decreases substantially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Customers making special requests are more engaged and committed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Business and frequent guests make more requests and cancel less often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Business trips and special events (weddings, conferences) are less likely to be cancelled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Booking Lead Time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Shorter lead times have higher rates of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Same day booking has highest risk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Longer lead times have lower rates of cancellations – more invested travelers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Right skewed distribution with most bookings occurring within 100 days of check-in</a:t>
            </a:r>
          </a:p>
          <a:p>
            <a:pPr lvl="1">
              <a:spcBef>
                <a:spcPts val="600"/>
              </a:spcBef>
            </a:pPr>
            <a:endParaRPr lang="en-US" sz="1400" dirty="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DA5952-2524-593B-6173-AA12B3EBC14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49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42365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>
          <a:extLst>
            <a:ext uri="{FF2B5EF4-FFF2-40B4-BE49-F238E27FC236}">
              <a16:creationId xmlns:a16="http://schemas.microsoft.com/office/drawing/2014/main" id="{2F36AB83-1736-3227-7168-C82B88E4F8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44d23124c0_1_11">
            <a:extLst>
              <a:ext uri="{FF2B5EF4-FFF2-40B4-BE49-F238E27FC236}">
                <a16:creationId xmlns:a16="http://schemas.microsoft.com/office/drawing/2014/main" id="{4048FC1B-1FC2-C623-C3A4-168D3B8837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8414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Results EDA - Bivariate Analysis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15" name="Google Shape;315;g244d23124c0_1_11">
            <a:extLst>
              <a:ext uri="{FF2B5EF4-FFF2-40B4-BE49-F238E27FC236}">
                <a16:creationId xmlns:a16="http://schemas.microsoft.com/office/drawing/2014/main" id="{0DE5CA39-2F24-A18F-4EB1-A493FF91BF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770352"/>
            <a:ext cx="8629800" cy="415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indent="0">
              <a:buNone/>
            </a:pPr>
            <a:r>
              <a:rPr lang="en-US" sz="1800" b="1" u="sng" dirty="0"/>
              <a:t>Key Findings - Bivariate Analysis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Check-in Month vs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Peak season for cancellations is June-0ctober (summer season when most bookings occur)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Peak season bookings tend to have longer lead times, vacation plans subject to change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July is peak month for cancellations in terms of percentage of months booking (~</a:t>
            </a:r>
            <a:r>
              <a:rPr lang="en-US" sz="1000" b="1" dirty="0"/>
              <a:t>46%</a:t>
            </a:r>
            <a:r>
              <a:rPr lang="en-US" sz="1000" dirty="0"/>
              <a:t>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October is the worst month for the overall number of cancellations (~1400)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Off-peak is November – April has cancellations in total or ~</a:t>
            </a:r>
            <a:r>
              <a:rPr lang="en-US" sz="1000" b="1" dirty="0"/>
              <a:t>25% </a:t>
            </a:r>
            <a:r>
              <a:rPr lang="en-US" sz="1000" dirty="0"/>
              <a:t>of the period’s bookings (886 of 3423 bookings cancelled)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Winter months have shorter lead times and firmer plans (holidays, special occasions, corporate bookings)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December has the fewest number of cancellations (</a:t>
            </a:r>
            <a:r>
              <a:rPr lang="en-US" sz="1000" b="1" dirty="0"/>
              <a:t>13% </a:t>
            </a:r>
            <a:r>
              <a:rPr lang="en-US" sz="1000" dirty="0"/>
              <a:t>of monthly bookings)</a:t>
            </a:r>
          </a:p>
          <a:p>
            <a:pPr marL="133350" indent="0">
              <a:spcBef>
                <a:spcPts val="600"/>
              </a:spcBef>
              <a:buNone/>
            </a:pPr>
            <a:r>
              <a:rPr lang="en-US" sz="1200" b="1" dirty="0"/>
              <a:t>Revenue Impacts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Cancellation rates have highest impact on peak booking months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Online/Offline market segments account for highest percentage and number of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October is the worst month in terms of negative revenue impact due to cancellations</a:t>
            </a:r>
          </a:p>
          <a:p>
            <a:pPr lvl="1">
              <a:spcBef>
                <a:spcPts val="200"/>
              </a:spcBef>
            </a:pPr>
            <a:r>
              <a:rPr lang="en-US" sz="1000" dirty="0"/>
              <a:t>Corporate and Aviation bookings are the most predictable and reliable</a:t>
            </a:r>
          </a:p>
          <a:p>
            <a:pPr lvl="1">
              <a:spcBef>
                <a:spcPts val="200"/>
              </a:spcBef>
            </a:pPr>
            <a:endParaRPr lang="en-US" sz="1000" dirty="0"/>
          </a:p>
          <a:p>
            <a:pPr lvl="1">
              <a:spcBef>
                <a:spcPts val="600"/>
              </a:spcBef>
            </a:pPr>
            <a:endParaRPr lang="en-US" sz="1400" dirty="0"/>
          </a:p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86AF28-DF52-148E-8454-0547251E887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56340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44d23124c0_1_153"/>
          <p:cNvSpPr txBox="1">
            <a:spLocks noGrp="1"/>
          </p:cNvSpPr>
          <p:nvPr>
            <p:ph type="title"/>
          </p:nvPr>
        </p:nvSpPr>
        <p:spPr>
          <a:xfrm>
            <a:off x="240795" y="1015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Decision Tree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21" name="Google Shape;321;g244d23124c0_1_153"/>
          <p:cNvSpPr txBox="1">
            <a:spLocks noGrp="1"/>
          </p:cNvSpPr>
          <p:nvPr>
            <p:ph type="body" idx="1"/>
          </p:nvPr>
        </p:nvSpPr>
        <p:spPr>
          <a:xfrm>
            <a:off x="468729" y="1840640"/>
            <a:ext cx="7563586" cy="284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accuracy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99.65%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83.20%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16.45%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significant overfitting is taking place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is nearly perfect with the training data, but drops significantly with the test data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Whatever the model learned on the training doesn’t apply well to the (new) test data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precision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99.47%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73.23%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very large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26.24%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a large number of false positives on test data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recall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99.47%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76.66%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between training and test is high at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22.70%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identified training cancellations well, but had issues with test data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Assessment/Course of Action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model scored poorly on test data as evidenced by the large percentage gaps 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model is too complicated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Apply pruning techniques to help simplify the model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22" name="Google Shape;322;g244d23124c0_1_153"/>
          <p:cNvGraphicFramePr/>
          <p:nvPr>
            <p:extLst>
              <p:ext uri="{D42A27DB-BD31-4B8C-83A1-F6EECF244321}">
                <p14:modId xmlns:p14="http://schemas.microsoft.com/office/powerpoint/2010/main" val="197987201"/>
              </p:ext>
            </p:extLst>
          </p:nvPr>
        </p:nvGraphicFramePr>
        <p:xfrm>
          <a:off x="655479" y="927147"/>
          <a:ext cx="6392525" cy="848325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2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0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0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99.65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83.20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76.77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73.23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CB9CE3-DDD6-DBF3-7910-58D6B80244B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51</a:t>
            </a:fld>
            <a:endParaRPr lang="e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24937ead0e2_0_20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Decision Tree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29" name="Google Shape;329;g24937ead0e2_0_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78019" y="703188"/>
            <a:ext cx="4593669" cy="201274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21;g244d23124c0_1_153">
            <a:extLst>
              <a:ext uri="{FF2B5EF4-FFF2-40B4-BE49-F238E27FC236}">
                <a16:creationId xmlns:a16="http://schemas.microsoft.com/office/drawing/2014/main" id="{D607396B-E0C1-B2D0-D200-907AABE48C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5303" y="2797744"/>
            <a:ext cx="7609910" cy="2149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 Tree Weighting: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(most significant), Weekend Nights, Weekday Nights, Price, Arrival Date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Medium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Arrival Month, Meal Plan, Room Type, Number of Adults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Remaining features have low weight and minimal influence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Over-relied on Lead Time which resulted in splitting in multiple tree levels which caused overfitting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Emphasizes arrival date above arrival month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Ignored more critical features such as Special Requests, Market Segment and customer history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Redo weighting to put more emphasis on neglected features and less on weaker cancellation indicators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268740-4315-EAE5-ABB0-D020332D5C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52</a:t>
            </a:fld>
            <a:endParaRPr lang="e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4d23124c0_1_181"/>
          <p:cNvSpPr txBox="1">
            <a:spLocks noGrp="1"/>
          </p:cNvSpPr>
          <p:nvPr>
            <p:ph type="title"/>
          </p:nvPr>
        </p:nvSpPr>
        <p:spPr>
          <a:xfrm>
            <a:off x="219934" y="5633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Decision Tree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36" name="Google Shape;336;g244d23124c0_1_181"/>
          <p:cNvGraphicFramePr/>
          <p:nvPr>
            <p:extLst>
              <p:ext uri="{D42A27DB-BD31-4B8C-83A1-F6EECF244321}">
                <p14:modId xmlns:p14="http://schemas.microsoft.com/office/powerpoint/2010/main" val="1515059784"/>
              </p:ext>
            </p:extLst>
          </p:nvPr>
        </p:nvGraphicFramePr>
        <p:xfrm>
          <a:off x="472859" y="837957"/>
          <a:ext cx="6644052" cy="1134926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281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0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60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915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491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491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76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          </a:ext>
                          </a:extLst>
                        </a:rPr>
                        <a:t>Model 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72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99.65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83.20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76.77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73.23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67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  Pruned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95.64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84.34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90.77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76.09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95.69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76.09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321;g244d23124c0_1_153">
            <a:extLst>
              <a:ext uri="{FF2B5EF4-FFF2-40B4-BE49-F238E27FC236}">
                <a16:creationId xmlns:a16="http://schemas.microsoft.com/office/drawing/2014/main" id="{301B1525-68CC-5684-7C25-DE944A65E4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1090" y="1970288"/>
            <a:ext cx="8629650" cy="2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Pruned Decision Tree: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accuracy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95.64%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with improved but still low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84.34%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11.30%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moderate overfitting is taking place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precision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95.69%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76.09%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19.</a:t>
            </a:r>
            <a:r>
              <a:rPr lang="en-GB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60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a large number of false positives on test data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Significant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recall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90.77%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76.09%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between training and test is high at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14.68%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identified training cancellations well, but had issues with test data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Borderline moderate overfitting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FC7EAF-99CA-F381-0E4B-C15BA7036C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53</a:t>
            </a:fld>
            <a:endParaRPr lang="en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>
          <a:extLst>
            <a:ext uri="{FF2B5EF4-FFF2-40B4-BE49-F238E27FC236}">
              <a16:creationId xmlns:a16="http://schemas.microsoft.com/office/drawing/2014/main" id="{D5E9C8E1-C935-1D69-32C1-B5147AA8D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44d23124c0_1_181">
            <a:extLst>
              <a:ext uri="{FF2B5EF4-FFF2-40B4-BE49-F238E27FC236}">
                <a16:creationId xmlns:a16="http://schemas.microsoft.com/office/drawing/2014/main" id="{F2B90BED-9D12-3E3D-9B3C-3488A10D6E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9504" y="63287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Decision Tree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" name="Google Shape;321;g244d23124c0_1_153">
            <a:extLst>
              <a:ext uri="{FF2B5EF4-FFF2-40B4-BE49-F238E27FC236}">
                <a16:creationId xmlns:a16="http://schemas.microsoft.com/office/drawing/2014/main" id="{B9808739-EDC9-D4F5-9B7B-DCF6F776F6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4723" y="933759"/>
            <a:ext cx="8629650" cy="298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Decision Tree/Pruned Tree Comparisons: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improved by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5.2%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still needs improvement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improved by </a:t>
            </a:r>
            <a:r>
              <a:rPr lang="en-GB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6.6%</a:t>
            </a: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still needs improvement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improved by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8.0%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needs improvement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Assessment/Course of Action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Pruning reduced overfitting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gaps are better for Pruned Decision Tree, but still high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Another round of pruning to further simplify and improve the model?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 Random Forest as a different approach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1DA607-23ED-C8AD-543C-B5BC706EC63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903856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244d23124c0_1_167"/>
          <p:cNvSpPr txBox="1">
            <a:spLocks noGrp="1"/>
          </p:cNvSpPr>
          <p:nvPr>
            <p:ph type="title"/>
          </p:nvPr>
        </p:nvSpPr>
        <p:spPr>
          <a:xfrm>
            <a:off x="230289" y="12053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Random Forest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43" name="Google Shape;343;g244d23124c0_1_167"/>
          <p:cNvGraphicFramePr/>
          <p:nvPr>
            <p:extLst>
              <p:ext uri="{D42A27DB-BD31-4B8C-83A1-F6EECF244321}">
                <p14:modId xmlns:p14="http://schemas.microsoft.com/office/powerpoint/2010/main" val="4149014994"/>
              </p:ext>
            </p:extLst>
          </p:nvPr>
        </p:nvGraphicFramePr>
        <p:xfrm>
          <a:off x="336639" y="787721"/>
          <a:ext cx="6392525" cy="738676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2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33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87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87.94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96.44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77.10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98.87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84.71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2453E408-55FD-6158-90A8-F6042498A1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36639" y="1715380"/>
            <a:ext cx="8307900" cy="284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accuracy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98.47%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87.94%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10.53%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indicates moderate overfitting is taking place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precision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98.87%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84.71%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14.16% 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is better, but still considered high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Moderate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recall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96.44%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but significantly lower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77.10%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between training and test is still high at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19.34%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Significant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Assessment/Course of Action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performed better than Decision Tree/Pruned Decision Tree except for Recall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Overfitting is taking place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Try Prunded Random Forest next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40B54C-7DD0-7646-B5B4-9648CC4A911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55</a:t>
            </a:fld>
            <a:endParaRPr lang="e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4937ead0e2_0_30"/>
          <p:cNvSpPr txBox="1">
            <a:spLocks noGrp="1"/>
          </p:cNvSpPr>
          <p:nvPr>
            <p:ph type="title"/>
          </p:nvPr>
        </p:nvSpPr>
        <p:spPr>
          <a:xfrm>
            <a:off x="233865" y="76336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Random Forest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50" name="Google Shape;350;g24937ead0e2_0_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9547" y="561353"/>
            <a:ext cx="5048898" cy="215221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0B8590CE-9102-C174-F999-E6BC1FF926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2237" y="2740851"/>
            <a:ext cx="7609910" cy="2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 Weighting: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(most significant), Room Price, Arrival Date, Weeknights Nights, Arrival Month, Weekend Nights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Medium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Adults, Meal Plan, Room T</a:t>
            </a:r>
            <a:r>
              <a:rPr lang="en-US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pe, Special Requests, Market Segmentsegment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Remaining features have low weight and minimal influence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is still the top weighted feature similar to Decision Tree, Random Forest did not reduce it’s effect, still overfitting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price made more significant 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Still emphasizes arrival date above arrival month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Requests, Market Segment and customer history are still ignored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Redo weighting to put more emphasis on neglected features and less on weaker cancellation indicators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1AB0AC-2CC6-1897-FA56-2E30E39BC85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56</a:t>
            </a:fld>
            <a:endParaRPr lang="e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44d23124c0_1_174"/>
          <p:cNvSpPr txBox="1">
            <a:spLocks noGrp="1"/>
          </p:cNvSpPr>
          <p:nvPr>
            <p:ph type="title"/>
          </p:nvPr>
        </p:nvSpPr>
        <p:spPr>
          <a:xfrm>
            <a:off x="212981" y="2672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Random Forest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357" name="Google Shape;357;g244d23124c0_1_174"/>
          <p:cNvGraphicFramePr/>
          <p:nvPr>
            <p:extLst>
              <p:ext uri="{D42A27DB-BD31-4B8C-83A1-F6EECF244321}">
                <p14:modId xmlns:p14="http://schemas.microsoft.com/office/powerpoint/2010/main" val="1241854994"/>
              </p:ext>
            </p:extLst>
          </p:nvPr>
        </p:nvGraphicFramePr>
        <p:xfrm>
          <a:off x="677412" y="646936"/>
          <a:ext cx="6392525" cy="1134926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232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4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132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90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          </a:ext>
                          </a:extLst>
                        </a:rPr>
                        <a:t>Model 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291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87.94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96.44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77.10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98.87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84.71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06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 - Pruned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87.32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85.04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69.86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66.22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89.09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Google Shape;321;g244d23124c0_1_153">
            <a:extLst>
              <a:ext uri="{FF2B5EF4-FFF2-40B4-BE49-F238E27FC236}">
                <a16:creationId xmlns:a16="http://schemas.microsoft.com/office/drawing/2014/main" id="{E6742630-2FD7-EC21-0882-2D0BF6895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7353" y="1829370"/>
            <a:ext cx="8629650" cy="2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Pruned Random Forest: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87.32%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 data: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85.04%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is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2.28%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minimal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89.09%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84.77%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gap of </a:t>
            </a:r>
            <a:r>
              <a:rPr lang="en-GB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4.32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minimal overfitting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Training: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69.86%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with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Test: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66.22%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Gap is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3.64%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with minimal overfitting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 is very low though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798FA12-FF67-C15A-4B4A-9065913414A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57</a:t>
            </a:fld>
            <a:endParaRPr lang="en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>
          <a:extLst>
            <a:ext uri="{FF2B5EF4-FFF2-40B4-BE49-F238E27FC236}">
              <a16:creationId xmlns:a16="http://schemas.microsoft.com/office/drawing/2014/main" id="{188B583F-EC06-ADCA-E022-E8A7EA7CE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244d23124c0_1_174">
            <a:extLst>
              <a:ext uri="{FF2B5EF4-FFF2-40B4-BE49-F238E27FC236}">
                <a16:creationId xmlns:a16="http://schemas.microsoft.com/office/drawing/2014/main" id="{D32BAEAB-EB48-88C3-53FD-B86869C637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0977" y="3605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Random Forest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2AD0442D-98F5-ED40-B986-D0911C960D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8050" y="901069"/>
            <a:ext cx="8307900" cy="307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buClr>
                <a:schemeClr val="dk1"/>
              </a:buClr>
              <a:buSzPts val="1400"/>
              <a:buNone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Forest/Pruned Random Forest Comparisons: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10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with pruning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Precision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Improved with pruning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Marked decline with pruning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0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Analysis/Course of Action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Overfitting was dramatically reduced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training scores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Better generalized model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 dropped by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10.88%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Accuracy dropped by 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2.90%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Possible that model is overpruned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might be overly simplified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Scale back amount of pruning for Random Forests and rerun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ABA0D18-6AB9-4AE6-5B87-80D03FCEBF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58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2297880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4937ead0e2_0_38"/>
          <p:cNvSpPr txBox="1">
            <a:spLocks noGrp="1"/>
          </p:cNvSpPr>
          <p:nvPr>
            <p:ph type="title"/>
          </p:nvPr>
        </p:nvSpPr>
        <p:spPr>
          <a:xfrm>
            <a:off x="212981" y="8208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Evaluation Pruned Random Forest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364" name="Google Shape;364;g24937ead0e2_0_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9478" y="733850"/>
            <a:ext cx="4614450" cy="18379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F6D65E3C-6FBE-5E00-FAA2-0B3DE19F7A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4313" y="2546624"/>
            <a:ext cx="7609910" cy="2442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Pruned Random Forest Weighting: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Top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-GB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(most significant), Room Price, Arrival Date, Arrival Month, Special Requests, Market Segment</a:t>
            </a: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Medium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Weekend Nights, Weekday Nights, Number of Adults, Meal Plan, Arrival Year</a:t>
            </a: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Weight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Remaining features have low weight and minimal influence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9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Analysis:</a:t>
            </a:r>
          </a:p>
          <a:p>
            <a:pPr lvl="0" indent="-317500">
              <a:spcBef>
                <a:spcPts val="6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is a more dominant weight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Room price is even more significant 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Requests, Market Segment are more strongly weighted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history are still ignored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Resulted in significantly lower Recall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Over pruning, over simplified model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83DA47-F2F6-BEC6-A9F3-E1518E75B1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59</a:t>
            </a:fld>
            <a:endParaRPr lang="e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0" name="Google Shape;370;g15886a1dc9e_0_403"/>
          <p:cNvGraphicFramePr/>
          <p:nvPr>
            <p:extLst>
              <p:ext uri="{D42A27DB-BD31-4B8C-83A1-F6EECF244321}">
                <p14:modId xmlns:p14="http://schemas.microsoft.com/office/powerpoint/2010/main" val="752549438"/>
              </p:ext>
            </p:extLst>
          </p:nvPr>
        </p:nvGraphicFramePr>
        <p:xfrm>
          <a:off x="670409" y="470541"/>
          <a:ext cx="6120825" cy="1843122"/>
        </p:xfrm>
        <a:graphic>
          <a:graphicData uri="http://schemas.openxmlformats.org/drawingml/2006/table">
            <a:tbl>
              <a:tblPr firstRow="1" bandRow="1">
                <a:noFill/>
                <a:tableStyleId>{DC789D89-7B42-48A2-8941-39F5C445BB0A}</a:tableStyleId>
              </a:tblPr>
              <a:tblGrid>
                <a:gridCol w="1180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1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7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7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4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57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          </a:ext>
                          </a:extLst>
                        </a:rPr>
                        <a:t>Model </a:t>
                      </a:r>
                      <a:endParaRPr sz="9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Accuracy</a:t>
                      </a:r>
                      <a:endParaRPr sz="9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Accuracy</a:t>
                      </a:r>
                      <a:endParaRPr sz="9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Recall</a:t>
                      </a:r>
                      <a:endParaRPr sz="9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Recall</a:t>
                      </a:r>
                      <a:endParaRPr sz="9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Train Precision</a:t>
                      </a:r>
                      <a:endParaRPr sz="9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9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Test Precision</a:t>
                      </a:r>
                      <a:endParaRPr sz="9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1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99.65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83.20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76.77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73.23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874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Decision Tree - Pruned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95.64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84.34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90.77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76.09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95.69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76.09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16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B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98.47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87.94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96.44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77.10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98.87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84.71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8742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Random Forest - Pruned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T w="127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87.32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85.04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69.86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66.22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89.09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000" u="none" strike="noStrike" cap="none" dirty="0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84.77</a:t>
                      </a:r>
                      <a:endParaRPr sz="1000" u="none" strike="noStrike" cap="none" dirty="0"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71" name="Google Shape;371;g15886a1dc9e_0_403"/>
          <p:cNvSpPr txBox="1"/>
          <p:nvPr/>
        </p:nvSpPr>
        <p:spPr>
          <a:xfrm>
            <a:off x="31170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" sz="2200" b="1" i="0" u="none" strike="noStrike" cap="none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Model Performance Summary</a:t>
            </a:r>
            <a:endParaRPr sz="2200" b="1" i="0" u="none" strike="noStrike" cap="none"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9CE78F94-BA31-6004-37F3-5BE3A35053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24400" y="2313663"/>
            <a:ext cx="8307900" cy="2844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 is the best model for the business objective: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Highest test data Accuracy (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87.94%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), Precision (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84.71%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  and Recall(</a:t>
            </a: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77.10%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4 models, this had acceptable levels of overfitting (not best – which resulted in crashed Recall numbers)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Not pruned, which could lead to model oversimplifcation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Most important evaluation metric: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Recall – how many of the actual cancellations were we able to catch?</a:t>
            </a: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Missed cancellations directly result in either lost/reduced revenue or increased cost required to fill empty rooms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Features used by model to make predictions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Time, Room Price, Arrival Date, Week Nights, Check-in Date,Weekend Nights are top features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 is the most ignored feature, followed by Market Segment, Repeat Guests, and Previous Cancellations 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even though they were high scoring in Bivariate Analysis</a:t>
            </a:r>
          </a:p>
          <a:p>
            <a:pPr lvl="0" indent="-317500">
              <a:spcBef>
                <a:spcPts val="2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Action Items/Follow up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 Random Forest Model 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 Cancellation risk assessment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Implement post booking client follow up program (emails, notifications, in some higher risk situations: phone calls)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foothold in Corporate and Aviation Market Segments; they are lower risk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Evalulate and enhance the overbooking strategy – knowing a percentage of rooms will be cancelled, have means to fill them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After model has been in use for a while, evaluate its real performace. If necessary, alter the model weights to put more 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emphasis on identified higher impact features</a:t>
            </a:r>
          </a:p>
          <a:p>
            <a:pPr marL="596900" lvl="1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A9878D-4E89-35FE-0E06-C9FCD9129A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60</a:t>
            </a:fld>
            <a:endParaRPr lang="e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44c62e8fd3_0_10"/>
          <p:cNvSpPr txBox="1">
            <a:spLocks noGrp="1"/>
          </p:cNvSpPr>
          <p:nvPr>
            <p:ph type="title"/>
          </p:nvPr>
        </p:nvSpPr>
        <p:spPr>
          <a:xfrm>
            <a:off x="223473" y="10765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Conclusions and Recommendations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A73ECEAF-31C8-C567-C5F9-BEEC0BF6B1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95089"/>
            <a:ext cx="8307900" cy="395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Analysis Summary and Recommendations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Special Requests: Most Import (Magic Bullet) Cancellation Indicator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Findings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Strongest predictor 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cancellations in the dataset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</a:t>
            </a:r>
            <a:r>
              <a:rPr lang="en-US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 fewer special requests a client has, the more likely the are to cancel 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Zero requests has a cancellation rate of 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¬43%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As the number of special requests increases, cancellation rates decrease dramatically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Combination of long lead times and no special requests is a high risk cancellation indicator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Holds true across all market segments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prominent prompts for adding special requests during the booking experience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bundled special request packages at a discount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Stricter cancellation policy and higher required deposits for zero special requests customers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flexible cancellation policies for special request clients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Mitigate risk through a scheduled program of follow up communications and confirmations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Save premium rooms for clients with multiple special requests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"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 Market Segments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Findings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Online/Offline bookings account for most of the cancellations (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97%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)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Corporate and Aviation are lowest risk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Re-evaluate Online/Offline booking and cancellation policies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Expand footprint in Corporate and Aviation segments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marketing to entice more low risk clients</a:t>
            </a:r>
            <a:endParaRPr lang="en" sz="10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509120-FD00-A543-A5CA-F25D43FEAA3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61</a:t>
            </a:fld>
            <a:endParaRPr lang="en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45A33C61-12FC-C963-EEEB-D76A05F06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44c62e8fd3_0_10">
            <a:extLst>
              <a:ext uri="{FF2B5EF4-FFF2-40B4-BE49-F238E27FC236}">
                <a16:creationId xmlns:a16="http://schemas.microsoft.com/office/drawing/2014/main" id="{29A228E2-17E6-685D-C561-59B1CE74B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6694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Conclusions and Recommendations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999F78DF-32BD-F258-0D92-11E2C41440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46688" y="415035"/>
            <a:ext cx="8307900" cy="45318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Seasonal Booking Patterns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Findings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seasons have a higher number of cancellations</a:t>
            </a:r>
            <a:endParaRPr lang="en" sz="7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July and October have the highest number/rate of cancellations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Offseason bookings have fewer cancellations and are more stable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Peak Season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Non-refundable deposits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Shorten booking window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Stricter cancellation policies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Strategic overbooking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Increased customer follow up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Offseason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Target corporate markets and repeat customers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Create vacation stay packages to entice clients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customer loyalty programs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Lower room deposits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Extended stay discounts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Last minute sales/deals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marketing to entice more low risk clients</a:t>
            </a:r>
            <a:endParaRPr lang="en"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Experience Improvements and Cancellation Reductions</a:t>
            </a:r>
          </a:p>
          <a:p>
            <a:pPr marL="139700" lvl="0" indent="0">
              <a:spcBef>
                <a:spcPts val="400"/>
              </a:spcBef>
              <a:buClr>
                <a:schemeClr val="dk1"/>
              </a:buClr>
              <a:buSzPts val="1400"/>
              <a:buNone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	Surprising low number of repeat customers indicates a less than optimal guest experience during their stay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Repeat Clients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Revamped Customer Loyalty program with enhanced benefits for premium clients</a:t>
            </a:r>
            <a:endParaRPr lang="en" sz="7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VIP services for most frequent guests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Express check-ins for loyalty program members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New Customers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Personalized post booking follow up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Track preferences and requests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Encourage guests to join rewards/loyalty program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All Customers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Solicit customer feedback to identify where the hotel is failing to deliver on filling client needs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Take a critical look at the entire process (booking – check-in – stay – check-out)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Review hotel operations : room cleanliness, staff-guest interactions, front desk, amenities, are some upgrades in order?</a:t>
            </a:r>
            <a:endParaRPr lang="en"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endParaRPr lang="en"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82782D1-753E-EB28-1E27-62EFA873A4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62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419481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78EFEAEC-5074-54B7-24C8-87EC19D1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44c62e8fd3_0_10">
            <a:extLst>
              <a:ext uri="{FF2B5EF4-FFF2-40B4-BE49-F238E27FC236}">
                <a16:creationId xmlns:a16="http://schemas.microsoft.com/office/drawing/2014/main" id="{9C59111B-791A-EF9B-3456-87301FDD4D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2550" y="87624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Conclusions and Recommendations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5C39F894-FCD3-9384-6319-0198D61CA2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2550" y="895089"/>
            <a:ext cx="8307900" cy="3959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Times and Cancellations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Findings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Lead Time is a strong indicator of potential cancellations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</a:t>
            </a:r>
            <a:r>
              <a:rPr lang="en-US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ng Lead Times (200+days) have high cancellation rates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Short lead times (&lt; week) also show risk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Optimal Booking Window (30-100 days) has lowest cancellations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Combine longer lead times with special requests to reduce risks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Require higher deposits for longer lead times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aggressive program of customer follow up post booking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-GB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Price breaks for bookings occurring within Optimal Window</a:t>
            </a:r>
            <a:endParaRPr lang="en"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Cancellation Impact on Revenue and Resources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Findings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 model is the clear choice 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the options presented in this study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 model identifies 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77%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of cancellations before they occur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Still miss </a:t>
            </a:r>
            <a:r>
              <a:rPr lang="en" sz="7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23% </a:t>
            </a: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 cancellations (high) – requires additional fine tuning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Random Forest modeling is more cost effective in terms of computational resources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Each cancellation is worth $150-$300 in lost revenue if room is left vacant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Reduced revenue occurs if room is rebooked at lower price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Cancellations cost company resources in terms rebooking expenses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Recommendations</a:t>
            </a: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: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Proactive overbooking strategies</a:t>
            </a:r>
          </a:p>
          <a:p>
            <a:pPr lvl="2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7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Increase customer follow up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Risk – direct contact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Medium Risk – scheduled automated reminders</a:t>
            </a:r>
          </a:p>
          <a:p>
            <a:pPr lvl="3" indent="-317500">
              <a:spcBef>
                <a:spcPts val="0"/>
              </a:spcBef>
              <a:buClr>
                <a:schemeClr val="dk1"/>
              </a:buClr>
              <a:buSzPts val="1400"/>
              <a:buFont typeface="Arial" panose="020B0604020202020204" pitchFamily="34" charset="0"/>
              <a:buChar char="•"/>
            </a:pPr>
            <a:r>
              <a:rPr lang="en" sz="6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Risk – standard confirmations</a:t>
            </a:r>
          </a:p>
          <a:p>
            <a:pPr marL="1054100" lvl="2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7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1054100" lvl="2" indent="0">
              <a:spcBef>
                <a:spcPts val="0"/>
              </a:spcBef>
              <a:buClr>
                <a:schemeClr val="dk1"/>
              </a:buClr>
              <a:buSzPts val="1400"/>
              <a:buNone/>
            </a:pPr>
            <a:endParaRPr lang="en" sz="7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70965-9A06-E45E-905E-D0CD0040D82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63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932971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>
          <a:extLst>
            <a:ext uri="{FF2B5EF4-FFF2-40B4-BE49-F238E27FC236}">
              <a16:creationId xmlns:a16="http://schemas.microsoft.com/office/drawing/2014/main" id="{FE44C3A5-DE6D-0BA5-6AF4-433DEA425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44c62e8fd3_0_10">
            <a:extLst>
              <a:ext uri="{FF2B5EF4-FFF2-40B4-BE49-F238E27FC236}">
                <a16:creationId xmlns:a16="http://schemas.microsoft.com/office/drawing/2014/main" id="{0A7CC33E-AD6A-AF1B-1196-5F946B4AC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3473" y="107651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dirty="0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Conclusions and Recommendations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" name="Google Shape;321;g244d23124c0_1_153">
            <a:extLst>
              <a:ext uri="{FF2B5EF4-FFF2-40B4-BE49-F238E27FC236}">
                <a16:creationId xmlns:a16="http://schemas.microsoft.com/office/drawing/2014/main" id="{ADF2939D-E58A-3FBE-19CC-97DBAD9F03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4519" y="503400"/>
            <a:ext cx="8307900" cy="4405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>
              <a:buClr>
                <a:schemeClr val="dk1"/>
              </a:buClr>
              <a:buSzPts val="1400"/>
              <a:buNone/>
            </a:pPr>
            <a:r>
              <a:rPr lang="en" sz="140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Additonal Recommendations</a:t>
            </a:r>
          </a:p>
          <a:p>
            <a:pPr marL="139700" lvl="0" indent="0">
              <a:buClr>
                <a:schemeClr val="dk1"/>
              </a:buClr>
              <a:buSzPts val="1400"/>
              <a:buNone/>
            </a:pPr>
            <a:endParaRPr lang="en" sz="800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Market Segments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Promote property site for conventions and special events to coporate clients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Reach out to airlines generate new business in the aviation sector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Investigate new possible market segments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Reface online and media presence</a:t>
            </a:r>
            <a:endParaRPr lang="en" sz="7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Seasonal Booking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 peak season promotions – special theme weekends and events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Discount extended stays for off peak bookings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Pursue corporate opportunites (events, meetings, getaways) more aggressively</a:t>
            </a: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Number of Guests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Promote more family vacations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bundled family get aways and themed weekends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reduced rates to corporate/avation customers for personal travel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Promotions targeting frequent travelers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Referral incentives</a:t>
            </a: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Promote Special Requests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Provided bundled special requests at discounts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Online property and room virtual tours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Ability for custom requests</a:t>
            </a:r>
          </a:p>
          <a:p>
            <a:pPr lvl="0" indent="-317500">
              <a:spcBef>
                <a:spcPts val="400"/>
              </a:spcBef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800" b="1" u="sng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Partnerships and Packages</a:t>
            </a:r>
          </a:p>
          <a:p>
            <a:pPr lvl="1" indent="-317500">
              <a:spcBef>
                <a:spcPts val="40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Offer prepaid activites through local attractions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Bundled savings (hotel, car rental, flights)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Dining discounts at local restaurants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r>
              <a:rPr lang="en" sz="800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Advance booked packages for local expiences (wine tasting, hiking, biking, tours)</a:t>
            </a: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1" indent="-317500">
              <a:spcBef>
                <a:spcPts val="0"/>
              </a:spcBef>
              <a:buClr>
                <a:schemeClr val="dk1"/>
              </a:buClr>
              <a:buSzPts val="1400"/>
              <a:buFont typeface="Courier New" panose="02070309020205020404" pitchFamily="49" charset="0"/>
              <a:buChar char="o"/>
            </a:pPr>
            <a:endParaRPr lang="en" sz="8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31345C-34DB-B1D9-3177-1DAC37B411C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9447042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10e9006cb6c_1_20"/>
          <p:cNvSpPr txBox="1">
            <a:spLocks noGrp="1"/>
          </p:cNvSpPr>
          <p:nvPr>
            <p:ph type="ctrTitle"/>
          </p:nvPr>
        </p:nvSpPr>
        <p:spPr>
          <a:xfrm>
            <a:off x="0" y="2820425"/>
            <a:ext cx="9144000" cy="58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 sz="33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APPENDIX</a:t>
            </a:r>
            <a:endParaRPr sz="3300" dirty="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244d23124c0_1_99"/>
          <p:cNvSpPr txBox="1">
            <a:spLocks noGrp="1"/>
          </p:cNvSpPr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Slide Header</a:t>
            </a:r>
            <a:endParaRPr dirty="0">
              <a:solidFill>
                <a:schemeClr val="lt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394" name="Google Shape;394;g244d23124c0_1_99"/>
          <p:cNvSpPr txBox="1">
            <a:spLocks noGrp="1"/>
          </p:cNvSpPr>
          <p:nvPr>
            <p:ph type="body" idx="1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Century Gothic"/>
              <a:buChar char="●"/>
            </a:pPr>
            <a:r>
              <a:rPr lang="en" sz="14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Please add any other pointers (if needed)</a:t>
            </a:r>
            <a:endParaRPr sz="1400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C5FC15-B96A-67ED-0E50-87C8155A56B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66</a:t>
            </a:fld>
            <a:endParaRPr lang="e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10ee00f67ea_0_55"/>
          <p:cNvSpPr txBox="1">
            <a:spLocks noGrp="1"/>
          </p:cNvSpPr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85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endParaRPr dirty="0"/>
          </a:p>
        </p:txBody>
      </p:sp>
      <p:sp>
        <p:nvSpPr>
          <p:cNvPr id="402" name="Google Shape;402;g10ee00f67ea_0_55"/>
          <p:cNvSpPr txBox="1">
            <a:spLocks noGrp="1"/>
          </p:cNvSpPr>
          <p:nvPr>
            <p:ph type="sldNum" idx="4294967295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67</a:t>
            </a:fld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3729</TotalTime>
  <Words>8250</Words>
  <Application>Microsoft Office PowerPoint</Application>
  <PresentationFormat>On-screen Show (16:9)</PresentationFormat>
  <Paragraphs>1081</Paragraphs>
  <Slides>67</Slides>
  <Notes>65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Century Gothic</vt:lpstr>
      <vt:lpstr>Courier New</vt:lpstr>
      <vt:lpstr>Nunito</vt:lpstr>
      <vt:lpstr>Calibri</vt:lpstr>
      <vt:lpstr>Nunito SemiBold</vt:lpstr>
      <vt:lpstr>Arial</vt:lpstr>
      <vt:lpstr>Nunito ExtraBold</vt:lpstr>
      <vt:lpstr>Just Logo</vt:lpstr>
      <vt:lpstr>Just Logo</vt:lpstr>
      <vt:lpstr>Just Logo</vt:lpstr>
      <vt:lpstr>Just Logo</vt:lpstr>
      <vt:lpstr>Hotel Booking Cancellation Prediction</vt:lpstr>
      <vt:lpstr>Contents / Agenda</vt:lpstr>
      <vt:lpstr>Data Dictionary</vt:lpstr>
      <vt:lpstr>Data Dictionary</vt:lpstr>
      <vt:lpstr>Business Problem Overview</vt:lpstr>
      <vt:lpstr>Solution Approach </vt:lpstr>
      <vt:lpstr>Expected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EDA - Univariate Analysis</vt:lpstr>
      <vt:lpstr>Results EDA - Univariate Analysis</vt:lpstr>
      <vt:lpstr>Results EDA - Univariate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EDA - Bivariate Analysis</vt:lpstr>
      <vt:lpstr>Results EDA - Bivariate Analysis</vt:lpstr>
      <vt:lpstr>Results EDA - Bivariate Analysis</vt:lpstr>
      <vt:lpstr>Model Performance Evaluation Decision Tree</vt:lpstr>
      <vt:lpstr>Model Performance Evaluation Decision Tree</vt:lpstr>
      <vt:lpstr>Model Performance Evaluation Pruned Decision Tree</vt:lpstr>
      <vt:lpstr>Model Performance Evaluation Pruned Decision Tree</vt:lpstr>
      <vt:lpstr>Model Performance Evaluation Random Forest</vt:lpstr>
      <vt:lpstr>Model Performance Evaluation Random Forest</vt:lpstr>
      <vt:lpstr>Model Performance Evaluation Pruned Random Forest</vt:lpstr>
      <vt:lpstr>Model Performance Evaluation Pruned Random Forest</vt:lpstr>
      <vt:lpstr>Model Performance Evaluation Pruned Random Forest</vt:lpstr>
      <vt:lpstr>PowerPoint Presentation</vt:lpstr>
      <vt:lpstr>Conclusions and Recommendations</vt:lpstr>
      <vt:lpstr>Conclusions and Recommendations</vt:lpstr>
      <vt:lpstr>Conclusions and Recommendations</vt:lpstr>
      <vt:lpstr>Conclusions and Recommendations</vt:lpstr>
      <vt:lpstr>APPENDIX</vt:lpstr>
      <vt:lpstr>Slide Header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Hotel Booking Cancellation Prediction</dc:title>
  <dc:creator>John Buczkowski</dc:creator>
  <cp:lastModifiedBy>John Buczkowski</cp:lastModifiedBy>
  <cp:revision>765</cp:revision>
  <cp:lastPrinted>2025-11-10T08:44:43Z</cp:lastPrinted>
  <dcterms:modified xsi:type="dcterms:W3CDTF">2025-11-10T15:53:45Z</dcterms:modified>
</cp:coreProperties>
</file>