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 id="2147483680" r:id="rId3"/>
  </p:sldMasterIdLst>
  <p:notesMasterIdLst>
    <p:notesMasterId r:id="rId64"/>
  </p:notesMasterIdLst>
  <p:sldIdLst>
    <p:sldId id="256" r:id="rId4"/>
    <p:sldId id="257" r:id="rId5"/>
    <p:sldId id="258" r:id="rId6"/>
    <p:sldId id="259" r:id="rId7"/>
    <p:sldId id="278" r:id="rId8"/>
    <p:sldId id="288" r:id="rId9"/>
    <p:sldId id="289" r:id="rId10"/>
    <p:sldId id="290" r:id="rId11"/>
    <p:sldId id="286" r:id="rId12"/>
    <p:sldId id="291" r:id="rId13"/>
    <p:sldId id="287" r:id="rId14"/>
    <p:sldId id="262" r:id="rId15"/>
    <p:sldId id="293" r:id="rId16"/>
    <p:sldId id="294" r:id="rId17"/>
    <p:sldId id="295" r:id="rId18"/>
    <p:sldId id="296" r:id="rId19"/>
    <p:sldId id="297" r:id="rId20"/>
    <p:sldId id="316" r:id="rId21"/>
    <p:sldId id="311" r:id="rId22"/>
    <p:sldId id="263" r:id="rId23"/>
    <p:sldId id="264" r:id="rId24"/>
    <p:sldId id="298" r:id="rId25"/>
    <p:sldId id="299" r:id="rId26"/>
    <p:sldId id="300" r:id="rId27"/>
    <p:sldId id="301" r:id="rId28"/>
    <p:sldId id="321" r:id="rId29"/>
    <p:sldId id="322" r:id="rId30"/>
    <p:sldId id="266" r:id="rId31"/>
    <p:sldId id="303" r:id="rId32"/>
    <p:sldId id="304" r:id="rId33"/>
    <p:sldId id="305" r:id="rId34"/>
    <p:sldId id="306" r:id="rId35"/>
    <p:sldId id="307" r:id="rId36"/>
    <p:sldId id="308" r:id="rId37"/>
    <p:sldId id="309" r:id="rId38"/>
    <p:sldId id="310" r:id="rId39"/>
    <p:sldId id="312" r:id="rId40"/>
    <p:sldId id="313" r:id="rId41"/>
    <p:sldId id="320" r:id="rId42"/>
    <p:sldId id="318" r:id="rId43"/>
    <p:sldId id="319" r:id="rId44"/>
    <p:sldId id="267" r:id="rId45"/>
    <p:sldId id="269" r:id="rId46"/>
    <p:sldId id="317" r:id="rId47"/>
    <p:sldId id="314" r:id="rId48"/>
    <p:sldId id="315" r:id="rId49"/>
    <p:sldId id="270" r:id="rId50"/>
    <p:sldId id="323" r:id="rId51"/>
    <p:sldId id="325" r:id="rId52"/>
    <p:sldId id="324" r:id="rId53"/>
    <p:sldId id="272" r:id="rId54"/>
    <p:sldId id="326" r:id="rId55"/>
    <p:sldId id="273" r:id="rId56"/>
    <p:sldId id="328" r:id="rId57"/>
    <p:sldId id="329" r:id="rId58"/>
    <p:sldId id="327" r:id="rId59"/>
    <p:sldId id="274" r:id="rId60"/>
    <p:sldId id="275" r:id="rId61"/>
    <p:sldId id="276" r:id="rId62"/>
    <p:sldId id="277" r:id="rId63"/>
  </p:sldIdLst>
  <p:sldSz cx="9144000" cy="5143500" type="screen16x9"/>
  <p:notesSz cx="6858000" cy="9144000"/>
  <p:embeddedFontLst>
    <p:embeddedFont>
      <p:font typeface="Century Gothic" panose="020B0502020202020204" pitchFamily="34" charset="0"/>
      <p:regular r:id="rId65"/>
      <p:bold r:id="rId66"/>
      <p:italic r:id="rId67"/>
      <p:boldItalic r:id="rId68"/>
    </p:embeddedFont>
    <p:embeddedFont>
      <p:font typeface="Nunito" pitchFamily="2" charset="0"/>
      <p:regular r:id="rId69"/>
      <p:bold r:id="rId70"/>
      <p:italic r:id="rId71"/>
      <p:boldItalic r:id="rId72"/>
    </p:embeddedFont>
    <p:embeddedFont>
      <p:font typeface="Nunito ExtraBold" pitchFamily="2" charset="0"/>
      <p:bold r:id="rId73"/>
      <p:boldItalic r:id="rId74"/>
    </p:embeddedFont>
    <p:embeddedFont>
      <p:font typeface="Nunito SemiBold" pitchFamily="2" charset="0"/>
      <p:regular r:id="rId75"/>
      <p:bold r:id="rId76"/>
      <p:italic r:id="rId77"/>
      <p:boldItalic r:id="rId7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FC87C6-1A0B-40AD-94C4-E44D0AB50E7B}">
  <a:tblStyle styleId="{4CFC87C6-1A0B-40AD-94C4-E44D0AB50E7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36976CF4-DB81-4460-9A5E-51383ADFE053}"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EEF"/>
          </a:solidFill>
        </a:fill>
      </a:tcStyle>
    </a:wholeTbl>
    <a:band1H>
      <a:tcTxStyle b="off" i="off"/>
      <a:tcStyle>
        <a:tcBdr/>
        <a:fill>
          <a:solidFill>
            <a:srgbClr val="D5DBDE"/>
          </a:solidFill>
        </a:fill>
      </a:tcStyle>
    </a:band1H>
    <a:band2H>
      <a:tcTxStyle b="off" i="off"/>
      <a:tcStyle>
        <a:tcBdr/>
      </a:tcStyle>
    </a:band2H>
    <a:band1V>
      <a:tcTxStyle b="off" i="off"/>
      <a:tcStyle>
        <a:tcBdr/>
        <a:fill>
          <a:solidFill>
            <a:srgbClr val="D5DBDE"/>
          </a:solidFill>
        </a:fill>
      </a:tcStyle>
    </a:band1V>
    <a:band2V>
      <a:tcTxStyle b="off" i="off"/>
      <a:tcStyle>
        <a:tcBdr/>
      </a:tcStyle>
    </a:band2V>
    <a:lastCol>
      <a:tcTxStyle b="on" i="off">
        <a:font>
          <a:latin typeface="Arial"/>
          <a:ea typeface="Arial"/>
          <a:cs typeface="Arial"/>
        </a:font>
        <a:schemeClr val="lt1"/>
      </a:tcTxStyle>
      <a:tcStyle>
        <a:tcBdr/>
        <a:fill>
          <a:solidFill>
            <a:schemeClr val="accent3"/>
          </a:solidFill>
        </a:fill>
      </a:tcStyle>
    </a:lastCol>
    <a:firstCol>
      <a:tcTxStyle b="on" i="off">
        <a:font>
          <a:latin typeface="Arial"/>
          <a:ea typeface="Arial"/>
          <a:cs typeface="Arial"/>
        </a:font>
        <a:schemeClr val="lt1"/>
      </a:tcTxStyle>
      <a:tcStyle>
        <a:tcBdr/>
        <a:fill>
          <a:solidFill>
            <a:schemeClr val="accent3"/>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3"/>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3"/>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5" d="100"/>
          <a:sy n="135" d="100"/>
        </p:scale>
        <p:origin x="918" y="11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font" Target="fonts/font4.fntdata"/><Relationship Id="rId16" Type="http://schemas.openxmlformats.org/officeDocument/2006/relationships/slide" Target="slides/slide13.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font" Target="fonts/font10.fntdata"/><Relationship Id="rId79" Type="http://schemas.openxmlformats.org/officeDocument/2006/relationships/presProps" Target="presProps.xml"/><Relationship Id="rId5" Type="http://schemas.openxmlformats.org/officeDocument/2006/relationships/slide" Target="slides/slide2.xml"/><Relationship Id="rId61" Type="http://schemas.openxmlformats.org/officeDocument/2006/relationships/slide" Target="slides/slide58.xml"/><Relationship Id="rId82" Type="http://schemas.openxmlformats.org/officeDocument/2006/relationships/tableStyles" Target="tableStyles.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notesMaster" Target="notesMasters/notesMaster1.xml"/><Relationship Id="rId69" Type="http://schemas.openxmlformats.org/officeDocument/2006/relationships/font" Target="fonts/font5.fntdata"/><Relationship Id="rId77" Type="http://schemas.openxmlformats.org/officeDocument/2006/relationships/font" Target="fonts/font13.fntdata"/><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font" Target="fonts/font8.fntdata"/><Relationship Id="rId80"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font" Target="fonts/font3.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font" Target="fonts/font6.fntdata"/><Relationship Id="rId75"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font" Target="fonts/font1.fntdata"/><Relationship Id="rId73" Type="http://schemas.openxmlformats.org/officeDocument/2006/relationships/font" Target="fonts/font9.fntdata"/><Relationship Id="rId78" Type="http://schemas.openxmlformats.org/officeDocument/2006/relationships/font" Target="fonts/font14.fntdata"/><Relationship Id="rId81"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font" Target="fonts/font12.fntdata"/><Relationship Id="rId7" Type="http://schemas.openxmlformats.org/officeDocument/2006/relationships/slide" Target="slides/slide4.xml"/><Relationship Id="rId71" Type="http://schemas.openxmlformats.org/officeDocument/2006/relationships/font" Target="fonts/font7.fntdata"/><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3:notes"/>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732649BE-75EE-08D1-4487-F972587A41AD}"/>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8DA364A2-CEA1-8ED1-1DE3-8E290891E237}"/>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3AD541C3-BBE0-74CC-7A05-0F4A8711A0B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142879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44527584-FDA4-3E5C-069A-7614770AB153}"/>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ED7AD44A-83AA-D185-CA3E-B29CE2F6F088}"/>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7027A506-9288-6817-0FB4-DF865D79BC8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3140871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2C3A470F-7C49-66B7-70A9-76C42CBB05E4}"/>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7BF72678-B86D-1E88-54E0-ED1474DEC03C}"/>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6B2D960A-8536-1915-584A-175EAF2CBE72}"/>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894008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9634B0-CE6E-C201-D6E4-330E83608EB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081FB99-D061-F218-4432-12A50FECA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9DA6073-53F8-2B50-0D4C-6382AB695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7593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5BF3E70-71EB-F971-5579-502BC97D88F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534FE61C-1CA5-19B0-0C32-64BCEE27AF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10C5176-E6A3-EB4D-0322-C9B128C5015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2703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204D93A-0F44-8782-B0C3-3D6E8692929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3E632DD-3771-FB9F-F52D-16702885B5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D05E878-9279-64EC-3588-12CDDA4189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9457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1F071F-9B23-A49E-68A0-7739CC478F4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EF7C748-23D4-EBF7-4FC6-6FDE29B174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16BC03EC-24DD-2A2E-3F06-7E875D34BF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737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3E50D1A-2B01-3903-E6B3-6CFF7313684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746ACEE-0C37-AE3D-6DC4-B2A7D07607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A1CC811C-BCB1-1BB0-7862-35D39C81327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72121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0A94EF6-68E0-296F-6302-68C505BA433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6E212AD2-C6EE-ABED-8069-49FDC9031D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E11D55A-162C-7F98-62D8-421C5CA6BA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95995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BBD698A-125A-0F38-CAC2-57859E6AEB6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DCE9567-1275-3B4D-9072-2EE82C5E51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E69023D-4F50-1779-94C0-4117A847205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200630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7F34E7-61D8-906F-98D5-79BDB8F80FD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3541067-907C-3E7C-7F0A-837501EDB2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2568569-8231-697D-0923-42077E2421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161477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E2B0473F-9D89-D2D2-8360-DF9F7F9ABB1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0FA57F0-F0FA-6FE1-1F42-1FAD316C40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281FD06-90D2-09F9-565A-B24B437AF6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616117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645B68E-3C12-DA26-451E-04625BA53438}"/>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D586A12-176E-FB86-F9ED-FE2B8DB804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E28A44-595C-9EC9-68BD-7EE6559C170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42103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13CEF2A-A1E3-FDA2-EB23-F1E218F7500C}"/>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CA924B1-D464-EEA2-1915-D88DC3A331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3B5F588-1191-EA3F-F810-30AAEB21539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534264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BBC8A7-50F5-F4BE-E26C-9D8763692E7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F1D2FE5-8E90-0086-758B-730670E2A1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03CE170-29A2-F59D-F460-2FC850199E3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8194396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4F6DEAA-1F9F-0EDD-DDB9-B8E9EA6BA09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82B398E-F771-6DAA-A77C-7A6039296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DA6A994-6F38-282E-C0A0-4A838F02F69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200812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3E42EEF-2238-2A6A-32F6-ACD05D44390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44B5C24-85BB-DC3A-4C52-D86A061674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8CB5A3-26D0-108A-4E96-17CE0AA5200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023069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6A391D-E888-4EC9-9944-6E9B1A279B2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C3337DA-447A-CE03-15BF-72EFE7C325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D560A0E4-29F0-E4EE-3346-3575DECB56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72287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300546BD-351A-315A-41C6-A79C65316F9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A99C8879-C341-2A15-1C40-5E7372766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C448E87-B441-2293-2F66-CF3ED1390F6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464253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612E64B-9B16-0FCE-D259-090D4C60318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78C1A23-0DD6-697F-D97D-DFD9E7D5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44832D2-C050-11A8-88CF-9B4DA70A0E6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47814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E778F29-A810-1218-2CD5-5665A550A6C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E5F8F381-2F76-CE90-ABCF-F6BBBE6D9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4B34A52-7D57-13C0-8EDA-BCF0E127E5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5619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C5792405-6B33-3B19-577D-3E1DD4014F7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8D43D4D-4799-8584-9EC1-0C6CB07E3B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4D73330-451B-429A-F671-186ACFD7C4E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336634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E53B766-6AD7-ED88-A232-A626406D6111}"/>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396AA9D-E07E-40A3-B358-381B946395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60B05D1-258B-E237-934E-58741938EE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49493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9238B51-5C21-821C-A4E6-883F388C130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FF093A9-7B85-246B-3EA0-F6925BFB97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587EF50-AF5C-BF27-2133-25137F46A3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25905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02F28B7-5585-7C32-5EA0-EEE90FD6BB7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B0D57C0E-BCBB-321D-84AD-21BF4D863A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DF2B3DB-DB61-5586-F79F-6F1FF47DB2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220368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8B49736B-7CB5-9552-AFC0-418D6B4033C5}"/>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2E25AC67-621D-CC47-FB57-48CFF3B413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913B1C98-94C6-02E9-5F41-4728A5233C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01358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A2797675-3EB0-FD88-2BCF-E311102566F0}"/>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1177AB46-C740-A15D-BA49-0E1E682A57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9562C021-FEBE-DF3A-D45C-9512324CA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925675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AF3E72F-331D-F7F7-721B-A69746FA0AC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330B6C8-164A-6743-641E-85E844372A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B32C59E7-0DC5-A070-DB2D-6F73773073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3974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00C7E367-75AB-0185-9893-4C2B92335A93}"/>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5515347E-5FFB-CCFD-1C2D-5C30947813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4BF06543-A910-BF99-70A9-6516F08A59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71346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019F31-3A3F-CA5A-97DC-FE5C299A2DC9}"/>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4918353-388F-15E2-76A4-88013BB3F2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62EDEA7-58BF-B85B-140D-53998B425F4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750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AB4762A-8ACD-10AA-0119-01EDA279E7E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B616732-9D22-BC13-BEC1-5C441760C0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6486467-9044-DCAA-2E63-2093ADF3C32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506411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7B613A09-EC7E-2515-F060-4A4A9224C623}"/>
            </a:ext>
          </a:extLst>
        </p:cNvPr>
        <p:cNvGrpSpPr/>
        <p:nvPr/>
      </p:nvGrpSpPr>
      <p:grpSpPr>
        <a:xfrm>
          <a:off x="0" y="0"/>
          <a:ext cx="0" cy="0"/>
          <a:chOff x="0" y="0"/>
          <a:chExt cx="0" cy="0"/>
        </a:xfrm>
      </p:grpSpPr>
      <p:sp>
        <p:nvSpPr>
          <p:cNvPr id="229" name="Google Shape;229;p19:notes">
            <a:extLst>
              <a:ext uri="{FF2B5EF4-FFF2-40B4-BE49-F238E27FC236}">
                <a16:creationId xmlns:a16="http://schemas.microsoft.com/office/drawing/2014/main" id="{C6784DA3-CC2D-64CC-C738-0968549AEB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a:extLst>
              <a:ext uri="{FF2B5EF4-FFF2-40B4-BE49-F238E27FC236}">
                <a16:creationId xmlns:a16="http://schemas.microsoft.com/office/drawing/2014/main" id="{B872F565-EA25-0FC1-6CC9-0B992F2EAF7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237445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a:extLst>
            <a:ext uri="{FF2B5EF4-FFF2-40B4-BE49-F238E27FC236}">
              <a16:creationId xmlns:a16="http://schemas.microsoft.com/office/drawing/2014/main" id="{31A8A89B-B53C-E031-E17D-3D2A39A36375}"/>
            </a:ext>
          </a:extLst>
        </p:cNvPr>
        <p:cNvGrpSpPr/>
        <p:nvPr/>
      </p:nvGrpSpPr>
      <p:grpSpPr>
        <a:xfrm>
          <a:off x="0" y="0"/>
          <a:ext cx="0" cy="0"/>
          <a:chOff x="0" y="0"/>
          <a:chExt cx="0" cy="0"/>
        </a:xfrm>
      </p:grpSpPr>
      <p:sp>
        <p:nvSpPr>
          <p:cNvPr id="236" name="Google Shape;236;p20:notes">
            <a:extLst>
              <a:ext uri="{FF2B5EF4-FFF2-40B4-BE49-F238E27FC236}">
                <a16:creationId xmlns:a16="http://schemas.microsoft.com/office/drawing/2014/main" id="{8099516A-B5B5-0488-DD5C-3F684DA843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a:extLst>
              <a:ext uri="{FF2B5EF4-FFF2-40B4-BE49-F238E27FC236}">
                <a16:creationId xmlns:a16="http://schemas.microsoft.com/office/drawing/2014/main" id="{A97F4D66-6423-FA8B-9215-2FE5C2045AF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426418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a:extLst>
            <a:ext uri="{FF2B5EF4-FFF2-40B4-BE49-F238E27FC236}">
              <a16:creationId xmlns:a16="http://schemas.microsoft.com/office/drawing/2014/main" id="{9C133F4A-6D78-706A-3A4D-EC2F65E7287D}"/>
            </a:ext>
          </a:extLst>
        </p:cNvPr>
        <p:cNvGrpSpPr/>
        <p:nvPr/>
      </p:nvGrpSpPr>
      <p:grpSpPr>
        <a:xfrm>
          <a:off x="0" y="0"/>
          <a:ext cx="0" cy="0"/>
          <a:chOff x="0" y="0"/>
          <a:chExt cx="0" cy="0"/>
        </a:xfrm>
      </p:grpSpPr>
      <p:sp>
        <p:nvSpPr>
          <p:cNvPr id="236" name="Google Shape;236;p20:notes">
            <a:extLst>
              <a:ext uri="{FF2B5EF4-FFF2-40B4-BE49-F238E27FC236}">
                <a16:creationId xmlns:a16="http://schemas.microsoft.com/office/drawing/2014/main" id="{C21957E3-7FE3-4B21-51FF-89B0B268A2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a:extLst>
              <a:ext uri="{FF2B5EF4-FFF2-40B4-BE49-F238E27FC236}">
                <a16:creationId xmlns:a16="http://schemas.microsoft.com/office/drawing/2014/main" id="{1DA55C91-504F-F983-EAE7-725B47CA4E3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98662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85ad5efe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a:extLst>
            <a:ext uri="{FF2B5EF4-FFF2-40B4-BE49-F238E27FC236}">
              <a16:creationId xmlns:a16="http://schemas.microsoft.com/office/drawing/2014/main" id="{4B951BB4-CF7F-EDC5-9F82-7D4EDECC2B92}"/>
            </a:ext>
          </a:extLst>
        </p:cNvPr>
        <p:cNvGrpSpPr/>
        <p:nvPr/>
      </p:nvGrpSpPr>
      <p:grpSpPr>
        <a:xfrm>
          <a:off x="0" y="0"/>
          <a:ext cx="0" cy="0"/>
          <a:chOff x="0" y="0"/>
          <a:chExt cx="0" cy="0"/>
        </a:xfrm>
      </p:grpSpPr>
      <p:sp>
        <p:nvSpPr>
          <p:cNvPr id="243" name="Google Shape;243;g385ad5efec9_0_2:notes">
            <a:extLst>
              <a:ext uri="{FF2B5EF4-FFF2-40B4-BE49-F238E27FC236}">
                <a16:creationId xmlns:a16="http://schemas.microsoft.com/office/drawing/2014/main" id="{CC64A296-6EAC-8348-C2A1-168BB56297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a:extLst>
              <a:ext uri="{FF2B5EF4-FFF2-40B4-BE49-F238E27FC236}">
                <a16:creationId xmlns:a16="http://schemas.microsoft.com/office/drawing/2014/main" id="{0BC47AC9-F351-C05B-D3A1-0E9FE945621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23970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a:extLst>
            <a:ext uri="{FF2B5EF4-FFF2-40B4-BE49-F238E27FC236}">
              <a16:creationId xmlns:a16="http://schemas.microsoft.com/office/drawing/2014/main" id="{00C26306-77F1-6639-D227-099492611AD0}"/>
            </a:ext>
          </a:extLst>
        </p:cNvPr>
        <p:cNvGrpSpPr/>
        <p:nvPr/>
      </p:nvGrpSpPr>
      <p:grpSpPr>
        <a:xfrm>
          <a:off x="0" y="0"/>
          <a:ext cx="0" cy="0"/>
          <a:chOff x="0" y="0"/>
          <a:chExt cx="0" cy="0"/>
        </a:xfrm>
      </p:grpSpPr>
      <p:sp>
        <p:nvSpPr>
          <p:cNvPr id="250" name="Google Shape;250;p23:notes">
            <a:extLst>
              <a:ext uri="{FF2B5EF4-FFF2-40B4-BE49-F238E27FC236}">
                <a16:creationId xmlns:a16="http://schemas.microsoft.com/office/drawing/2014/main" id="{A8687317-25FF-F212-5709-E50F8B7213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a:extLst>
              <a:ext uri="{FF2B5EF4-FFF2-40B4-BE49-F238E27FC236}">
                <a16:creationId xmlns:a16="http://schemas.microsoft.com/office/drawing/2014/main" id="{ADAE9177-FB71-4F3D-AE27-0F71EE1A488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98419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a:extLst>
            <a:ext uri="{FF2B5EF4-FFF2-40B4-BE49-F238E27FC236}">
              <a16:creationId xmlns:a16="http://schemas.microsoft.com/office/drawing/2014/main" id="{20B3CC90-2508-2DD7-5819-C4466A31DBFE}"/>
            </a:ext>
          </a:extLst>
        </p:cNvPr>
        <p:cNvGrpSpPr/>
        <p:nvPr/>
      </p:nvGrpSpPr>
      <p:grpSpPr>
        <a:xfrm>
          <a:off x="0" y="0"/>
          <a:ext cx="0" cy="0"/>
          <a:chOff x="0" y="0"/>
          <a:chExt cx="0" cy="0"/>
        </a:xfrm>
      </p:grpSpPr>
      <p:sp>
        <p:nvSpPr>
          <p:cNvPr id="250" name="Google Shape;250;p23:notes">
            <a:extLst>
              <a:ext uri="{FF2B5EF4-FFF2-40B4-BE49-F238E27FC236}">
                <a16:creationId xmlns:a16="http://schemas.microsoft.com/office/drawing/2014/main" id="{F42CB107-FF17-6323-9478-D8133FA523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a:extLst>
              <a:ext uri="{FF2B5EF4-FFF2-40B4-BE49-F238E27FC236}">
                <a16:creationId xmlns:a16="http://schemas.microsoft.com/office/drawing/2014/main" id="{3879690A-B959-B844-543E-34E2238E582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84655574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a:extLst>
            <a:ext uri="{FF2B5EF4-FFF2-40B4-BE49-F238E27FC236}">
              <a16:creationId xmlns:a16="http://schemas.microsoft.com/office/drawing/2014/main" id="{CD5049C9-FBDA-2CFF-E638-8CA56044AF96}"/>
            </a:ext>
          </a:extLst>
        </p:cNvPr>
        <p:cNvGrpSpPr/>
        <p:nvPr/>
      </p:nvGrpSpPr>
      <p:grpSpPr>
        <a:xfrm>
          <a:off x="0" y="0"/>
          <a:ext cx="0" cy="0"/>
          <a:chOff x="0" y="0"/>
          <a:chExt cx="0" cy="0"/>
        </a:xfrm>
      </p:grpSpPr>
      <p:sp>
        <p:nvSpPr>
          <p:cNvPr id="250" name="Google Shape;250;p23:notes">
            <a:extLst>
              <a:ext uri="{FF2B5EF4-FFF2-40B4-BE49-F238E27FC236}">
                <a16:creationId xmlns:a16="http://schemas.microsoft.com/office/drawing/2014/main" id="{D7281B7A-9FDE-6C5E-7AD7-044B593828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a:extLst>
              <a:ext uri="{FF2B5EF4-FFF2-40B4-BE49-F238E27FC236}">
                <a16:creationId xmlns:a16="http://schemas.microsoft.com/office/drawing/2014/main" id="{5572DD0A-144F-A44F-4AD2-35169108EC4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2571703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5" name="Google Shape;27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60</a:t>
            </a:fld>
            <a:endParaRPr sz="1200" b="0" i="0" u="none" strike="noStrike" cap="none">
              <a:solidFill>
                <a:schemeClr val="dk1"/>
              </a:solidFill>
              <a:latin typeface="Calibri"/>
              <a:ea typeface="Calibri"/>
              <a:cs typeface="Calibri"/>
              <a:sym typeface="Calibri"/>
            </a:endParaRPr>
          </a:p>
        </p:txBody>
      </p:sp>
      <p:sp>
        <p:nvSpPr>
          <p:cNvPr id="277" name="Google Shape;277;p27: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2"/>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5"/>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11"/>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11"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50" name="Google Shape;50;p11"/>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11"/>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11"/>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4" name="Google Shape;64;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8" name="Google Shape;68;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1" name="Google Shape;71;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4" name="Google Shape;74;p16"/>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5" name="Google Shape;75;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8" name="Google Shape;7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79" name="Google Shape;7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0" name="Google Shape;80;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3" name="Google Shape;83;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4"/>
        <p:cNvGrpSpPr/>
        <p:nvPr/>
      </p:nvGrpSpPr>
      <p:grpSpPr>
        <a:xfrm>
          <a:off x="0" y="0"/>
          <a:ext cx="0" cy="0"/>
          <a:chOff x="0" y="0"/>
          <a:chExt cx="0" cy="0"/>
        </a:xfrm>
      </p:grpSpPr>
      <p:sp>
        <p:nvSpPr>
          <p:cNvPr id="85" name="Google Shape;85;p1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6" name="Google Shape;86;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sp>
        <p:nvSpPr>
          <p:cNvPr id="88" name="Google Shape;88;p2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2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0" name="Google Shape;90;p2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1" name="Google Shape;91;p2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2" name="Google Shape;92;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5"/>
        <p:cNvGrpSpPr/>
        <p:nvPr/>
      </p:nvGrpSpPr>
      <p:grpSpPr>
        <a:xfrm>
          <a:off x="0" y="0"/>
          <a:ext cx="0" cy="0"/>
          <a:chOff x="0" y="0"/>
          <a:chExt cx="0" cy="0"/>
        </a:xfrm>
      </p:grpSpPr>
      <p:sp>
        <p:nvSpPr>
          <p:cNvPr id="96" name="Google Shape;96;p2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7" name="Google Shape;97;p22" descr="A close up of a logo&#10;&#10;Description automatically generated"/>
          <p:cNvPicPr preferRelativeResize="0"/>
          <p:nvPr/>
        </p:nvPicPr>
        <p:blipFill rotWithShape="1">
          <a:blip r:embed="rId2">
            <a:alphaModFix/>
          </a:blip>
          <a:srcRect l="42816" t="18360" r="37293" b="19147"/>
          <a:stretch/>
        </p:blipFill>
        <p:spPr>
          <a:xfrm>
            <a:off x="6052536" y="514443"/>
            <a:ext cx="2095112" cy="3703320"/>
          </a:xfrm>
          <a:prstGeom prst="rect">
            <a:avLst/>
          </a:prstGeom>
          <a:noFill/>
          <a:ln>
            <a:noFill/>
          </a:ln>
        </p:spPr>
      </p:pic>
      <p:sp>
        <p:nvSpPr>
          <p:cNvPr id="98" name="Google Shape;98;p2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9" name="Google Shape;99;p2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00" name="Google Shape;100;p22"/>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10"/>
        <p:cNvGrpSpPr/>
        <p:nvPr/>
      </p:nvGrpSpPr>
      <p:grpSpPr>
        <a:xfrm>
          <a:off x="0" y="0"/>
          <a:ext cx="0" cy="0"/>
          <a:chOff x="0" y="0"/>
          <a:chExt cx="0" cy="0"/>
        </a:xfrm>
      </p:grpSpPr>
      <p:sp>
        <p:nvSpPr>
          <p:cNvPr id="111" name="Google Shape;111;p24"/>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12" name="Google Shape;112;p24"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113" name="Google Shape;113;p2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4" name="Google Shape;114;p24"/>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5" name="Google Shape;115;p24"/>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6"/>
        <p:cNvGrpSpPr/>
        <p:nvPr/>
      </p:nvGrpSpPr>
      <p:grpSpPr>
        <a:xfrm>
          <a:off x="0" y="0"/>
          <a:ext cx="0" cy="0"/>
          <a:chOff x="0" y="0"/>
          <a:chExt cx="0" cy="0"/>
        </a:xfrm>
      </p:grpSpPr>
      <p:sp>
        <p:nvSpPr>
          <p:cNvPr id="117" name="Google Shape;117;p25"/>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8" name="Google Shape;118;p25"/>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9"/>
        <p:cNvGrpSpPr/>
        <p:nvPr/>
      </p:nvGrpSpPr>
      <p:grpSpPr>
        <a:xfrm>
          <a:off x="0" y="0"/>
          <a:ext cx="0" cy="0"/>
          <a:chOff x="0" y="0"/>
          <a:chExt cx="0" cy="0"/>
        </a:xfrm>
      </p:grpSpPr>
      <p:sp>
        <p:nvSpPr>
          <p:cNvPr id="120" name="Google Shape;120;p2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21" name="Google Shape;121;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2"/>
        <p:cNvGrpSpPr/>
        <p:nvPr/>
      </p:nvGrpSpPr>
      <p:grpSpPr>
        <a:xfrm>
          <a:off x="0" y="0"/>
          <a:ext cx="0" cy="0"/>
          <a:chOff x="0" y="0"/>
          <a:chExt cx="0" cy="0"/>
        </a:xfrm>
      </p:grpSpPr>
      <p:sp>
        <p:nvSpPr>
          <p:cNvPr id="123" name="Google Shape;123;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24" name="Google Shape;124;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5" name="Google Shape;125;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28" name="Google Shape;128;p28"/>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9" name="Google Shape;129;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0"/>
        <p:cNvGrpSpPr/>
        <p:nvPr/>
      </p:nvGrpSpPr>
      <p:grpSpPr>
        <a:xfrm>
          <a:off x="0" y="0"/>
          <a:ext cx="0" cy="0"/>
          <a:chOff x="0" y="0"/>
          <a:chExt cx="0" cy="0"/>
        </a:xfrm>
      </p:grpSpPr>
      <p:sp>
        <p:nvSpPr>
          <p:cNvPr id="131" name="Google Shape;131;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2" name="Google Shape;13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3" name="Google Shape;13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4" name="Google Shape;134;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5"/>
        <p:cNvGrpSpPr/>
        <p:nvPr/>
      </p:nvGrpSpPr>
      <p:grpSpPr>
        <a:xfrm>
          <a:off x="0" y="0"/>
          <a:ext cx="0" cy="0"/>
          <a:chOff x="0" y="0"/>
          <a:chExt cx="0" cy="0"/>
        </a:xfrm>
      </p:grpSpPr>
      <p:sp>
        <p:nvSpPr>
          <p:cNvPr id="136" name="Google Shape;136;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7" name="Google Shape;137;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8"/>
        <p:cNvGrpSpPr/>
        <p:nvPr/>
      </p:nvGrpSpPr>
      <p:grpSpPr>
        <a:xfrm>
          <a:off x="0" y="0"/>
          <a:ext cx="0" cy="0"/>
          <a:chOff x="0" y="0"/>
          <a:chExt cx="0" cy="0"/>
        </a:xfrm>
      </p:grpSpPr>
      <p:sp>
        <p:nvSpPr>
          <p:cNvPr id="139" name="Google Shape;139;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40" name="Google Shape;140;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1"/>
        <p:cNvGrpSpPr/>
        <p:nvPr/>
      </p:nvGrpSpPr>
      <p:grpSpPr>
        <a:xfrm>
          <a:off x="0" y="0"/>
          <a:ext cx="0" cy="0"/>
          <a:chOff x="0" y="0"/>
          <a:chExt cx="0" cy="0"/>
        </a:xfrm>
      </p:grpSpPr>
      <p:sp>
        <p:nvSpPr>
          <p:cNvPr id="142" name="Google Shape;142;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4" name="Google Shape;144;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5" name="Google Shape;145;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46" name="Google Shape;146;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7"/>
        <p:cNvGrpSpPr/>
        <p:nvPr/>
      </p:nvGrpSpPr>
      <p:grpSpPr>
        <a:xfrm>
          <a:off x="0" y="0"/>
          <a:ext cx="0" cy="0"/>
          <a:chOff x="0" y="0"/>
          <a:chExt cx="0" cy="0"/>
        </a:xfrm>
      </p:grpSpPr>
      <p:sp>
        <p:nvSpPr>
          <p:cNvPr id="148" name="Google Shape;148;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image" Target="../media/image1.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theme" Target="../theme/theme3.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2"/>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2"/>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58" name="Google Shape;58;p12"/>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9" name="Google Shape;59;p12"/>
          <p:cNvGrpSpPr/>
          <p:nvPr/>
        </p:nvGrpSpPr>
        <p:grpSpPr>
          <a:xfrm>
            <a:off x="6593" y="10"/>
            <a:ext cx="175500" cy="709221"/>
            <a:chOff x="6593" y="10"/>
            <a:chExt cx="175500" cy="709221"/>
          </a:xfrm>
        </p:grpSpPr>
        <p:sp>
          <p:nvSpPr>
            <p:cNvPr id="60" name="Google Shape;60;p12"/>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2"/>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3" name="Google Shape;103;p2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4" name="Google Shape;104;p2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5" name="Google Shape;105;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6" name="Google Shape;106;p23"/>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07" name="Google Shape;107;p23"/>
          <p:cNvGrpSpPr/>
          <p:nvPr/>
        </p:nvGrpSpPr>
        <p:grpSpPr>
          <a:xfrm>
            <a:off x="6593" y="10"/>
            <a:ext cx="175500" cy="709221"/>
            <a:chOff x="6593" y="10"/>
            <a:chExt cx="175500" cy="709221"/>
          </a:xfrm>
        </p:grpSpPr>
        <p:sp>
          <p:nvSpPr>
            <p:cNvPr id="108" name="Google Shape;108;p2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4"/>
          <p:cNvSpPr txBox="1">
            <a:spLocks noGrp="1"/>
          </p:cNvSpPr>
          <p:nvPr>
            <p:ph type="ctrTitle"/>
          </p:nvPr>
        </p:nvSpPr>
        <p:spPr>
          <a:xfrm>
            <a:off x="650400" y="1902900"/>
            <a:ext cx="7843200" cy="1337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dirty="0">
                <a:latin typeface="Century Gothic"/>
                <a:ea typeface="Century Gothic"/>
                <a:cs typeface="Century Gothic"/>
                <a:sym typeface="Century Gothic"/>
              </a:rPr>
              <a:t>Home Loan Defaults</a:t>
            </a:r>
            <a:endParaRPr sz="3300" dirty="0">
              <a:latin typeface="Century Gothic"/>
              <a:ea typeface="Century Gothic"/>
              <a:cs typeface="Century Gothic"/>
              <a:sym typeface="Century Gothic"/>
            </a:endParaRPr>
          </a:p>
          <a:p>
            <a:pPr marL="0" lvl="0" indent="0" algn="l" rtl="0">
              <a:lnSpc>
                <a:spcPct val="100000"/>
              </a:lnSpc>
              <a:spcBef>
                <a:spcPts val="0"/>
              </a:spcBef>
              <a:spcAft>
                <a:spcPts val="0"/>
              </a:spcAft>
              <a:buSzPts val="4800"/>
              <a:buNone/>
            </a:pPr>
            <a:r>
              <a:rPr lang="en-US" sz="3300" b="0" dirty="0">
                <a:latin typeface="Century Gothic"/>
                <a:ea typeface="Century Gothic"/>
                <a:cs typeface="Century Gothic"/>
                <a:sym typeface="Century Gothic"/>
              </a:rPr>
              <a:t>Prediction Methods - Neural Networks</a:t>
            </a:r>
            <a:endParaRPr sz="3300" b="0" dirty="0">
              <a:latin typeface="Century Gothic"/>
              <a:ea typeface="Century Gothic"/>
              <a:cs typeface="Century Gothic"/>
              <a:sym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9" name="Google Shape;159;p3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Business Problem Overview &amp; Solution Approach</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Dictionary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Exploratory Data Analysis (EDA) Results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Preprocessing</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Model Performance Summary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Best Model Selection</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Conclusions &amp; Recommendations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Appendix / Screenshots</a:t>
            </a:r>
            <a:endParaRPr dirty="0"/>
          </a:p>
        </p:txBody>
      </p:sp>
      <p:sp>
        <p:nvSpPr>
          <p:cNvPr id="2" name="Slide Number Placeholder 1">
            <a:extLst>
              <a:ext uri="{FF2B5EF4-FFF2-40B4-BE49-F238E27FC236}">
                <a16:creationId xmlns:a16="http://schemas.microsoft.com/office/drawing/2014/main" id="{E415734C-7719-3903-04B0-D52F93F53B0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65" name="Google Shape;165;p36"/>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SzPts val="1500"/>
              <a:buNone/>
            </a:pPr>
            <a:r>
              <a:rPr lang="en-US" sz="1200" dirty="0">
                <a:solidFill>
                  <a:schemeClr val="dk1"/>
                </a:solidFill>
                <a:latin typeface="Century Gothic"/>
                <a:ea typeface="Century Gothic"/>
                <a:cs typeface="Century Gothic"/>
                <a:sym typeface="Century Gothic"/>
              </a:rPr>
              <a:t>The data contains different attributes of customers’ loan and credit details. The detailed data dictionary is given below:</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BAD: Whether the client defaulted on the loan (0 = No, 1 = Yes)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LOAN: Amount of loan approved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MORTDUE: Amount due on the existing mortgage</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VALUE: Current value of the property</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REASON: Reason for the loan request (</a:t>
            </a:r>
            <a:r>
              <a:rPr lang="en-US" sz="1200" dirty="0" err="1">
                <a:solidFill>
                  <a:schemeClr val="dk1"/>
                </a:solidFill>
                <a:latin typeface="Century Gothic"/>
                <a:ea typeface="Century Gothic"/>
                <a:cs typeface="Century Gothic"/>
                <a:sym typeface="Century Gothic"/>
              </a:rPr>
              <a:t>HomeImp</a:t>
            </a:r>
            <a:r>
              <a:rPr lang="en-US" sz="1200" dirty="0">
                <a:solidFill>
                  <a:schemeClr val="dk1"/>
                </a:solidFill>
                <a:latin typeface="Century Gothic"/>
                <a:ea typeface="Century Gothic"/>
                <a:cs typeface="Century Gothic"/>
                <a:sym typeface="Century Gothic"/>
              </a:rPr>
              <a:t> = Home Improvement, </a:t>
            </a:r>
            <a:r>
              <a:rPr lang="en-US" sz="1200" dirty="0" err="1">
                <a:solidFill>
                  <a:schemeClr val="dk1"/>
                </a:solidFill>
                <a:latin typeface="Century Gothic"/>
                <a:ea typeface="Century Gothic"/>
                <a:cs typeface="Century Gothic"/>
                <a:sym typeface="Century Gothic"/>
              </a:rPr>
              <a:t>DebtCon</a:t>
            </a:r>
            <a:r>
              <a:rPr lang="en-US" sz="1200" dirty="0">
                <a:solidFill>
                  <a:schemeClr val="dk1"/>
                </a:solidFill>
                <a:latin typeface="Century Gothic"/>
                <a:ea typeface="Century Gothic"/>
                <a:cs typeface="Century Gothic"/>
                <a:sym typeface="Century Gothic"/>
              </a:rPr>
              <a:t> = Debt Consolidation)</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JOB: Type of job the applicant has (e.g., Manager, Self-employed)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YOJ: Years at present job</a:t>
            </a:r>
            <a:endParaRPr dirty="0"/>
          </a:p>
          <a:p>
            <a:pPr marL="457200" lvl="0" indent="0" algn="l" rtl="0">
              <a:lnSpc>
                <a:spcPct val="150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50000"/>
              </a:lnSpc>
              <a:spcBef>
                <a:spcPts val="1000"/>
              </a:spcBef>
              <a:spcAft>
                <a:spcPts val="0"/>
              </a:spcAft>
              <a:buSzPts val="1500"/>
              <a:buNone/>
            </a:pPr>
            <a:endParaRPr sz="1200" dirty="0">
              <a:solidFill>
                <a:schemeClr val="dk1"/>
              </a:solidFill>
              <a:latin typeface="Century Gothic"/>
              <a:ea typeface="Century Gothic"/>
              <a:cs typeface="Century Gothic"/>
              <a:sym typeface="Century Gothic"/>
            </a:endParaRPr>
          </a:p>
          <a:p>
            <a:pPr marL="457200" lvl="0" indent="0" algn="l" rtl="0">
              <a:lnSpc>
                <a:spcPct val="150000"/>
              </a:lnSpc>
              <a:spcBef>
                <a:spcPts val="1000"/>
              </a:spcBef>
              <a:spcAft>
                <a:spcPts val="1000"/>
              </a:spcAft>
              <a:buSzPts val="1500"/>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0F3270F-F59E-CE2A-6CB2-BFABCD8F254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71" name="Google Shape;171;p37"/>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457200" lvl="0" indent="-228600" algn="l" rtl="0">
              <a:lnSpc>
                <a:spcPct val="150000"/>
              </a:lnSpc>
              <a:spcBef>
                <a:spcPts val="1000"/>
              </a:spcBef>
              <a:spcAft>
                <a:spcPts val="0"/>
              </a:spcAft>
              <a:buClr>
                <a:schemeClr val="dk1"/>
              </a:buClr>
              <a:buSzPts val="1200"/>
              <a:buFont typeface="Century Gothic"/>
              <a:buNone/>
            </a:pPr>
            <a:endParaRPr sz="1200" dirty="0">
              <a:solidFill>
                <a:schemeClr val="dk1"/>
              </a:solidFill>
              <a:latin typeface="Century Gothic"/>
              <a:ea typeface="Century Gothic"/>
              <a:cs typeface="Century Gothic"/>
              <a:sym typeface="Century Gothic"/>
            </a:endParaRPr>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DEROG: Number of major derogatory reports (serious delinquency/late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DELINQ: Number of delinquent credit lines (past due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CLAGE: Age of the oldest credit line in months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NINQ: Number of recent credit inquiries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CLNO: Number of existing credit lines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DEBTINC: Debt-to-income ratio (all monthly debt payments divided by gross monthly income)</a:t>
            </a:r>
            <a:endParaRPr dirty="0"/>
          </a:p>
          <a:p>
            <a:pPr marL="914400" lvl="0" indent="-228600" algn="l" rtl="0">
              <a:lnSpc>
                <a:spcPct val="115000"/>
              </a:lnSpc>
              <a:spcBef>
                <a:spcPts val="1000"/>
              </a:spcBef>
              <a:spcAft>
                <a:spcPts val="0"/>
              </a:spcAft>
              <a:buClr>
                <a:srgbClr val="2D3B45"/>
              </a:buClr>
              <a:buSzPts val="1200"/>
              <a:buFont typeface="Century Gothic"/>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C5786F4-E255-FBF4-D23D-7D139A55AF1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p:cNvSpPr txBox="1">
            <a:spLocks noGrp="1"/>
          </p:cNvSpPr>
          <p:nvPr>
            <p:ph type="body" idx="1"/>
          </p:nvPr>
        </p:nvSpPr>
        <p:spPr>
          <a:xfrm>
            <a:off x="202550" y="861975"/>
            <a:ext cx="8629800" cy="3493747"/>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Consumer Home Loans </a:t>
            </a:r>
            <a:r>
              <a:rPr lang="en-US" dirty="0"/>
              <a:t>represent a substantial percentage of retail bank profits. Loan defaults (NPA – bad loans) can put those profits at risk. It is in a banks best interest to thoroughly vet perspective loan applicants to minimize loan default occurrences.</a:t>
            </a:r>
          </a:p>
          <a:p>
            <a:pPr marL="139700" indent="0">
              <a:spcBef>
                <a:spcPts val="1000"/>
              </a:spcBef>
              <a:buClr>
                <a:schemeClr val="dk1"/>
              </a:buClr>
              <a:buSzPts val="1400"/>
              <a:buNone/>
            </a:pPr>
            <a:endParaRPr lang="en-US" dirty="0"/>
          </a:p>
          <a:p>
            <a:pPr marL="139700" indent="0">
              <a:spcBef>
                <a:spcPts val="1000"/>
              </a:spcBef>
              <a:buClr>
                <a:schemeClr val="dk1"/>
              </a:buClr>
              <a:buSzPts val="1400"/>
              <a:buNone/>
            </a:pPr>
            <a:r>
              <a:rPr lang="en-US" b="1" dirty="0"/>
              <a:t>Loan Underwriting</a:t>
            </a:r>
            <a:r>
              <a:rPr lang="en-US" dirty="0"/>
              <a:t> is a multi-phase process involving:</a:t>
            </a:r>
          </a:p>
          <a:p>
            <a:pPr marL="139700" indent="0">
              <a:spcBef>
                <a:spcPts val="1000"/>
              </a:spcBef>
              <a:buClr>
                <a:schemeClr val="dk1"/>
              </a:buClr>
              <a:buSzPts val="1400"/>
              <a:buNone/>
            </a:pPr>
            <a:endParaRPr lang="en-US" sz="800" dirty="0"/>
          </a:p>
          <a:p>
            <a:pPr lvl="0"/>
            <a:r>
              <a:rPr lang="en-US" b="1" dirty="0"/>
              <a:t>Credit Analysis/Assessment </a:t>
            </a:r>
            <a:r>
              <a:rPr lang="en-US" dirty="0"/>
              <a:t>– credit scores, history, existing debt, </a:t>
            </a:r>
            <a:r>
              <a:rPr lang="en-US" b="1" dirty="0"/>
              <a:t>DTI</a:t>
            </a:r>
            <a:r>
              <a:rPr lang="en-US" dirty="0"/>
              <a:t> ratio</a:t>
            </a:r>
          </a:p>
          <a:p>
            <a:pPr lvl="0"/>
            <a:r>
              <a:rPr lang="en-US" b="1" dirty="0"/>
              <a:t>Employment/Income Verification </a:t>
            </a:r>
            <a:r>
              <a:rPr lang="en-US" dirty="0"/>
              <a:t> employment status/history, income confirmation</a:t>
            </a:r>
          </a:p>
          <a:p>
            <a:pPr lvl="0"/>
            <a:r>
              <a:rPr lang="en-US" b="1" dirty="0"/>
              <a:t>Asset Assessment </a:t>
            </a:r>
            <a:r>
              <a:rPr lang="en-US" dirty="0"/>
              <a:t>– verification of down payment, investments, properties, liquid assets</a:t>
            </a:r>
          </a:p>
          <a:p>
            <a:pPr lvl="0"/>
            <a:r>
              <a:rPr lang="en-US" b="1" dirty="0"/>
              <a:t>Collateral Evaluation </a:t>
            </a:r>
            <a:r>
              <a:rPr lang="en-US" dirty="0"/>
              <a:t>– property appraisal, loan-to-value (</a:t>
            </a:r>
            <a:r>
              <a:rPr lang="en-US" b="1" dirty="0"/>
              <a:t>LTV</a:t>
            </a:r>
            <a:r>
              <a:rPr lang="en-US" dirty="0"/>
              <a:t>) ratio, title search</a:t>
            </a:r>
          </a:p>
          <a:p>
            <a:pPr lvl="0"/>
            <a:r>
              <a:rPr lang="en-US" b="1" dirty="0"/>
              <a:t>Risk Assessment </a:t>
            </a:r>
            <a:r>
              <a:rPr lang="en-US" dirty="0"/>
              <a:t>– borrower profile, red flags, risk rating</a:t>
            </a:r>
            <a:endParaRPr lang="en-US" b="1" dirty="0"/>
          </a:p>
        </p:txBody>
      </p:sp>
      <p:sp>
        <p:nvSpPr>
          <p:cNvPr id="2" name="Slide Number Placeholder 1">
            <a:extLst>
              <a:ext uri="{FF2B5EF4-FFF2-40B4-BE49-F238E27FC236}">
                <a16:creationId xmlns:a16="http://schemas.microsoft.com/office/drawing/2014/main" id="{0DF09D0F-AACB-5458-AB21-712F38BFE07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206B1578-1E42-D453-7DDF-AD99B1146A84}"/>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E7D40A21-58AC-7DE5-EE83-505441120458}"/>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962EE95E-91F1-7D98-E406-B6C0C567B22D}"/>
              </a:ext>
            </a:extLst>
          </p:cNvPr>
          <p:cNvSpPr txBox="1">
            <a:spLocks noGrp="1"/>
          </p:cNvSpPr>
          <p:nvPr>
            <p:ph type="body" idx="1"/>
          </p:nvPr>
        </p:nvSpPr>
        <p:spPr>
          <a:xfrm>
            <a:off x="130629" y="861975"/>
            <a:ext cx="8937743" cy="3870773"/>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Verification Process </a:t>
            </a:r>
            <a:r>
              <a:rPr lang="en-US" dirty="0"/>
              <a:t>the existing process is a manual one with a lot of hands-on human interactions.</a:t>
            </a:r>
          </a:p>
          <a:p>
            <a:pPr marL="139700" indent="0">
              <a:spcBef>
                <a:spcPts val="400"/>
              </a:spcBef>
              <a:buClr>
                <a:schemeClr val="dk1"/>
              </a:buClr>
              <a:buSzPts val="1400"/>
              <a:buNone/>
            </a:pPr>
            <a:endParaRPr lang="en-US" dirty="0"/>
          </a:p>
          <a:p>
            <a:pPr marL="139700" indent="0">
              <a:spcBef>
                <a:spcPts val="400"/>
              </a:spcBef>
              <a:buClr>
                <a:schemeClr val="dk1"/>
              </a:buClr>
              <a:buSzPts val="1400"/>
              <a:buNone/>
            </a:pPr>
            <a:r>
              <a:rPr lang="en-US" b="1" dirty="0"/>
              <a:t>The current process is characterized by</a:t>
            </a:r>
            <a:r>
              <a:rPr lang="en-US" dirty="0"/>
              <a:t>:</a:t>
            </a:r>
          </a:p>
          <a:p>
            <a:pPr marL="139700" indent="0">
              <a:buClr>
                <a:schemeClr val="dk1"/>
              </a:buClr>
              <a:buSzPts val="1400"/>
              <a:buNone/>
            </a:pPr>
            <a:endParaRPr lang="en-US" sz="800" dirty="0"/>
          </a:p>
          <a:p>
            <a:pPr marL="1828800"/>
            <a:r>
              <a:rPr lang="en-US" dirty="0"/>
              <a:t>Human-dependent</a:t>
            </a:r>
          </a:p>
          <a:p>
            <a:pPr marL="1828800"/>
            <a:r>
              <a:rPr lang="en-US" dirty="0"/>
              <a:t>Labor/Resource-intensive</a:t>
            </a:r>
          </a:p>
          <a:p>
            <a:pPr marL="1828800"/>
            <a:r>
              <a:rPr lang="en-US" dirty="0"/>
              <a:t>Time-consuming</a:t>
            </a:r>
          </a:p>
          <a:p>
            <a:pPr marL="1828800"/>
            <a:r>
              <a:rPr lang="en-US" dirty="0"/>
              <a:t>Manual / manually-driven</a:t>
            </a:r>
          </a:p>
          <a:p>
            <a:pPr marL="1828800"/>
            <a:r>
              <a:rPr lang="en-US" dirty="0"/>
              <a:t>Paper-heavy / document-heavy</a:t>
            </a:r>
          </a:p>
          <a:p>
            <a:pPr marL="1828800"/>
            <a:r>
              <a:rPr lang="en-US" dirty="0"/>
              <a:t>Prone to human error / inconsistency</a:t>
            </a:r>
          </a:p>
          <a:p>
            <a:pPr marL="1828800"/>
            <a:r>
              <a:rPr lang="en-US" dirty="0"/>
              <a:t>Subjective (underwriter discretion varies)</a:t>
            </a:r>
          </a:p>
          <a:p>
            <a:pPr marL="1828800"/>
            <a:r>
              <a:rPr lang="en-US" dirty="0"/>
              <a:t>Difficult to scale</a:t>
            </a:r>
          </a:p>
          <a:p>
            <a:pPr marL="139700" indent="0">
              <a:spcBef>
                <a:spcPts val="1000"/>
              </a:spcBef>
              <a:buClr>
                <a:schemeClr val="dk1"/>
              </a:buClr>
              <a:buSzPts val="1400"/>
              <a:buNone/>
            </a:pPr>
            <a:endParaRPr lang="en-US" dirty="0"/>
          </a:p>
        </p:txBody>
      </p:sp>
      <p:sp>
        <p:nvSpPr>
          <p:cNvPr id="2" name="Slide Number Placeholder 1">
            <a:extLst>
              <a:ext uri="{FF2B5EF4-FFF2-40B4-BE49-F238E27FC236}">
                <a16:creationId xmlns:a16="http://schemas.microsoft.com/office/drawing/2014/main" id="{253E95BD-33FE-E1F8-C1D9-070231F08F3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1351955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DA221B20-1490-613B-62EA-FE5D03B6DA99}"/>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C1DD4B4D-FE57-F030-4673-C201A6B6B083}"/>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834345AC-92B5-3448-0476-381F34CFE640}"/>
              </a:ext>
            </a:extLst>
          </p:cNvPr>
          <p:cNvSpPr txBox="1">
            <a:spLocks noGrp="1"/>
          </p:cNvSpPr>
          <p:nvPr>
            <p:ph type="body" idx="1"/>
          </p:nvPr>
        </p:nvSpPr>
        <p:spPr>
          <a:xfrm>
            <a:off x="202550" y="861975"/>
            <a:ext cx="8629800" cy="3109026"/>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Limitations of the current approach include:</a:t>
            </a:r>
            <a:endParaRPr lang="en-US" dirty="0"/>
          </a:p>
          <a:p>
            <a:pPr marL="139700" indent="0">
              <a:buClr>
                <a:schemeClr val="dk1"/>
              </a:buClr>
              <a:buSzPts val="1400"/>
              <a:buNone/>
            </a:pPr>
            <a:endParaRPr lang="en-US" sz="800" dirty="0"/>
          </a:p>
          <a:p>
            <a:pPr marL="1828800"/>
            <a:r>
              <a:rPr lang="en-US" dirty="0"/>
              <a:t>Effort-intensive</a:t>
            </a:r>
          </a:p>
          <a:p>
            <a:pPr marL="1828800"/>
            <a:r>
              <a:rPr lang="en-US" dirty="0"/>
              <a:t>Clerical errors</a:t>
            </a:r>
          </a:p>
          <a:p>
            <a:pPr marL="1828800"/>
            <a:r>
              <a:rPr lang="en-US" dirty="0"/>
              <a:t>Data/document errors</a:t>
            </a:r>
          </a:p>
          <a:p>
            <a:pPr marL="1828800"/>
            <a:r>
              <a:rPr lang="en-US" dirty="0"/>
              <a:t>Prone to errors in judgment</a:t>
            </a:r>
          </a:p>
          <a:p>
            <a:pPr marL="1828800"/>
            <a:r>
              <a:rPr lang="en-US" dirty="0"/>
              <a:t>Prone to incorrect approvals</a:t>
            </a:r>
          </a:p>
          <a:p>
            <a:pPr marL="1828800"/>
            <a:r>
              <a:rPr lang="en-US" dirty="0"/>
              <a:t>Susceptible to human error</a:t>
            </a:r>
          </a:p>
          <a:p>
            <a:pPr marL="1828800"/>
            <a:r>
              <a:rPr lang="en-US" dirty="0"/>
              <a:t>Vulnerable to bias</a:t>
            </a:r>
          </a:p>
          <a:p>
            <a:pPr marL="1828800"/>
            <a:r>
              <a:rPr lang="en-US" dirty="0"/>
              <a:t>Documentation/reasoning </a:t>
            </a:r>
            <a:r>
              <a:rPr lang="en-US" dirty="0" err="1"/>
              <a:t>concistency</a:t>
            </a:r>
            <a:endParaRPr lang="en-US" dirty="0"/>
          </a:p>
          <a:p>
            <a:pPr marL="1828800"/>
            <a:r>
              <a:rPr lang="en-US" dirty="0"/>
              <a:t>Bottlenecks, long turn around times – reduces potential for scalability</a:t>
            </a:r>
          </a:p>
        </p:txBody>
      </p:sp>
      <p:sp>
        <p:nvSpPr>
          <p:cNvPr id="2" name="Slide Number Placeholder 1">
            <a:extLst>
              <a:ext uri="{FF2B5EF4-FFF2-40B4-BE49-F238E27FC236}">
                <a16:creationId xmlns:a16="http://schemas.microsoft.com/office/drawing/2014/main" id="{C3D6EB1F-6B0F-7B79-D30E-A14BC830ACD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390733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75044022-5328-9FB3-9205-A15285C1DE3C}"/>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297F4B31-4A9A-EC8B-D0CE-866C28F030AF}"/>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275A489B-81A7-0307-8137-F9750F0A0884}"/>
              </a:ext>
            </a:extLst>
          </p:cNvPr>
          <p:cNvSpPr txBox="1">
            <a:spLocks noGrp="1"/>
          </p:cNvSpPr>
          <p:nvPr>
            <p:ph type="body" idx="1"/>
          </p:nvPr>
        </p:nvSpPr>
        <p:spPr>
          <a:xfrm>
            <a:off x="202550" y="861975"/>
            <a:ext cx="8629800" cy="3965414"/>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Goal:</a:t>
            </a:r>
          </a:p>
          <a:p>
            <a:pPr marL="139700" indent="0">
              <a:spcBef>
                <a:spcPts val="400"/>
              </a:spcBef>
              <a:buClr>
                <a:schemeClr val="dk1"/>
              </a:buClr>
              <a:buSzPts val="1400"/>
              <a:buNone/>
            </a:pPr>
            <a:endParaRPr lang="en-US" sz="800" b="1" dirty="0"/>
          </a:p>
          <a:p>
            <a:pPr marL="133350" indent="0">
              <a:buNone/>
            </a:pPr>
            <a:r>
              <a:rPr lang="en-US"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800" dirty="0"/>
          </a:p>
          <a:p>
            <a:pPr marL="133350" indent="0">
              <a:buNone/>
            </a:pPr>
            <a:r>
              <a:rPr lang="en-US"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800" dirty="0"/>
          </a:p>
          <a:p>
            <a:pPr marL="139700" indent="0">
              <a:spcBef>
                <a:spcPts val="1000"/>
              </a:spcBef>
              <a:buClr>
                <a:schemeClr val="dk1"/>
              </a:buClr>
              <a:buSzPts val="1400"/>
              <a:buNone/>
            </a:pPr>
            <a:r>
              <a:rPr lang="en-US" b="1" dirty="0"/>
              <a:t>Objective:</a:t>
            </a:r>
          </a:p>
          <a:p>
            <a:pPr marL="139700" indent="0">
              <a:spcBef>
                <a:spcPts val="1000"/>
              </a:spcBef>
              <a:buClr>
                <a:schemeClr val="dk1"/>
              </a:buClr>
              <a:buSzPts val="1400"/>
              <a:buNone/>
            </a:pPr>
            <a:r>
              <a:rPr lang="en-US" dirty="0"/>
              <a:t>Build a classification model using an Artificial Neural Network (ANN) to predict clients who are likely to default on  loans. The model should provide recommendations on the key features to consider during loan approval.</a:t>
            </a:r>
          </a:p>
        </p:txBody>
      </p:sp>
      <p:sp>
        <p:nvSpPr>
          <p:cNvPr id="2" name="Slide Number Placeholder 1">
            <a:extLst>
              <a:ext uri="{FF2B5EF4-FFF2-40B4-BE49-F238E27FC236}">
                <a16:creationId xmlns:a16="http://schemas.microsoft.com/office/drawing/2014/main" id="{ED837053-9176-CEC0-592B-0876C4E078B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1035572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p:txBody>
          <a:bodyPr/>
          <a:lstStyle/>
          <a:p>
            <a:pPr marL="133350" indent="0">
              <a:buNone/>
            </a:pPr>
            <a:r>
              <a:rPr lang="en-US" b="1" dirty="0"/>
              <a:t>1. Exploratory Data Analysis (EDA)</a:t>
            </a:r>
            <a:endParaRPr lang="en-US" dirty="0"/>
          </a:p>
          <a:p>
            <a:pPr lvl="0"/>
            <a:r>
              <a:rPr lang="en-US" sz="1400" dirty="0"/>
              <a:t>Perform general </a:t>
            </a:r>
            <a:r>
              <a:rPr lang="en-US" sz="1400" b="1" dirty="0"/>
              <a:t>Exploratory Data Analysis</a:t>
            </a:r>
            <a:r>
              <a:rPr lang="en-US" sz="1400" dirty="0"/>
              <a:t> (</a:t>
            </a:r>
            <a:r>
              <a:rPr lang="en-US" sz="1400" b="1" dirty="0"/>
              <a:t>EDA</a:t>
            </a:r>
            <a:r>
              <a:rPr lang="en-US" sz="1400" dirty="0"/>
              <a:t>) </a:t>
            </a:r>
          </a:p>
          <a:p>
            <a:pPr lvl="0"/>
            <a:r>
              <a:rPr lang="en-US" sz="1400" dirty="0"/>
              <a:t>Perform supplementary </a:t>
            </a:r>
            <a:r>
              <a:rPr lang="en-US" sz="1400" b="1" dirty="0"/>
              <a:t>EDA </a:t>
            </a:r>
            <a:r>
              <a:rPr lang="en-US" sz="1400" dirty="0"/>
              <a:t>on charts rendered through Rapid Miner</a:t>
            </a:r>
            <a:r>
              <a:rPr lang="en-US" sz="1200" dirty="0"/>
              <a:t>.</a:t>
            </a:r>
          </a:p>
          <a:p>
            <a:endParaRPr lang="en-US" sz="1000" b="1" dirty="0"/>
          </a:p>
          <a:p>
            <a:pPr marL="133350" indent="0">
              <a:buNone/>
            </a:pPr>
            <a:r>
              <a:rPr lang="en-US" b="1" dirty="0"/>
              <a:t>2. Perform Follow up EDA after Feature Engineering </a:t>
            </a:r>
            <a:endParaRPr lang="en-US" dirty="0"/>
          </a:p>
          <a:p>
            <a:pPr marL="133350" indent="0">
              <a:buNone/>
            </a:pPr>
            <a:r>
              <a:rPr lang="en-US" sz="1300" dirty="0"/>
              <a:t>Assuming that </a:t>
            </a:r>
            <a:r>
              <a:rPr lang="en-US" sz="1300" b="1" dirty="0"/>
              <a:t>Feature Engineering</a:t>
            </a:r>
            <a:r>
              <a:rPr lang="en-US" sz="1300" dirty="0"/>
              <a:t> was provided for the project:</a:t>
            </a:r>
          </a:p>
          <a:p>
            <a:pPr lvl="0"/>
            <a:r>
              <a:rPr lang="en-US" sz="1400" dirty="0"/>
              <a:t>Repeat EDA and supplementary EDA analysis of preprocessed (normalized) data</a:t>
            </a:r>
          </a:p>
          <a:p>
            <a:pPr lvl="0"/>
            <a:endParaRPr lang="en-US" sz="1000" dirty="0"/>
          </a:p>
          <a:p>
            <a:pPr marL="133350" indent="0">
              <a:buNone/>
            </a:pPr>
            <a:r>
              <a:rPr lang="en-US" b="1" dirty="0"/>
              <a:t>3. Basic Neural Network (NN) Analysis</a:t>
            </a:r>
            <a:endParaRPr lang="en-US" dirty="0"/>
          </a:p>
          <a:p>
            <a:pPr lvl="0"/>
            <a:r>
              <a:rPr lang="en-US" sz="1400" dirty="0"/>
              <a:t>Analyze initial Model performance results</a:t>
            </a:r>
          </a:p>
          <a:p>
            <a:pPr lvl="0"/>
            <a:endParaRPr lang="en-US" sz="1200" b="1" dirty="0"/>
          </a:p>
          <a:p>
            <a:pPr marL="133350" indent="0">
              <a:buNone/>
            </a:pPr>
            <a:r>
              <a:rPr lang="en-US" b="1" dirty="0"/>
              <a:t>4. Neural Network with Parameter Tuning</a:t>
            </a:r>
          </a:p>
          <a:p>
            <a:pPr marL="133350" indent="0">
              <a:buNone/>
            </a:pPr>
            <a:r>
              <a:rPr lang="en-US" sz="1300" b="1" dirty="0"/>
              <a:t>Hand Tune</a:t>
            </a:r>
            <a:r>
              <a:rPr lang="en-US" sz="1300" dirty="0"/>
              <a:t> selected NN parameters and rerun the model (iteratively)</a:t>
            </a:r>
          </a:p>
          <a:p>
            <a:pPr lvl="0"/>
            <a:r>
              <a:rPr lang="en-US" sz="1400" dirty="0"/>
              <a:t>Comment on parameter tuned NN Model performance</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3936730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81A1-0986-4C76-ADA6-06B7FAA817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6ACB7-ACCC-D328-557C-33FF6B613013}"/>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08581D07-B79C-D9A4-8AEE-602465399B57}"/>
              </a:ext>
            </a:extLst>
          </p:cNvPr>
          <p:cNvSpPr>
            <a:spLocks noGrp="1"/>
          </p:cNvSpPr>
          <p:nvPr>
            <p:ph type="body" idx="1"/>
          </p:nvPr>
        </p:nvSpPr>
        <p:spPr>
          <a:xfrm>
            <a:off x="55002" y="861975"/>
            <a:ext cx="9033996" cy="3706800"/>
          </a:xfrm>
        </p:spPr>
        <p:txBody>
          <a:bodyPr/>
          <a:lstStyle/>
          <a:p>
            <a:pPr marL="133350" indent="0">
              <a:buNone/>
            </a:pPr>
            <a:r>
              <a:rPr lang="en-US" b="1" dirty="0"/>
              <a:t>5. Neural Network Tuned Using Grid Search</a:t>
            </a:r>
          </a:p>
          <a:p>
            <a:pPr marL="133350" indent="0">
              <a:buNone/>
            </a:pPr>
            <a:r>
              <a:rPr lang="en-US" sz="1400" b="1" dirty="0" err="1"/>
              <a:t>GridSearchCV</a:t>
            </a:r>
            <a:r>
              <a:rPr lang="en-US" sz="1400" dirty="0"/>
              <a:t> Evaluates all combinations of hyperparameters to find the best-performing configuration</a:t>
            </a:r>
            <a:endParaRPr lang="en-US" sz="1300" dirty="0"/>
          </a:p>
          <a:p>
            <a:pPr lvl="0"/>
            <a:r>
              <a:rPr lang="en-US" sz="1600" dirty="0"/>
              <a:t>Analyze hyperparameter tuned </a:t>
            </a:r>
            <a:r>
              <a:rPr lang="en-US" sz="1600" b="1" dirty="0"/>
              <a:t>NN Model </a:t>
            </a:r>
            <a:r>
              <a:rPr lang="en-US" sz="1600" dirty="0"/>
              <a:t>performance.</a:t>
            </a:r>
          </a:p>
          <a:p>
            <a:endParaRPr lang="en-US" sz="1100" b="1" dirty="0"/>
          </a:p>
          <a:p>
            <a:pPr marL="133350" indent="0">
              <a:buNone/>
            </a:pPr>
            <a:r>
              <a:rPr lang="en-US" b="1" dirty="0"/>
              <a:t>6. Model Performance Summary</a:t>
            </a:r>
            <a:endParaRPr lang="en-US" dirty="0"/>
          </a:p>
          <a:p>
            <a:pPr lvl="0"/>
            <a:r>
              <a:rPr lang="en-US" sz="1600" dirty="0"/>
              <a:t>Compare NN, parameter and hyperparameter tuned Model results</a:t>
            </a:r>
          </a:p>
          <a:p>
            <a:pPr lvl="0"/>
            <a:endParaRPr lang="en-US" sz="1100" dirty="0"/>
          </a:p>
          <a:p>
            <a:pPr marL="133350" indent="0">
              <a:buNone/>
            </a:pPr>
            <a:r>
              <a:rPr lang="en-US" b="1" dirty="0"/>
              <a:t>7. Conclusions and Recommendations</a:t>
            </a:r>
            <a:endParaRPr lang="en-US" dirty="0"/>
          </a:p>
          <a:p>
            <a:pPr lvl="0"/>
            <a:r>
              <a:rPr lang="en-US" sz="1600" dirty="0"/>
              <a:t>Final observations, insights and recommendations</a:t>
            </a:r>
          </a:p>
          <a:p>
            <a:pPr marL="133350" indent="0">
              <a:buNone/>
            </a:pPr>
            <a:endParaRPr lang="en-US" dirty="0"/>
          </a:p>
        </p:txBody>
      </p:sp>
      <p:sp>
        <p:nvSpPr>
          <p:cNvPr id="4" name="Slide Number Placeholder 3">
            <a:extLst>
              <a:ext uri="{FF2B5EF4-FFF2-40B4-BE49-F238E27FC236}">
                <a16:creationId xmlns:a16="http://schemas.microsoft.com/office/drawing/2014/main" id="{D4870981-BF32-22A2-045C-988017529D1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260648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37BA-0C0B-D6EF-DEB7-071B819312DB}"/>
              </a:ext>
            </a:extLst>
          </p:cNvPr>
          <p:cNvSpPr>
            <a:spLocks noGrp="1"/>
          </p:cNvSpPr>
          <p:nvPr>
            <p:ph type="title"/>
          </p:nvPr>
        </p:nvSpPr>
        <p:spPr>
          <a:xfrm>
            <a:off x="202964" y="63286"/>
            <a:ext cx="8520600" cy="572700"/>
          </a:xfrm>
        </p:spPr>
        <p:txBody>
          <a:bodyPr/>
          <a:lstStyle/>
          <a:p>
            <a:r>
              <a:rPr lang="en-US" dirty="0">
                <a:solidFill>
                  <a:schemeClr val="lt2"/>
                </a:solidFill>
                <a:latin typeface="Century Gothic"/>
                <a:ea typeface="Century Gothic"/>
                <a:cs typeface="Century Gothic"/>
                <a:sym typeface="Century Gothic"/>
              </a:rPr>
              <a:t>Expected Outcomes</a:t>
            </a:r>
            <a:endParaRPr lang="en-US" dirty="0"/>
          </a:p>
        </p:txBody>
      </p:sp>
      <p:sp>
        <p:nvSpPr>
          <p:cNvPr id="3" name="Text Placeholder 2">
            <a:extLst>
              <a:ext uri="{FF2B5EF4-FFF2-40B4-BE49-F238E27FC236}">
                <a16:creationId xmlns:a16="http://schemas.microsoft.com/office/drawing/2014/main" id="{6612A709-F407-4469-B44F-89D09010BA6B}"/>
              </a:ext>
            </a:extLst>
          </p:cNvPr>
          <p:cNvSpPr>
            <a:spLocks noGrp="1"/>
          </p:cNvSpPr>
          <p:nvPr>
            <p:ph type="body" idx="1"/>
          </p:nvPr>
        </p:nvSpPr>
        <p:spPr>
          <a:xfrm>
            <a:off x="202964" y="482009"/>
            <a:ext cx="8629800" cy="4401101"/>
          </a:xfrm>
        </p:spPr>
        <p:txBody>
          <a:bodyPr/>
          <a:lstStyle/>
          <a:p>
            <a:pPr lvl="0"/>
            <a:r>
              <a:rPr lang="en-US" b="1" dirty="0"/>
              <a:t>Model Development</a:t>
            </a:r>
            <a:r>
              <a:rPr lang="en-US" dirty="0"/>
              <a:t>: </a:t>
            </a:r>
          </a:p>
          <a:p>
            <a:pPr lvl="1">
              <a:spcBef>
                <a:spcPts val="400"/>
              </a:spcBef>
            </a:pPr>
            <a:r>
              <a:rPr lang="en-US" dirty="0"/>
              <a:t>Build a highly performant classification model using ANN to predict loan </a:t>
            </a:r>
            <a:r>
              <a:rPr lang="en-US" dirty="0" err="1"/>
              <a:t>efaults</a:t>
            </a:r>
            <a:r>
              <a:rPr lang="en-US" dirty="0"/>
              <a:t>.</a:t>
            </a:r>
          </a:p>
          <a:p>
            <a:pPr lvl="1">
              <a:spcBef>
                <a:spcPts val="400"/>
              </a:spcBef>
            </a:pPr>
            <a:r>
              <a:rPr lang="en-US" dirty="0"/>
              <a:t>Make the model interpretable so approvals/rejections can be easily justifiable</a:t>
            </a:r>
          </a:p>
          <a:p>
            <a:pPr lvl="1">
              <a:spcBef>
                <a:spcPts val="400"/>
              </a:spcBef>
            </a:pPr>
            <a:r>
              <a:rPr lang="en-US" dirty="0"/>
              <a:t>Select optimal model parameters through hyperparameter tuning (</a:t>
            </a:r>
            <a:r>
              <a:rPr lang="en-US" b="1" dirty="0" err="1"/>
              <a:t>GridSearchCV</a:t>
            </a:r>
            <a:r>
              <a:rPr lang="en-US" dirty="0"/>
              <a:t>)</a:t>
            </a:r>
          </a:p>
          <a:p>
            <a:pPr marL="133350" lvl="0" indent="0">
              <a:buNone/>
            </a:pPr>
            <a:endParaRPr lang="en-US" sz="400" dirty="0"/>
          </a:p>
          <a:p>
            <a:pPr lvl="0"/>
            <a:r>
              <a:rPr lang="en-US" b="1" dirty="0"/>
              <a:t>Risk Identification</a:t>
            </a:r>
            <a:r>
              <a:rPr lang="en-US" dirty="0"/>
              <a:t>: </a:t>
            </a:r>
          </a:p>
          <a:p>
            <a:pPr lvl="1">
              <a:spcBef>
                <a:spcPts val="400"/>
              </a:spcBef>
            </a:pPr>
            <a:r>
              <a:rPr lang="en-US" dirty="0"/>
              <a:t>Identify the key features that are the strongest predictors of loan default</a:t>
            </a:r>
          </a:p>
          <a:p>
            <a:pPr lvl="1">
              <a:spcBef>
                <a:spcPts val="400"/>
              </a:spcBef>
            </a:pPr>
            <a:r>
              <a:rPr lang="en-US" dirty="0"/>
              <a:t>Establish acceptable risk thresholds</a:t>
            </a:r>
          </a:p>
          <a:p>
            <a:pPr marL="133350" lvl="0" indent="0">
              <a:buNone/>
            </a:pPr>
            <a:endParaRPr lang="en-US" sz="400" dirty="0"/>
          </a:p>
          <a:p>
            <a:pPr lvl="0"/>
            <a:r>
              <a:rPr lang="en-US" b="1" dirty="0"/>
              <a:t>Process Improvement</a:t>
            </a:r>
            <a:r>
              <a:rPr lang="en-US" dirty="0"/>
              <a:t>: </a:t>
            </a:r>
          </a:p>
          <a:p>
            <a:pPr lvl="1">
              <a:spcBef>
                <a:spcPts val="400"/>
              </a:spcBef>
            </a:pPr>
            <a:r>
              <a:rPr lang="en-US" dirty="0"/>
              <a:t>Minimize human subjectivity and bias in loan decisions</a:t>
            </a:r>
          </a:p>
          <a:p>
            <a:pPr lvl="1">
              <a:spcBef>
                <a:spcPts val="400"/>
              </a:spcBef>
            </a:pPr>
            <a:r>
              <a:rPr lang="en-US" dirty="0"/>
              <a:t>Streamline decision making time by adding automation to the process</a:t>
            </a:r>
          </a:p>
          <a:p>
            <a:pPr lvl="1">
              <a:spcBef>
                <a:spcPts val="400"/>
              </a:spcBef>
            </a:pPr>
            <a:r>
              <a:rPr lang="en-US" dirty="0"/>
              <a:t>Establish standardized assessments for all applicants</a:t>
            </a:r>
          </a:p>
          <a:p>
            <a:pPr marL="133350" lvl="0" indent="0">
              <a:buNone/>
            </a:pPr>
            <a:endParaRPr lang="en-US" sz="400" dirty="0"/>
          </a:p>
          <a:p>
            <a:pPr lvl="0"/>
            <a:r>
              <a:rPr lang="en-US" b="1" dirty="0"/>
              <a:t>Increase Business Value</a:t>
            </a:r>
            <a:r>
              <a:rPr lang="en-US" dirty="0"/>
              <a:t>: </a:t>
            </a:r>
          </a:p>
          <a:p>
            <a:pPr lvl="1">
              <a:spcBef>
                <a:spcPts val="400"/>
              </a:spcBef>
            </a:pPr>
            <a:r>
              <a:rPr lang="en-US" dirty="0"/>
              <a:t>Identify high-risk applicants to minimize loan defaults</a:t>
            </a:r>
          </a:p>
          <a:p>
            <a:pPr lvl="1">
              <a:spcBef>
                <a:spcPts val="400"/>
              </a:spcBef>
            </a:pPr>
            <a:r>
              <a:rPr lang="en-US" dirty="0"/>
              <a:t>Reduce </a:t>
            </a:r>
            <a:r>
              <a:rPr lang="en-US" dirty="0" err="1"/>
              <a:t>labour</a:t>
            </a:r>
            <a:r>
              <a:rPr lang="en-US" dirty="0"/>
              <a:t>/manpower required in the current approval process</a:t>
            </a:r>
          </a:p>
          <a:p>
            <a:pPr lvl="1">
              <a:spcBef>
                <a:spcPts val="400"/>
              </a:spcBef>
            </a:pPr>
            <a:r>
              <a:rPr lang="en-US" dirty="0"/>
              <a:t>Increase scalability (process more loans) while keep costs low</a:t>
            </a:r>
          </a:p>
          <a:p>
            <a:pPr marL="133350" lvl="0" indent="0">
              <a:buNone/>
            </a:pPr>
            <a:endParaRPr lang="en-US" sz="400" dirty="0"/>
          </a:p>
        </p:txBody>
      </p:sp>
      <p:sp>
        <p:nvSpPr>
          <p:cNvPr id="4" name="Slide Number Placeholder 3">
            <a:extLst>
              <a:ext uri="{FF2B5EF4-FFF2-40B4-BE49-F238E27FC236}">
                <a16:creationId xmlns:a16="http://schemas.microsoft.com/office/drawing/2014/main" id="{57847B8F-A3E5-FA4D-B837-D46A815D8ED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913878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39152" y="2860770"/>
            <a:ext cx="8629800" cy="2190313"/>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a lot of missing values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has 4,693 vs 5,960 total records); imputation needed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VALUE</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MORTDUE</a:t>
            </a:r>
            <a:r>
              <a:rPr lang="en-US" sz="1100" dirty="0">
                <a:solidFill>
                  <a:schemeClr val="dk1"/>
                </a:solidFill>
                <a:latin typeface="Century Gothic"/>
                <a:ea typeface="Century Gothic"/>
                <a:cs typeface="Century Gothic"/>
                <a:sym typeface="Century Gothic"/>
              </a:rPr>
              <a:t> have large standard deviations (</a:t>
            </a:r>
            <a:r>
              <a:rPr lang="en-US" sz="1100" b="1" dirty="0">
                <a:solidFill>
                  <a:schemeClr val="dk1"/>
                </a:solidFill>
                <a:latin typeface="Century Gothic"/>
                <a:ea typeface="Century Gothic"/>
                <a:cs typeface="Century Gothic"/>
                <a:sym typeface="Century Gothic"/>
              </a:rPr>
              <a:t>STD</a:t>
            </a:r>
            <a:r>
              <a:rPr lang="en-US" sz="1100" dirty="0">
                <a:solidFill>
                  <a:schemeClr val="dk1"/>
                </a:solidFill>
                <a:latin typeface="Century Gothic"/>
                <a:ea typeface="Century Gothic"/>
                <a:cs typeface="Century Gothic"/>
                <a:sym typeface="Century Gothic"/>
              </a:rPr>
              <a:t>)relative to means</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CLAGE</a:t>
            </a:r>
            <a:r>
              <a:rPr lang="en-US" sz="1100" dirty="0">
                <a:solidFill>
                  <a:schemeClr val="dk1"/>
                </a:solidFill>
                <a:latin typeface="Century Gothic"/>
                <a:ea typeface="Century Gothic"/>
                <a:cs typeface="Century Gothic"/>
                <a:sym typeface="Century Gothic"/>
              </a:rPr>
              <a:t> max of 1,168 months (~97 years),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max of 203% seem extreme</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Skewed distributions</a:t>
            </a:r>
            <a:r>
              <a:rPr lang="en-US" sz="1100" dirty="0">
                <a:solidFill>
                  <a:schemeClr val="dk1"/>
                </a:solidFill>
                <a:latin typeface="Century Gothic"/>
                <a:ea typeface="Century Gothic"/>
                <a:cs typeface="Century Gothic"/>
                <a:sym typeface="Century Gothic"/>
              </a:rPr>
              <a:t> — Several features show large gaps between 75% and max (</a:t>
            </a:r>
            <a:r>
              <a:rPr lang="en-US" sz="1100" b="1" dirty="0">
                <a:solidFill>
                  <a:schemeClr val="dk1"/>
                </a:solidFill>
                <a:latin typeface="Century Gothic"/>
                <a:ea typeface="Century Gothic"/>
                <a:cs typeface="Century Gothic"/>
                <a:sym typeface="Century Gothic"/>
              </a:rPr>
              <a:t>LOAN, VALUE, MORTDUE</a:t>
            </a:r>
            <a:r>
              <a:rPr lang="en-US" sz="1100" dirty="0">
                <a:solidFill>
                  <a:schemeClr val="dk1"/>
                </a:solidFill>
                <a:latin typeface="Century Gothic"/>
                <a:ea typeface="Century Gothic"/>
                <a:cs typeface="Century Gothic"/>
                <a:sym typeface="Century Gothic"/>
              </a:rPr>
              <a:t>)</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Categorical features </a:t>
            </a:r>
            <a:r>
              <a:rPr lang="en-US" sz="1100" dirty="0">
                <a:solidFill>
                  <a:schemeClr val="dk1"/>
                </a:solidFill>
                <a:latin typeface="Century Gothic"/>
                <a:ea typeface="Century Gothic"/>
                <a:cs typeface="Century Gothic"/>
                <a:sym typeface="Century Gothic"/>
              </a:rPr>
              <a:t>— </a:t>
            </a:r>
            <a:r>
              <a:rPr lang="en-US" sz="1100" b="1" dirty="0">
                <a:solidFill>
                  <a:schemeClr val="dk1"/>
                </a:solidFill>
                <a:latin typeface="Century Gothic"/>
                <a:ea typeface="Century Gothic"/>
                <a:cs typeface="Century Gothic"/>
                <a:sym typeface="Century Gothic"/>
              </a:rPr>
              <a:t>REASON</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JOB</a:t>
            </a:r>
            <a:r>
              <a:rPr lang="en-US" sz="1100" dirty="0">
                <a:solidFill>
                  <a:schemeClr val="dk1"/>
                </a:solidFill>
                <a:latin typeface="Century Gothic"/>
                <a:ea typeface="Century Gothic"/>
                <a:cs typeface="Century Gothic"/>
                <a:sym typeface="Century Gothic"/>
              </a:rPr>
              <a:t> will need encoding</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DEBTINC most incomplete</a:t>
            </a:r>
            <a:r>
              <a:rPr lang="en-US" sz="1100" dirty="0">
                <a:solidFill>
                  <a:schemeClr val="dk1"/>
                </a:solidFill>
                <a:latin typeface="Century Gothic"/>
                <a:ea typeface="Century Gothic"/>
                <a:cs typeface="Century Gothic"/>
                <a:sym typeface="Century Gothic"/>
              </a:rPr>
              <a:t> — Only 4,693 records; key feature for loan risk so imputation strategy matters</a:t>
            </a:r>
            <a:endParaRPr sz="11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a:p>
        </p:txBody>
      </p:sp>
      <p:pic>
        <p:nvPicPr>
          <p:cNvPr id="4" name="Picture 3" descr="A table with numbers and text&#10;&#10;AI-generated content may be incorrect.">
            <a:extLst>
              <a:ext uri="{FF2B5EF4-FFF2-40B4-BE49-F238E27FC236}">
                <a16:creationId xmlns:a16="http://schemas.microsoft.com/office/drawing/2014/main" id="{588FAFCB-0529-4A50-A39C-A8C94109A17F}"/>
              </a:ext>
            </a:extLst>
          </p:cNvPr>
          <p:cNvPicPr>
            <a:picLocks noChangeAspect="1"/>
          </p:cNvPicPr>
          <p:nvPr/>
        </p:nvPicPr>
        <p:blipFill>
          <a:blip r:embed="rId3"/>
          <a:stretch>
            <a:fillRect/>
          </a:stretch>
        </p:blipFill>
        <p:spPr>
          <a:xfrm>
            <a:off x="190263" y="555114"/>
            <a:ext cx="8520600" cy="24942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FAA6185-CFFE-36D7-ABB7-C43431A6271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F62257D-ABC8-1356-072D-F743F0B6D2B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AD904EFD-DFC2-DE6F-CA98-CF0217DA166C}"/>
              </a:ext>
            </a:extLst>
          </p:cNvPr>
          <p:cNvSpPr txBox="1">
            <a:spLocks noGrp="1"/>
          </p:cNvSpPr>
          <p:nvPr>
            <p:ph type="body" idx="1"/>
          </p:nvPr>
        </p:nvSpPr>
        <p:spPr>
          <a:xfrm>
            <a:off x="468977" y="3976062"/>
            <a:ext cx="8629800"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Analyze the raw data types and identify any that can be converted for better </a:t>
            </a:r>
            <a:r>
              <a:rPr lang="en-US" sz="1400" dirty="0" err="1"/>
              <a:t>cpu</a:t>
            </a:r>
            <a:r>
              <a:rPr lang="en-US" sz="1400" dirty="0"/>
              <a:t> performance.</a:t>
            </a:r>
            <a:endParaRPr lang="en-US"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829E952-8EBA-DB2F-EE98-873EA8988AA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a:p>
        </p:txBody>
      </p:sp>
      <p:pic>
        <p:nvPicPr>
          <p:cNvPr id="5" name="Picture 4" descr="A table with numbers and text&#10;&#10;AI-generated content may be incorrect.">
            <a:extLst>
              <a:ext uri="{FF2B5EF4-FFF2-40B4-BE49-F238E27FC236}">
                <a16:creationId xmlns:a16="http://schemas.microsoft.com/office/drawing/2014/main" id="{FB83C8DE-B349-DA82-1D59-7A79DB4F2874}"/>
              </a:ext>
            </a:extLst>
          </p:cNvPr>
          <p:cNvPicPr>
            <a:picLocks noChangeAspect="1"/>
          </p:cNvPicPr>
          <p:nvPr/>
        </p:nvPicPr>
        <p:blipFill>
          <a:blip r:embed="rId3"/>
          <a:stretch>
            <a:fillRect/>
          </a:stretch>
        </p:blipFill>
        <p:spPr>
          <a:xfrm>
            <a:off x="751474" y="887120"/>
            <a:ext cx="3343530" cy="296950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B9075E99-59ED-4761-5416-32E192751CDD}"/>
              </a:ext>
            </a:extLst>
          </p:cNvPr>
          <p:cNvPicPr>
            <a:picLocks noChangeAspect="1"/>
          </p:cNvPicPr>
          <p:nvPr/>
        </p:nvPicPr>
        <p:blipFill>
          <a:blip r:embed="rId4"/>
          <a:stretch>
            <a:fillRect/>
          </a:stretch>
        </p:blipFill>
        <p:spPr>
          <a:xfrm>
            <a:off x="4736153" y="887120"/>
            <a:ext cx="2493481" cy="2969508"/>
          </a:xfrm>
          <a:prstGeom prst="rect">
            <a:avLst/>
          </a:prstGeom>
        </p:spPr>
      </p:pic>
    </p:spTree>
    <p:extLst>
      <p:ext uri="{BB962C8B-B14F-4D97-AF65-F5344CB8AC3E}">
        <p14:creationId xmlns:p14="http://schemas.microsoft.com/office/powerpoint/2010/main" val="37109260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583389CB-990A-39CD-7EEE-9856A255744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8D127EB-5A1A-AC36-F0EF-AE8CD792FCA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3AC34783-53F4-61D8-E516-1A82352E8004}"/>
              </a:ext>
            </a:extLst>
          </p:cNvPr>
          <p:cNvSpPr txBox="1">
            <a:spLocks noGrp="1"/>
          </p:cNvSpPr>
          <p:nvPr>
            <p:ph type="body" idx="1"/>
          </p:nvPr>
        </p:nvSpPr>
        <p:spPr>
          <a:xfrm>
            <a:off x="462953" y="2277682"/>
            <a:ext cx="8369346" cy="205591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Based on the initial observations of the number of missing feature values, it’s important to note the shape of the imported data set. The dataset has </a:t>
            </a:r>
            <a:r>
              <a:rPr lang="en-US" sz="1400" b="1" dirty="0"/>
              <a:t>5960</a:t>
            </a:r>
            <a:r>
              <a:rPr lang="en-US" sz="1400" dirty="0"/>
              <a:t> rows of data. It’s important to keep that fact in mind when examining missing values and exploring imputation techniques.</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The number of missing values calls into question the quality of the dataset and given the required number of imputations, how truly accurate the model performance, predictions and results will be.</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It’s important to truly understand the dataset, especially if it comes from an unknown source.</a:t>
            </a:r>
          </a:p>
        </p:txBody>
      </p:sp>
      <p:sp>
        <p:nvSpPr>
          <p:cNvPr id="2" name="Slide Number Placeholder 1">
            <a:extLst>
              <a:ext uri="{FF2B5EF4-FFF2-40B4-BE49-F238E27FC236}">
                <a16:creationId xmlns:a16="http://schemas.microsoft.com/office/drawing/2014/main" id="{69CE0E9C-E8F6-CCC8-3471-4974CBF7BAE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a:p>
        </p:txBody>
      </p:sp>
      <p:pic>
        <p:nvPicPr>
          <p:cNvPr id="4" name="Picture 3" descr="A blue and white rectangular box with black text&#10;&#10;AI-generated content may be incorrect.">
            <a:extLst>
              <a:ext uri="{FF2B5EF4-FFF2-40B4-BE49-F238E27FC236}">
                <a16:creationId xmlns:a16="http://schemas.microsoft.com/office/drawing/2014/main" id="{05E1F423-9C63-20BD-4788-EA4F29057E86}"/>
              </a:ext>
            </a:extLst>
          </p:cNvPr>
          <p:cNvPicPr>
            <a:picLocks noChangeAspect="1"/>
          </p:cNvPicPr>
          <p:nvPr/>
        </p:nvPicPr>
        <p:blipFill>
          <a:blip r:embed="rId3"/>
          <a:stretch>
            <a:fillRect/>
          </a:stretch>
        </p:blipFill>
        <p:spPr>
          <a:xfrm>
            <a:off x="2874616" y="890193"/>
            <a:ext cx="2762250" cy="1066800"/>
          </a:xfrm>
          <a:prstGeom prst="rect">
            <a:avLst/>
          </a:prstGeom>
        </p:spPr>
      </p:pic>
    </p:spTree>
    <p:extLst>
      <p:ext uri="{BB962C8B-B14F-4D97-AF65-F5344CB8AC3E}">
        <p14:creationId xmlns:p14="http://schemas.microsoft.com/office/powerpoint/2010/main" val="1117365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481D2B7-A349-3BC9-B217-6D58BFADE7C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D54A228-2CBF-2798-D5F8-43587D0E16F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4ADD3FA-CB61-26D8-F424-9E0C478FBBA4}"/>
              </a:ext>
            </a:extLst>
          </p:cNvPr>
          <p:cNvSpPr txBox="1">
            <a:spLocks noGrp="1"/>
          </p:cNvSpPr>
          <p:nvPr>
            <p:ph type="body" idx="1"/>
          </p:nvPr>
        </p:nvSpPr>
        <p:spPr>
          <a:xfrm>
            <a:off x="620231" y="4090413"/>
            <a:ext cx="8369346"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A break down of the </a:t>
            </a:r>
            <a:r>
              <a:rPr lang="en-US" sz="1400" b="1" dirty="0">
                <a:solidFill>
                  <a:schemeClr val="dk1"/>
                </a:solidFill>
                <a:latin typeface="Nunito" pitchFamily="2" charset="0"/>
                <a:ea typeface="Century Gothic"/>
                <a:cs typeface="Century Gothic"/>
                <a:sym typeface="Century Gothic"/>
              </a:rPr>
              <a:t>Numeric</a:t>
            </a:r>
            <a:r>
              <a:rPr lang="en-US" sz="1400" dirty="0">
                <a:solidFill>
                  <a:schemeClr val="dk1"/>
                </a:solidFill>
                <a:latin typeface="Nunito" pitchFamily="2" charset="0"/>
                <a:ea typeface="Century Gothic"/>
                <a:cs typeface="Century Gothic"/>
                <a:sym typeface="Century Gothic"/>
              </a:rPr>
              <a:t> and </a:t>
            </a:r>
            <a:r>
              <a:rPr lang="en-US" sz="1400" b="1" dirty="0">
                <a:solidFill>
                  <a:schemeClr val="dk1"/>
                </a:solidFill>
                <a:latin typeface="Nunito" pitchFamily="2" charset="0"/>
                <a:ea typeface="Century Gothic"/>
                <a:cs typeface="Century Gothic"/>
                <a:sym typeface="Century Gothic"/>
              </a:rPr>
              <a:t>Categorical</a:t>
            </a:r>
            <a:r>
              <a:rPr lang="en-US" sz="1400" dirty="0">
                <a:solidFill>
                  <a:schemeClr val="dk1"/>
                </a:solidFill>
                <a:latin typeface="Nunito" pitchFamily="2" charset="0"/>
                <a:ea typeface="Century Gothic"/>
                <a:cs typeface="Century Gothic"/>
                <a:sym typeface="Century Gothic"/>
              </a:rPr>
              <a:t> feature missing data counts.</a:t>
            </a:r>
          </a:p>
        </p:txBody>
      </p:sp>
      <p:sp>
        <p:nvSpPr>
          <p:cNvPr id="2" name="Slide Number Placeholder 1">
            <a:extLst>
              <a:ext uri="{FF2B5EF4-FFF2-40B4-BE49-F238E27FC236}">
                <a16:creationId xmlns:a16="http://schemas.microsoft.com/office/drawing/2014/main" id="{5ACDAD94-9171-457D-2A1E-26279FDADFC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a:p>
        </p:txBody>
      </p:sp>
      <p:pic>
        <p:nvPicPr>
          <p:cNvPr id="5" name="Picture 4" descr="A screenshot of a graph&#10;&#10;AI-generated content may be incorrect.">
            <a:extLst>
              <a:ext uri="{FF2B5EF4-FFF2-40B4-BE49-F238E27FC236}">
                <a16:creationId xmlns:a16="http://schemas.microsoft.com/office/drawing/2014/main" id="{C88CA4D9-CC3E-8976-C55F-B4D568472AEE}"/>
              </a:ext>
            </a:extLst>
          </p:cNvPr>
          <p:cNvPicPr>
            <a:picLocks noChangeAspect="1"/>
          </p:cNvPicPr>
          <p:nvPr/>
        </p:nvPicPr>
        <p:blipFill>
          <a:blip r:embed="rId3"/>
          <a:stretch>
            <a:fillRect/>
          </a:stretch>
        </p:blipFill>
        <p:spPr>
          <a:xfrm>
            <a:off x="4854432" y="928042"/>
            <a:ext cx="3650178" cy="1219491"/>
          </a:xfrm>
          <a:prstGeom prst="rect">
            <a:avLst/>
          </a:prstGeom>
        </p:spPr>
      </p:pic>
      <p:pic>
        <p:nvPicPr>
          <p:cNvPr id="7" name="Picture 6" descr="A table with numbers and a missing number&#10;&#10;AI-generated content may be incorrect.">
            <a:extLst>
              <a:ext uri="{FF2B5EF4-FFF2-40B4-BE49-F238E27FC236}">
                <a16:creationId xmlns:a16="http://schemas.microsoft.com/office/drawing/2014/main" id="{28B74B05-DDE5-76D7-8B33-734623A8FDC2}"/>
              </a:ext>
            </a:extLst>
          </p:cNvPr>
          <p:cNvPicPr>
            <a:picLocks noChangeAspect="1"/>
          </p:cNvPicPr>
          <p:nvPr/>
        </p:nvPicPr>
        <p:blipFill>
          <a:blip r:embed="rId4"/>
          <a:stretch>
            <a:fillRect/>
          </a:stretch>
        </p:blipFill>
        <p:spPr>
          <a:xfrm>
            <a:off x="639392" y="879916"/>
            <a:ext cx="3650178" cy="3210497"/>
          </a:xfrm>
          <a:prstGeom prst="rect">
            <a:avLst/>
          </a:prstGeom>
        </p:spPr>
      </p:pic>
    </p:spTree>
    <p:extLst>
      <p:ext uri="{BB962C8B-B14F-4D97-AF65-F5344CB8AC3E}">
        <p14:creationId xmlns:p14="http://schemas.microsoft.com/office/powerpoint/2010/main" val="135927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CD7EBC3-DA58-0071-7873-B06AE77449C7}"/>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EE449BB-55A7-83E9-7C93-764F49B87BB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26B25A56-C340-CDB3-8689-22711DFCCC68}"/>
              </a:ext>
            </a:extLst>
          </p:cNvPr>
          <p:cNvSpPr txBox="1">
            <a:spLocks noGrp="1"/>
          </p:cNvSpPr>
          <p:nvPr>
            <p:ph type="body" idx="1"/>
          </p:nvPr>
        </p:nvSpPr>
        <p:spPr>
          <a:xfrm>
            <a:off x="337616" y="3739190"/>
            <a:ext cx="8783321" cy="122697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Summary table of data completeness by showing how many rows have missing values. </a:t>
            </a:r>
            <a:r>
              <a:rPr lang="en-US" sz="1400" dirty="0">
                <a:solidFill>
                  <a:schemeClr val="dk1"/>
                </a:solidFill>
                <a:latin typeface="Nunito" pitchFamily="2" charset="0"/>
                <a:ea typeface="Century Gothic"/>
                <a:cs typeface="Century Gothic"/>
                <a:sym typeface="Century Gothic"/>
              </a:rPr>
              <a:t>A lot of rows have 1 or more missing feature values. Give a data set of </a:t>
            </a:r>
            <a:r>
              <a:rPr lang="en-US" sz="1400" b="1" dirty="0"/>
              <a:t>5960 </a:t>
            </a:r>
            <a:r>
              <a:rPr lang="en-US" sz="1400" dirty="0"/>
              <a:t>rows, only </a:t>
            </a:r>
            <a:r>
              <a:rPr lang="en-US" sz="1400" b="1" dirty="0"/>
              <a:t>3364</a:t>
            </a:r>
            <a:r>
              <a:rPr lang="en-US" sz="1400" dirty="0"/>
              <a:t> rows are feature complete. This once again calls into question the quality of the dataset. An imputation strategy is required to fill the missing values.</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8BE8119-BAD0-2D05-B602-0AC6E3FD4BD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a:p>
        </p:txBody>
      </p:sp>
      <p:pic>
        <p:nvPicPr>
          <p:cNvPr id="4" name="Picture 3" descr="A table with numbers and a missing feature&#10;&#10;AI-generated content may be incorrect.">
            <a:extLst>
              <a:ext uri="{FF2B5EF4-FFF2-40B4-BE49-F238E27FC236}">
                <a16:creationId xmlns:a16="http://schemas.microsoft.com/office/drawing/2014/main" id="{E2BAC7F4-A094-A474-AD9A-FB721194EB2A}"/>
              </a:ext>
            </a:extLst>
          </p:cNvPr>
          <p:cNvPicPr>
            <a:picLocks noChangeAspect="1"/>
          </p:cNvPicPr>
          <p:nvPr/>
        </p:nvPicPr>
        <p:blipFill>
          <a:blip r:embed="rId3"/>
          <a:stretch>
            <a:fillRect/>
          </a:stretch>
        </p:blipFill>
        <p:spPr>
          <a:xfrm>
            <a:off x="2576156" y="529489"/>
            <a:ext cx="3212540" cy="3209701"/>
          </a:xfrm>
          <a:prstGeom prst="rect">
            <a:avLst/>
          </a:prstGeom>
        </p:spPr>
      </p:pic>
    </p:spTree>
    <p:extLst>
      <p:ext uri="{BB962C8B-B14F-4D97-AF65-F5344CB8AC3E}">
        <p14:creationId xmlns:p14="http://schemas.microsoft.com/office/powerpoint/2010/main" val="2273604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a:p>
        </p:txBody>
      </p:sp>
      <p:pic>
        <p:nvPicPr>
          <p:cNvPr id="5" name="Picture 4" descr="A table with numbers and letters&#10;&#10;AI-generated content may be incorrect.">
            <a:extLst>
              <a:ext uri="{FF2B5EF4-FFF2-40B4-BE49-F238E27FC236}">
                <a16:creationId xmlns:a16="http://schemas.microsoft.com/office/drawing/2014/main" id="{3091A069-3ABC-DB66-6DB6-5CC597D3E7E7}"/>
              </a:ext>
            </a:extLst>
          </p:cNvPr>
          <p:cNvPicPr>
            <a:picLocks noChangeAspect="1"/>
          </p:cNvPicPr>
          <p:nvPr/>
        </p:nvPicPr>
        <p:blipFill>
          <a:blip r:embed="rId3"/>
          <a:stretch>
            <a:fillRect/>
          </a:stretch>
        </p:blipFill>
        <p:spPr>
          <a:xfrm>
            <a:off x="154466" y="676885"/>
            <a:ext cx="8937744" cy="3702610"/>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70C3350-B058-7AE1-35EB-90E5EC5384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04E3B15-C669-65D1-08C3-E802DB41349B}"/>
              </a:ext>
            </a:extLst>
          </p:cNvPr>
          <p:cNvSpPr txBox="1"/>
          <p:nvPr/>
        </p:nvSpPr>
        <p:spPr>
          <a:xfrm>
            <a:off x="311700" y="85060"/>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(EDA) – Complete Statistical Analysis</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A419F-C91F-7719-2D1F-9FD77FD31297}"/>
              </a:ext>
            </a:extLst>
          </p:cNvPr>
          <p:cNvSpPr txBox="1">
            <a:spLocks noGrp="1"/>
          </p:cNvSpPr>
          <p:nvPr>
            <p:ph type="body" idx="1"/>
          </p:nvPr>
        </p:nvSpPr>
        <p:spPr>
          <a:xfrm>
            <a:off x="231678" y="542334"/>
            <a:ext cx="8783321" cy="4396558"/>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The original project specification slide deck contains statistical analysis for a few </a:t>
            </a:r>
          </a:p>
          <a:p>
            <a:pPr marL="0" indent="0" algn="just">
              <a:spcBef>
                <a:spcPts val="400"/>
              </a:spcBef>
              <a:buClr>
                <a:schemeClr val="dk1"/>
              </a:buClr>
              <a:buSzPts val="1400"/>
              <a:buNone/>
            </a:pPr>
            <a:r>
              <a:rPr lang="en-US" sz="1400" dirty="0"/>
              <a:t>select features (</a:t>
            </a:r>
            <a:r>
              <a:rPr lang="en-US" sz="1400" b="1" dirty="0"/>
              <a:t>BAD</a:t>
            </a:r>
            <a:r>
              <a:rPr lang="en-US" sz="1400" dirty="0"/>
              <a:t>, </a:t>
            </a:r>
            <a:r>
              <a:rPr lang="en-US" sz="1400" b="1" dirty="0"/>
              <a:t>CLAGE</a:t>
            </a:r>
            <a:r>
              <a:rPr lang="en-US" sz="1400" dirty="0"/>
              <a:t>, </a:t>
            </a:r>
            <a:r>
              <a:rPr lang="en-US" sz="1400" b="1" dirty="0"/>
              <a:t>CLNO</a:t>
            </a:r>
            <a:r>
              <a:rPr lang="en-US" sz="1400" dirty="0"/>
              <a:t>). They provide a overview of some basic statistics:</a:t>
            </a:r>
          </a:p>
          <a:p>
            <a:pPr lvl="0" indent="-304800">
              <a:lnSpc>
                <a:spcPct val="150000"/>
              </a:lnSpc>
              <a:spcBef>
                <a:spcPts val="800"/>
              </a:spcBef>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BAD</a:t>
            </a:r>
            <a:r>
              <a:rPr lang="en-US" sz="1400" dirty="0">
                <a:solidFill>
                  <a:schemeClr val="dk1"/>
                </a:solidFill>
                <a:latin typeface="Century Gothic"/>
                <a:ea typeface="Century Gothic"/>
                <a:cs typeface="Century Gothic"/>
                <a:sym typeface="Century Gothic"/>
              </a:rPr>
              <a:t>: Whether the client defaulted on the loan (0 = No, 1 = Yes)</a:t>
            </a:r>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CLAGE</a:t>
            </a:r>
            <a:r>
              <a:rPr lang="en-US" sz="1400" dirty="0">
                <a:solidFill>
                  <a:schemeClr val="dk1"/>
                </a:solidFill>
                <a:latin typeface="Century Gothic"/>
                <a:ea typeface="Century Gothic"/>
                <a:cs typeface="Century Gothic"/>
                <a:sym typeface="Century Gothic"/>
              </a:rPr>
              <a:t>: Age of the oldest credit line in months</a:t>
            </a:r>
            <a:endParaRPr lang="en-US" sz="1400" dirty="0"/>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CLNO</a:t>
            </a:r>
            <a:r>
              <a:rPr lang="en-US" sz="1400" dirty="0">
                <a:solidFill>
                  <a:schemeClr val="dk1"/>
                </a:solidFill>
                <a:latin typeface="Century Gothic"/>
                <a:ea typeface="Century Gothic"/>
                <a:cs typeface="Century Gothic"/>
                <a:sym typeface="Century Gothic"/>
              </a:rPr>
              <a:t>: Number of existing credit lines</a:t>
            </a:r>
          </a:p>
          <a:p>
            <a:pPr marL="152400" lvl="0" indent="0">
              <a:lnSpc>
                <a:spcPct val="150000"/>
              </a:lnSpc>
              <a:buClr>
                <a:schemeClr val="dk1"/>
              </a:buClr>
              <a:buSzPts val="1200"/>
              <a:buNone/>
            </a:pPr>
            <a:endParaRPr lang="en-US" sz="800" dirty="0"/>
          </a:p>
          <a:p>
            <a:pPr marL="0" indent="0" algn="just">
              <a:spcBef>
                <a:spcPts val="400"/>
              </a:spcBef>
              <a:buClr>
                <a:schemeClr val="dk1"/>
              </a:buClr>
              <a:buSzPts val="1400"/>
              <a:buNone/>
            </a:pPr>
            <a:r>
              <a:rPr lang="en-US" sz="1400" dirty="0"/>
              <a:t>While a high-level overview is a good place to start, it’s important (as data scientists) to </a:t>
            </a:r>
          </a:p>
          <a:p>
            <a:pPr marL="0" indent="0" algn="just">
              <a:spcBef>
                <a:spcPts val="400"/>
              </a:spcBef>
              <a:buClr>
                <a:schemeClr val="dk1"/>
              </a:buClr>
              <a:buSzPts val="1400"/>
              <a:buNone/>
            </a:pPr>
            <a:r>
              <a:rPr lang="en-US" sz="1400" dirty="0"/>
              <a:t>gain a thorough understanding of the complete dataset and its tendencies.</a:t>
            </a:r>
          </a:p>
          <a:p>
            <a:pPr marL="0" indent="0" algn="just">
              <a:spcBef>
                <a:spcPts val="400"/>
              </a:spcBef>
              <a:buClr>
                <a:schemeClr val="dk1"/>
              </a:buClr>
              <a:buSzPts val="1400"/>
              <a:buNone/>
            </a:pPr>
            <a:r>
              <a:rPr lang="en-US" sz="1400" dirty="0"/>
              <a:t>It is not in the best interest of model success to do anything else but.</a:t>
            </a:r>
          </a:p>
          <a:p>
            <a:pPr marL="0" indent="0" algn="just">
              <a:spcBef>
                <a:spcPts val="400"/>
              </a:spcBef>
              <a:buClr>
                <a:schemeClr val="dk1"/>
              </a:buClr>
              <a:buSzPts val="1400"/>
              <a:buNone/>
            </a:pPr>
            <a:endParaRPr lang="en-US" sz="1200" dirty="0"/>
          </a:p>
          <a:p>
            <a:pPr marL="0" indent="0" algn="just">
              <a:spcBef>
                <a:spcPts val="400"/>
              </a:spcBef>
              <a:buClr>
                <a:schemeClr val="dk1"/>
              </a:buClr>
              <a:buSzPts val="1400"/>
              <a:buNone/>
            </a:pPr>
            <a:r>
              <a:rPr lang="en-US" sz="1400" dirty="0"/>
              <a:t>Refer to the slides titled “Complete Statistical Analysis” for a more detailed examination of the data.</a:t>
            </a:r>
          </a:p>
          <a:p>
            <a:pPr marL="0" indent="0" algn="just">
              <a:spcBef>
                <a:spcPts val="400"/>
              </a:spcBef>
              <a:buClr>
                <a:schemeClr val="dk1"/>
              </a:buClr>
              <a:buSzPts val="1400"/>
              <a:buNone/>
            </a:pPr>
            <a:r>
              <a:rPr lang="en-US" sz="1400" dirty="0"/>
              <a:t>Those sections provide a thorough exploratory data analysis of all features, distributions</a:t>
            </a:r>
          </a:p>
          <a:p>
            <a:pPr marL="0" indent="0" algn="just">
              <a:spcBef>
                <a:spcPts val="400"/>
              </a:spcBef>
              <a:buClr>
                <a:schemeClr val="dk1"/>
              </a:buClr>
              <a:buSzPts val="1400"/>
              <a:buNone/>
            </a:pPr>
            <a:r>
              <a:rPr lang="en-US" sz="1400" dirty="0"/>
              <a:t>relationships, and key characteristics to ensure a comprehensive understanding of the data </a:t>
            </a:r>
          </a:p>
          <a:p>
            <a:pPr marL="0" indent="0" algn="just">
              <a:spcBef>
                <a:spcPts val="400"/>
              </a:spcBef>
              <a:buClr>
                <a:schemeClr val="dk1"/>
              </a:buClr>
              <a:buSzPts val="1400"/>
              <a:buNone/>
            </a:pPr>
            <a:r>
              <a:rPr lang="en-US" sz="1400" dirty="0"/>
              <a:t>before the commencement of model development.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16EBD1E0-6FB5-2A2F-7C5B-4E9517AD940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a:p>
        </p:txBody>
      </p:sp>
    </p:spTree>
    <p:extLst>
      <p:ext uri="{BB962C8B-B14F-4D97-AF65-F5344CB8AC3E}">
        <p14:creationId xmlns:p14="http://schemas.microsoft.com/office/powerpoint/2010/main" val="10782057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9809A8D0-DF4F-253B-8839-5B81753736DD}"/>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C9757D56-04BD-69E4-D66B-2B42396DBD3B}"/>
              </a:ext>
            </a:extLst>
          </p:cNvPr>
          <p:cNvSpPr txBox="1"/>
          <p:nvPr/>
        </p:nvSpPr>
        <p:spPr>
          <a:xfrm>
            <a:off x="257100" y="1912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pic>
        <p:nvPicPr>
          <p:cNvPr id="189" name="Google Shape;189;p40">
            <a:extLst>
              <a:ext uri="{FF2B5EF4-FFF2-40B4-BE49-F238E27FC236}">
                <a16:creationId xmlns:a16="http://schemas.microsoft.com/office/drawing/2014/main" id="{087C0B74-563F-916A-D9A1-1FD3C9B7CB49}"/>
              </a:ext>
            </a:extLst>
          </p:cNvPr>
          <p:cNvPicPr preferRelativeResize="0"/>
          <p:nvPr/>
        </p:nvPicPr>
        <p:blipFill rotWithShape="1">
          <a:blip r:embed="rId3">
            <a:alphaModFix/>
          </a:blip>
          <a:srcRect/>
          <a:stretch/>
        </p:blipFill>
        <p:spPr>
          <a:xfrm>
            <a:off x="1240466" y="1609865"/>
            <a:ext cx="5302102" cy="1778377"/>
          </a:xfrm>
          <a:prstGeom prst="rect">
            <a:avLst/>
          </a:prstGeom>
          <a:noFill/>
          <a:ln>
            <a:noFill/>
          </a:ln>
        </p:spPr>
      </p:pic>
      <p:sp>
        <p:nvSpPr>
          <p:cNvPr id="190" name="Google Shape;190;p40">
            <a:extLst>
              <a:ext uri="{FF2B5EF4-FFF2-40B4-BE49-F238E27FC236}">
                <a16:creationId xmlns:a16="http://schemas.microsoft.com/office/drawing/2014/main" id="{B67FA253-C77F-6653-7DD8-B70A12ED42A8}"/>
              </a:ext>
            </a:extLst>
          </p:cNvPr>
          <p:cNvSpPr txBox="1">
            <a:spLocks noGrp="1"/>
          </p:cNvSpPr>
          <p:nvPr>
            <p:ph type="body" idx="1"/>
          </p:nvPr>
        </p:nvSpPr>
        <p:spPr>
          <a:xfrm>
            <a:off x="147900" y="532305"/>
            <a:ext cx="8629800" cy="8958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At this stage, the statistics were used to understand the raw data before any modifications. This helped in identifying missing values, data types, and the overall distribution of features. It represents the initial univariate exploratory data analysis (EDA).</a:t>
            </a:r>
            <a:endParaRPr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89F91EC-3D76-E4D8-442B-6AA8FBA6774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a:p>
        </p:txBody>
      </p:sp>
      <p:sp>
        <p:nvSpPr>
          <p:cNvPr id="4" name="Google Shape;190;p40">
            <a:extLst>
              <a:ext uri="{FF2B5EF4-FFF2-40B4-BE49-F238E27FC236}">
                <a16:creationId xmlns:a16="http://schemas.microsoft.com/office/drawing/2014/main" id="{BBC79FF2-4572-AC96-BF39-A56EB12E6C6A}"/>
              </a:ext>
            </a:extLst>
          </p:cNvPr>
          <p:cNvSpPr txBox="1">
            <a:spLocks/>
          </p:cNvSpPr>
          <p:nvPr/>
        </p:nvSpPr>
        <p:spPr>
          <a:xfrm>
            <a:off x="257100" y="3440508"/>
            <a:ext cx="8629800" cy="1612719"/>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BAD</a:t>
            </a:r>
            <a:r>
              <a:rPr lang="en-US" sz="1200" dirty="0">
                <a:solidFill>
                  <a:schemeClr val="dk1"/>
                </a:solidFill>
                <a:latin typeface="Century Gothic"/>
                <a:ea typeface="Century Gothic"/>
                <a:cs typeface="Century Gothic"/>
                <a:sym typeface="Century Gothic"/>
              </a:rPr>
              <a:t> – represents whether a loan was defaulted or not. </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Feature Label we are training model to predict. No normalization or modifications to be done.</a:t>
            </a:r>
          </a:p>
          <a:p>
            <a:pPr marL="311150" indent="-171450" algn="just">
              <a:spcBef>
                <a:spcPts val="200"/>
              </a:spcBef>
              <a:buClr>
                <a:schemeClr val="dk1"/>
              </a:buClr>
              <a:buSzPts val="1400"/>
            </a:pPr>
            <a:r>
              <a:rPr lang="en-US" sz="1200" b="1" dirty="0">
                <a:solidFill>
                  <a:schemeClr val="dk1"/>
                </a:solidFill>
                <a:latin typeface="Century Gothic"/>
                <a:ea typeface="Century Gothic"/>
                <a:cs typeface="Century Gothic"/>
                <a:sym typeface="Century Gothic"/>
              </a:rPr>
              <a:t>20% </a:t>
            </a:r>
            <a:r>
              <a:rPr lang="en-US" sz="1200" dirty="0">
                <a:solidFill>
                  <a:schemeClr val="dk1"/>
                </a:solidFill>
                <a:latin typeface="Century Gothic"/>
                <a:ea typeface="Century Gothic"/>
                <a:cs typeface="Century Gothic"/>
                <a:sym typeface="Century Gothic"/>
              </a:rPr>
              <a:t>of loans were defaulted / </a:t>
            </a:r>
            <a:r>
              <a:rPr lang="en-US" sz="1200" b="1" dirty="0">
                <a:solidFill>
                  <a:schemeClr val="dk1"/>
                </a:solidFill>
                <a:latin typeface="Century Gothic"/>
                <a:ea typeface="Century Gothic"/>
                <a:cs typeface="Century Gothic"/>
                <a:sym typeface="Century Gothic"/>
              </a:rPr>
              <a:t>80% </a:t>
            </a:r>
            <a:r>
              <a:rPr lang="en-US" sz="1200" dirty="0">
                <a:solidFill>
                  <a:schemeClr val="dk1"/>
                </a:solidFill>
                <a:latin typeface="Century Gothic"/>
                <a:ea typeface="Century Gothic"/>
                <a:cs typeface="Century Gothic"/>
                <a:sym typeface="Century Gothic"/>
              </a:rPr>
              <a:t>of loans were not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Class imbalance exists (for non-defaulting results)</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Class weighting will have to be calculated and applied during model training</a:t>
            </a:r>
          </a:p>
        </p:txBody>
      </p:sp>
    </p:spTree>
    <p:extLst>
      <p:ext uri="{BB962C8B-B14F-4D97-AF65-F5344CB8AC3E}">
        <p14:creationId xmlns:p14="http://schemas.microsoft.com/office/powerpoint/2010/main" val="1777190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41"/>
          <p:cNvPicPr preferRelativeResize="0"/>
          <p:nvPr/>
        </p:nvPicPr>
        <p:blipFill rotWithShape="1">
          <a:blip r:embed="rId3">
            <a:alphaModFix/>
          </a:blip>
          <a:srcRect/>
          <a:stretch/>
        </p:blipFill>
        <p:spPr>
          <a:xfrm>
            <a:off x="816712" y="810697"/>
            <a:ext cx="7291386" cy="2839816"/>
          </a:xfrm>
          <a:prstGeom prst="rect">
            <a:avLst/>
          </a:prstGeom>
          <a:noFill/>
          <a:ln>
            <a:noFill/>
          </a:ln>
        </p:spPr>
      </p:pic>
      <p:sp>
        <p:nvSpPr>
          <p:cNvPr id="2" name="Slide Number Placeholder 1">
            <a:extLst>
              <a:ext uri="{FF2B5EF4-FFF2-40B4-BE49-F238E27FC236}">
                <a16:creationId xmlns:a16="http://schemas.microsoft.com/office/drawing/2014/main" id="{F7466FDC-186A-78F3-D750-AF153C48085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a:p>
        </p:txBody>
      </p:sp>
      <p:sp>
        <p:nvSpPr>
          <p:cNvPr id="3" name="Google Shape;190;p40">
            <a:extLst>
              <a:ext uri="{FF2B5EF4-FFF2-40B4-BE49-F238E27FC236}">
                <a16:creationId xmlns:a16="http://schemas.microsoft.com/office/drawing/2014/main" id="{F1D31464-77F5-ACAB-56B5-9940236D6B40}"/>
              </a:ext>
            </a:extLst>
          </p:cNvPr>
          <p:cNvSpPr txBox="1">
            <a:spLocks/>
          </p:cNvSpPr>
          <p:nvPr/>
        </p:nvSpPr>
        <p:spPr>
          <a:xfrm>
            <a:off x="257100" y="3650513"/>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CLAGE</a:t>
            </a:r>
            <a:r>
              <a:rPr lang="en-US" sz="1200" dirty="0">
                <a:solidFill>
                  <a:schemeClr val="dk1"/>
                </a:solidFill>
                <a:latin typeface="Century Gothic"/>
                <a:ea typeface="Century Gothic"/>
                <a:cs typeface="Century Gothic"/>
                <a:sym typeface="Century Gothic"/>
              </a:rPr>
              <a:t> – age of oldest credit line (months).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Data errors – (Min 0 years?) (Max 97 years?) – Cap/Clip</a:t>
            </a:r>
          </a:p>
        </p:txBody>
      </p:sp>
      <p:sp>
        <p:nvSpPr>
          <p:cNvPr id="4" name="Google Shape;188;p40">
            <a:extLst>
              <a:ext uri="{FF2B5EF4-FFF2-40B4-BE49-F238E27FC236}">
                <a16:creationId xmlns:a16="http://schemas.microsoft.com/office/drawing/2014/main" id="{C6C526D8-0D16-4ACE-AE4C-47A9984542AB}"/>
              </a:ext>
            </a:extLst>
          </p:cNvPr>
          <p:cNvSpPr txBox="1"/>
          <p:nvPr/>
        </p:nvSpPr>
        <p:spPr>
          <a:xfrm>
            <a:off x="202105" y="5536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42"/>
          <p:cNvPicPr preferRelativeResize="0"/>
          <p:nvPr/>
        </p:nvPicPr>
        <p:blipFill rotWithShape="1">
          <a:blip r:embed="rId3">
            <a:alphaModFix/>
          </a:blip>
          <a:srcRect/>
          <a:stretch/>
        </p:blipFill>
        <p:spPr>
          <a:xfrm>
            <a:off x="368595" y="656708"/>
            <a:ext cx="8534400" cy="3434362"/>
          </a:xfrm>
          <a:prstGeom prst="rect">
            <a:avLst/>
          </a:prstGeom>
          <a:noFill/>
          <a:ln>
            <a:noFill/>
          </a:ln>
        </p:spPr>
      </p:pic>
      <p:sp>
        <p:nvSpPr>
          <p:cNvPr id="2" name="Slide Number Placeholder 1">
            <a:extLst>
              <a:ext uri="{FF2B5EF4-FFF2-40B4-BE49-F238E27FC236}">
                <a16:creationId xmlns:a16="http://schemas.microsoft.com/office/drawing/2014/main" id="{F07EBFC5-0255-CCEB-6BEC-9CC993CE4C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a:p>
        </p:txBody>
      </p:sp>
      <p:sp>
        <p:nvSpPr>
          <p:cNvPr id="4" name="Google Shape;188;p40">
            <a:extLst>
              <a:ext uri="{FF2B5EF4-FFF2-40B4-BE49-F238E27FC236}">
                <a16:creationId xmlns:a16="http://schemas.microsoft.com/office/drawing/2014/main" id="{BE6503BC-C299-D7DE-6494-6C2B503EA5DD}"/>
              </a:ext>
            </a:extLst>
          </p:cNvPr>
          <p:cNvSpPr txBox="1"/>
          <p:nvPr/>
        </p:nvSpPr>
        <p:spPr>
          <a:xfrm>
            <a:off x="241005" y="84008"/>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
        <p:nvSpPr>
          <p:cNvPr id="5" name="Google Shape;190;p40">
            <a:extLst>
              <a:ext uri="{FF2B5EF4-FFF2-40B4-BE49-F238E27FC236}">
                <a16:creationId xmlns:a16="http://schemas.microsoft.com/office/drawing/2014/main" id="{4A6FD933-5073-BFF8-DC02-D0755C7A37EE}"/>
              </a:ext>
            </a:extLst>
          </p:cNvPr>
          <p:cNvSpPr txBox="1">
            <a:spLocks/>
          </p:cNvSpPr>
          <p:nvPr/>
        </p:nvSpPr>
        <p:spPr>
          <a:xfrm>
            <a:off x="202499" y="3810216"/>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CLNO</a:t>
            </a:r>
            <a:r>
              <a:rPr lang="en-US" sz="1200" dirty="0">
                <a:solidFill>
                  <a:schemeClr val="dk1"/>
                </a:solidFill>
                <a:latin typeface="Century Gothic"/>
                <a:ea typeface="Century Gothic"/>
                <a:cs typeface="Century Gothic"/>
                <a:sym typeface="Century Gothic"/>
              </a:rPr>
              <a:t> – number of existing credit lines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Near normal distribution with 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Data errors – (Min 0 credit lines?) (Max 71 credit lines?) – Cap/Clip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508A608-C709-672D-76E5-08A2BA2FED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AC0034B-DA7B-E649-706D-6FA29010BD8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98C4AE4-924F-8813-5D5A-AE2DDFEA99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a:p>
        </p:txBody>
      </p:sp>
      <p:pic>
        <p:nvPicPr>
          <p:cNvPr id="14" name="Picture 13" descr="A group of graphs showing different sizes of data&#10;&#10;AI-generated content may be incorrect.">
            <a:extLst>
              <a:ext uri="{FF2B5EF4-FFF2-40B4-BE49-F238E27FC236}">
                <a16:creationId xmlns:a16="http://schemas.microsoft.com/office/drawing/2014/main" id="{23594621-C020-A049-C758-82BC8B3A4459}"/>
              </a:ext>
            </a:extLst>
          </p:cNvPr>
          <p:cNvPicPr>
            <a:picLocks noChangeAspect="1"/>
          </p:cNvPicPr>
          <p:nvPr/>
        </p:nvPicPr>
        <p:blipFill>
          <a:blip r:embed="rId3"/>
          <a:stretch>
            <a:fillRect/>
          </a:stretch>
        </p:blipFill>
        <p:spPr>
          <a:xfrm>
            <a:off x="955141" y="661576"/>
            <a:ext cx="6937575" cy="4288873"/>
          </a:xfrm>
          <a:prstGeom prst="rect">
            <a:avLst/>
          </a:prstGeom>
        </p:spPr>
      </p:pic>
    </p:spTree>
    <p:extLst>
      <p:ext uri="{BB962C8B-B14F-4D97-AF65-F5344CB8AC3E}">
        <p14:creationId xmlns:p14="http://schemas.microsoft.com/office/powerpoint/2010/main" val="25513313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7801EBCA-1448-6939-1515-55C7FF35FE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20D67E4-D8A4-6954-22CB-F8B469E6849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190" name="Google Shape;190;p40">
            <a:extLst>
              <a:ext uri="{FF2B5EF4-FFF2-40B4-BE49-F238E27FC236}">
                <a16:creationId xmlns:a16="http://schemas.microsoft.com/office/drawing/2014/main" id="{982982A5-983B-F19B-75FD-546CE3BF23AF}"/>
              </a:ext>
            </a:extLst>
          </p:cNvPr>
          <p:cNvSpPr txBox="1">
            <a:spLocks noGrp="1"/>
          </p:cNvSpPr>
          <p:nvPr>
            <p:ph type="body" idx="1"/>
          </p:nvPr>
        </p:nvSpPr>
        <p:spPr>
          <a:xfrm>
            <a:off x="58709" y="32358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Right-skewed, clustered around $15k, large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Right-skewed, clustered around $70k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Highly Right-skewed</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Most normal distribution, mode=0</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(most values=0)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5B5804-E992-A86E-A70A-C3372EFE405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a:p>
        </p:txBody>
      </p:sp>
      <p:pic>
        <p:nvPicPr>
          <p:cNvPr id="6" name="Picture 5" descr="A screenshot of a computer&#10;&#10;AI-generated content may be incorrect.">
            <a:extLst>
              <a:ext uri="{FF2B5EF4-FFF2-40B4-BE49-F238E27FC236}">
                <a16:creationId xmlns:a16="http://schemas.microsoft.com/office/drawing/2014/main" id="{47040D35-6A41-D321-A02B-104D344F9E4F}"/>
              </a:ext>
            </a:extLst>
          </p:cNvPr>
          <p:cNvPicPr>
            <a:picLocks noChangeAspect="1"/>
          </p:cNvPicPr>
          <p:nvPr/>
        </p:nvPicPr>
        <p:blipFill>
          <a:blip r:embed="rId3"/>
          <a:stretch>
            <a:fillRect/>
          </a:stretch>
        </p:blipFill>
        <p:spPr>
          <a:xfrm>
            <a:off x="154423" y="555114"/>
            <a:ext cx="8662737" cy="2604081"/>
          </a:xfrm>
          <a:prstGeom prst="rect">
            <a:avLst/>
          </a:prstGeom>
        </p:spPr>
      </p:pic>
      <p:sp>
        <p:nvSpPr>
          <p:cNvPr id="7" name="Google Shape;190;p40">
            <a:extLst>
              <a:ext uri="{FF2B5EF4-FFF2-40B4-BE49-F238E27FC236}">
                <a16:creationId xmlns:a16="http://schemas.microsoft.com/office/drawing/2014/main" id="{1E9FB3D4-0EDE-A761-86A1-81DFF8411D60}"/>
              </a:ext>
            </a:extLst>
          </p:cNvPr>
          <p:cNvSpPr txBox="1">
            <a:spLocks/>
          </p:cNvSpPr>
          <p:nvPr/>
        </p:nvSpPr>
        <p:spPr>
          <a:xfrm>
            <a:off x="4501708" y="3235808"/>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(most values=0)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Relatively symmetric, extreme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Highly Right-skewed, most have 0-2 inquires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Close to normal distribution, but still has right skew</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High kurtosis, extreme outliers</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7949445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5B6F3D8-5F46-BCB2-F006-DC519B3F1F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2B27650-447C-6886-E929-BE65E9D7722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59A2DCD-6436-7874-528C-D5373053264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a:p>
        </p:txBody>
      </p:sp>
      <p:pic>
        <p:nvPicPr>
          <p:cNvPr id="6" name="Picture 5" descr="A group of blue squares&#10;&#10;AI-generated content may be incorrect.">
            <a:extLst>
              <a:ext uri="{FF2B5EF4-FFF2-40B4-BE49-F238E27FC236}">
                <a16:creationId xmlns:a16="http://schemas.microsoft.com/office/drawing/2014/main" id="{5A6C41A6-2C41-BF8F-DD3A-4B20F4A21BDD}"/>
              </a:ext>
            </a:extLst>
          </p:cNvPr>
          <p:cNvPicPr>
            <a:picLocks noChangeAspect="1"/>
          </p:cNvPicPr>
          <p:nvPr/>
        </p:nvPicPr>
        <p:blipFill>
          <a:blip r:embed="rId3"/>
          <a:stretch>
            <a:fillRect/>
          </a:stretch>
        </p:blipFill>
        <p:spPr>
          <a:xfrm>
            <a:off x="411434" y="563770"/>
            <a:ext cx="8321131" cy="2769660"/>
          </a:xfrm>
          <a:prstGeom prst="rect">
            <a:avLst/>
          </a:prstGeom>
        </p:spPr>
      </p:pic>
      <p:sp>
        <p:nvSpPr>
          <p:cNvPr id="17" name="Google Shape;190;p40">
            <a:extLst>
              <a:ext uri="{FF2B5EF4-FFF2-40B4-BE49-F238E27FC236}">
                <a16:creationId xmlns:a16="http://schemas.microsoft.com/office/drawing/2014/main" id="{A195F955-1E6B-F583-C74A-EAB871393921}"/>
              </a:ext>
            </a:extLst>
          </p:cNvPr>
          <p:cNvSpPr txBox="1">
            <a:spLocks noGrp="1"/>
          </p:cNvSpPr>
          <p:nvPr>
            <p:ph type="body" idx="1"/>
          </p:nvPr>
        </p:nvSpPr>
        <p:spPr>
          <a:xfrm>
            <a:off x="58708" y="33444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Wide </a:t>
            </a:r>
            <a:r>
              <a:rPr lang="en-US" sz="1200" b="1" dirty="0">
                <a:solidFill>
                  <a:schemeClr val="dk1"/>
                </a:solidFill>
                <a:latin typeface="Nunito" pitchFamily="2" charset="0"/>
                <a:ea typeface="Century Gothic"/>
                <a:cs typeface="Century Gothic"/>
                <a:sym typeface="Century Gothic"/>
              </a:rPr>
              <a:t>Inter Quartile Range</a:t>
            </a:r>
            <a:r>
              <a:rPr lang="en-US" sz="1200" dirty="0">
                <a:solidFill>
                  <a:schemeClr val="dk1"/>
                </a:solidFill>
                <a:latin typeface="Nunito" pitchFamily="2" charset="0"/>
                <a:ea typeface="Century Gothic"/>
                <a:cs typeface="Century Gothic"/>
                <a:sym typeface="Century Gothic"/>
              </a:rPr>
              <a: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outliers &gt; $40k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$45k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200k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Wideset </a:t>
            </a:r>
            <a:r>
              <a:rPr lang="en-US" sz="1200" b="1" dirty="0"/>
              <a:t>IQR</a:t>
            </a:r>
            <a:r>
              <a:rPr lang="en-US" sz="1200" dirty="0"/>
              <a:t>, still high outliers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Box collapsed at 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18" name="Google Shape;190;p40">
            <a:extLst>
              <a:ext uri="{FF2B5EF4-FFF2-40B4-BE49-F238E27FC236}">
                <a16:creationId xmlns:a16="http://schemas.microsoft.com/office/drawing/2014/main" id="{8991B495-0A1D-924D-1BF8-850344390C24}"/>
              </a:ext>
            </a:extLst>
          </p:cNvPr>
          <p:cNvSpPr txBox="1">
            <a:spLocks/>
          </p:cNvSpPr>
          <p:nvPr/>
        </p:nvSpPr>
        <p:spPr>
          <a:xfrm>
            <a:off x="4572001" y="3333430"/>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Box collapsed at 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fewer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Tight </a:t>
            </a:r>
            <a:r>
              <a:rPr lang="en-US" sz="1200" b="1" dirty="0"/>
              <a:t>IQR, </a:t>
            </a:r>
            <a:r>
              <a:rPr lang="en-US" sz="1200" dirty="0"/>
              <a:t>high outliers</a:t>
            </a:r>
            <a:endParaRPr lang="en-US" sz="1200" b="1"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 outliers exist</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0888942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2F38413-F87B-FFA6-0694-E490DCAB68C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7C7CDD-63F6-5FF0-8253-67E0D7589DE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775E2060-3936-0B42-882C-EAC7DBC78A5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a:p>
        </p:txBody>
      </p:sp>
      <p:pic>
        <p:nvPicPr>
          <p:cNvPr id="7" name="Picture 6" descr="A graph of a bar chart&#10;&#10;AI-generated content may be incorrect.">
            <a:extLst>
              <a:ext uri="{FF2B5EF4-FFF2-40B4-BE49-F238E27FC236}">
                <a16:creationId xmlns:a16="http://schemas.microsoft.com/office/drawing/2014/main" id="{952CFBD5-6C53-8B91-1326-FDABF9CA0963}"/>
              </a:ext>
            </a:extLst>
          </p:cNvPr>
          <p:cNvPicPr>
            <a:picLocks noChangeAspect="1"/>
          </p:cNvPicPr>
          <p:nvPr/>
        </p:nvPicPr>
        <p:blipFill>
          <a:blip r:embed="rId3"/>
          <a:stretch>
            <a:fillRect/>
          </a:stretch>
        </p:blipFill>
        <p:spPr>
          <a:xfrm>
            <a:off x="145963" y="914743"/>
            <a:ext cx="8573359" cy="2206593"/>
          </a:xfrm>
          <a:prstGeom prst="rect">
            <a:avLst/>
          </a:prstGeom>
        </p:spPr>
      </p:pic>
      <p:sp>
        <p:nvSpPr>
          <p:cNvPr id="14" name="Google Shape;190;p40">
            <a:extLst>
              <a:ext uri="{FF2B5EF4-FFF2-40B4-BE49-F238E27FC236}">
                <a16:creationId xmlns:a16="http://schemas.microsoft.com/office/drawing/2014/main" id="{8AE5F60F-91BC-219C-A109-FF2B8B86F1BC}"/>
              </a:ext>
            </a:extLst>
          </p:cNvPr>
          <p:cNvSpPr txBox="1">
            <a:spLocks noGrp="1"/>
          </p:cNvSpPr>
          <p:nvPr>
            <p:ph type="body" idx="1"/>
          </p:nvPr>
        </p:nvSpPr>
        <p:spPr>
          <a:xfrm>
            <a:off x="416217" y="3231384"/>
            <a:ext cx="7889010" cy="1502945"/>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BAD</a:t>
            </a:r>
            <a:r>
              <a:rPr lang="en-US" sz="1200" dirty="0">
                <a:solidFill>
                  <a:schemeClr val="dk1"/>
                </a:solidFill>
                <a:latin typeface="Nunito" pitchFamily="2" charset="0"/>
                <a:ea typeface="Century Gothic"/>
                <a:cs typeface="Century Gothic"/>
                <a:sym typeface="Century Gothic"/>
              </a:rPr>
              <a:t> – predicted feature label, class imbalance, 80% of loans don’t default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Right-skewed, declines after 4 years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Most values are 0 (</a:t>
            </a:r>
            <a:r>
              <a:rPr lang="en-US" sz="1200" b="1" dirty="0">
                <a:solidFill>
                  <a:schemeClr val="dk1"/>
                </a:solidFill>
                <a:latin typeface="Nunito" pitchFamily="2" charset="0"/>
                <a:ea typeface="Century Gothic"/>
                <a:cs typeface="Century Gothic"/>
                <a:sym typeface="Century Gothic"/>
              </a:rPr>
              <a:t>zero-inflated</a:t>
            </a:r>
            <a:r>
              <a:rPr lang="en-US" sz="1200" dirty="0">
                <a:solidFill>
                  <a:schemeClr val="dk1"/>
                </a:solidFill>
                <a:latin typeface="Nunito" pitchFamily="2" charset="0"/>
                <a:ea typeface="Century Gothic"/>
                <a:cs typeface="Century Gothic"/>
                <a:sym typeface="Century Gothic"/>
              </a:rPr>
              <a: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Zero-inflated, Right-skewed</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3640644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0F897E7-F950-2475-9212-07F81424C38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2D7124D0-CF27-D3DE-B80E-2CFFC24F2FE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Correlation Matrix</a:t>
            </a:r>
          </a:p>
        </p:txBody>
      </p:sp>
      <p:sp>
        <p:nvSpPr>
          <p:cNvPr id="2" name="Slide Number Placeholder 1">
            <a:extLst>
              <a:ext uri="{FF2B5EF4-FFF2-40B4-BE49-F238E27FC236}">
                <a16:creationId xmlns:a16="http://schemas.microsoft.com/office/drawing/2014/main" id="{960FF95B-8963-A79F-1272-BBE23E73F89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a:p>
        </p:txBody>
      </p:sp>
      <p:pic>
        <p:nvPicPr>
          <p:cNvPr id="6" name="Picture 5" descr="A diagram of a number of numbers&#10;&#10;AI-generated content may be incorrect.">
            <a:extLst>
              <a:ext uri="{FF2B5EF4-FFF2-40B4-BE49-F238E27FC236}">
                <a16:creationId xmlns:a16="http://schemas.microsoft.com/office/drawing/2014/main" id="{B8D140DE-4B78-0723-02A7-C585C55312F1}"/>
              </a:ext>
            </a:extLst>
          </p:cNvPr>
          <p:cNvPicPr>
            <a:picLocks noChangeAspect="1"/>
          </p:cNvPicPr>
          <p:nvPr/>
        </p:nvPicPr>
        <p:blipFill>
          <a:blip r:embed="rId3"/>
          <a:stretch>
            <a:fillRect/>
          </a:stretch>
        </p:blipFill>
        <p:spPr>
          <a:xfrm>
            <a:off x="1877346" y="523349"/>
            <a:ext cx="4636868" cy="4460582"/>
          </a:xfrm>
          <a:prstGeom prst="rect">
            <a:avLst/>
          </a:prstGeom>
        </p:spPr>
      </p:pic>
    </p:spTree>
    <p:extLst>
      <p:ext uri="{BB962C8B-B14F-4D97-AF65-F5344CB8AC3E}">
        <p14:creationId xmlns:p14="http://schemas.microsoft.com/office/powerpoint/2010/main" val="33610728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3AD4AC1-1AEE-C8D6-B19B-2BE1C9F8E09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D0CAF91-D710-4A04-0E17-AE2C838CA29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Correlation Matrix</a:t>
            </a:r>
          </a:p>
        </p:txBody>
      </p:sp>
      <p:sp>
        <p:nvSpPr>
          <p:cNvPr id="2" name="Slide Number Placeholder 1">
            <a:extLst>
              <a:ext uri="{FF2B5EF4-FFF2-40B4-BE49-F238E27FC236}">
                <a16:creationId xmlns:a16="http://schemas.microsoft.com/office/drawing/2014/main" id="{19FB97FE-6F77-FE0C-F57C-D9768DBE03F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a:p>
        </p:txBody>
      </p:sp>
      <p:sp>
        <p:nvSpPr>
          <p:cNvPr id="7" name="Google Shape;190;p40">
            <a:extLst>
              <a:ext uri="{FF2B5EF4-FFF2-40B4-BE49-F238E27FC236}">
                <a16:creationId xmlns:a16="http://schemas.microsoft.com/office/drawing/2014/main" id="{0E180FD2-8125-8202-B140-6FDB0681E33A}"/>
              </a:ext>
            </a:extLst>
          </p:cNvPr>
          <p:cNvSpPr txBox="1">
            <a:spLocks noGrp="1"/>
          </p:cNvSpPr>
          <p:nvPr>
            <p:ph type="body" idx="1"/>
          </p:nvPr>
        </p:nvSpPr>
        <p:spPr>
          <a:xfrm>
            <a:off x="468977" y="3162391"/>
            <a:ext cx="7889010" cy="1888692"/>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Strongest Predictors of loan default (BAD)</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DELINQ</a:t>
            </a:r>
            <a:r>
              <a:rPr lang="en-US" sz="1000" dirty="0">
                <a:solidFill>
                  <a:schemeClr val="dk1"/>
                </a:solidFill>
                <a:latin typeface="Nunito" pitchFamily="2" charset="0"/>
                <a:ea typeface="Century Gothic"/>
                <a:cs typeface="Century Gothic"/>
                <a:sym typeface="Century Gothic"/>
              </a:rPr>
              <a:t> (0.35)</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DEROG</a:t>
            </a:r>
            <a:r>
              <a:rPr lang="en-US" sz="1000" dirty="0">
                <a:solidFill>
                  <a:schemeClr val="dk1"/>
                </a:solidFill>
                <a:latin typeface="Nunito" pitchFamily="2" charset="0"/>
                <a:ea typeface="Century Gothic"/>
                <a:cs typeface="Century Gothic"/>
                <a:sym typeface="Century Gothic"/>
              </a:rPr>
              <a:t> (0.28)</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DEBTINC</a:t>
            </a:r>
            <a:r>
              <a:rPr lang="en-US" sz="1000" dirty="0">
                <a:solidFill>
                  <a:schemeClr val="dk1"/>
                </a:solidFill>
                <a:latin typeface="Nunito" pitchFamily="2" charset="0"/>
                <a:ea typeface="Century Gothic"/>
                <a:cs typeface="Century Gothic"/>
                <a:sym typeface="Century Gothic"/>
              </a:rPr>
              <a:t> (0.20</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Multicollinearity:</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MORTDUE</a:t>
            </a:r>
            <a:r>
              <a:rPr lang="en-US" sz="1000" dirty="0">
                <a:solidFill>
                  <a:schemeClr val="dk1"/>
                </a:solidFill>
                <a:latin typeface="Nunito" pitchFamily="2" charset="0"/>
                <a:ea typeface="Century Gothic"/>
                <a:cs typeface="Century Gothic"/>
                <a:sym typeface="Century Gothic"/>
              </a:rPr>
              <a:t> and </a:t>
            </a:r>
            <a:r>
              <a:rPr lang="en-US" sz="1000" b="1" dirty="0">
                <a:solidFill>
                  <a:schemeClr val="dk1"/>
                </a:solidFill>
                <a:latin typeface="Nunito" pitchFamily="2" charset="0"/>
                <a:ea typeface="Century Gothic"/>
                <a:cs typeface="Century Gothic"/>
                <a:sym typeface="Century Gothic"/>
              </a:rPr>
              <a:t>VALUE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pic>
        <p:nvPicPr>
          <p:cNvPr id="9" name="Picture 8" descr="A table with numbers and symbols&#10;&#10;AI-generated content may be incorrect.">
            <a:extLst>
              <a:ext uri="{FF2B5EF4-FFF2-40B4-BE49-F238E27FC236}">
                <a16:creationId xmlns:a16="http://schemas.microsoft.com/office/drawing/2014/main" id="{46CCA69E-CF63-0D16-91D6-B0360319E96A}"/>
              </a:ext>
            </a:extLst>
          </p:cNvPr>
          <p:cNvPicPr>
            <a:picLocks noChangeAspect="1"/>
          </p:cNvPicPr>
          <p:nvPr/>
        </p:nvPicPr>
        <p:blipFill>
          <a:blip r:embed="rId3"/>
          <a:stretch>
            <a:fillRect/>
          </a:stretch>
        </p:blipFill>
        <p:spPr>
          <a:xfrm>
            <a:off x="157276" y="631280"/>
            <a:ext cx="8675023" cy="2174731"/>
          </a:xfrm>
          <a:prstGeom prst="rect">
            <a:avLst/>
          </a:prstGeom>
        </p:spPr>
      </p:pic>
    </p:spTree>
    <p:extLst>
      <p:ext uri="{BB962C8B-B14F-4D97-AF65-F5344CB8AC3E}">
        <p14:creationId xmlns:p14="http://schemas.microsoft.com/office/powerpoint/2010/main" val="14618447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p:nvPr/>
        </p:nvSpPr>
        <p:spPr>
          <a:xfrm>
            <a:off x="188373" y="262270"/>
            <a:ext cx="8520600" cy="730102"/>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Complete Statistical Analysis: Normalization Comparisons</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p:cNvSpPr txBox="1">
            <a:spLocks noGrp="1"/>
          </p:cNvSpPr>
          <p:nvPr>
            <p:ph type="body" idx="1"/>
          </p:nvPr>
        </p:nvSpPr>
        <p:spPr>
          <a:xfrm>
            <a:off x="0" y="1217149"/>
            <a:ext cx="8629800" cy="3765359"/>
          </a:xfrm>
          <a:prstGeom prst="rect">
            <a:avLst/>
          </a:prstGeom>
          <a:noFill/>
          <a:ln>
            <a:noFill/>
          </a:ln>
        </p:spPr>
        <p:txBody>
          <a:bodyPr spcFirstLastPara="1" wrap="square" lIns="91425" tIns="91425" rIns="91425" bIns="91425" anchor="t" anchorCtr="0">
            <a:spAutoFit/>
          </a:bodyPr>
          <a:lstStyle/>
          <a:p>
            <a:pPr marL="139700" lvl="0" indent="0" algn="just" rtl="0">
              <a:lnSpc>
                <a:spcPct val="115000"/>
              </a:lnSpc>
              <a:spcBef>
                <a:spcPts val="1000"/>
              </a:spcBef>
              <a:spcAft>
                <a:spcPts val="0"/>
              </a:spcAft>
              <a:buClr>
                <a:schemeClr val="dk1"/>
              </a:buClr>
              <a:buSzPts val="1400"/>
              <a:buNone/>
            </a:pPr>
            <a:r>
              <a:rPr lang="en-US" dirty="0"/>
              <a:t>Preliminary </a:t>
            </a:r>
            <a:r>
              <a:rPr lang="en-US" sz="1400" dirty="0"/>
              <a:t>examinations</a:t>
            </a:r>
            <a:r>
              <a:rPr lang="en-US" dirty="0"/>
              <a:t> revealed the existence of heavily right-skewed features with extreme outliers. The effective course of action is to apply normalization techniques to produce more normalized distributions, reduce the skewness and effect of outliers. Capping/clipping should also be considered as corrective actions for outliers.</a:t>
            </a:r>
          </a:p>
          <a:p>
            <a:pPr marL="139700" lvl="0" indent="0" algn="just" rtl="0">
              <a:lnSpc>
                <a:spcPct val="115000"/>
              </a:lnSpc>
              <a:spcBef>
                <a:spcPts val="1000"/>
              </a:spcBef>
              <a:spcAft>
                <a:spcPts val="0"/>
              </a:spcAft>
              <a:buClr>
                <a:schemeClr val="dk1"/>
              </a:buClr>
              <a:buSzPts val="1400"/>
              <a:buNone/>
            </a:pPr>
            <a:r>
              <a:rPr lang="en-US" dirty="0"/>
              <a:t>The following slides compare 4 normalization functions and compare their results against the original distributions:</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Standard Scaling</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Log (log1p)</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Yeo-Johnson</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Box-Cox</a:t>
            </a:r>
            <a:endParaRPr lang="en-US" dirty="0"/>
          </a:p>
          <a:p>
            <a:pPr marL="425450" lvl="0" indent="-285750" algn="just" rtl="0">
              <a:lnSpc>
                <a:spcPct val="115000"/>
              </a:lnSpc>
              <a:spcBef>
                <a:spcPts val="1000"/>
              </a:spcBef>
              <a:spcAft>
                <a:spcPts val="0"/>
              </a:spcAft>
              <a:buClr>
                <a:schemeClr val="dk1"/>
              </a:buClr>
              <a:buSzPts val="1400"/>
              <a:buFontTx/>
              <a:buChar char="-"/>
            </a:pPr>
            <a:endParaRPr lang="en-US" dirty="0"/>
          </a:p>
        </p:txBody>
      </p:sp>
      <p:sp>
        <p:nvSpPr>
          <p:cNvPr id="2" name="Slide Number Placeholder 1">
            <a:extLst>
              <a:ext uri="{FF2B5EF4-FFF2-40B4-BE49-F238E27FC236}">
                <a16:creationId xmlns:a16="http://schemas.microsoft.com/office/drawing/2014/main" id="{EB1273AA-F837-53C0-86F8-6EB96BFD55E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5FEB714-95C1-6A8E-2AC6-DAB4D0AC2C6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EE859D-8FCA-10AF-BE57-B84A8B050C7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6D96CE4-99A5-3976-A8C7-FD80AA615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a:p>
        </p:txBody>
      </p:sp>
      <p:sp>
        <p:nvSpPr>
          <p:cNvPr id="14" name="Google Shape;190;p40">
            <a:extLst>
              <a:ext uri="{FF2B5EF4-FFF2-40B4-BE49-F238E27FC236}">
                <a16:creationId xmlns:a16="http://schemas.microsoft.com/office/drawing/2014/main" id="{C51859A5-FA00-2A01-0875-1D0733209E6D}"/>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8" name="Picture 7" descr="A table with text on it&#10;&#10;AI-generated content may be incorrect.">
            <a:extLst>
              <a:ext uri="{FF2B5EF4-FFF2-40B4-BE49-F238E27FC236}">
                <a16:creationId xmlns:a16="http://schemas.microsoft.com/office/drawing/2014/main" id="{BAF90042-BE2C-CC70-47E5-16A0DE805E9A}"/>
              </a:ext>
            </a:extLst>
          </p:cNvPr>
          <p:cNvPicPr>
            <a:picLocks noChangeAspect="1"/>
          </p:cNvPicPr>
          <p:nvPr/>
        </p:nvPicPr>
        <p:blipFill>
          <a:blip r:embed="rId3"/>
          <a:stretch>
            <a:fillRect/>
          </a:stretch>
        </p:blipFill>
        <p:spPr>
          <a:xfrm>
            <a:off x="3301631" y="2912890"/>
            <a:ext cx="2078981" cy="1215179"/>
          </a:xfrm>
          <a:prstGeom prst="rect">
            <a:avLst/>
          </a:prstGeom>
        </p:spPr>
      </p:pic>
      <p:pic>
        <p:nvPicPr>
          <p:cNvPr id="10" name="Picture 9" descr="A diagram of a normal distribution&#10;&#10;AI-generated content may be incorrect.">
            <a:extLst>
              <a:ext uri="{FF2B5EF4-FFF2-40B4-BE49-F238E27FC236}">
                <a16:creationId xmlns:a16="http://schemas.microsoft.com/office/drawing/2014/main" id="{B456744B-12E6-2BB4-0075-4D8EBFEC8D96}"/>
              </a:ext>
            </a:extLst>
          </p:cNvPr>
          <p:cNvPicPr>
            <a:picLocks noChangeAspect="1"/>
          </p:cNvPicPr>
          <p:nvPr/>
        </p:nvPicPr>
        <p:blipFill>
          <a:blip r:embed="rId4"/>
          <a:stretch>
            <a:fillRect/>
          </a:stretch>
        </p:blipFill>
        <p:spPr>
          <a:xfrm>
            <a:off x="468977" y="665117"/>
            <a:ext cx="7695399" cy="2134452"/>
          </a:xfrm>
          <a:prstGeom prst="rect">
            <a:avLst/>
          </a:prstGeom>
        </p:spPr>
      </p:pic>
    </p:spTree>
    <p:extLst>
      <p:ext uri="{BB962C8B-B14F-4D97-AF65-F5344CB8AC3E}">
        <p14:creationId xmlns:p14="http://schemas.microsoft.com/office/powerpoint/2010/main" val="30156629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0A5A0CB-5C2E-13AA-36EB-E1C7BD4DAAE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D752DBA-3B58-5591-9AD4-B06FC43B664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D83326B-097D-10BD-1604-883EF2A3A36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a:p>
        </p:txBody>
      </p:sp>
      <p:sp>
        <p:nvSpPr>
          <p:cNvPr id="14" name="Google Shape;190;p40">
            <a:extLst>
              <a:ext uri="{FF2B5EF4-FFF2-40B4-BE49-F238E27FC236}">
                <a16:creationId xmlns:a16="http://schemas.microsoft.com/office/drawing/2014/main" id="{15BD3489-5CD2-6C8A-A4C9-A76D61259AA5}"/>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7" name="Picture 6" descr="A table with text on it&#10;&#10;AI-generated content may be incorrect.">
            <a:extLst>
              <a:ext uri="{FF2B5EF4-FFF2-40B4-BE49-F238E27FC236}">
                <a16:creationId xmlns:a16="http://schemas.microsoft.com/office/drawing/2014/main" id="{0CE7D02D-12C7-3380-F282-8CE7AA459D6B}"/>
              </a:ext>
            </a:extLst>
          </p:cNvPr>
          <p:cNvPicPr>
            <a:picLocks noChangeAspect="1"/>
          </p:cNvPicPr>
          <p:nvPr/>
        </p:nvPicPr>
        <p:blipFill>
          <a:blip r:embed="rId3"/>
          <a:stretch>
            <a:fillRect/>
          </a:stretch>
        </p:blipFill>
        <p:spPr>
          <a:xfrm>
            <a:off x="3410504" y="2912890"/>
            <a:ext cx="2322992" cy="1215179"/>
          </a:xfrm>
          <a:prstGeom prst="rect">
            <a:avLst/>
          </a:prstGeom>
        </p:spPr>
      </p:pic>
      <p:pic>
        <p:nvPicPr>
          <p:cNvPr id="10" name="Picture 9" descr="A screenshot of a graph&#10;&#10;AI-generated content may be incorrect.">
            <a:extLst>
              <a:ext uri="{FF2B5EF4-FFF2-40B4-BE49-F238E27FC236}">
                <a16:creationId xmlns:a16="http://schemas.microsoft.com/office/drawing/2014/main" id="{EF56C8C9-BA46-B44D-B3AE-ECA4774093B7}"/>
              </a:ext>
            </a:extLst>
          </p:cNvPr>
          <p:cNvPicPr>
            <a:picLocks noChangeAspect="1"/>
          </p:cNvPicPr>
          <p:nvPr/>
        </p:nvPicPr>
        <p:blipFill>
          <a:blip r:embed="rId4"/>
          <a:stretch>
            <a:fillRect/>
          </a:stretch>
        </p:blipFill>
        <p:spPr>
          <a:xfrm>
            <a:off x="627495" y="661348"/>
            <a:ext cx="7680285" cy="2144664"/>
          </a:xfrm>
          <a:prstGeom prst="rect">
            <a:avLst/>
          </a:prstGeom>
        </p:spPr>
      </p:pic>
    </p:spTree>
    <p:extLst>
      <p:ext uri="{BB962C8B-B14F-4D97-AF65-F5344CB8AC3E}">
        <p14:creationId xmlns:p14="http://schemas.microsoft.com/office/powerpoint/2010/main" val="1468846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8FA1894-AD34-EFFE-BED9-DB4F626F2B52}"/>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E671323-ABE5-36AF-A1C9-98670E6D82E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6740705-7B03-8138-8E50-28F171C3985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a:p>
        </p:txBody>
      </p:sp>
      <p:sp>
        <p:nvSpPr>
          <p:cNvPr id="14" name="Google Shape;190;p40">
            <a:extLst>
              <a:ext uri="{FF2B5EF4-FFF2-40B4-BE49-F238E27FC236}">
                <a16:creationId xmlns:a16="http://schemas.microsoft.com/office/drawing/2014/main" id="{5552E378-D2CB-205F-4550-C712E0099F19}"/>
              </a:ext>
            </a:extLst>
          </p:cNvPr>
          <p:cNvSpPr txBox="1">
            <a:spLocks noGrp="1"/>
          </p:cNvSpPr>
          <p:nvPr>
            <p:ph type="body" idx="1"/>
          </p:nvPr>
        </p:nvSpPr>
        <p:spPr>
          <a:xfrm>
            <a:off x="652598"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4" name="Picture 3" descr="A diagram of a normalized curve&#10;&#10;AI-generated content may be incorrect.">
            <a:extLst>
              <a:ext uri="{FF2B5EF4-FFF2-40B4-BE49-F238E27FC236}">
                <a16:creationId xmlns:a16="http://schemas.microsoft.com/office/drawing/2014/main" id="{7942BA3C-DCA0-5D4C-2AA6-67060AEC2AA0}"/>
              </a:ext>
            </a:extLst>
          </p:cNvPr>
          <p:cNvPicPr>
            <a:picLocks noChangeAspect="1"/>
          </p:cNvPicPr>
          <p:nvPr/>
        </p:nvPicPr>
        <p:blipFill>
          <a:blip r:embed="rId3"/>
          <a:stretch>
            <a:fillRect/>
          </a:stretch>
        </p:blipFill>
        <p:spPr>
          <a:xfrm>
            <a:off x="652598" y="631783"/>
            <a:ext cx="7838803" cy="2174228"/>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B244255-B832-C9AC-686D-E51E0A347ABF}"/>
              </a:ext>
            </a:extLst>
          </p:cNvPr>
          <p:cNvPicPr>
            <a:picLocks noChangeAspect="1"/>
          </p:cNvPicPr>
          <p:nvPr/>
        </p:nvPicPr>
        <p:blipFill>
          <a:blip r:embed="rId4"/>
          <a:stretch>
            <a:fillRect/>
          </a:stretch>
        </p:blipFill>
        <p:spPr>
          <a:xfrm>
            <a:off x="3706221" y="2892728"/>
            <a:ext cx="2198392" cy="1255503"/>
          </a:xfrm>
          <a:prstGeom prst="rect">
            <a:avLst/>
          </a:prstGeom>
        </p:spPr>
      </p:pic>
    </p:spTree>
    <p:extLst>
      <p:ext uri="{BB962C8B-B14F-4D97-AF65-F5344CB8AC3E}">
        <p14:creationId xmlns:p14="http://schemas.microsoft.com/office/powerpoint/2010/main" val="11996189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2F11F53-79EF-085C-FAE6-D666EA1E03A5}"/>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EB9F5B17-FC30-C298-48EA-DA58DBEDE598}"/>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4FDA363-49CA-1147-5D60-9443CD48CD1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a:p>
        </p:txBody>
      </p:sp>
      <p:sp>
        <p:nvSpPr>
          <p:cNvPr id="14" name="Google Shape;190;p40">
            <a:extLst>
              <a:ext uri="{FF2B5EF4-FFF2-40B4-BE49-F238E27FC236}">
                <a16:creationId xmlns:a16="http://schemas.microsoft.com/office/drawing/2014/main" id="{B8961BA6-C299-7291-C55F-F70C2A953535}"/>
              </a:ext>
            </a:extLst>
          </p:cNvPr>
          <p:cNvSpPr txBox="1">
            <a:spLocks noGrp="1"/>
          </p:cNvSpPr>
          <p:nvPr>
            <p:ph type="body" idx="1"/>
          </p:nvPr>
        </p:nvSpPr>
        <p:spPr>
          <a:xfrm>
            <a:off x="733821" y="4440511"/>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-0.07</a:t>
            </a:r>
          </a:p>
        </p:txBody>
      </p:sp>
      <p:pic>
        <p:nvPicPr>
          <p:cNvPr id="5" name="Picture 4" descr="A comparison of a normalization diagram&#10;&#10;AI-generated content may be incorrect.">
            <a:extLst>
              <a:ext uri="{FF2B5EF4-FFF2-40B4-BE49-F238E27FC236}">
                <a16:creationId xmlns:a16="http://schemas.microsoft.com/office/drawing/2014/main" id="{5709DA6E-BDA5-392B-390D-9DED8EDB0476}"/>
              </a:ext>
            </a:extLst>
          </p:cNvPr>
          <p:cNvPicPr>
            <a:picLocks noChangeAspect="1"/>
          </p:cNvPicPr>
          <p:nvPr/>
        </p:nvPicPr>
        <p:blipFill>
          <a:blip r:embed="rId3"/>
          <a:stretch>
            <a:fillRect/>
          </a:stretch>
        </p:blipFill>
        <p:spPr>
          <a:xfrm>
            <a:off x="733821" y="611885"/>
            <a:ext cx="7375277" cy="25510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B291F508-3506-9342-7829-EE2D5818C5EF}"/>
              </a:ext>
            </a:extLst>
          </p:cNvPr>
          <p:cNvPicPr>
            <a:picLocks noChangeAspect="1"/>
          </p:cNvPicPr>
          <p:nvPr/>
        </p:nvPicPr>
        <p:blipFill>
          <a:blip r:embed="rId4"/>
          <a:stretch>
            <a:fillRect/>
          </a:stretch>
        </p:blipFill>
        <p:spPr>
          <a:xfrm>
            <a:off x="3549688" y="3116819"/>
            <a:ext cx="2359177" cy="1255502"/>
          </a:xfrm>
          <a:prstGeom prst="rect">
            <a:avLst/>
          </a:prstGeom>
        </p:spPr>
      </p:pic>
    </p:spTree>
    <p:extLst>
      <p:ext uri="{BB962C8B-B14F-4D97-AF65-F5344CB8AC3E}">
        <p14:creationId xmlns:p14="http://schemas.microsoft.com/office/powerpoint/2010/main" val="15515564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9522791-8091-E57B-A3A5-7BED2F629B8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A49F80-C41C-F88D-B856-06808071BA0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1B8591A4-96CA-E862-D622-6F95ACC9BFD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a:p>
        </p:txBody>
      </p:sp>
      <p:sp>
        <p:nvSpPr>
          <p:cNvPr id="14" name="Google Shape;190;p40">
            <a:extLst>
              <a:ext uri="{FF2B5EF4-FFF2-40B4-BE49-F238E27FC236}">
                <a16:creationId xmlns:a16="http://schemas.microsoft.com/office/drawing/2014/main" id="{E4CEA280-F53F-D7D0-11F8-047055C98873}"/>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2.10</a:t>
            </a:r>
          </a:p>
        </p:txBody>
      </p:sp>
      <p:pic>
        <p:nvPicPr>
          <p:cNvPr id="7" name="Picture 6" descr="A comparison of normalization graphs&#10;&#10;AI-generated content may be incorrect.">
            <a:extLst>
              <a:ext uri="{FF2B5EF4-FFF2-40B4-BE49-F238E27FC236}">
                <a16:creationId xmlns:a16="http://schemas.microsoft.com/office/drawing/2014/main" id="{CE26248C-223E-86E3-609C-1A4F8FF457D8}"/>
              </a:ext>
            </a:extLst>
          </p:cNvPr>
          <p:cNvPicPr>
            <a:picLocks noChangeAspect="1"/>
          </p:cNvPicPr>
          <p:nvPr/>
        </p:nvPicPr>
        <p:blipFill>
          <a:blip r:embed="rId3"/>
          <a:stretch>
            <a:fillRect/>
          </a:stretch>
        </p:blipFill>
        <p:spPr>
          <a:xfrm>
            <a:off x="751939" y="595759"/>
            <a:ext cx="7286275" cy="2524523"/>
          </a:xfrm>
          <a:prstGeom prst="rect">
            <a:avLst/>
          </a:prstGeom>
        </p:spPr>
      </p:pic>
      <p:pic>
        <p:nvPicPr>
          <p:cNvPr id="10" name="Picture 9" descr="A table with text on it&#10;&#10;AI-generated content may be incorrect.">
            <a:extLst>
              <a:ext uri="{FF2B5EF4-FFF2-40B4-BE49-F238E27FC236}">
                <a16:creationId xmlns:a16="http://schemas.microsoft.com/office/drawing/2014/main" id="{2F00AF2D-7F67-BDE5-CF28-CA5E5342A0DE}"/>
              </a:ext>
            </a:extLst>
          </p:cNvPr>
          <p:cNvPicPr>
            <a:picLocks noChangeAspect="1"/>
          </p:cNvPicPr>
          <p:nvPr/>
        </p:nvPicPr>
        <p:blipFill>
          <a:blip r:embed="rId4"/>
          <a:stretch>
            <a:fillRect/>
          </a:stretch>
        </p:blipFill>
        <p:spPr>
          <a:xfrm>
            <a:off x="3732734" y="3091929"/>
            <a:ext cx="2448325" cy="1185563"/>
          </a:xfrm>
          <a:prstGeom prst="rect">
            <a:avLst/>
          </a:prstGeom>
        </p:spPr>
      </p:pic>
    </p:spTree>
    <p:extLst>
      <p:ext uri="{BB962C8B-B14F-4D97-AF65-F5344CB8AC3E}">
        <p14:creationId xmlns:p14="http://schemas.microsoft.com/office/powerpoint/2010/main" val="5891539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121CD02-5B6F-259B-4C67-28DFD39D11A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3D7D1D2-93B1-6E05-0D26-DDCF40499B2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0665D184-259E-C6EB-F11E-331FAA0CCB7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a:p>
        </p:txBody>
      </p:sp>
      <p:sp>
        <p:nvSpPr>
          <p:cNvPr id="14" name="Google Shape;190;p40">
            <a:extLst>
              <a:ext uri="{FF2B5EF4-FFF2-40B4-BE49-F238E27FC236}">
                <a16:creationId xmlns:a16="http://schemas.microsoft.com/office/drawing/2014/main" id="{9A7DE04B-DD66-C5A5-D6E3-2F28CA11FA5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1.33</a:t>
            </a:r>
          </a:p>
        </p:txBody>
      </p:sp>
      <p:pic>
        <p:nvPicPr>
          <p:cNvPr id="4" name="Picture 3" descr="A comparison of a normalization comparison&#10;&#10;AI-generated content may be incorrect.">
            <a:extLst>
              <a:ext uri="{FF2B5EF4-FFF2-40B4-BE49-F238E27FC236}">
                <a16:creationId xmlns:a16="http://schemas.microsoft.com/office/drawing/2014/main" id="{CB3CD514-388A-1AF9-2EF8-697E5FB74F89}"/>
              </a:ext>
            </a:extLst>
          </p:cNvPr>
          <p:cNvPicPr>
            <a:picLocks noChangeAspect="1"/>
          </p:cNvPicPr>
          <p:nvPr/>
        </p:nvPicPr>
        <p:blipFill>
          <a:blip r:embed="rId3"/>
          <a:stretch>
            <a:fillRect/>
          </a:stretch>
        </p:blipFill>
        <p:spPr>
          <a:xfrm>
            <a:off x="844088" y="607814"/>
            <a:ext cx="7286275" cy="2526643"/>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88E3352-1F85-DF8B-D3D3-F43257602263}"/>
              </a:ext>
            </a:extLst>
          </p:cNvPr>
          <p:cNvPicPr>
            <a:picLocks noChangeAspect="1"/>
          </p:cNvPicPr>
          <p:nvPr/>
        </p:nvPicPr>
        <p:blipFill>
          <a:blip r:embed="rId4"/>
          <a:stretch>
            <a:fillRect/>
          </a:stretch>
        </p:blipFill>
        <p:spPr>
          <a:xfrm>
            <a:off x="3472253" y="3099017"/>
            <a:ext cx="2514047" cy="1203831"/>
          </a:xfrm>
          <a:prstGeom prst="rect">
            <a:avLst/>
          </a:prstGeom>
        </p:spPr>
      </p:pic>
    </p:spTree>
    <p:extLst>
      <p:ext uri="{BB962C8B-B14F-4D97-AF65-F5344CB8AC3E}">
        <p14:creationId xmlns:p14="http://schemas.microsoft.com/office/powerpoint/2010/main" val="6527796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80CC259-A6E6-EBDB-070C-AD1E67E0D2E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082F407-4F3E-8BD8-9E93-6D6F559EBB5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6336357D-50C1-6205-6D62-74ADEBBB0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a:p>
        </p:txBody>
      </p:sp>
      <p:sp>
        <p:nvSpPr>
          <p:cNvPr id="14" name="Google Shape;190;p40">
            <a:extLst>
              <a:ext uri="{FF2B5EF4-FFF2-40B4-BE49-F238E27FC236}">
                <a16:creationId xmlns:a16="http://schemas.microsoft.com/office/drawing/2014/main" id="{E87B8466-0214-E54E-B172-CB0D654EEC32}"/>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comparison of normalization graphs&#10;&#10;AI-generated content may be incorrect.">
            <a:extLst>
              <a:ext uri="{FF2B5EF4-FFF2-40B4-BE49-F238E27FC236}">
                <a16:creationId xmlns:a16="http://schemas.microsoft.com/office/drawing/2014/main" id="{B2B98606-B867-90B6-280E-593F5F838AB9}"/>
              </a:ext>
            </a:extLst>
          </p:cNvPr>
          <p:cNvPicPr>
            <a:picLocks noChangeAspect="1"/>
          </p:cNvPicPr>
          <p:nvPr/>
        </p:nvPicPr>
        <p:blipFill>
          <a:blip r:embed="rId3"/>
          <a:stretch>
            <a:fillRect/>
          </a:stretch>
        </p:blipFill>
        <p:spPr>
          <a:xfrm>
            <a:off x="780867" y="570112"/>
            <a:ext cx="7413292" cy="25663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E06279D0-010C-DF7F-CB84-A1ABF91F75EB}"/>
              </a:ext>
            </a:extLst>
          </p:cNvPr>
          <p:cNvPicPr>
            <a:picLocks noChangeAspect="1"/>
          </p:cNvPicPr>
          <p:nvPr/>
        </p:nvPicPr>
        <p:blipFill>
          <a:blip r:embed="rId4"/>
          <a:stretch>
            <a:fillRect/>
          </a:stretch>
        </p:blipFill>
        <p:spPr>
          <a:xfrm>
            <a:off x="3442483" y="3143579"/>
            <a:ext cx="2433778" cy="1194663"/>
          </a:xfrm>
          <a:prstGeom prst="rect">
            <a:avLst/>
          </a:prstGeom>
        </p:spPr>
      </p:pic>
    </p:spTree>
    <p:extLst>
      <p:ext uri="{BB962C8B-B14F-4D97-AF65-F5344CB8AC3E}">
        <p14:creationId xmlns:p14="http://schemas.microsoft.com/office/powerpoint/2010/main" val="120986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D6BC32A-84D2-AB3A-2472-75C1621AF7F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6E8F4B85-3900-E1EB-8B97-DEC9774171CD}"/>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5463E823-8CFD-F764-947F-DA3C7D427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36</a:t>
            </a:fld>
            <a:endParaRPr lang="en-US"/>
          </a:p>
        </p:txBody>
      </p:sp>
      <p:sp>
        <p:nvSpPr>
          <p:cNvPr id="14" name="Google Shape;190;p40">
            <a:extLst>
              <a:ext uri="{FF2B5EF4-FFF2-40B4-BE49-F238E27FC236}">
                <a16:creationId xmlns:a16="http://schemas.microsoft.com/office/drawing/2014/main" id="{24F4B1B8-C21C-1748-D7B3-9E430C5B2BD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0.22</a:t>
            </a:r>
          </a:p>
        </p:txBody>
      </p:sp>
      <p:pic>
        <p:nvPicPr>
          <p:cNvPr id="4" name="Picture 3" descr="A comparison of a normalization comparison&#10;&#10;AI-generated content may be incorrect.">
            <a:extLst>
              <a:ext uri="{FF2B5EF4-FFF2-40B4-BE49-F238E27FC236}">
                <a16:creationId xmlns:a16="http://schemas.microsoft.com/office/drawing/2014/main" id="{974EFC47-2A21-1CD1-DF0C-BBAB21011E47}"/>
              </a:ext>
            </a:extLst>
          </p:cNvPr>
          <p:cNvPicPr>
            <a:picLocks noChangeAspect="1"/>
          </p:cNvPicPr>
          <p:nvPr/>
        </p:nvPicPr>
        <p:blipFill>
          <a:blip r:embed="rId3"/>
          <a:stretch>
            <a:fillRect/>
          </a:stretch>
        </p:blipFill>
        <p:spPr>
          <a:xfrm>
            <a:off x="787964" y="566015"/>
            <a:ext cx="7568071" cy="2619962"/>
          </a:xfrm>
          <a:prstGeom prst="rect">
            <a:avLst/>
          </a:prstGeom>
        </p:spPr>
      </p:pic>
      <p:pic>
        <p:nvPicPr>
          <p:cNvPr id="7" name="Picture 6" descr="A table with text on it&#10;&#10;AI-generated content may be incorrect.">
            <a:extLst>
              <a:ext uri="{FF2B5EF4-FFF2-40B4-BE49-F238E27FC236}">
                <a16:creationId xmlns:a16="http://schemas.microsoft.com/office/drawing/2014/main" id="{DD7E543F-D8C1-4F03-F51A-361EDFAD8D7F}"/>
              </a:ext>
            </a:extLst>
          </p:cNvPr>
          <p:cNvPicPr>
            <a:picLocks noChangeAspect="1"/>
          </p:cNvPicPr>
          <p:nvPr/>
        </p:nvPicPr>
        <p:blipFill>
          <a:blip r:embed="rId4"/>
          <a:stretch>
            <a:fillRect/>
          </a:stretch>
        </p:blipFill>
        <p:spPr>
          <a:xfrm>
            <a:off x="3556924" y="3132906"/>
            <a:ext cx="2287442" cy="1162648"/>
          </a:xfrm>
          <a:prstGeom prst="rect">
            <a:avLst/>
          </a:prstGeom>
        </p:spPr>
      </p:pic>
    </p:spTree>
    <p:extLst>
      <p:ext uri="{BB962C8B-B14F-4D97-AF65-F5344CB8AC3E}">
        <p14:creationId xmlns:p14="http://schemas.microsoft.com/office/powerpoint/2010/main" val="826772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7FEDB58-25F6-B6A1-9C31-5AE36EDB6E7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574ED5D-B102-7495-FC9F-2C11F04F2DA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D879DB2-472B-8199-3B16-52AC9CB8228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37</a:t>
            </a:fld>
            <a:endParaRPr lang="en-US"/>
          </a:p>
        </p:txBody>
      </p:sp>
      <p:sp>
        <p:nvSpPr>
          <p:cNvPr id="14" name="Google Shape;190;p40">
            <a:extLst>
              <a:ext uri="{FF2B5EF4-FFF2-40B4-BE49-F238E27FC236}">
                <a16:creationId xmlns:a16="http://schemas.microsoft.com/office/drawing/2014/main" id="{142D6567-20BA-5AFB-1DBB-C54D45CDE78B}"/>
              </a:ext>
            </a:extLst>
          </p:cNvPr>
          <p:cNvSpPr txBox="1">
            <a:spLocks noGrp="1"/>
          </p:cNvSpPr>
          <p:nvPr>
            <p:ph type="body" idx="1"/>
          </p:nvPr>
        </p:nvSpPr>
        <p:spPr>
          <a:xfrm>
            <a:off x="627494" y="421156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graph of normalization comparison&#10;&#10;AI-generated content may be incorrect.">
            <a:extLst>
              <a:ext uri="{FF2B5EF4-FFF2-40B4-BE49-F238E27FC236}">
                <a16:creationId xmlns:a16="http://schemas.microsoft.com/office/drawing/2014/main" id="{EC952D67-3B43-09F4-AD87-5787DA483E67}"/>
              </a:ext>
            </a:extLst>
          </p:cNvPr>
          <p:cNvPicPr>
            <a:picLocks noChangeAspect="1"/>
          </p:cNvPicPr>
          <p:nvPr/>
        </p:nvPicPr>
        <p:blipFill>
          <a:blip r:embed="rId3"/>
          <a:stretch>
            <a:fillRect/>
          </a:stretch>
        </p:blipFill>
        <p:spPr>
          <a:xfrm>
            <a:off x="787964" y="575952"/>
            <a:ext cx="7568071" cy="2617767"/>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38A50665-62B7-7B2A-8BAB-3682BCA12D40}"/>
              </a:ext>
            </a:extLst>
          </p:cNvPr>
          <p:cNvPicPr>
            <a:picLocks noChangeAspect="1"/>
          </p:cNvPicPr>
          <p:nvPr/>
        </p:nvPicPr>
        <p:blipFill>
          <a:blip r:embed="rId4"/>
          <a:stretch>
            <a:fillRect/>
          </a:stretch>
        </p:blipFill>
        <p:spPr>
          <a:xfrm>
            <a:off x="3616402" y="3131073"/>
            <a:ext cx="2352007" cy="1184266"/>
          </a:xfrm>
          <a:prstGeom prst="rect">
            <a:avLst/>
          </a:prstGeom>
        </p:spPr>
      </p:pic>
    </p:spTree>
    <p:extLst>
      <p:ext uri="{BB962C8B-B14F-4D97-AF65-F5344CB8AC3E}">
        <p14:creationId xmlns:p14="http://schemas.microsoft.com/office/powerpoint/2010/main" val="21817673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0DD1AA5C-EE1E-86BF-E300-FED3908A8CD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9B9757B-607B-7683-D2F0-3598596DCE5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3F283655-AEBC-D04B-E80A-A58FD591549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38</a:t>
            </a:fld>
            <a:endParaRPr lang="en-US"/>
          </a:p>
        </p:txBody>
      </p:sp>
      <p:sp>
        <p:nvSpPr>
          <p:cNvPr id="14" name="Google Shape;190;p40">
            <a:extLst>
              <a:ext uri="{FF2B5EF4-FFF2-40B4-BE49-F238E27FC236}">
                <a16:creationId xmlns:a16="http://schemas.microsoft.com/office/drawing/2014/main" id="{0E2A9C69-1413-6A3F-C843-4A813846EEED}"/>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0.75</a:t>
            </a:r>
          </a:p>
        </p:txBody>
      </p:sp>
      <p:pic>
        <p:nvPicPr>
          <p:cNvPr id="5" name="Picture 4" descr="A graph of a function&#10;&#10;AI-generated content may be incorrect.">
            <a:extLst>
              <a:ext uri="{FF2B5EF4-FFF2-40B4-BE49-F238E27FC236}">
                <a16:creationId xmlns:a16="http://schemas.microsoft.com/office/drawing/2014/main" id="{87EAECEF-E13E-0FF5-8FD5-E5E903E68BF7}"/>
              </a:ext>
            </a:extLst>
          </p:cNvPr>
          <p:cNvPicPr>
            <a:picLocks noChangeAspect="1"/>
          </p:cNvPicPr>
          <p:nvPr/>
        </p:nvPicPr>
        <p:blipFill>
          <a:blip r:embed="rId3"/>
          <a:stretch>
            <a:fillRect/>
          </a:stretch>
        </p:blipFill>
        <p:spPr>
          <a:xfrm>
            <a:off x="705513" y="618746"/>
            <a:ext cx="8047528" cy="2230623"/>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623CE5EC-2BE8-889A-D827-F7D5C1E3572E}"/>
              </a:ext>
            </a:extLst>
          </p:cNvPr>
          <p:cNvPicPr>
            <a:picLocks noChangeAspect="1"/>
          </p:cNvPicPr>
          <p:nvPr/>
        </p:nvPicPr>
        <p:blipFill>
          <a:blip r:embed="rId4"/>
          <a:stretch>
            <a:fillRect/>
          </a:stretch>
        </p:blipFill>
        <p:spPr>
          <a:xfrm>
            <a:off x="3785189" y="2958948"/>
            <a:ext cx="2367518" cy="1276000"/>
          </a:xfrm>
          <a:prstGeom prst="rect">
            <a:avLst/>
          </a:prstGeom>
        </p:spPr>
      </p:pic>
    </p:spTree>
    <p:extLst>
      <p:ext uri="{BB962C8B-B14F-4D97-AF65-F5344CB8AC3E}">
        <p14:creationId xmlns:p14="http://schemas.microsoft.com/office/powerpoint/2010/main" val="29345489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8443DFB2-5399-5CE4-9D70-726B171CC222}"/>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BACB5879-B620-06F1-5D70-B5CDB22FE7C3}"/>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D49D30F0-A463-8EC9-B437-4865ED1D4EFC}"/>
              </a:ext>
            </a:extLst>
          </p:cNvPr>
          <p:cNvSpPr txBox="1">
            <a:spLocks noGrp="1"/>
          </p:cNvSpPr>
          <p:nvPr>
            <p:ph type="body" idx="1"/>
          </p:nvPr>
        </p:nvSpPr>
        <p:spPr>
          <a:xfrm>
            <a:off x="147950" y="919437"/>
            <a:ext cx="8629800" cy="2569135"/>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Based on the information available in this slide deck, it is impossible to verify what normalization techniques were used in feature engineering.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Analysis here is best guess. For more detailed insights, review to the subsections entitled:</a:t>
            </a:r>
            <a:br>
              <a:rPr lang="en-US" sz="1400" dirty="0">
                <a:solidFill>
                  <a:schemeClr val="dk1"/>
                </a:solidFill>
                <a:latin typeface="Century Gothic"/>
                <a:sym typeface="Century Gothic"/>
              </a:rPr>
            </a:br>
            <a:r>
              <a:rPr lang="en-US" sz="1400" b="1" u="sng" dirty="0">
                <a:solidFill>
                  <a:schemeClr val="dk1"/>
                </a:solidFill>
                <a:latin typeface="Century Gothic"/>
                <a:sym typeface="Century Gothic"/>
              </a:rPr>
              <a:t>Statistical Analysis – Normalized Features</a:t>
            </a:r>
            <a:r>
              <a:rPr lang="en-US" sz="1400" dirty="0">
                <a:solidFill>
                  <a:schemeClr val="dk1"/>
                </a:solidFill>
                <a:latin typeface="Century Gothic"/>
                <a:sym typeface="Century Gothic"/>
              </a:rPr>
              <a:t> </a:t>
            </a:r>
            <a:endParaRPr dirty="0"/>
          </a:p>
        </p:txBody>
      </p:sp>
      <p:sp>
        <p:nvSpPr>
          <p:cNvPr id="2" name="Slide Number Placeholder 1">
            <a:extLst>
              <a:ext uri="{FF2B5EF4-FFF2-40B4-BE49-F238E27FC236}">
                <a16:creationId xmlns:a16="http://schemas.microsoft.com/office/drawing/2014/main" id="{4A8A79E2-D343-FA68-BE3F-CF9FCC2DA1D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39</a:t>
            </a:fld>
            <a:endParaRPr lang="en-US"/>
          </a:p>
        </p:txBody>
      </p:sp>
    </p:spTree>
    <p:extLst>
      <p:ext uri="{BB962C8B-B14F-4D97-AF65-F5344CB8AC3E}">
        <p14:creationId xmlns:p14="http://schemas.microsoft.com/office/powerpoint/2010/main" val="28763535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1C9398AA-823C-4371-5F6D-D59C34CB7C48}"/>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3CC42F4D-EAB9-1C7C-F539-FFA665F65474}"/>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Feature Engineering – Derived Features:</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7C5252BB-FE33-DC0B-7509-E0CD936051CF}"/>
              </a:ext>
            </a:extLst>
          </p:cNvPr>
          <p:cNvSpPr txBox="1">
            <a:spLocks noGrp="1"/>
          </p:cNvSpPr>
          <p:nvPr>
            <p:ph type="body" idx="1"/>
          </p:nvPr>
        </p:nvSpPr>
        <p:spPr>
          <a:xfrm>
            <a:off x="147950" y="919437"/>
            <a:ext cx="8629800" cy="4273960"/>
          </a:xfrm>
          <a:prstGeom prst="rect">
            <a:avLst/>
          </a:prstGeom>
          <a:noFill/>
          <a:ln>
            <a:noFill/>
          </a:ln>
        </p:spPr>
        <p:txBody>
          <a:bodyPr spcFirstLastPara="1" wrap="square" lIns="91425" tIns="91425" rIns="91425" bIns="91425" anchor="t" anchorCtr="0">
            <a:spAutoFit/>
          </a:bodyPr>
          <a:lstStyle/>
          <a:p>
            <a:pPr marL="139700" lvl="0" indent="0" algn="just">
              <a:spcBef>
                <a:spcPts val="1000"/>
              </a:spcBef>
              <a:buClr>
                <a:schemeClr val="dk1"/>
              </a:buClr>
              <a:buSzPts val="1400"/>
              <a:buNone/>
            </a:pPr>
            <a:r>
              <a:rPr lang="en-US" sz="1400" dirty="0"/>
              <a:t>Raw features don't always capture the full picture (in this case of borrower risks). Derived features combine existing data to create metrics that are more directly tied to the outcome being predicted.</a:t>
            </a:r>
          </a:p>
          <a:p>
            <a:pPr marL="139700" lvl="0" indent="0" algn="just">
              <a:spcBef>
                <a:spcPts val="1000"/>
              </a:spcBef>
              <a:buClr>
                <a:schemeClr val="dk1"/>
              </a:buClr>
              <a:buSzPts val="1400"/>
              <a:buNone/>
            </a:pPr>
            <a:r>
              <a:rPr lang="en-US" sz="1400" b="1" dirty="0">
                <a:solidFill>
                  <a:schemeClr val="dk1"/>
                </a:solidFill>
                <a:latin typeface="Century Gothic"/>
                <a:ea typeface="Century Gothic"/>
                <a:cs typeface="Century Gothic"/>
                <a:sym typeface="Century Gothic"/>
              </a:rPr>
              <a:t>Benefits: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Captures relationships amongst features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Domain Knowledge</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Stronger predictive signals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Better Interpretability </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Expose Hidden Patterns </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Improves Model Performance</a:t>
            </a:r>
          </a:p>
          <a:p>
            <a:pPr marL="139700" lvl="0" indent="0" algn="just">
              <a:spcBef>
                <a:spcPts val="1000"/>
              </a:spcBef>
              <a:buClr>
                <a:schemeClr val="dk1"/>
              </a:buClr>
              <a:buSzPts val="1400"/>
              <a:buNone/>
            </a:pPr>
            <a:r>
              <a:rPr lang="en-US" sz="1400" b="1" dirty="0">
                <a:solidFill>
                  <a:schemeClr val="dk1"/>
                </a:solidFill>
                <a:latin typeface="Century Gothic"/>
                <a:ea typeface="Century Gothic"/>
                <a:cs typeface="Century Gothic"/>
                <a:sym typeface="Century Gothic"/>
              </a:rPr>
              <a:t>Suggested Derived Features</a:t>
            </a:r>
            <a:r>
              <a:rPr lang="en-US" sz="1200" b="1" dirty="0">
                <a:solidFill>
                  <a:schemeClr val="dk1"/>
                </a:solidFill>
                <a:latin typeface="Century Gothic"/>
                <a:ea typeface="Century Gothic"/>
                <a:cs typeface="Century Gothic"/>
                <a:sym typeface="Century Gothic"/>
              </a:rPr>
              <a:t>:</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LTV </a:t>
            </a:r>
            <a:r>
              <a:rPr lang="en-US" sz="1200" dirty="0">
                <a:solidFill>
                  <a:schemeClr val="dk1"/>
                </a:solidFill>
                <a:latin typeface="Century Gothic"/>
                <a:sym typeface="Century Gothic"/>
              </a:rPr>
              <a:t>(Loan to Value Ratio) – MORTDUE/VALUE</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EQUITY</a:t>
            </a:r>
            <a:r>
              <a:rPr lang="en-US" sz="1200" dirty="0">
                <a:solidFill>
                  <a:schemeClr val="dk1"/>
                </a:solidFill>
                <a:latin typeface="Century Gothic"/>
                <a:sym typeface="Century Gothic"/>
              </a:rPr>
              <a:t> – Value – MORTDUE</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LOAN_TO_VALUE</a:t>
            </a:r>
            <a:r>
              <a:rPr lang="en-US" sz="1200" dirty="0">
                <a:solidFill>
                  <a:schemeClr val="dk1"/>
                </a:solidFill>
                <a:latin typeface="Century Gothic"/>
                <a:sym typeface="Century Gothic"/>
              </a:rPr>
              <a:t> – LOAN/VALUE</a:t>
            </a:r>
          </a:p>
          <a:p>
            <a:pPr marL="139700" lvl="0" indent="0" algn="just">
              <a:spcBef>
                <a:spcPts val="1000"/>
              </a:spcBef>
              <a:buClr>
                <a:schemeClr val="dk1"/>
              </a:buClr>
              <a:buSzPts val="1400"/>
              <a:buNone/>
            </a:pPr>
            <a:endParaRPr lang="en-US" sz="1200" b="1"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705D2925-9D4E-BB19-60B2-5A05C07FEF7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40</a:t>
            </a:fld>
            <a:endParaRPr lang="en-US"/>
          </a:p>
        </p:txBody>
      </p:sp>
    </p:spTree>
    <p:extLst>
      <p:ext uri="{BB962C8B-B14F-4D97-AF65-F5344CB8AC3E}">
        <p14:creationId xmlns:p14="http://schemas.microsoft.com/office/powerpoint/2010/main" val="23037329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BE458357-0949-E7D1-89EE-1A497205911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07C4C576-E24D-3E68-B2B4-C34A51DACE6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Feature Engineering – Derived Features:</a:t>
            </a:r>
          </a:p>
        </p:txBody>
      </p:sp>
      <p:sp>
        <p:nvSpPr>
          <p:cNvPr id="2" name="Slide Number Placeholder 1">
            <a:extLst>
              <a:ext uri="{FF2B5EF4-FFF2-40B4-BE49-F238E27FC236}">
                <a16:creationId xmlns:a16="http://schemas.microsoft.com/office/drawing/2014/main" id="{71A23115-5FAA-B749-51E3-F72575C8F30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41</a:t>
            </a:fld>
            <a:endParaRPr lang="en-US"/>
          </a:p>
        </p:txBody>
      </p:sp>
      <p:sp>
        <p:nvSpPr>
          <p:cNvPr id="14" name="Google Shape;190;p40">
            <a:extLst>
              <a:ext uri="{FF2B5EF4-FFF2-40B4-BE49-F238E27FC236}">
                <a16:creationId xmlns:a16="http://schemas.microsoft.com/office/drawing/2014/main" id="{AF4726B3-5DB4-2898-E2A9-26A7804743C4}"/>
              </a:ext>
            </a:extLst>
          </p:cNvPr>
          <p:cNvSpPr txBox="1">
            <a:spLocks noGrp="1"/>
          </p:cNvSpPr>
          <p:nvPr>
            <p:ph type="body" idx="1"/>
          </p:nvPr>
        </p:nvSpPr>
        <p:spPr>
          <a:xfrm>
            <a:off x="468977" y="3872241"/>
            <a:ext cx="8249721" cy="1011016"/>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b="1" dirty="0">
                <a:solidFill>
                  <a:schemeClr val="dk1"/>
                </a:solidFill>
                <a:latin typeface="Nunito" pitchFamily="2" charset="0"/>
                <a:ea typeface="Century Gothic"/>
                <a:cs typeface="Century Gothic"/>
                <a:sym typeface="Century Gothic"/>
              </a:rPr>
              <a:t>Derived Features Summary</a:t>
            </a:r>
          </a:p>
          <a:p>
            <a:pPr marL="171450" indent="-171450" algn="just">
              <a:spcBef>
                <a:spcPts val="400"/>
              </a:spcBef>
              <a:buClr>
                <a:schemeClr val="dk1"/>
              </a:buClr>
              <a:buSzPts val="1400"/>
            </a:pPr>
            <a:r>
              <a:rPr lang="en-US" sz="1200" dirty="0">
                <a:solidFill>
                  <a:schemeClr val="dk1"/>
                </a:solidFill>
                <a:latin typeface="Nunito" pitchFamily="2" charset="0"/>
                <a:ea typeface="Century Gothic"/>
                <a:cs typeface="Century Gothic"/>
                <a:sym typeface="Century Gothic"/>
              </a:rPr>
              <a:t>Generated Derived Features display right skew and outliers. They should be normalized before included.</a:t>
            </a:r>
          </a:p>
          <a:p>
            <a:pPr marL="171450" indent="-171450" algn="just">
              <a:spcBef>
                <a:spcPts val="400"/>
              </a:spcBef>
              <a:buClr>
                <a:schemeClr val="dk1"/>
              </a:buClr>
              <a:buSzPts val="1400"/>
            </a:pPr>
            <a:r>
              <a:rPr lang="en-US" sz="1200" dirty="0">
                <a:solidFill>
                  <a:schemeClr val="dk1"/>
                </a:solidFill>
                <a:latin typeface="Nunito" pitchFamily="2" charset="0"/>
                <a:ea typeface="Century Gothic"/>
                <a:cs typeface="Century Gothic"/>
                <a:sym typeface="Century Gothic"/>
              </a:rPr>
              <a:t>Additional derived features should be explored to find hidden patterns and relationships not visible in original data.</a:t>
            </a:r>
          </a:p>
        </p:txBody>
      </p:sp>
      <p:pic>
        <p:nvPicPr>
          <p:cNvPr id="4" name="Picture 3" descr="A graph of a number of numbers and a graph&#10;&#10;AI-generated content may be incorrect.">
            <a:extLst>
              <a:ext uri="{FF2B5EF4-FFF2-40B4-BE49-F238E27FC236}">
                <a16:creationId xmlns:a16="http://schemas.microsoft.com/office/drawing/2014/main" id="{4A13DE57-4BBC-01C9-3C34-9F17EBC99BC1}"/>
              </a:ext>
            </a:extLst>
          </p:cNvPr>
          <p:cNvPicPr>
            <a:picLocks noChangeAspect="1"/>
          </p:cNvPicPr>
          <p:nvPr/>
        </p:nvPicPr>
        <p:blipFill>
          <a:blip r:embed="rId3"/>
          <a:stretch>
            <a:fillRect/>
          </a:stretch>
        </p:blipFill>
        <p:spPr>
          <a:xfrm>
            <a:off x="588623" y="733939"/>
            <a:ext cx="7718626" cy="2140895"/>
          </a:xfrm>
          <a:prstGeom prst="rect">
            <a:avLst/>
          </a:prstGeom>
        </p:spPr>
      </p:pic>
      <p:pic>
        <p:nvPicPr>
          <p:cNvPr id="7" name="Picture 6">
            <a:extLst>
              <a:ext uri="{FF2B5EF4-FFF2-40B4-BE49-F238E27FC236}">
                <a16:creationId xmlns:a16="http://schemas.microsoft.com/office/drawing/2014/main" id="{CD6F4829-AB86-BD8A-81C9-F5C400018B0A}"/>
              </a:ext>
            </a:extLst>
          </p:cNvPr>
          <p:cNvPicPr>
            <a:picLocks noChangeAspect="1"/>
          </p:cNvPicPr>
          <p:nvPr/>
        </p:nvPicPr>
        <p:blipFill>
          <a:blip r:embed="rId4"/>
          <a:stretch>
            <a:fillRect/>
          </a:stretch>
        </p:blipFill>
        <p:spPr>
          <a:xfrm>
            <a:off x="627495" y="2943656"/>
            <a:ext cx="7790121" cy="859763"/>
          </a:xfrm>
          <a:prstGeom prst="rect">
            <a:avLst/>
          </a:prstGeom>
        </p:spPr>
      </p:pic>
    </p:spTree>
    <p:extLst>
      <p:ext uri="{BB962C8B-B14F-4D97-AF65-F5344CB8AC3E}">
        <p14:creationId xmlns:p14="http://schemas.microsoft.com/office/powerpoint/2010/main" val="29645594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pic>
        <p:nvPicPr>
          <p:cNvPr id="217" name="Google Shape;217;p45"/>
          <p:cNvPicPr preferRelativeResize="0"/>
          <p:nvPr/>
        </p:nvPicPr>
        <p:blipFill rotWithShape="1">
          <a:blip r:embed="rId3">
            <a:alphaModFix/>
          </a:blip>
          <a:srcRect/>
          <a:stretch/>
        </p:blipFill>
        <p:spPr>
          <a:xfrm>
            <a:off x="403689" y="644674"/>
            <a:ext cx="7832680" cy="3157128"/>
          </a:xfrm>
          <a:prstGeom prst="rect">
            <a:avLst/>
          </a:prstGeom>
          <a:noFill/>
          <a:ln>
            <a:noFill/>
          </a:ln>
        </p:spPr>
      </p:pic>
      <p:sp>
        <p:nvSpPr>
          <p:cNvPr id="2" name="Slide Number Placeholder 1">
            <a:extLst>
              <a:ext uri="{FF2B5EF4-FFF2-40B4-BE49-F238E27FC236}">
                <a16:creationId xmlns:a16="http://schemas.microsoft.com/office/drawing/2014/main" id="{CEEB3F50-3DFC-8EA4-BEC1-616F4958DF0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42</a:t>
            </a:fld>
            <a:endParaRPr lang="en-US"/>
          </a:p>
        </p:txBody>
      </p:sp>
      <p:sp>
        <p:nvSpPr>
          <p:cNvPr id="3" name="Google Shape;210;p44">
            <a:extLst>
              <a:ext uri="{FF2B5EF4-FFF2-40B4-BE49-F238E27FC236}">
                <a16:creationId xmlns:a16="http://schemas.microsoft.com/office/drawing/2014/main" id="{F992FD17-2D1A-07B6-57FC-162C45F6A7C2}"/>
              </a:ext>
            </a:extLst>
          </p:cNvPr>
          <p:cNvSpPr txBox="1"/>
          <p:nvPr/>
        </p:nvSpPr>
        <p:spPr>
          <a:xfrm>
            <a:off x="219711" y="10498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FB354637-9BDA-8B3D-2C1F-5F7935E67390}"/>
              </a:ext>
            </a:extLst>
          </p:cNvPr>
          <p:cNvSpPr txBox="1">
            <a:spLocks/>
          </p:cNvSpPr>
          <p:nvPr/>
        </p:nvSpPr>
        <p:spPr>
          <a:xfrm>
            <a:off x="257100" y="3652609"/>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Outliers compressed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47"/>
          <p:cNvPicPr preferRelativeResize="0"/>
          <p:nvPr/>
        </p:nvPicPr>
        <p:blipFill rotWithShape="1">
          <a:blip r:embed="rId3">
            <a:alphaModFix/>
          </a:blip>
          <a:srcRect/>
          <a:stretch/>
        </p:blipFill>
        <p:spPr>
          <a:xfrm>
            <a:off x="561028" y="619753"/>
            <a:ext cx="7377948" cy="3125202"/>
          </a:xfrm>
          <a:prstGeom prst="rect">
            <a:avLst/>
          </a:prstGeom>
          <a:noFill/>
          <a:ln>
            <a:noFill/>
          </a:ln>
        </p:spPr>
      </p:pic>
      <p:sp>
        <p:nvSpPr>
          <p:cNvPr id="2" name="Slide Number Placeholder 1">
            <a:extLst>
              <a:ext uri="{FF2B5EF4-FFF2-40B4-BE49-F238E27FC236}">
                <a16:creationId xmlns:a16="http://schemas.microsoft.com/office/drawing/2014/main" id="{611E005D-1CBD-4BDA-13A2-F5B93BE98F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43</a:t>
            </a:fld>
            <a:endParaRPr lang="en-US"/>
          </a:p>
        </p:txBody>
      </p:sp>
      <p:sp>
        <p:nvSpPr>
          <p:cNvPr id="3" name="Google Shape;210;p44">
            <a:extLst>
              <a:ext uri="{FF2B5EF4-FFF2-40B4-BE49-F238E27FC236}">
                <a16:creationId xmlns:a16="http://schemas.microsoft.com/office/drawing/2014/main" id="{F2C8C0BF-21DC-5693-C2D0-E8DA08DEA2E5}"/>
              </a:ext>
            </a:extLst>
          </p:cNvPr>
          <p:cNvSpPr txBox="1"/>
          <p:nvPr/>
        </p:nvSpPr>
        <p:spPr>
          <a:xfrm>
            <a:off x="252169" y="10521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045311B1-DDDB-CF48-FD04-CA65C118F5B8}"/>
              </a:ext>
            </a:extLst>
          </p:cNvPr>
          <p:cNvSpPr txBox="1">
            <a:spLocks/>
          </p:cNvSpPr>
          <p:nvPr/>
        </p:nvSpPr>
        <p:spPr>
          <a:xfrm>
            <a:off x="385199" y="3578522"/>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Some outliers still exist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AE891912-0DF9-B00D-7E72-309ADBEFB02C}"/>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9FB5240F-20CC-FF0B-C11C-72B4D6E9D291}"/>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5EE02721-681E-54B5-DEE8-BFDB32633F8C}"/>
              </a:ext>
            </a:extLst>
          </p:cNvPr>
          <p:cNvSpPr txBox="1">
            <a:spLocks noGrp="1"/>
          </p:cNvSpPr>
          <p:nvPr>
            <p:ph type="body" idx="1"/>
          </p:nvPr>
        </p:nvSpPr>
        <p:spPr>
          <a:xfrm>
            <a:off x="147950" y="919437"/>
            <a:ext cx="8629800" cy="2569135"/>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Based on the information available in this slide deck, it is impossible to verify what normalization techniques were used in feature engineering.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Analysis here is best guess. For more detailed insights, review to the subsections entitled:</a:t>
            </a:r>
            <a:br>
              <a:rPr lang="en-US" sz="1400" dirty="0">
                <a:solidFill>
                  <a:schemeClr val="dk1"/>
                </a:solidFill>
                <a:latin typeface="Century Gothic"/>
                <a:sym typeface="Century Gothic"/>
              </a:rPr>
            </a:br>
            <a:r>
              <a:rPr lang="en-US" sz="1400" b="1" u="sng" dirty="0">
                <a:solidFill>
                  <a:schemeClr val="dk1"/>
                </a:solidFill>
                <a:latin typeface="Century Gothic"/>
                <a:sym typeface="Century Gothic"/>
              </a:rPr>
              <a:t>Statistical Analysis – Normalized Features</a:t>
            </a:r>
            <a:r>
              <a:rPr lang="en-US" sz="1400" dirty="0">
                <a:solidFill>
                  <a:schemeClr val="dk1"/>
                </a:solidFill>
                <a:latin typeface="Century Gothic"/>
                <a:sym typeface="Century Gothic"/>
              </a:rPr>
              <a:t> </a:t>
            </a:r>
            <a:endParaRPr dirty="0"/>
          </a:p>
        </p:txBody>
      </p:sp>
      <p:sp>
        <p:nvSpPr>
          <p:cNvPr id="2" name="Slide Number Placeholder 1">
            <a:extLst>
              <a:ext uri="{FF2B5EF4-FFF2-40B4-BE49-F238E27FC236}">
                <a16:creationId xmlns:a16="http://schemas.microsoft.com/office/drawing/2014/main" id="{491BA8EF-B8D6-D9CB-4075-4868BD92433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44</a:t>
            </a:fld>
            <a:endParaRPr lang="en-US"/>
          </a:p>
        </p:txBody>
      </p:sp>
    </p:spTree>
    <p:extLst>
      <p:ext uri="{BB962C8B-B14F-4D97-AF65-F5344CB8AC3E}">
        <p14:creationId xmlns:p14="http://schemas.microsoft.com/office/powerpoint/2010/main" val="7511781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A278AA5-0C44-AF03-0959-E61B63332E2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738667D-EC9F-A0F0-802F-6B059E8514A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2" name="Slide Number Placeholder 1">
            <a:extLst>
              <a:ext uri="{FF2B5EF4-FFF2-40B4-BE49-F238E27FC236}">
                <a16:creationId xmlns:a16="http://schemas.microsoft.com/office/drawing/2014/main" id="{DA4969C8-9EA9-9040-FC7E-F8A13F3155A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45</a:t>
            </a:fld>
            <a:endParaRPr lang="en-US"/>
          </a:p>
        </p:txBody>
      </p:sp>
      <p:pic>
        <p:nvPicPr>
          <p:cNvPr id="4" name="Picture 3" descr="A group of graphs showing different sizes and colors&#10;&#10;AI-generated content may be incorrect.">
            <a:extLst>
              <a:ext uri="{FF2B5EF4-FFF2-40B4-BE49-F238E27FC236}">
                <a16:creationId xmlns:a16="http://schemas.microsoft.com/office/drawing/2014/main" id="{D8AB1660-E972-0EF5-C744-0BF2D50E919B}"/>
              </a:ext>
            </a:extLst>
          </p:cNvPr>
          <p:cNvPicPr>
            <a:picLocks noChangeAspect="1"/>
          </p:cNvPicPr>
          <p:nvPr/>
        </p:nvPicPr>
        <p:blipFill>
          <a:blip r:embed="rId3"/>
          <a:stretch>
            <a:fillRect/>
          </a:stretch>
        </p:blipFill>
        <p:spPr>
          <a:xfrm>
            <a:off x="1033113" y="610571"/>
            <a:ext cx="6937575" cy="4286717"/>
          </a:xfrm>
          <a:prstGeom prst="rect">
            <a:avLst/>
          </a:prstGeom>
        </p:spPr>
      </p:pic>
    </p:spTree>
    <p:extLst>
      <p:ext uri="{BB962C8B-B14F-4D97-AF65-F5344CB8AC3E}">
        <p14:creationId xmlns:p14="http://schemas.microsoft.com/office/powerpoint/2010/main" val="18588096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BFCC694-81EA-FF02-4F4F-F0E598CB748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F080ECC-6526-7E69-A7EF-C1EA3FED209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190" name="Google Shape;190;p40">
            <a:extLst>
              <a:ext uri="{FF2B5EF4-FFF2-40B4-BE49-F238E27FC236}">
                <a16:creationId xmlns:a16="http://schemas.microsoft.com/office/drawing/2014/main" id="{C69C2CA2-88E4-C461-ED30-1857B546F4F4}"/>
              </a:ext>
            </a:extLst>
          </p:cNvPr>
          <p:cNvSpPr txBox="1">
            <a:spLocks noGrp="1"/>
          </p:cNvSpPr>
          <p:nvPr>
            <p:ph type="body" idx="1"/>
          </p:nvPr>
        </p:nvSpPr>
        <p:spPr>
          <a:xfrm>
            <a:off x="0" y="3235808"/>
            <a:ext cx="4556303" cy="1766607"/>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Close to normal distribution,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binarize?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9AB37F-8DEF-7D1F-7469-57E038BC201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46</a:t>
            </a:fld>
            <a:endParaRPr lang="en-US"/>
          </a:p>
        </p:txBody>
      </p:sp>
      <p:sp>
        <p:nvSpPr>
          <p:cNvPr id="7" name="Google Shape;190;p40">
            <a:extLst>
              <a:ext uri="{FF2B5EF4-FFF2-40B4-BE49-F238E27FC236}">
                <a16:creationId xmlns:a16="http://schemas.microsoft.com/office/drawing/2014/main" id="{CCDDB7F7-AD2A-772E-27CE-6E6E5E8F9341}"/>
              </a:ext>
            </a:extLst>
          </p:cNvPr>
          <p:cNvSpPr txBox="1">
            <a:spLocks/>
          </p:cNvSpPr>
          <p:nvPr/>
        </p:nvSpPr>
        <p:spPr>
          <a:xfrm>
            <a:off x="4587698" y="3284476"/>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binarize?</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Normal, but bimodal?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Better.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Normal-</a:t>
            </a:r>
            <a:r>
              <a:rPr lang="en-US" sz="1200" dirty="0" err="1">
                <a:solidFill>
                  <a:schemeClr val="dk1"/>
                </a:solidFill>
                <a:latin typeface="Nunito" pitchFamily="2" charset="0"/>
                <a:ea typeface="Century Gothic"/>
                <a:cs typeface="Century Gothic"/>
                <a:sym typeface="Century Gothic"/>
              </a:rPr>
              <a:t>ish</a:t>
            </a:r>
            <a:r>
              <a:rPr lang="en-US" sz="1200" dirty="0">
                <a:solidFill>
                  <a:schemeClr val="dk1"/>
                </a:solidFill>
                <a:latin typeface="Nunito" pitchFamily="2" charset="0"/>
                <a:ea typeface="Century Gothic"/>
                <a:cs typeface="Century Gothic"/>
                <a:sym typeface="Century Gothic"/>
              </a:rPr>
              <a:t>. Kurtosis reduced, but still high</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pic>
        <p:nvPicPr>
          <p:cNvPr id="4" name="Picture 3" descr="A screenshot of a computer&#10;&#10;AI-generated content may be incorrect.">
            <a:extLst>
              <a:ext uri="{FF2B5EF4-FFF2-40B4-BE49-F238E27FC236}">
                <a16:creationId xmlns:a16="http://schemas.microsoft.com/office/drawing/2014/main" id="{08D5D30F-677F-8479-79E5-878CE5246001}"/>
              </a:ext>
            </a:extLst>
          </p:cNvPr>
          <p:cNvPicPr>
            <a:picLocks noChangeAspect="1"/>
          </p:cNvPicPr>
          <p:nvPr/>
        </p:nvPicPr>
        <p:blipFill>
          <a:blip r:embed="rId3"/>
          <a:stretch>
            <a:fillRect/>
          </a:stretch>
        </p:blipFill>
        <p:spPr>
          <a:xfrm>
            <a:off x="234489" y="665117"/>
            <a:ext cx="8675022" cy="2226942"/>
          </a:xfrm>
          <a:prstGeom prst="rect">
            <a:avLst/>
          </a:prstGeom>
        </p:spPr>
      </p:pic>
    </p:spTree>
    <p:extLst>
      <p:ext uri="{BB962C8B-B14F-4D97-AF65-F5344CB8AC3E}">
        <p14:creationId xmlns:p14="http://schemas.microsoft.com/office/powerpoint/2010/main" val="31778013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8"/>
          <p:cNvSpPr txBox="1">
            <a:spLocks noGrp="1"/>
          </p:cNvSpPr>
          <p:nvPr>
            <p:ph type="title"/>
          </p:nvPr>
        </p:nvSpPr>
        <p:spPr>
          <a:xfrm>
            <a:off x="202550" y="8885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1: Basic Neural Network </a:t>
            </a:r>
            <a:endParaRPr dirty="0"/>
          </a:p>
        </p:txBody>
      </p:sp>
      <p:sp>
        <p:nvSpPr>
          <p:cNvPr id="233" name="Google Shape;233;p48"/>
          <p:cNvSpPr txBox="1">
            <a:spLocks noGrp="1"/>
          </p:cNvSpPr>
          <p:nvPr>
            <p:ph type="body" idx="1"/>
          </p:nvPr>
        </p:nvSpPr>
        <p:spPr>
          <a:xfrm>
            <a:off x="415250" y="1935381"/>
            <a:ext cx="8307900" cy="3011525"/>
          </a:xfrm>
          <a:prstGeom prst="rect">
            <a:avLst/>
          </a:prstGeom>
          <a:noFill/>
          <a:ln>
            <a:noFill/>
          </a:ln>
        </p:spPr>
        <p:txBody>
          <a:bodyPr spcFirstLastPara="1" wrap="square" lIns="91425" tIns="91425" rIns="91425" bIns="91425" anchor="t" anchorCtr="0">
            <a:no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Definitions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 – </a:t>
            </a:r>
            <a:r>
              <a:rPr lang="en-US" sz="1000" dirty="0">
                <a:solidFill>
                  <a:schemeClr val="dk1"/>
                </a:solidFill>
                <a:latin typeface="Nunito" pitchFamily="2" charset="0"/>
                <a:ea typeface="Century Gothic"/>
                <a:cs typeface="Century Gothic"/>
                <a:sym typeface="Century Gothic"/>
              </a:rPr>
              <a:t>percentage of model predictions that are correct</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 – (0&lt;-&gt;1.0) </a:t>
            </a:r>
            <a:r>
              <a:rPr lang="en-US" sz="1000" dirty="0">
                <a:solidFill>
                  <a:schemeClr val="dk1"/>
                </a:solidFill>
                <a:latin typeface="Nunito" pitchFamily="2" charset="0"/>
                <a:ea typeface="Century Gothic"/>
                <a:cs typeface="Century Gothic"/>
                <a:sym typeface="Century Gothic"/>
              </a:rPr>
              <a:t>how much model is better than random guessing</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Recall – </a:t>
            </a:r>
            <a:r>
              <a:rPr lang="en-US" sz="900" dirty="0"/>
              <a:t>percentage of defaults actually caught by model</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Weighted Recall – </a:t>
            </a:r>
            <a:r>
              <a:rPr lang="en-US" sz="900" dirty="0"/>
              <a:t>average recall across both classes, weighted by class size</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Precision – </a:t>
            </a:r>
            <a:r>
              <a:rPr lang="en-US" sz="900" dirty="0"/>
              <a:t>of all predicted defaults, what percentage were actually correct?</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Weighted Precision – </a:t>
            </a:r>
            <a:r>
              <a:rPr lang="en-US" sz="900" dirty="0"/>
              <a:t>average precision across both classes, weighted by class size.</a:t>
            </a:r>
            <a:endParaRPr lang="en-US" sz="1000" dirty="0">
              <a:solidFill>
                <a:schemeClr val="dk1"/>
              </a:solidFill>
              <a:latin typeface="Nunito" pitchFamily="2" charset="0"/>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Why Weight?</a:t>
            </a:r>
          </a:p>
          <a:p>
            <a:pPr marL="628650" lvl="1" indent="-171450" algn="just">
              <a:spcBef>
                <a:spcPts val="400"/>
              </a:spcBef>
              <a:buClr>
                <a:schemeClr val="dk1"/>
              </a:buClr>
              <a:buSzPts val="1400"/>
            </a:pPr>
            <a:r>
              <a:rPr lang="en-US" sz="1000" dirty="0">
                <a:solidFill>
                  <a:schemeClr val="dk1"/>
                </a:solidFill>
                <a:latin typeface="Nunito" pitchFamily="2" charset="0"/>
                <a:sym typeface="Century Gothic"/>
              </a:rPr>
              <a:t>To account for class imbalance, weighting gives more importance to majority (non-default) so scores are reflection of population proportions</a:t>
            </a:r>
          </a:p>
        </p:txBody>
      </p:sp>
      <p:graphicFrame>
        <p:nvGraphicFramePr>
          <p:cNvPr id="234" name="Google Shape;234;p48"/>
          <p:cNvGraphicFramePr/>
          <p:nvPr>
            <p:extLst>
              <p:ext uri="{D42A27DB-BD31-4B8C-83A1-F6EECF244321}">
                <p14:modId xmlns:p14="http://schemas.microsoft.com/office/powerpoint/2010/main" val="2017363557"/>
              </p:ext>
            </p:extLst>
          </p:nvPr>
        </p:nvGraphicFramePr>
        <p:xfrm>
          <a:off x="1251404" y="661557"/>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Kappa</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Basic Neural Network </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76.71</a:t>
                      </a:r>
                      <a:endParaRPr sz="1200" u="none" strike="noStrike" cap="none" dirty="0">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2D31FCDC-E85D-2B56-2189-19DE3C4EBF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5DB4A477-0DBF-DA9C-0021-9CE4AAE81086}"/>
            </a:ext>
          </a:extLst>
        </p:cNvPr>
        <p:cNvGrpSpPr/>
        <p:nvPr/>
      </p:nvGrpSpPr>
      <p:grpSpPr>
        <a:xfrm>
          <a:off x="0" y="0"/>
          <a:ext cx="0" cy="0"/>
          <a:chOff x="0" y="0"/>
          <a:chExt cx="0" cy="0"/>
        </a:xfrm>
      </p:grpSpPr>
      <p:sp>
        <p:nvSpPr>
          <p:cNvPr id="232" name="Google Shape;232;p48">
            <a:extLst>
              <a:ext uri="{FF2B5EF4-FFF2-40B4-BE49-F238E27FC236}">
                <a16:creationId xmlns:a16="http://schemas.microsoft.com/office/drawing/2014/main" id="{5CAFED05-77FB-EE72-881C-7D7C31E416E4}"/>
              </a:ext>
            </a:extLst>
          </p:cNvPr>
          <p:cNvSpPr txBox="1">
            <a:spLocks noGrp="1"/>
          </p:cNvSpPr>
          <p:nvPr>
            <p:ph type="title"/>
          </p:nvPr>
        </p:nvSpPr>
        <p:spPr>
          <a:xfrm>
            <a:off x="202550" y="8885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1: Basic Neural Network </a:t>
            </a:r>
            <a:endParaRPr dirty="0"/>
          </a:p>
        </p:txBody>
      </p:sp>
      <p:sp>
        <p:nvSpPr>
          <p:cNvPr id="233" name="Google Shape;233;p48">
            <a:extLst>
              <a:ext uri="{FF2B5EF4-FFF2-40B4-BE49-F238E27FC236}">
                <a16:creationId xmlns:a16="http://schemas.microsoft.com/office/drawing/2014/main" id="{140E8793-5A0B-BA3B-41CC-CFE952BAFF76}"/>
              </a:ext>
            </a:extLst>
          </p:cNvPr>
          <p:cNvSpPr txBox="1">
            <a:spLocks noGrp="1"/>
          </p:cNvSpPr>
          <p:nvPr>
            <p:ph type="body" idx="1"/>
          </p:nvPr>
        </p:nvSpPr>
        <p:spPr>
          <a:xfrm>
            <a:off x="415250" y="873167"/>
            <a:ext cx="8307900" cy="3883131"/>
          </a:xfrm>
          <a:prstGeom prst="rect">
            <a:avLst/>
          </a:prstGeom>
          <a:noFill/>
          <a:ln>
            <a:noFill/>
          </a:ln>
        </p:spPr>
        <p:txBody>
          <a:bodyPr spcFirstLastPara="1" wrap="square" lIns="91425" tIns="91425" rIns="91425" bIns="91425" anchor="t" anchorCtr="0">
            <a:no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Analysis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a:t>
            </a:r>
          </a:p>
          <a:p>
            <a:pPr marL="1085850" lvl="2" indent="-171450" algn="just">
              <a:spcBef>
                <a:spcPts val="400"/>
              </a:spcBef>
              <a:buClr>
                <a:schemeClr val="dk1"/>
              </a:buClr>
              <a:buSzPts val="1400"/>
            </a:pPr>
            <a:r>
              <a:rPr lang="en-US" sz="900" b="1" dirty="0"/>
              <a:t>≈85% </a:t>
            </a:r>
            <a:r>
              <a:rPr lang="en-US" sz="900" dirty="0"/>
              <a:t>is roughly </a:t>
            </a:r>
            <a:r>
              <a:rPr lang="en-US" sz="900" b="1" dirty="0"/>
              <a:t>5%</a:t>
            </a:r>
            <a:r>
              <a:rPr lang="en-US" sz="900" dirty="0"/>
              <a:t> better than </a:t>
            </a:r>
            <a:r>
              <a:rPr lang="en-US" sz="900" b="1" dirty="0"/>
              <a:t>80%</a:t>
            </a:r>
            <a:r>
              <a:rPr lang="en-US" sz="900" dirty="0"/>
              <a:t> baseline (if model predicted non-default for every row)</a:t>
            </a:r>
          </a:p>
          <a:p>
            <a:pPr marL="1085850" lvl="2" indent="-171450" algn="just">
              <a:spcBef>
                <a:spcPts val="400"/>
              </a:spcBef>
              <a:buClr>
                <a:schemeClr val="dk1"/>
              </a:buClr>
              <a:buSzPts val="1400"/>
            </a:pPr>
            <a:r>
              <a:rPr lang="en-US" sz="900" dirty="0"/>
              <a:t>Model is learning</a:t>
            </a:r>
          </a:p>
          <a:p>
            <a:pPr marL="1085850" lvl="2" indent="-171450" algn="just">
              <a:spcBef>
                <a:spcPts val="400"/>
              </a:spcBef>
              <a:buClr>
                <a:schemeClr val="dk1"/>
              </a:buClr>
              <a:buSzPts val="1400"/>
            </a:pPr>
            <a:r>
              <a:rPr lang="en-US" sz="900" dirty="0"/>
              <a:t>Not overfitting</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a:t>
            </a:r>
          </a:p>
          <a:p>
            <a:pPr marL="1085850" lvl="2" indent="-171450" algn="just">
              <a:spcBef>
                <a:spcPts val="400"/>
              </a:spcBef>
              <a:buClr>
                <a:schemeClr val="dk1"/>
              </a:buClr>
              <a:buSzPts val="1400"/>
            </a:pPr>
            <a:r>
              <a:rPr lang="en-US" sz="900" dirty="0"/>
              <a:t>Moderate agreement, better than random guessing (</a:t>
            </a:r>
            <a:r>
              <a:rPr lang="en-US" sz="900" b="1" dirty="0"/>
              <a:t>≈0.5</a:t>
            </a:r>
            <a:r>
              <a:rPr lang="en-US" sz="900" dirty="0"/>
              <a:t>)</a:t>
            </a:r>
          </a:p>
          <a:p>
            <a:pPr marL="1085850" lvl="2" indent="-171450" algn="just">
              <a:spcBef>
                <a:spcPts val="400"/>
              </a:spcBef>
              <a:buClr>
                <a:schemeClr val="dk1"/>
              </a:buClr>
              <a:buSzPts val="1400"/>
            </a:pPr>
            <a:r>
              <a:rPr lang="en-US" sz="900" dirty="0"/>
              <a:t>Room for improvement through tuning</a:t>
            </a:r>
          </a:p>
          <a:p>
            <a:pPr marL="1085850" lvl="2" indent="-171450" algn="just">
              <a:spcBef>
                <a:spcPts val="400"/>
              </a:spcBef>
              <a:buClr>
                <a:schemeClr val="dk1"/>
              </a:buClr>
              <a:buSzPts val="1400"/>
            </a:pPr>
            <a:r>
              <a:rPr lang="en-US" sz="900" dirty="0">
                <a:solidFill>
                  <a:schemeClr val="dk1"/>
                </a:solidFill>
                <a:latin typeface="Nunito" pitchFamily="2" charset="0"/>
                <a:ea typeface="Century Gothic"/>
                <a:cs typeface="Century Gothic"/>
                <a:sym typeface="Century Gothic"/>
              </a:rPr>
              <a:t>Confirms weighting offsets class imbalances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dirty="0"/>
              <a:t>Model catches </a:t>
            </a:r>
            <a:r>
              <a:rPr lang="en-US" sz="900" b="1" dirty="0"/>
              <a:t>≈74% </a:t>
            </a:r>
            <a:r>
              <a:rPr lang="en-US" sz="900" dirty="0"/>
              <a:t>of actual cases</a:t>
            </a:r>
          </a:p>
          <a:p>
            <a:pPr marL="1085850" lvl="2" indent="-171450" algn="just">
              <a:spcBef>
                <a:spcPts val="400"/>
              </a:spcBef>
              <a:buClr>
                <a:schemeClr val="dk1"/>
              </a:buClr>
              <a:buSzPts val="1400"/>
            </a:pPr>
            <a:r>
              <a:rPr lang="en-US" sz="900" dirty="0"/>
              <a:t>Lower than </a:t>
            </a:r>
            <a:r>
              <a:rPr lang="en-US" sz="900" b="1" dirty="0"/>
              <a:t>Accuracy</a:t>
            </a:r>
            <a:r>
              <a:rPr lang="en-US" sz="900" dirty="0"/>
              <a:t>, missing some defaults</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dirty="0"/>
              <a:t>Model is </a:t>
            </a:r>
            <a:r>
              <a:rPr lang="en-US" sz="900" b="1" dirty="0"/>
              <a:t>≈77% </a:t>
            </a:r>
            <a:r>
              <a:rPr lang="en-US" sz="900" dirty="0"/>
              <a:t>correct when it makes a prediction (weighted)</a:t>
            </a:r>
          </a:p>
          <a:p>
            <a:pPr marL="1085850" lvl="2" indent="-171450" algn="just">
              <a:spcBef>
                <a:spcPts val="400"/>
              </a:spcBef>
              <a:buClr>
                <a:schemeClr val="dk1"/>
              </a:buClr>
              <a:buSzPts val="1400"/>
            </a:pPr>
            <a:r>
              <a:rPr lang="en-US" sz="900" dirty="0"/>
              <a:t>Average precision across both classes, weighted by class size.</a:t>
            </a:r>
          </a:p>
          <a:p>
            <a:pPr marL="1085850" lvl="2" indent="-171450" algn="just">
              <a:spcBef>
                <a:spcPts val="400"/>
              </a:spcBef>
              <a:buClr>
                <a:schemeClr val="dk1"/>
              </a:buClr>
              <a:buSzPts val="1400"/>
            </a:pPr>
            <a:r>
              <a:rPr lang="en-US" sz="900" dirty="0">
                <a:solidFill>
                  <a:schemeClr val="dk1"/>
                </a:solidFill>
                <a:latin typeface="Nunito" pitchFamily="2" charset="0"/>
                <a:sym typeface="Century Gothic"/>
              </a:rPr>
              <a:t>Room for improvement via parameter tuning (or additional derived features/polynomial features)</a:t>
            </a:r>
            <a:endParaRPr lang="en-US" sz="1000" dirty="0">
              <a:solidFill>
                <a:schemeClr val="dk1"/>
              </a:solidFill>
              <a:latin typeface="Nunito" pitchFamily="2" charset="0"/>
              <a:sym typeface="Century Gothic"/>
            </a:endParaRPr>
          </a:p>
        </p:txBody>
      </p:sp>
      <p:sp>
        <p:nvSpPr>
          <p:cNvPr id="2" name="Slide Number Placeholder 1">
            <a:extLst>
              <a:ext uri="{FF2B5EF4-FFF2-40B4-BE49-F238E27FC236}">
                <a16:creationId xmlns:a16="http://schemas.microsoft.com/office/drawing/2014/main" id="{01A09E3F-3A6F-B7CE-6449-9634F7CCEDA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48</a:t>
            </a:fld>
            <a:endParaRPr lang="en-US"/>
          </a:p>
        </p:txBody>
      </p:sp>
    </p:spTree>
    <p:extLst>
      <p:ext uri="{BB962C8B-B14F-4D97-AF65-F5344CB8AC3E}">
        <p14:creationId xmlns:p14="http://schemas.microsoft.com/office/powerpoint/2010/main" val="3753549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38">
          <a:extLst>
            <a:ext uri="{FF2B5EF4-FFF2-40B4-BE49-F238E27FC236}">
              <a16:creationId xmlns:a16="http://schemas.microsoft.com/office/drawing/2014/main" id="{E4201AB8-FD3D-4164-6E90-83F7619B0B4F}"/>
            </a:ext>
          </a:extLst>
        </p:cNvPr>
        <p:cNvGrpSpPr/>
        <p:nvPr/>
      </p:nvGrpSpPr>
      <p:grpSpPr>
        <a:xfrm>
          <a:off x="0" y="0"/>
          <a:ext cx="0" cy="0"/>
          <a:chOff x="0" y="0"/>
          <a:chExt cx="0" cy="0"/>
        </a:xfrm>
      </p:grpSpPr>
      <p:sp>
        <p:nvSpPr>
          <p:cNvPr id="239" name="Google Shape;239;p49">
            <a:extLst>
              <a:ext uri="{FF2B5EF4-FFF2-40B4-BE49-F238E27FC236}">
                <a16:creationId xmlns:a16="http://schemas.microsoft.com/office/drawing/2014/main" id="{4ACC343A-BB13-AF9E-239F-40322B9ABDA8}"/>
              </a:ext>
            </a:extLst>
          </p:cNvPr>
          <p:cNvSpPr txBox="1">
            <a:spLocks noGrp="1"/>
          </p:cNvSpPr>
          <p:nvPr>
            <p:ph type="title"/>
          </p:nvPr>
        </p:nvSpPr>
        <p:spPr>
          <a:xfrm>
            <a:off x="230895" y="21130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2: Neural Network With Parameter Tuning</a:t>
            </a:r>
            <a:endParaRPr dirty="0"/>
          </a:p>
        </p:txBody>
      </p:sp>
      <p:graphicFrame>
        <p:nvGraphicFramePr>
          <p:cNvPr id="241" name="Google Shape;241;p49">
            <a:extLst>
              <a:ext uri="{FF2B5EF4-FFF2-40B4-BE49-F238E27FC236}">
                <a16:creationId xmlns:a16="http://schemas.microsoft.com/office/drawing/2014/main" id="{722EBEE2-FDE2-5236-6728-50323A46FB1D}"/>
              </a:ext>
            </a:extLst>
          </p:cNvPr>
          <p:cNvGraphicFramePr/>
          <p:nvPr>
            <p:extLst>
              <p:ext uri="{D42A27DB-BD31-4B8C-83A1-F6EECF244321}">
                <p14:modId xmlns:p14="http://schemas.microsoft.com/office/powerpoint/2010/main" val="916334685"/>
              </p:ext>
            </p:extLst>
          </p:nvPr>
        </p:nvGraphicFramePr>
        <p:xfrm>
          <a:off x="1081281" y="1199123"/>
          <a:ext cx="5983350" cy="1235090"/>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Metric</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594659">
                <a:tc>
                  <a:txBody>
                    <a:bodyPr/>
                    <a:lstStyle/>
                    <a:p>
                      <a:pPr marL="0" marR="0" lvl="0" indent="0" algn="ctr" rtl="0">
                        <a:lnSpc>
                          <a:spcPct val="100000"/>
                        </a:lnSpc>
                        <a:spcBef>
                          <a:spcPts val="0"/>
                        </a:spcBef>
                        <a:spcAft>
                          <a:spcPts val="0"/>
                        </a:spcAft>
                        <a:buClr>
                          <a:srgbClr val="000000"/>
                        </a:buClr>
                        <a:buSzPts val="1200"/>
                        <a:buFont typeface="Arial"/>
                        <a:buNone/>
                      </a:pPr>
                      <a:r>
                        <a:rPr lang="en-US" sz="1200" dirty="0">
                          <a:latin typeface="Nunito"/>
                          <a:ea typeface="Nunito"/>
                          <a:cs typeface="Nunito"/>
                          <a:sym typeface="Nunito"/>
                        </a:rPr>
                        <a:t>Neural Network with Parameter Tuning</a:t>
                      </a:r>
                      <a:endParaRPr sz="1200" u="none" strike="noStrike" cap="none" dirty="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83.17</a:t>
                      </a:r>
                      <a:endParaRPr sz="1200" u="none" strike="noStrike" cap="none" dirty="0">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B0E80BC3-68AA-592E-E4D2-86FF88CD7EB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49</a:t>
            </a:fld>
            <a:endParaRPr lang="en-US"/>
          </a:p>
        </p:txBody>
      </p:sp>
    </p:spTree>
    <p:extLst>
      <p:ext uri="{BB962C8B-B14F-4D97-AF65-F5344CB8AC3E}">
        <p14:creationId xmlns:p14="http://schemas.microsoft.com/office/powerpoint/2010/main" val="30891467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38">
          <a:extLst>
            <a:ext uri="{FF2B5EF4-FFF2-40B4-BE49-F238E27FC236}">
              <a16:creationId xmlns:a16="http://schemas.microsoft.com/office/drawing/2014/main" id="{9BA8AC34-A268-0FFF-C949-DF474C56F8D1}"/>
            </a:ext>
          </a:extLst>
        </p:cNvPr>
        <p:cNvGrpSpPr/>
        <p:nvPr/>
      </p:nvGrpSpPr>
      <p:grpSpPr>
        <a:xfrm>
          <a:off x="0" y="0"/>
          <a:ext cx="0" cy="0"/>
          <a:chOff x="0" y="0"/>
          <a:chExt cx="0" cy="0"/>
        </a:xfrm>
      </p:grpSpPr>
      <p:sp>
        <p:nvSpPr>
          <p:cNvPr id="239" name="Google Shape;239;p49">
            <a:extLst>
              <a:ext uri="{FF2B5EF4-FFF2-40B4-BE49-F238E27FC236}">
                <a16:creationId xmlns:a16="http://schemas.microsoft.com/office/drawing/2014/main" id="{351A1495-AFA8-C8E4-C4AB-A76F2BE942F8}"/>
              </a:ext>
            </a:extLst>
          </p:cNvPr>
          <p:cNvSpPr txBox="1">
            <a:spLocks noGrp="1"/>
          </p:cNvSpPr>
          <p:nvPr>
            <p:ph type="title"/>
          </p:nvPr>
        </p:nvSpPr>
        <p:spPr>
          <a:xfrm>
            <a:off x="202541" y="16168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2: Neural Network With Parameter Tuning</a:t>
            </a:r>
            <a:endParaRPr dirty="0"/>
          </a:p>
        </p:txBody>
      </p:sp>
      <p:sp>
        <p:nvSpPr>
          <p:cNvPr id="2" name="Slide Number Placeholder 1">
            <a:extLst>
              <a:ext uri="{FF2B5EF4-FFF2-40B4-BE49-F238E27FC236}">
                <a16:creationId xmlns:a16="http://schemas.microsoft.com/office/drawing/2014/main" id="{FAD02AB6-BE6F-4948-0196-C474176FBC3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50</a:t>
            </a:fld>
            <a:endParaRPr lang="en-US"/>
          </a:p>
        </p:txBody>
      </p:sp>
      <p:sp>
        <p:nvSpPr>
          <p:cNvPr id="5" name="Google Shape;233;p48">
            <a:extLst>
              <a:ext uri="{FF2B5EF4-FFF2-40B4-BE49-F238E27FC236}">
                <a16:creationId xmlns:a16="http://schemas.microsoft.com/office/drawing/2014/main" id="{85E87858-410F-697C-D534-00497C89AE6D}"/>
              </a:ext>
            </a:extLst>
          </p:cNvPr>
          <p:cNvSpPr txBox="1">
            <a:spLocks/>
          </p:cNvSpPr>
          <p:nvPr/>
        </p:nvSpPr>
        <p:spPr>
          <a:xfrm>
            <a:off x="308891" y="808871"/>
            <a:ext cx="8307900" cy="38831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Analysis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a:t>
            </a:r>
          </a:p>
          <a:p>
            <a:pPr marL="1085850" lvl="2" indent="-171450" algn="just">
              <a:spcBef>
                <a:spcPts val="400"/>
              </a:spcBef>
              <a:buClr>
                <a:schemeClr val="dk1"/>
              </a:buClr>
              <a:buSzPts val="1400"/>
            </a:pPr>
            <a:r>
              <a:rPr lang="en-US" sz="900" b="1" dirty="0"/>
              <a:t>≈88%</a:t>
            </a:r>
            <a:r>
              <a:rPr lang="en-US" sz="900" dirty="0"/>
              <a:t> is roughly </a:t>
            </a:r>
            <a:r>
              <a:rPr lang="en-US" sz="900" b="1" dirty="0"/>
              <a:t>8%</a:t>
            </a:r>
            <a:r>
              <a:rPr lang="en-US" sz="900" dirty="0"/>
              <a:t> better than </a:t>
            </a:r>
            <a:r>
              <a:rPr lang="en-US" sz="900" b="1" dirty="0"/>
              <a:t>80% </a:t>
            </a:r>
            <a:r>
              <a:rPr lang="en-US" sz="900" dirty="0"/>
              <a:t>baseline (if model predicted non-default for every row)</a:t>
            </a:r>
          </a:p>
          <a:p>
            <a:pPr marL="1085850" lvl="2" indent="-171450" algn="just">
              <a:spcBef>
                <a:spcPts val="400"/>
              </a:spcBef>
              <a:buClr>
                <a:schemeClr val="dk1"/>
              </a:buClr>
              <a:buSzPts val="1400"/>
            </a:pPr>
            <a:r>
              <a:rPr lang="en-US" sz="900" dirty="0"/>
              <a:t>Model is learning better (</a:t>
            </a:r>
            <a:r>
              <a:rPr lang="en-US" sz="900" b="1" dirty="0"/>
              <a:t>≈3%</a:t>
            </a:r>
            <a:r>
              <a:rPr lang="en-US" sz="900" dirty="0"/>
              <a:t> improvement over </a:t>
            </a:r>
            <a:r>
              <a:rPr lang="en-US" sz="900" b="1" dirty="0"/>
              <a:t>Basic NN</a:t>
            </a:r>
            <a:r>
              <a:rPr lang="en-US" sz="900" dirty="0"/>
              <a:t>)</a:t>
            </a:r>
          </a:p>
          <a:p>
            <a:pPr marL="1085850" lvl="2" indent="-171450" algn="just">
              <a:spcBef>
                <a:spcPts val="400"/>
              </a:spcBef>
              <a:buClr>
                <a:schemeClr val="dk1"/>
              </a:buClr>
              <a:buSzPts val="1400"/>
            </a:pPr>
            <a:r>
              <a:rPr lang="en-US" sz="900" dirty="0"/>
              <a:t>Tuning improved performance</a:t>
            </a:r>
          </a:p>
          <a:p>
            <a:pPr marL="1085850" lvl="2" indent="-171450" algn="just">
              <a:spcBef>
                <a:spcPts val="400"/>
              </a:spcBef>
              <a:buClr>
                <a:schemeClr val="dk1"/>
              </a:buClr>
              <a:buSzPts val="1400"/>
            </a:pPr>
            <a:r>
              <a:rPr lang="en-US" sz="900" dirty="0"/>
              <a:t>Not overfitting</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a:t>
            </a:r>
          </a:p>
          <a:p>
            <a:pPr marL="1085850" lvl="2" indent="-171450" algn="just">
              <a:spcBef>
                <a:spcPts val="400"/>
              </a:spcBef>
              <a:buClr>
                <a:schemeClr val="dk1"/>
              </a:buClr>
              <a:buSzPts val="1400"/>
            </a:pPr>
            <a:r>
              <a:rPr lang="en-US" sz="900" dirty="0"/>
              <a:t>Better agreement, approaching good range (</a:t>
            </a:r>
            <a:r>
              <a:rPr lang="en-US" sz="900" b="1" dirty="0"/>
              <a:t>&gt;0.6</a:t>
            </a:r>
            <a:r>
              <a:rPr lang="en-US" sz="900" dirty="0"/>
              <a:t>)</a:t>
            </a:r>
          </a:p>
          <a:p>
            <a:pPr marL="1085850" lvl="2" indent="-171450" algn="just">
              <a:spcBef>
                <a:spcPts val="400"/>
              </a:spcBef>
              <a:buClr>
                <a:schemeClr val="dk1"/>
              </a:buClr>
              <a:buSzPts val="1400"/>
            </a:pPr>
            <a:r>
              <a:rPr lang="en-US" sz="900" b="1" dirty="0"/>
              <a:t>≈15% </a:t>
            </a:r>
            <a:r>
              <a:rPr lang="en-US" sz="900" dirty="0"/>
              <a:t>improvement over </a:t>
            </a:r>
            <a:r>
              <a:rPr lang="en-US" sz="900" b="1" dirty="0"/>
              <a:t>Basic NN</a:t>
            </a:r>
            <a:endParaRPr lang="en-US" sz="900"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dirty="0"/>
              <a:t>Model catches </a:t>
            </a:r>
            <a:r>
              <a:rPr lang="en-US" sz="900" b="1" dirty="0"/>
              <a:t>≈76% </a:t>
            </a:r>
            <a:r>
              <a:rPr lang="en-US" sz="900" dirty="0"/>
              <a:t>of actual cases – more cases overall</a:t>
            </a:r>
          </a:p>
          <a:p>
            <a:pPr marL="1085850" lvl="2" indent="-171450" algn="just">
              <a:spcBef>
                <a:spcPts val="400"/>
              </a:spcBef>
              <a:buClr>
                <a:schemeClr val="dk1"/>
              </a:buClr>
              <a:buSzPts val="1400"/>
            </a:pPr>
            <a:r>
              <a:rPr lang="en-US" sz="900" b="1" dirty="0"/>
              <a:t>≈2% </a:t>
            </a:r>
            <a:r>
              <a:rPr lang="en-US" sz="900" dirty="0"/>
              <a:t>improvement over </a:t>
            </a:r>
            <a:r>
              <a:rPr lang="en-US" sz="900" b="1" dirty="0"/>
              <a:t>Basic NN</a:t>
            </a:r>
          </a:p>
          <a:p>
            <a:pPr marL="1085850" lvl="2" indent="-171450" algn="just">
              <a:spcBef>
                <a:spcPts val="400"/>
              </a:spcBef>
              <a:buClr>
                <a:schemeClr val="dk1"/>
              </a:buClr>
              <a:buSzPts val="1400"/>
            </a:pPr>
            <a:r>
              <a:rPr lang="en-US" sz="900" dirty="0">
                <a:solidFill>
                  <a:schemeClr val="dk1"/>
                </a:solidFill>
                <a:latin typeface="Nunito" pitchFamily="2" charset="0"/>
                <a:ea typeface="Century Gothic"/>
                <a:cs typeface="Century Gothic"/>
                <a:sym typeface="Century Gothic"/>
              </a:rPr>
              <a:t>Tuning responsible for slight improvement</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dirty="0"/>
              <a:t>Model is </a:t>
            </a:r>
            <a:r>
              <a:rPr lang="en-US" sz="900" b="1" dirty="0"/>
              <a:t>≈83% </a:t>
            </a:r>
            <a:r>
              <a:rPr lang="en-US" sz="900" dirty="0"/>
              <a:t>correct when it makes a prediction (weighted)</a:t>
            </a:r>
          </a:p>
          <a:p>
            <a:pPr marL="1085850" lvl="2" indent="-171450" algn="just">
              <a:spcBef>
                <a:spcPts val="400"/>
              </a:spcBef>
              <a:buClr>
                <a:schemeClr val="dk1"/>
              </a:buClr>
              <a:buSzPts val="1400"/>
            </a:pPr>
            <a:r>
              <a:rPr lang="en-US" sz="900" dirty="0"/>
              <a:t>Significant improvement over </a:t>
            </a:r>
            <a:r>
              <a:rPr lang="en-US" sz="900" b="1" dirty="0"/>
              <a:t>Basic NN</a:t>
            </a:r>
          </a:p>
          <a:p>
            <a:pPr marL="1085850" lvl="2" indent="-171450" algn="just">
              <a:spcBef>
                <a:spcPts val="400"/>
              </a:spcBef>
              <a:buClr>
                <a:schemeClr val="dk1"/>
              </a:buClr>
              <a:buSzPts val="1400"/>
            </a:pPr>
            <a:r>
              <a:rPr lang="en-US" sz="900" dirty="0">
                <a:solidFill>
                  <a:schemeClr val="dk1"/>
                </a:solidFill>
                <a:latin typeface="Nunito" pitchFamily="2" charset="0"/>
                <a:sym typeface="Century Gothic"/>
              </a:rPr>
              <a:t>Tuning most benefited this metric</a:t>
            </a:r>
            <a:endParaRPr lang="en-US" sz="1000" dirty="0">
              <a:solidFill>
                <a:schemeClr val="dk1"/>
              </a:solidFill>
              <a:latin typeface="Nunito" pitchFamily="2" charset="0"/>
              <a:sym typeface="Century Gothic"/>
            </a:endParaRPr>
          </a:p>
        </p:txBody>
      </p:sp>
    </p:spTree>
    <p:extLst>
      <p:ext uri="{BB962C8B-B14F-4D97-AF65-F5344CB8AC3E}">
        <p14:creationId xmlns:p14="http://schemas.microsoft.com/office/powerpoint/2010/main" val="2338379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50"/>
          <p:cNvSpPr txBox="1">
            <a:spLocks noGrp="1"/>
          </p:cNvSpPr>
          <p:nvPr>
            <p:ph type="title"/>
          </p:nvPr>
        </p:nvSpPr>
        <p:spPr>
          <a:xfrm>
            <a:off x="230903" y="197130"/>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3: Neural Network Using Grid Search </a:t>
            </a:r>
            <a:endParaRPr dirty="0"/>
          </a:p>
        </p:txBody>
      </p:sp>
      <p:graphicFrame>
        <p:nvGraphicFramePr>
          <p:cNvPr id="248" name="Google Shape;248;p50"/>
          <p:cNvGraphicFramePr/>
          <p:nvPr>
            <p:extLst>
              <p:ext uri="{D42A27DB-BD31-4B8C-83A1-F6EECF244321}">
                <p14:modId xmlns:p14="http://schemas.microsoft.com/office/powerpoint/2010/main" val="1855741574"/>
              </p:ext>
            </p:extLst>
          </p:nvPr>
        </p:nvGraphicFramePr>
        <p:xfrm>
          <a:off x="1208880" y="1159691"/>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Metric</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Accuracy</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Kappa</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0.5</a:t>
                      </a:r>
                      <a:r>
                        <a:rPr lang="en-US" sz="1200" dirty="0">
                          <a:latin typeface="Nunito"/>
                          <a:ea typeface="Nunito"/>
                          <a:cs typeface="Nunito"/>
                          <a:sym typeface="Nunito"/>
                        </a:rPr>
                        <a:t>46</a:t>
                      </a:r>
                      <a:endParaRPr sz="1200" u="none" strike="noStrike" cap="none" dirty="0">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8</a:t>
                      </a:r>
                      <a:r>
                        <a:rPr lang="en-US" sz="1200" dirty="0">
                          <a:latin typeface="Nunito"/>
                          <a:ea typeface="Nunito"/>
                          <a:cs typeface="Nunito"/>
                          <a:sym typeface="Nunito"/>
                        </a:rPr>
                        <a:t>9</a:t>
                      </a:r>
                      <a:r>
                        <a:rPr lang="en-US" sz="1200" u="none" strike="noStrike" cap="none" dirty="0">
                          <a:latin typeface="Nunito"/>
                          <a:ea typeface="Nunito"/>
                          <a:cs typeface="Nunito"/>
                          <a:sym typeface="Nunito"/>
                        </a:rPr>
                        <a:t>.</a:t>
                      </a:r>
                      <a:r>
                        <a:rPr lang="en-US" sz="1200" dirty="0">
                          <a:latin typeface="Nunito"/>
                          <a:ea typeface="Nunito"/>
                          <a:cs typeface="Nunito"/>
                          <a:sym typeface="Nunito"/>
                        </a:rPr>
                        <a:t>25</a:t>
                      </a:r>
                      <a:endParaRPr sz="1200" u="none" strike="noStrike" cap="none" dirty="0">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17A7C042-EEF3-AE72-50B6-A3690FE1AB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45">
          <a:extLst>
            <a:ext uri="{FF2B5EF4-FFF2-40B4-BE49-F238E27FC236}">
              <a16:creationId xmlns:a16="http://schemas.microsoft.com/office/drawing/2014/main" id="{6C1C70BE-589A-37D9-7620-E6936326C185}"/>
            </a:ext>
          </a:extLst>
        </p:cNvPr>
        <p:cNvGrpSpPr/>
        <p:nvPr/>
      </p:nvGrpSpPr>
      <p:grpSpPr>
        <a:xfrm>
          <a:off x="0" y="0"/>
          <a:ext cx="0" cy="0"/>
          <a:chOff x="0" y="0"/>
          <a:chExt cx="0" cy="0"/>
        </a:xfrm>
      </p:grpSpPr>
      <p:sp>
        <p:nvSpPr>
          <p:cNvPr id="246" name="Google Shape;246;p50">
            <a:extLst>
              <a:ext uri="{FF2B5EF4-FFF2-40B4-BE49-F238E27FC236}">
                <a16:creationId xmlns:a16="http://schemas.microsoft.com/office/drawing/2014/main" id="{9C21FE2F-D791-7CDF-AA80-B8D8617636D6}"/>
              </a:ext>
            </a:extLst>
          </p:cNvPr>
          <p:cNvSpPr txBox="1">
            <a:spLocks noGrp="1"/>
          </p:cNvSpPr>
          <p:nvPr>
            <p:ph type="title"/>
          </p:nvPr>
        </p:nvSpPr>
        <p:spPr>
          <a:xfrm>
            <a:off x="230903" y="197130"/>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3: Neural Network Using Grid Search </a:t>
            </a:r>
            <a:endParaRPr dirty="0"/>
          </a:p>
        </p:txBody>
      </p:sp>
      <p:sp>
        <p:nvSpPr>
          <p:cNvPr id="2" name="Slide Number Placeholder 1">
            <a:extLst>
              <a:ext uri="{FF2B5EF4-FFF2-40B4-BE49-F238E27FC236}">
                <a16:creationId xmlns:a16="http://schemas.microsoft.com/office/drawing/2014/main" id="{D5666580-CCBA-220C-87EE-4CBE7C5C600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52</a:t>
            </a:fld>
            <a:endParaRPr lang="en-US"/>
          </a:p>
        </p:txBody>
      </p:sp>
      <p:sp>
        <p:nvSpPr>
          <p:cNvPr id="3" name="Google Shape;233;p48">
            <a:extLst>
              <a:ext uri="{FF2B5EF4-FFF2-40B4-BE49-F238E27FC236}">
                <a16:creationId xmlns:a16="http://schemas.microsoft.com/office/drawing/2014/main" id="{3F78552E-211B-84AD-1493-56DC748EDDF6}"/>
              </a:ext>
            </a:extLst>
          </p:cNvPr>
          <p:cNvSpPr txBox="1">
            <a:spLocks/>
          </p:cNvSpPr>
          <p:nvPr/>
        </p:nvSpPr>
        <p:spPr>
          <a:xfrm>
            <a:off x="524399" y="769830"/>
            <a:ext cx="8307900" cy="38831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Analysis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a:t>
            </a:r>
          </a:p>
          <a:p>
            <a:pPr marL="1085850" lvl="2" indent="-171450" algn="just">
              <a:spcBef>
                <a:spcPts val="400"/>
              </a:spcBef>
              <a:buClr>
                <a:schemeClr val="dk1"/>
              </a:buClr>
              <a:buSzPts val="1400"/>
            </a:pPr>
            <a:r>
              <a:rPr lang="en-US" sz="900" b="1" dirty="0"/>
              <a:t>≈88%</a:t>
            </a:r>
            <a:r>
              <a:rPr lang="en-US" sz="900" dirty="0"/>
              <a:t> is roughly </a:t>
            </a:r>
            <a:r>
              <a:rPr lang="en-US" sz="900" b="1" dirty="0"/>
              <a:t>8%</a:t>
            </a:r>
            <a:r>
              <a:rPr lang="en-US" sz="900" dirty="0"/>
              <a:t> better than </a:t>
            </a:r>
            <a:r>
              <a:rPr lang="en-US" sz="900" b="1" dirty="0"/>
              <a:t>80% </a:t>
            </a:r>
            <a:r>
              <a:rPr lang="en-US" sz="900" dirty="0"/>
              <a:t>baseline</a:t>
            </a:r>
          </a:p>
          <a:p>
            <a:pPr marL="1085850" lvl="2" indent="-171450" algn="just">
              <a:spcBef>
                <a:spcPts val="400"/>
              </a:spcBef>
              <a:buClr>
                <a:schemeClr val="dk1"/>
              </a:buClr>
              <a:buSzPts val="1400"/>
            </a:pPr>
            <a:r>
              <a:rPr lang="en-US" sz="900" dirty="0"/>
              <a:t>Model is learning slightly better over tuned </a:t>
            </a:r>
            <a:r>
              <a:rPr lang="en-US" sz="900" b="1" dirty="0"/>
              <a:t>Basic NN</a:t>
            </a:r>
            <a:endParaRPr lang="en-US" sz="900" dirty="0"/>
          </a:p>
          <a:p>
            <a:pPr marL="1085850" lvl="2" indent="-171450" algn="just">
              <a:spcBef>
                <a:spcPts val="400"/>
              </a:spcBef>
              <a:buClr>
                <a:schemeClr val="dk1"/>
              </a:buClr>
              <a:buSzPts val="1400"/>
            </a:pPr>
            <a:r>
              <a:rPr lang="en-US" sz="900" dirty="0"/>
              <a:t>Best overall accuracy</a:t>
            </a:r>
          </a:p>
          <a:p>
            <a:pPr marL="1085850" lvl="2" indent="-171450" algn="just">
              <a:spcBef>
                <a:spcPts val="400"/>
              </a:spcBef>
              <a:buClr>
                <a:schemeClr val="dk1"/>
              </a:buClr>
              <a:buSzPts val="1400"/>
            </a:pPr>
            <a:r>
              <a:rPr lang="en-US" sz="900" dirty="0"/>
              <a:t>Not overfitting</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a:t>
            </a:r>
          </a:p>
          <a:p>
            <a:pPr marL="1085850" lvl="2" indent="-171450" algn="just">
              <a:spcBef>
                <a:spcPts val="400"/>
              </a:spcBef>
              <a:buClr>
                <a:schemeClr val="dk1"/>
              </a:buClr>
              <a:buSzPts val="1400"/>
            </a:pPr>
            <a:r>
              <a:rPr lang="en-US" sz="900" dirty="0"/>
              <a:t>Decreased from hand tuned parameters</a:t>
            </a:r>
          </a:p>
          <a:p>
            <a:pPr marL="1085850" lvl="2" indent="-171450" algn="just">
              <a:spcBef>
                <a:spcPts val="400"/>
              </a:spcBef>
              <a:buClr>
                <a:schemeClr val="dk1"/>
              </a:buClr>
              <a:buSzPts val="1400"/>
            </a:pPr>
            <a:r>
              <a:rPr lang="en-US" sz="900" dirty="0"/>
              <a:t>Less balanced (weighted) prediction</a:t>
            </a:r>
            <a:endParaRPr lang="en-US" sz="900"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dirty="0"/>
              <a:t>Lowest overall</a:t>
            </a:r>
          </a:p>
          <a:p>
            <a:pPr marL="1085850" lvl="2" indent="-171450" algn="just">
              <a:spcBef>
                <a:spcPts val="400"/>
              </a:spcBef>
              <a:buClr>
                <a:schemeClr val="dk1"/>
              </a:buClr>
              <a:buSzPts val="1400"/>
            </a:pPr>
            <a:r>
              <a:rPr lang="en-US" sz="900" dirty="0"/>
              <a:t>Catching fewer cases overall</a:t>
            </a:r>
          </a:p>
          <a:p>
            <a:pPr marL="1085850" lvl="2" indent="-171450" algn="just">
              <a:spcBef>
                <a:spcPts val="400"/>
              </a:spcBef>
              <a:buClr>
                <a:schemeClr val="dk1"/>
              </a:buClr>
              <a:buSzPts val="1400"/>
            </a:pPr>
            <a:r>
              <a:rPr lang="en-US" sz="900" dirty="0">
                <a:solidFill>
                  <a:schemeClr val="dk1"/>
                </a:solidFill>
                <a:latin typeface="Nunito" pitchFamily="2" charset="0"/>
                <a:ea typeface="Century Gothic"/>
                <a:cs typeface="Century Gothic"/>
                <a:sym typeface="Century Gothic"/>
              </a:rPr>
              <a:t>Trade-off for higher precision</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dirty="0"/>
              <a:t>Model is </a:t>
            </a:r>
            <a:r>
              <a:rPr lang="en-US" sz="900" b="1" dirty="0"/>
              <a:t>≈89% </a:t>
            </a:r>
            <a:r>
              <a:rPr lang="en-US" sz="900" dirty="0"/>
              <a:t>correct when it makes a prediction (weighted)</a:t>
            </a:r>
          </a:p>
          <a:p>
            <a:pPr marL="1085850" lvl="2" indent="-171450" algn="just">
              <a:spcBef>
                <a:spcPts val="400"/>
              </a:spcBef>
              <a:buClr>
                <a:schemeClr val="dk1"/>
              </a:buClr>
              <a:buSzPts val="1400"/>
            </a:pPr>
            <a:r>
              <a:rPr lang="en-US" sz="900" dirty="0"/>
              <a:t>Significant improvement over tuned </a:t>
            </a:r>
            <a:r>
              <a:rPr lang="en-US" sz="900" b="1" dirty="0"/>
              <a:t>Basic NN</a:t>
            </a:r>
          </a:p>
          <a:p>
            <a:pPr marL="1085850" lvl="2" indent="-171450" algn="just">
              <a:spcBef>
                <a:spcPts val="400"/>
              </a:spcBef>
              <a:buClr>
                <a:schemeClr val="dk1"/>
              </a:buClr>
              <a:buSzPts val="1400"/>
            </a:pPr>
            <a:r>
              <a:rPr lang="en-US" sz="900" b="1" dirty="0" err="1">
                <a:solidFill>
                  <a:schemeClr val="dk1"/>
                </a:solidFill>
                <a:latin typeface="Nunito" pitchFamily="2" charset="0"/>
                <a:sym typeface="Century Gothic"/>
              </a:rPr>
              <a:t>GricSearchCV</a:t>
            </a:r>
            <a:r>
              <a:rPr lang="en-US" sz="900" dirty="0">
                <a:solidFill>
                  <a:schemeClr val="dk1"/>
                </a:solidFill>
                <a:latin typeface="Nunito" pitchFamily="2" charset="0"/>
                <a:sym typeface="Century Gothic"/>
              </a:rPr>
              <a:t> most benefited this metric</a:t>
            </a:r>
            <a:endParaRPr lang="en-US" sz="1000" dirty="0">
              <a:solidFill>
                <a:schemeClr val="dk1"/>
              </a:solidFill>
              <a:latin typeface="Nunito" pitchFamily="2" charset="0"/>
              <a:sym typeface="Century Gothic"/>
            </a:endParaRPr>
          </a:p>
        </p:txBody>
      </p:sp>
    </p:spTree>
    <p:extLst>
      <p:ext uri="{BB962C8B-B14F-4D97-AF65-F5344CB8AC3E}">
        <p14:creationId xmlns:p14="http://schemas.microsoft.com/office/powerpoint/2010/main" val="26974950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4" name="Google Shape;254;p51"/>
          <p:cNvSpPr txBox="1"/>
          <p:nvPr/>
        </p:nvSpPr>
        <p:spPr>
          <a:xfrm>
            <a:off x="257100" y="13565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Model Performance Summary</a:t>
            </a:r>
            <a:endParaRPr sz="2200" b="1" i="0" u="none" strike="noStrike" cap="none" dirty="0">
              <a:solidFill>
                <a:schemeClr val="lt2"/>
              </a:solidFill>
              <a:latin typeface="Century Gothic"/>
              <a:ea typeface="Century Gothic"/>
              <a:cs typeface="Century Gothic"/>
              <a:sym typeface="Century Gothic"/>
            </a:endParaRPr>
          </a:p>
        </p:txBody>
      </p:sp>
      <p:graphicFrame>
        <p:nvGraphicFramePr>
          <p:cNvPr id="255" name="Google Shape;255;p51"/>
          <p:cNvGraphicFramePr/>
          <p:nvPr>
            <p:extLst>
              <p:ext uri="{D42A27DB-BD31-4B8C-83A1-F6EECF244321}">
                <p14:modId xmlns:p14="http://schemas.microsoft.com/office/powerpoint/2010/main" val="3743451484"/>
              </p:ext>
            </p:extLst>
          </p:nvPr>
        </p:nvGraphicFramePr>
        <p:xfrm>
          <a:off x="1646855" y="1317068"/>
          <a:ext cx="5311575" cy="1828840"/>
        </p:xfrm>
        <a:graphic>
          <a:graphicData uri="http://schemas.openxmlformats.org/drawingml/2006/table">
            <a:tbl>
              <a:tblPr firstRow="1" bandRow="1">
                <a:noFill/>
                <a:tableStyleId>{36976CF4-DB81-4460-9A5E-51383ADFE053}</a:tableStyleId>
              </a:tblPr>
              <a:tblGrid>
                <a:gridCol w="1434025">
                  <a:extLst>
                    <a:ext uri="{9D8B030D-6E8A-4147-A177-3AD203B41FA5}">
                      <a16:colId xmlns:a16="http://schemas.microsoft.com/office/drawing/2014/main" val="20000"/>
                    </a:ext>
                  </a:extLst>
                </a:gridCol>
                <a:gridCol w="929475">
                  <a:extLst>
                    <a:ext uri="{9D8B030D-6E8A-4147-A177-3AD203B41FA5}">
                      <a16:colId xmlns:a16="http://schemas.microsoft.com/office/drawing/2014/main" val="20001"/>
                    </a:ext>
                  </a:extLst>
                </a:gridCol>
                <a:gridCol w="961150">
                  <a:extLst>
                    <a:ext uri="{9D8B030D-6E8A-4147-A177-3AD203B41FA5}">
                      <a16:colId xmlns:a16="http://schemas.microsoft.com/office/drawing/2014/main" val="20002"/>
                    </a:ext>
                  </a:extLst>
                </a:gridCol>
                <a:gridCol w="924600">
                  <a:extLst>
                    <a:ext uri="{9D8B030D-6E8A-4147-A177-3AD203B41FA5}">
                      <a16:colId xmlns:a16="http://schemas.microsoft.com/office/drawing/2014/main" val="20003"/>
                    </a:ext>
                  </a:extLst>
                </a:gridCol>
                <a:gridCol w="1062325">
                  <a:extLst>
                    <a:ext uri="{9D8B030D-6E8A-4147-A177-3AD203B41FA5}">
                      <a16:colId xmlns:a16="http://schemas.microsoft.com/office/drawing/2014/main" val="20004"/>
                    </a:ext>
                  </a:extLst>
                </a:gridCol>
              </a:tblGrid>
              <a:tr h="36565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Metric</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Kappa</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Without parameter tuning</a:t>
                      </a:r>
                      <a:endParaRPr sz="120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 parameter tuning</a:t>
                      </a:r>
                      <a:endParaRPr sz="1200">
                        <a:latin typeface="Nunito"/>
                        <a:ea typeface="Nunito"/>
                        <a:cs typeface="Nunito"/>
                        <a:sym typeface="Nunito"/>
                      </a:endParaRPr>
                    </a:p>
                  </a:txBody>
                  <a:tcPr marL="91450" marR="91450" marT="45725" marB="457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171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8</a:t>
                      </a:r>
                      <a:r>
                        <a:rPr lang="en-US" sz="1200" dirty="0">
                          <a:latin typeface="Nunito"/>
                          <a:ea typeface="Nunito"/>
                          <a:cs typeface="Nunito"/>
                          <a:sym typeface="Nunito"/>
                        </a:rPr>
                        <a:t>9</a:t>
                      </a:r>
                      <a:r>
                        <a:rPr lang="en-US" sz="1200" u="none" strike="noStrike" cap="none" dirty="0">
                          <a:latin typeface="Nunito"/>
                          <a:ea typeface="Nunito"/>
                          <a:cs typeface="Nunito"/>
                          <a:sym typeface="Nunito"/>
                        </a:rPr>
                        <a:t>.</a:t>
                      </a:r>
                      <a:r>
                        <a:rPr lang="en-US" sz="1200" dirty="0">
                          <a:latin typeface="Nunito"/>
                          <a:ea typeface="Nunito"/>
                          <a:cs typeface="Nunito"/>
                          <a:sym typeface="Nunito"/>
                        </a:rPr>
                        <a:t>25</a:t>
                      </a:r>
                      <a:endParaRPr sz="1200" u="none" strike="noStrike" cap="none" dirty="0">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 name="Slide Number Placeholder 1">
            <a:extLst>
              <a:ext uri="{FF2B5EF4-FFF2-40B4-BE49-F238E27FC236}">
                <a16:creationId xmlns:a16="http://schemas.microsoft.com/office/drawing/2014/main" id="{12509EB3-413F-679D-B362-F2544166F3C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52">
          <a:extLst>
            <a:ext uri="{FF2B5EF4-FFF2-40B4-BE49-F238E27FC236}">
              <a16:creationId xmlns:a16="http://schemas.microsoft.com/office/drawing/2014/main" id="{80750E22-2B9E-4F6E-D2C9-0CF02BCFD3A4}"/>
            </a:ext>
          </a:extLst>
        </p:cNvPr>
        <p:cNvGrpSpPr/>
        <p:nvPr/>
      </p:nvGrpSpPr>
      <p:grpSpPr>
        <a:xfrm>
          <a:off x="0" y="0"/>
          <a:ext cx="0" cy="0"/>
          <a:chOff x="0" y="0"/>
          <a:chExt cx="0" cy="0"/>
        </a:xfrm>
      </p:grpSpPr>
      <p:sp>
        <p:nvSpPr>
          <p:cNvPr id="254" name="Google Shape;254;p51">
            <a:extLst>
              <a:ext uri="{FF2B5EF4-FFF2-40B4-BE49-F238E27FC236}">
                <a16:creationId xmlns:a16="http://schemas.microsoft.com/office/drawing/2014/main" id="{CEB5323C-98E0-90CE-4DCD-70512B1A12AE}"/>
              </a:ext>
            </a:extLst>
          </p:cNvPr>
          <p:cNvSpPr txBox="1"/>
          <p:nvPr/>
        </p:nvSpPr>
        <p:spPr>
          <a:xfrm>
            <a:off x="257100" y="13565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Model Performance Summary</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787E9E-7E93-8512-F2F1-69FE6773E76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54</a:t>
            </a:fld>
            <a:endParaRPr lang="en-US"/>
          </a:p>
        </p:txBody>
      </p:sp>
      <p:pic>
        <p:nvPicPr>
          <p:cNvPr id="4" name="Picture 3" descr="A graph of different colored bars&#10;&#10;AI-generated content may be incorrect.">
            <a:extLst>
              <a:ext uri="{FF2B5EF4-FFF2-40B4-BE49-F238E27FC236}">
                <a16:creationId xmlns:a16="http://schemas.microsoft.com/office/drawing/2014/main" id="{EFE6ECC8-71E6-1D89-3D12-BF83F39D2518}"/>
              </a:ext>
            </a:extLst>
          </p:cNvPr>
          <p:cNvPicPr>
            <a:picLocks noChangeAspect="1"/>
          </p:cNvPicPr>
          <p:nvPr/>
        </p:nvPicPr>
        <p:blipFill>
          <a:blip r:embed="rId3"/>
          <a:stretch>
            <a:fillRect/>
          </a:stretch>
        </p:blipFill>
        <p:spPr>
          <a:xfrm>
            <a:off x="948622" y="797869"/>
            <a:ext cx="6954914" cy="4149038"/>
          </a:xfrm>
          <a:prstGeom prst="rect">
            <a:avLst/>
          </a:prstGeom>
        </p:spPr>
      </p:pic>
    </p:spTree>
    <p:extLst>
      <p:ext uri="{BB962C8B-B14F-4D97-AF65-F5344CB8AC3E}">
        <p14:creationId xmlns:p14="http://schemas.microsoft.com/office/powerpoint/2010/main" val="39787893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52">
          <a:extLst>
            <a:ext uri="{FF2B5EF4-FFF2-40B4-BE49-F238E27FC236}">
              <a16:creationId xmlns:a16="http://schemas.microsoft.com/office/drawing/2014/main" id="{9E1778E4-6E26-9C78-5ECE-420A5852C2C7}"/>
            </a:ext>
          </a:extLst>
        </p:cNvPr>
        <p:cNvGrpSpPr/>
        <p:nvPr/>
      </p:nvGrpSpPr>
      <p:grpSpPr>
        <a:xfrm>
          <a:off x="0" y="0"/>
          <a:ext cx="0" cy="0"/>
          <a:chOff x="0" y="0"/>
          <a:chExt cx="0" cy="0"/>
        </a:xfrm>
      </p:grpSpPr>
      <p:sp>
        <p:nvSpPr>
          <p:cNvPr id="254" name="Google Shape;254;p51">
            <a:extLst>
              <a:ext uri="{FF2B5EF4-FFF2-40B4-BE49-F238E27FC236}">
                <a16:creationId xmlns:a16="http://schemas.microsoft.com/office/drawing/2014/main" id="{EBB6CD2D-273A-C8C0-92EE-FDEFBE93536A}"/>
              </a:ext>
            </a:extLst>
          </p:cNvPr>
          <p:cNvSpPr txBox="1"/>
          <p:nvPr/>
        </p:nvSpPr>
        <p:spPr>
          <a:xfrm>
            <a:off x="257100" y="13565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Model Performance Summary</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25C28F92-26EE-6372-949C-35B6F9F977A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55</a:t>
            </a:fld>
            <a:endParaRPr lang="en-US"/>
          </a:p>
        </p:txBody>
      </p:sp>
      <p:pic>
        <p:nvPicPr>
          <p:cNvPr id="5" name="Picture 4" descr="A blue and white chart&#10;&#10;AI-generated content may be incorrect.">
            <a:extLst>
              <a:ext uri="{FF2B5EF4-FFF2-40B4-BE49-F238E27FC236}">
                <a16:creationId xmlns:a16="http://schemas.microsoft.com/office/drawing/2014/main" id="{0DEDE002-EB2A-7EEF-F1EC-13AC90F1F280}"/>
              </a:ext>
            </a:extLst>
          </p:cNvPr>
          <p:cNvPicPr>
            <a:picLocks noChangeAspect="1"/>
          </p:cNvPicPr>
          <p:nvPr/>
        </p:nvPicPr>
        <p:blipFill>
          <a:blip r:embed="rId3"/>
          <a:stretch>
            <a:fillRect/>
          </a:stretch>
        </p:blipFill>
        <p:spPr>
          <a:xfrm>
            <a:off x="1013229" y="708351"/>
            <a:ext cx="6309059" cy="4131348"/>
          </a:xfrm>
          <a:prstGeom prst="rect">
            <a:avLst/>
          </a:prstGeom>
        </p:spPr>
      </p:pic>
    </p:spTree>
    <p:extLst>
      <p:ext uri="{BB962C8B-B14F-4D97-AF65-F5344CB8AC3E}">
        <p14:creationId xmlns:p14="http://schemas.microsoft.com/office/powerpoint/2010/main" val="39678880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52">
          <a:extLst>
            <a:ext uri="{FF2B5EF4-FFF2-40B4-BE49-F238E27FC236}">
              <a16:creationId xmlns:a16="http://schemas.microsoft.com/office/drawing/2014/main" id="{F2F04F01-8DCD-CD65-4DA9-DD7AC76B2ED3}"/>
            </a:ext>
          </a:extLst>
        </p:cNvPr>
        <p:cNvGrpSpPr/>
        <p:nvPr/>
      </p:nvGrpSpPr>
      <p:grpSpPr>
        <a:xfrm>
          <a:off x="0" y="0"/>
          <a:ext cx="0" cy="0"/>
          <a:chOff x="0" y="0"/>
          <a:chExt cx="0" cy="0"/>
        </a:xfrm>
      </p:grpSpPr>
      <p:sp>
        <p:nvSpPr>
          <p:cNvPr id="254" name="Google Shape;254;p51">
            <a:extLst>
              <a:ext uri="{FF2B5EF4-FFF2-40B4-BE49-F238E27FC236}">
                <a16:creationId xmlns:a16="http://schemas.microsoft.com/office/drawing/2014/main" id="{B8964646-C8CC-1459-68A4-1823F7514524}"/>
              </a:ext>
            </a:extLst>
          </p:cNvPr>
          <p:cNvSpPr txBox="1"/>
          <p:nvPr/>
        </p:nvSpPr>
        <p:spPr>
          <a:xfrm>
            <a:off x="257100" y="36414"/>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Model Performance Summary</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78CA8EAA-EA9E-DDD8-0AE4-906AD3EB1B1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56</a:t>
            </a:fld>
            <a:endParaRPr lang="en-US"/>
          </a:p>
        </p:txBody>
      </p:sp>
      <p:sp>
        <p:nvSpPr>
          <p:cNvPr id="3" name="Google Shape;233;p48">
            <a:extLst>
              <a:ext uri="{FF2B5EF4-FFF2-40B4-BE49-F238E27FC236}">
                <a16:creationId xmlns:a16="http://schemas.microsoft.com/office/drawing/2014/main" id="{0376ED12-0092-9B45-45BA-D7C993A3E0F2}"/>
              </a:ext>
            </a:extLst>
          </p:cNvPr>
          <p:cNvSpPr txBox="1">
            <a:spLocks/>
          </p:cNvSpPr>
          <p:nvPr/>
        </p:nvSpPr>
        <p:spPr>
          <a:xfrm>
            <a:off x="418050" y="516125"/>
            <a:ext cx="8307900" cy="423230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0" indent="0" algn="just">
              <a:spcBef>
                <a:spcPts val="400"/>
              </a:spcBef>
              <a:buClr>
                <a:schemeClr val="dk1"/>
              </a:buClr>
              <a:buSzPts val="1400"/>
              <a:buNone/>
            </a:pPr>
            <a:r>
              <a:rPr lang="en-US" sz="1600" b="1" u="sng" dirty="0">
                <a:solidFill>
                  <a:schemeClr val="dk1"/>
                </a:solidFill>
                <a:latin typeface="Nunito" pitchFamily="2" charset="0"/>
                <a:ea typeface="Century Gothic"/>
                <a:cs typeface="Century Gothic"/>
                <a:sym typeface="Century Gothic"/>
              </a:rPr>
              <a:t>Comparison Analysis</a:t>
            </a:r>
          </a:p>
          <a:p>
            <a:pPr marL="0" indent="0" algn="just">
              <a:buClr>
                <a:schemeClr val="dk1"/>
              </a:buClr>
              <a:buSzPts val="1400"/>
              <a:buNone/>
            </a:pPr>
            <a:endParaRPr lang="en-US" sz="800" b="1" u="sng" dirty="0">
              <a:solidFill>
                <a:schemeClr val="dk1"/>
              </a:solidFill>
              <a:latin typeface="Nunito" pitchFamily="2" charset="0"/>
              <a:ea typeface="Century Gothic"/>
              <a:cs typeface="Century Gothic"/>
              <a:sym typeface="Century Gothic"/>
            </a:endParaRPr>
          </a:p>
          <a:p>
            <a:pPr marL="0" indent="0" algn="just">
              <a:buClr>
                <a:schemeClr val="dk1"/>
              </a:buClr>
              <a:buSzPts val="1400"/>
              <a:buNone/>
            </a:pPr>
            <a:r>
              <a:rPr lang="en-US" sz="1200" b="1" dirty="0">
                <a:solidFill>
                  <a:schemeClr val="dk1"/>
                </a:solidFill>
                <a:latin typeface="Nunito" pitchFamily="2" charset="0"/>
                <a:ea typeface="Century Gothic"/>
                <a:cs typeface="Century Gothic"/>
                <a:sym typeface="Century Gothic"/>
              </a:rPr>
              <a:t>Hand-Tuned (parameter tuned) Model </a:t>
            </a:r>
            <a:r>
              <a:rPr lang="en-US" sz="1200" dirty="0">
                <a:solidFill>
                  <a:schemeClr val="dk1"/>
                </a:solidFill>
                <a:latin typeface="Nunito" pitchFamily="2" charset="0"/>
                <a:ea typeface="Century Gothic"/>
                <a:cs typeface="Century Gothic"/>
                <a:sym typeface="Century Gothic"/>
              </a:rPr>
              <a:t>is the best for predicting loan defaults (even though </a:t>
            </a:r>
            <a:r>
              <a:rPr lang="en-US" sz="1200" b="1" dirty="0" err="1">
                <a:solidFill>
                  <a:schemeClr val="dk1"/>
                </a:solidFill>
                <a:latin typeface="Nunito" pitchFamily="2" charset="0"/>
                <a:ea typeface="Century Gothic"/>
                <a:cs typeface="Century Gothic"/>
                <a:sym typeface="Century Gothic"/>
              </a:rPr>
              <a:t>GridSearchCV</a:t>
            </a:r>
            <a:r>
              <a:rPr lang="en-US" sz="1200" dirty="0">
                <a:solidFill>
                  <a:schemeClr val="dk1"/>
                </a:solidFill>
                <a:latin typeface="Nunito" pitchFamily="2" charset="0"/>
                <a:ea typeface="Century Gothic"/>
                <a:cs typeface="Century Gothic"/>
                <a:sym typeface="Century Gothic"/>
              </a:rPr>
              <a:t> has higher weighted precision). </a:t>
            </a:r>
            <a:r>
              <a:rPr lang="en-US" sz="1200" b="1" dirty="0" err="1">
                <a:solidFill>
                  <a:schemeClr val="dk1"/>
                </a:solidFill>
                <a:latin typeface="Nunito" pitchFamily="2" charset="0"/>
                <a:ea typeface="Century Gothic"/>
                <a:cs typeface="Century Gothic"/>
                <a:sym typeface="Century Gothic"/>
              </a:rPr>
              <a:t>GridSearchCV</a:t>
            </a:r>
            <a:r>
              <a:rPr lang="en-US" sz="1200" dirty="0">
                <a:solidFill>
                  <a:schemeClr val="dk1"/>
                </a:solidFill>
                <a:latin typeface="Nunito" pitchFamily="2" charset="0"/>
                <a:ea typeface="Century Gothic"/>
                <a:cs typeface="Century Gothic"/>
                <a:sym typeface="Century Gothic"/>
              </a:rPr>
              <a:t> sacrificed recall for higher precision, which is wrong for the business requirements.</a:t>
            </a:r>
          </a:p>
          <a:p>
            <a:pPr marL="0" indent="0" algn="just">
              <a:buClr>
                <a:schemeClr val="dk1"/>
              </a:buClr>
              <a:buSzPts val="1400"/>
              <a:buNone/>
            </a:pPr>
            <a:endParaRPr lang="en-US" sz="800" b="1" dirty="0">
              <a:solidFill>
                <a:schemeClr val="dk1"/>
              </a:solidFill>
              <a:latin typeface="Nunito" pitchFamily="2" charset="0"/>
              <a:ea typeface="Century Gothic"/>
              <a:cs typeface="Century Gothic"/>
              <a:sym typeface="Century Gothic"/>
            </a:endParaRPr>
          </a:p>
          <a:p>
            <a:pPr marL="0" indent="0" algn="just">
              <a:spcBef>
                <a:spcPts val="400"/>
              </a:spcBef>
              <a:buClr>
                <a:schemeClr val="dk1"/>
              </a:buClr>
              <a:buSzPts val="1400"/>
              <a:buNone/>
            </a:pPr>
            <a:r>
              <a:rPr lang="en-US" sz="1200" b="1" dirty="0">
                <a:solidFill>
                  <a:schemeClr val="dk1"/>
                </a:solidFill>
                <a:latin typeface="Nunito" pitchFamily="2" charset="0"/>
                <a:ea typeface="Century Gothic"/>
                <a:cs typeface="Century Gothic"/>
                <a:sym typeface="Century Gothic"/>
              </a:rPr>
              <a:t>Weighted Recall</a:t>
            </a:r>
            <a:r>
              <a:rPr lang="en-US" sz="1200" dirty="0">
                <a:solidFill>
                  <a:schemeClr val="dk1"/>
                </a:solidFill>
                <a:latin typeface="Nunito" pitchFamily="2" charset="0"/>
                <a:ea typeface="Century Gothic"/>
                <a:cs typeface="Century Gothic"/>
                <a:sym typeface="Century Gothic"/>
              </a:rPr>
              <a:t> is the most important determination metric because it measures the actual number of loan defaults. From a business perspective, the cost of a loan defaulting far exceeds that of (potentially good) applicant rejections. Higher recall == fewer bad loans (fewer financial losses).</a:t>
            </a:r>
          </a:p>
          <a:p>
            <a:pPr marL="0" indent="0" algn="just">
              <a:buClr>
                <a:schemeClr val="dk1"/>
              </a:buClr>
              <a:buSzPts val="1400"/>
              <a:buNone/>
            </a:pPr>
            <a:endParaRPr lang="en-US" sz="800" b="1" dirty="0">
              <a:solidFill>
                <a:schemeClr val="dk1"/>
              </a:solidFill>
              <a:latin typeface="Nunito" pitchFamily="2" charset="0"/>
              <a:ea typeface="Century Gothic"/>
              <a:cs typeface="Century Gothic"/>
              <a:sym typeface="Century Gothic"/>
            </a:endParaRPr>
          </a:p>
          <a:p>
            <a:pPr marL="0" indent="0" algn="just">
              <a:buClr>
                <a:schemeClr val="dk1"/>
              </a:buClr>
              <a:buSzPts val="1400"/>
              <a:buNone/>
            </a:pPr>
            <a:r>
              <a:rPr lang="en-US" sz="1200" b="1" dirty="0">
                <a:solidFill>
                  <a:schemeClr val="dk1"/>
                </a:solidFill>
                <a:latin typeface="Nunito" pitchFamily="2" charset="0"/>
                <a:ea typeface="Century Gothic"/>
                <a:cs typeface="Century Gothic"/>
                <a:sym typeface="Century Gothic"/>
              </a:rPr>
              <a:t>Hand-Tuned </a:t>
            </a:r>
            <a:r>
              <a:rPr lang="en-US" sz="1200" dirty="0">
                <a:solidFill>
                  <a:schemeClr val="dk1"/>
                </a:solidFill>
                <a:latin typeface="Nunito" pitchFamily="2" charset="0"/>
                <a:ea typeface="Century Gothic"/>
                <a:cs typeface="Century Gothic"/>
                <a:sym typeface="Century Gothic"/>
              </a:rPr>
              <a:t>also has the highest </a:t>
            </a:r>
            <a:r>
              <a:rPr lang="en-US" sz="1200" b="1" dirty="0">
                <a:solidFill>
                  <a:schemeClr val="dk1"/>
                </a:solidFill>
                <a:latin typeface="Nunito" pitchFamily="2" charset="0"/>
                <a:ea typeface="Century Gothic"/>
                <a:cs typeface="Century Gothic"/>
                <a:sym typeface="Century Gothic"/>
              </a:rPr>
              <a:t>Kappa</a:t>
            </a:r>
            <a:r>
              <a:rPr lang="en-US" sz="1200" dirty="0">
                <a:solidFill>
                  <a:schemeClr val="dk1"/>
                </a:solidFill>
                <a:latin typeface="Nunito" pitchFamily="2" charset="0"/>
                <a:ea typeface="Century Gothic"/>
                <a:cs typeface="Century Gothic"/>
                <a:sym typeface="Century Gothic"/>
              </a:rPr>
              <a:t> scores as it has the most balanced prediction across models.</a:t>
            </a:r>
          </a:p>
          <a:p>
            <a:pPr marL="171450" indent="-171450" algn="just">
              <a:buClr>
                <a:schemeClr val="dk1"/>
              </a:buClr>
              <a:buSzPts val="1400"/>
            </a:pPr>
            <a:endParaRPr lang="en-US" sz="800" b="1" dirty="0">
              <a:solidFill>
                <a:schemeClr val="dk1"/>
              </a:solidFill>
              <a:latin typeface="Nunito" pitchFamily="2" charset="0"/>
              <a:ea typeface="Century Gothic"/>
              <a:cs typeface="Century Gothic"/>
              <a:sym typeface="Century Gothic"/>
            </a:endParaRPr>
          </a:p>
          <a:p>
            <a:pPr marL="0" indent="0" algn="just">
              <a:buClr>
                <a:schemeClr val="dk1"/>
              </a:buClr>
              <a:buSzPts val="1400"/>
              <a:buNone/>
            </a:pPr>
            <a:r>
              <a:rPr lang="en-US" sz="1200" b="1" u="sng" dirty="0">
                <a:solidFill>
                  <a:schemeClr val="dk1"/>
                </a:solidFill>
                <a:latin typeface="Nunito" pitchFamily="2" charset="0"/>
                <a:ea typeface="Century Gothic"/>
                <a:cs typeface="Century Gothic"/>
                <a:sym typeface="Century Gothic"/>
              </a:rPr>
              <a:t>Other Notes:</a:t>
            </a:r>
          </a:p>
          <a:p>
            <a:pPr marL="0" indent="0" algn="just">
              <a:spcBef>
                <a:spcPts val="400"/>
              </a:spcBef>
              <a:buClr>
                <a:schemeClr val="dk1"/>
              </a:buClr>
              <a:buSzPts val="1400"/>
              <a:buNone/>
            </a:pPr>
            <a:r>
              <a:rPr lang="en-US" sz="1200" dirty="0">
                <a:solidFill>
                  <a:schemeClr val="dk1"/>
                </a:solidFill>
                <a:latin typeface="Nunito" pitchFamily="2" charset="0"/>
                <a:ea typeface="Century Gothic"/>
                <a:cs typeface="Century Gothic"/>
                <a:sym typeface="Century Gothic"/>
              </a:rPr>
              <a:t>All models exceed the 80% baseline, proving they were actually learning rather than just predicting.</a:t>
            </a:r>
          </a:p>
          <a:p>
            <a:pPr marL="0" indent="0" algn="just">
              <a:spcBef>
                <a:spcPts val="400"/>
              </a:spcBef>
              <a:buClr>
                <a:schemeClr val="dk1"/>
              </a:buClr>
              <a:buSzPts val="1400"/>
              <a:buNone/>
            </a:pPr>
            <a:r>
              <a:rPr lang="en-US" sz="1200" dirty="0">
                <a:solidFill>
                  <a:schemeClr val="dk1"/>
                </a:solidFill>
                <a:latin typeface="Nunito" pitchFamily="2" charset="0"/>
                <a:ea typeface="Century Gothic"/>
                <a:cs typeface="Century Gothic"/>
                <a:sym typeface="Century Gothic"/>
              </a:rPr>
              <a:t>None of the models exhibited overfitting </a:t>
            </a:r>
            <a:r>
              <a:rPr lang="en-US" sz="1200" dirty="0" err="1">
                <a:solidFill>
                  <a:schemeClr val="dk1"/>
                </a:solidFill>
                <a:latin typeface="Nunito" pitchFamily="2" charset="0"/>
                <a:ea typeface="Century Gothic"/>
                <a:cs typeface="Century Gothic"/>
                <a:sym typeface="Century Gothic"/>
              </a:rPr>
              <a:t>behaviours</a:t>
            </a:r>
            <a:r>
              <a:rPr lang="en-US" sz="1200" dirty="0">
                <a:solidFill>
                  <a:schemeClr val="dk1"/>
                </a:solidFill>
                <a:latin typeface="Nunito" pitchFamily="2" charset="0"/>
                <a:ea typeface="Century Gothic"/>
                <a:cs typeface="Century Gothic"/>
                <a:sym typeface="Century Gothic"/>
              </a:rPr>
              <a:t>.</a:t>
            </a:r>
          </a:p>
          <a:p>
            <a:pPr marL="0" indent="0" algn="just">
              <a:buClr>
                <a:schemeClr val="dk1"/>
              </a:buClr>
              <a:buSzPts val="1400"/>
              <a:buNone/>
            </a:pPr>
            <a:endParaRPr lang="en-US" sz="800" dirty="0">
              <a:solidFill>
                <a:schemeClr val="dk1"/>
              </a:solidFill>
              <a:latin typeface="Nunito" pitchFamily="2" charset="0"/>
              <a:ea typeface="Century Gothic"/>
              <a:cs typeface="Century Gothic"/>
              <a:sym typeface="Century Gothic"/>
            </a:endParaRPr>
          </a:p>
          <a:p>
            <a:pPr marL="0" indent="0" algn="just">
              <a:spcBef>
                <a:spcPts val="400"/>
              </a:spcBef>
              <a:buClr>
                <a:schemeClr val="dk1"/>
              </a:buClr>
              <a:buSzPts val="1400"/>
              <a:buNone/>
            </a:pPr>
            <a:r>
              <a:rPr lang="en-US" sz="1600" b="1" u="sng" dirty="0">
                <a:solidFill>
                  <a:schemeClr val="dk1"/>
                </a:solidFill>
                <a:latin typeface="Nunito" pitchFamily="2" charset="0"/>
                <a:ea typeface="Century Gothic"/>
                <a:cs typeface="Century Gothic"/>
                <a:sym typeface="Century Gothic"/>
              </a:rPr>
              <a:t>General Business Advice</a:t>
            </a:r>
          </a:p>
          <a:p>
            <a:pPr marL="0" indent="0" algn="just">
              <a:spcBef>
                <a:spcPts val="600"/>
              </a:spcBef>
              <a:buClr>
                <a:schemeClr val="dk1"/>
              </a:buClr>
              <a:buSzPts val="1400"/>
              <a:buNone/>
            </a:pPr>
            <a:r>
              <a:rPr lang="en-US" sz="1200" dirty="0">
                <a:solidFill>
                  <a:schemeClr val="dk1"/>
                </a:solidFill>
                <a:latin typeface="Nunito" pitchFamily="2" charset="0"/>
                <a:ea typeface="Century Gothic"/>
                <a:cs typeface="Century Gothic"/>
                <a:sym typeface="Century Gothic"/>
              </a:rPr>
              <a:t>Use the </a:t>
            </a:r>
            <a:r>
              <a:rPr lang="en-US" sz="1200" b="1" dirty="0">
                <a:solidFill>
                  <a:schemeClr val="dk1"/>
                </a:solidFill>
                <a:latin typeface="Nunito" pitchFamily="2" charset="0"/>
                <a:ea typeface="Century Gothic"/>
                <a:cs typeface="Century Gothic"/>
                <a:sym typeface="Century Gothic"/>
              </a:rPr>
              <a:t>Hand-Tuned Model </a:t>
            </a:r>
            <a:r>
              <a:rPr lang="en-US" sz="1200" dirty="0">
                <a:solidFill>
                  <a:schemeClr val="dk1"/>
                </a:solidFill>
                <a:latin typeface="Nunito" pitchFamily="2" charset="0"/>
                <a:ea typeface="Century Gothic"/>
                <a:cs typeface="Century Gothic"/>
                <a:sym typeface="Century Gothic"/>
              </a:rPr>
              <a:t>to red flag higher risk applications for a manual review. Do not solely rely upon the model for making blanket automated decisions.</a:t>
            </a:r>
          </a:p>
          <a:p>
            <a:pPr marL="0" indent="0" algn="just">
              <a:spcBef>
                <a:spcPts val="400"/>
              </a:spcBef>
              <a:buClr>
                <a:schemeClr val="dk1"/>
              </a:buClr>
              <a:buSzPts val="1400"/>
              <a:buNone/>
            </a:pPr>
            <a:endParaRPr lang="en-US" sz="1200" b="1"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17236026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p:cNvSpPr txBox="1">
            <a:spLocks noGrp="1"/>
          </p:cNvSpPr>
          <p:nvPr>
            <p:ph type="body" idx="1"/>
          </p:nvPr>
        </p:nvSpPr>
        <p:spPr>
          <a:xfrm>
            <a:off x="202550" y="861975"/>
            <a:ext cx="8629800" cy="560636"/>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mention actionable insights &amp; recommendations</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D7BEC19-31A9-812F-8E02-ADF79AA6D19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53"/>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5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72" name="Google Shape;272;p5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3DC1E3D-B5A6-1A3C-BFB8-F586E099D8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5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80" name="Google Shape;280;p5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US"/>
              <a:t>60</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1975</TotalTime>
  <Words>3396</Words>
  <Application>Microsoft Office PowerPoint</Application>
  <PresentationFormat>On-screen Show (16:9)</PresentationFormat>
  <Paragraphs>483</Paragraphs>
  <Slides>60</Slides>
  <Notes>57</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60</vt:i4>
      </vt:variant>
    </vt:vector>
  </HeadingPairs>
  <TitlesOfParts>
    <vt:vector size="69" baseType="lpstr">
      <vt:lpstr>Century Gothic</vt:lpstr>
      <vt:lpstr>Nunito</vt:lpstr>
      <vt:lpstr>Calibri</vt:lpstr>
      <vt:lpstr>Arial</vt:lpstr>
      <vt:lpstr>Nunito SemiBold</vt:lpstr>
      <vt:lpstr>Nunito ExtraBold</vt:lpstr>
      <vt:lpstr>Just Logo</vt:lpstr>
      <vt:lpstr>Just Logo</vt:lpstr>
      <vt:lpstr>Just Logo</vt:lpstr>
      <vt:lpstr>Home Loan Defaults Prediction Methods - Neural Networks</vt:lpstr>
      <vt:lpstr>Contents / Agenda</vt:lpstr>
      <vt:lpstr>Data Dictionary</vt:lpstr>
      <vt:lpstr>Data Dictionary</vt:lpstr>
      <vt:lpstr>Business Problem Overview</vt:lpstr>
      <vt:lpstr>Business Problem Overview</vt:lpstr>
      <vt:lpstr>Business Problem Overview</vt:lpstr>
      <vt:lpstr>Project Goals and Objectives</vt:lpstr>
      <vt:lpstr>Solution Approach </vt:lpstr>
      <vt:lpstr>Solution Approach </vt:lpstr>
      <vt:lpstr>Expected Outcomes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Scenario 1: Basic Neural Network </vt:lpstr>
      <vt:lpstr>Scenario 1: Basic Neural Network </vt:lpstr>
      <vt:lpstr>Scenario 2: Neural Network With Parameter Tuning</vt:lpstr>
      <vt:lpstr>Scenario 2: Neural Network With Parameter Tuning</vt:lpstr>
      <vt:lpstr>Scenario 3: Neural Network Using Grid Search </vt:lpstr>
      <vt:lpstr>Scenario 3: Neural Network Using Grid Search </vt:lpstr>
      <vt:lpstr>PowerPoint Presentation</vt:lpstr>
      <vt:lpstr>PowerPoint Presentation</vt:lpstr>
      <vt:lpstr>PowerPoint Presentation</vt:lpstr>
      <vt:lpstr>PowerPoint Presentation</vt:lpstr>
      <vt:lpstr>Conclusions and Recommendations</vt:lpstr>
      <vt:lpstr>APPENDIX</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254</cp:revision>
  <dcterms:modified xsi:type="dcterms:W3CDTF">2025-12-14T22:52:26Z</dcterms:modified>
</cp:coreProperties>
</file>