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 id="2147483679" r:id="rId2"/>
    <p:sldMasterId id="2147483680" r:id="rId3"/>
  </p:sldMasterIdLst>
  <p:notesMasterIdLst>
    <p:notesMasterId r:id="rId41"/>
  </p:notesMasterIdLst>
  <p:sldIdLst>
    <p:sldId id="256" r:id="rId4"/>
    <p:sldId id="257" r:id="rId5"/>
    <p:sldId id="258" r:id="rId6"/>
    <p:sldId id="259" r:id="rId7"/>
    <p:sldId id="278" r:id="rId8"/>
    <p:sldId id="288" r:id="rId9"/>
    <p:sldId id="289" r:id="rId10"/>
    <p:sldId id="290" r:id="rId11"/>
    <p:sldId id="286" r:id="rId12"/>
    <p:sldId id="291" r:id="rId13"/>
    <p:sldId id="287" r:id="rId14"/>
    <p:sldId id="262" r:id="rId15"/>
    <p:sldId id="293" r:id="rId16"/>
    <p:sldId id="294" r:id="rId17"/>
    <p:sldId id="295" r:id="rId18"/>
    <p:sldId id="296" r:id="rId19"/>
    <p:sldId id="297" r:id="rId20"/>
    <p:sldId id="298" r:id="rId21"/>
    <p:sldId id="299" r:id="rId22"/>
    <p:sldId id="300" r:id="rId23"/>
    <p:sldId id="301" r:id="rId24"/>
    <p:sldId id="29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6" r:id="rId39"/>
    <p:sldId id="277" r:id="rId40"/>
  </p:sldIdLst>
  <p:sldSz cx="9144000" cy="5143500" type="screen16x9"/>
  <p:notesSz cx="6858000" cy="9144000"/>
  <p:embeddedFontLst>
    <p:embeddedFont>
      <p:font typeface="Century Gothic" panose="020B0502020202020204" pitchFamily="34" charset="0"/>
      <p:regular r:id="rId42"/>
      <p:bold r:id="rId43"/>
      <p:italic r:id="rId44"/>
      <p:boldItalic r:id="rId45"/>
    </p:embeddedFont>
    <p:embeddedFont>
      <p:font typeface="Nunito" pitchFamily="2" charset="0"/>
      <p:regular r:id="rId46"/>
      <p:bold r:id="rId47"/>
      <p:italic r:id="rId48"/>
      <p:boldItalic r:id="rId49"/>
    </p:embeddedFont>
    <p:embeddedFont>
      <p:font typeface="Nunito ExtraBold" pitchFamily="2" charset="0"/>
      <p:bold r:id="rId50"/>
      <p:boldItalic r:id="rId51"/>
    </p:embeddedFont>
    <p:embeddedFont>
      <p:font typeface="Nunito SemiBold" pitchFamily="2"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CFC87C6-1A0B-40AD-94C4-E44D0AB50E7B}">
  <a:tblStyle styleId="{4CFC87C6-1A0B-40AD-94C4-E44D0AB50E7B}"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36976CF4-DB81-4460-9A5E-51383ADFE053}"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EEF"/>
          </a:solidFill>
        </a:fill>
      </a:tcStyle>
    </a:wholeTbl>
    <a:band1H>
      <a:tcTxStyle b="off" i="off"/>
      <a:tcStyle>
        <a:tcBdr/>
        <a:fill>
          <a:solidFill>
            <a:srgbClr val="D5DBDE"/>
          </a:solidFill>
        </a:fill>
      </a:tcStyle>
    </a:band1H>
    <a:band2H>
      <a:tcTxStyle b="off" i="off"/>
      <a:tcStyle>
        <a:tcBdr/>
      </a:tcStyle>
    </a:band2H>
    <a:band1V>
      <a:tcTxStyle b="off" i="off"/>
      <a:tcStyle>
        <a:tcBdr/>
        <a:fill>
          <a:solidFill>
            <a:srgbClr val="D5DBDE"/>
          </a:solidFill>
        </a:fill>
      </a:tcStyle>
    </a:band1V>
    <a:band2V>
      <a:tcTxStyle b="off" i="off"/>
      <a:tcStyle>
        <a:tcBdr/>
      </a:tcStyle>
    </a:band2V>
    <a:lastCol>
      <a:tcTxStyle b="on" i="off">
        <a:font>
          <a:latin typeface="Arial"/>
          <a:ea typeface="Arial"/>
          <a:cs typeface="Arial"/>
        </a:font>
        <a:schemeClr val="lt1"/>
      </a:tcTxStyle>
      <a:tcStyle>
        <a:tcBdr/>
        <a:fill>
          <a:solidFill>
            <a:schemeClr val="accent3"/>
          </a:solidFill>
        </a:fill>
      </a:tcStyle>
    </a:lastCol>
    <a:firstCol>
      <a:tcTxStyle b="on" i="off">
        <a:font>
          <a:latin typeface="Arial"/>
          <a:ea typeface="Arial"/>
          <a:cs typeface="Arial"/>
        </a:font>
        <a:schemeClr val="lt1"/>
      </a:tcTxStyle>
      <a:tcStyle>
        <a:tcBdr/>
        <a:fill>
          <a:solidFill>
            <a:schemeClr val="accent3"/>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9" d="100"/>
          <a:sy n="139" d="100"/>
        </p:scale>
        <p:origin x="804" y="10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font" Target="fonts/font10.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5.fntdata"/><Relationship Id="rId59"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notesMaster" Target="notesMasters/notesMaster1.xml"/><Relationship Id="rId54"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8.fntdata"/><Relationship Id="rId57" Type="http://schemas.openxmlformats.org/officeDocument/2006/relationships/viewProps" Target="view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3.fntdata"/><Relationship Id="rId5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p3:notes"/>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a:extLst>
            <a:ext uri="{FF2B5EF4-FFF2-40B4-BE49-F238E27FC236}">
              <a16:creationId xmlns:a16="http://schemas.microsoft.com/office/drawing/2014/main" id="{732649BE-75EE-08D1-4487-F972587A41AD}"/>
            </a:ext>
          </a:extLst>
        </p:cNvPr>
        <p:cNvGrpSpPr/>
        <p:nvPr/>
      </p:nvGrpSpPr>
      <p:grpSpPr>
        <a:xfrm>
          <a:off x="0" y="0"/>
          <a:ext cx="0" cy="0"/>
          <a:chOff x="0" y="0"/>
          <a:chExt cx="0" cy="0"/>
        </a:xfrm>
      </p:grpSpPr>
      <p:sp>
        <p:nvSpPr>
          <p:cNvPr id="228" name="Google Shape;228;p3:notes">
            <a:extLst>
              <a:ext uri="{FF2B5EF4-FFF2-40B4-BE49-F238E27FC236}">
                <a16:creationId xmlns:a16="http://schemas.microsoft.com/office/drawing/2014/main" id="{8DA364A2-CEA1-8ED1-1DE3-8E290891E237}"/>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p3:notes">
            <a:extLst>
              <a:ext uri="{FF2B5EF4-FFF2-40B4-BE49-F238E27FC236}">
                <a16:creationId xmlns:a16="http://schemas.microsoft.com/office/drawing/2014/main" id="{3AD541C3-BBE0-74CC-7A05-0F4A8711A0BB}"/>
              </a:ext>
            </a:extLst>
          </p:cNvPr>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dirty="0"/>
          </a:p>
        </p:txBody>
      </p:sp>
    </p:spTree>
    <p:extLst>
      <p:ext uri="{BB962C8B-B14F-4D97-AF65-F5344CB8AC3E}">
        <p14:creationId xmlns:p14="http://schemas.microsoft.com/office/powerpoint/2010/main" val="1142879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a:extLst>
            <a:ext uri="{FF2B5EF4-FFF2-40B4-BE49-F238E27FC236}">
              <a16:creationId xmlns:a16="http://schemas.microsoft.com/office/drawing/2014/main" id="{44527584-FDA4-3E5C-069A-7614770AB153}"/>
            </a:ext>
          </a:extLst>
        </p:cNvPr>
        <p:cNvGrpSpPr/>
        <p:nvPr/>
      </p:nvGrpSpPr>
      <p:grpSpPr>
        <a:xfrm>
          <a:off x="0" y="0"/>
          <a:ext cx="0" cy="0"/>
          <a:chOff x="0" y="0"/>
          <a:chExt cx="0" cy="0"/>
        </a:xfrm>
      </p:grpSpPr>
      <p:sp>
        <p:nvSpPr>
          <p:cNvPr id="228" name="Google Shape;228;p3:notes">
            <a:extLst>
              <a:ext uri="{FF2B5EF4-FFF2-40B4-BE49-F238E27FC236}">
                <a16:creationId xmlns:a16="http://schemas.microsoft.com/office/drawing/2014/main" id="{ED7AD44A-83AA-D185-CA3E-B29CE2F6F088}"/>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p3:notes">
            <a:extLst>
              <a:ext uri="{FF2B5EF4-FFF2-40B4-BE49-F238E27FC236}">
                <a16:creationId xmlns:a16="http://schemas.microsoft.com/office/drawing/2014/main" id="{7027A506-9288-6817-0FB4-DF865D79BC8B}"/>
              </a:ext>
            </a:extLst>
          </p:cNvPr>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dirty="0"/>
          </a:p>
        </p:txBody>
      </p:sp>
    </p:spTree>
    <p:extLst>
      <p:ext uri="{BB962C8B-B14F-4D97-AF65-F5344CB8AC3E}">
        <p14:creationId xmlns:p14="http://schemas.microsoft.com/office/powerpoint/2010/main" val="3140871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a:extLst>
            <a:ext uri="{FF2B5EF4-FFF2-40B4-BE49-F238E27FC236}">
              <a16:creationId xmlns:a16="http://schemas.microsoft.com/office/drawing/2014/main" id="{2C3A470F-7C49-66B7-70A9-76C42CBB05E4}"/>
            </a:ext>
          </a:extLst>
        </p:cNvPr>
        <p:cNvGrpSpPr/>
        <p:nvPr/>
      </p:nvGrpSpPr>
      <p:grpSpPr>
        <a:xfrm>
          <a:off x="0" y="0"/>
          <a:ext cx="0" cy="0"/>
          <a:chOff x="0" y="0"/>
          <a:chExt cx="0" cy="0"/>
        </a:xfrm>
      </p:grpSpPr>
      <p:sp>
        <p:nvSpPr>
          <p:cNvPr id="228" name="Google Shape;228;p3:notes">
            <a:extLst>
              <a:ext uri="{FF2B5EF4-FFF2-40B4-BE49-F238E27FC236}">
                <a16:creationId xmlns:a16="http://schemas.microsoft.com/office/drawing/2014/main" id="{7BF72678-B86D-1E88-54E0-ED1474DEC03C}"/>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p3:notes">
            <a:extLst>
              <a:ext uri="{FF2B5EF4-FFF2-40B4-BE49-F238E27FC236}">
                <a16:creationId xmlns:a16="http://schemas.microsoft.com/office/drawing/2014/main" id="{6B2D960A-8536-1915-584A-175EAF2CBE72}"/>
              </a:ext>
            </a:extLst>
          </p:cNvPr>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dirty="0"/>
          </a:p>
        </p:txBody>
      </p:sp>
    </p:spTree>
    <p:extLst>
      <p:ext uri="{BB962C8B-B14F-4D97-AF65-F5344CB8AC3E}">
        <p14:creationId xmlns:p14="http://schemas.microsoft.com/office/powerpoint/2010/main" val="1894008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D99634B0-CE6E-C201-D6E4-330E83608EB7}"/>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8081FB99-D061-F218-4432-12A50FECA9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7:notes">
            <a:extLst>
              <a:ext uri="{FF2B5EF4-FFF2-40B4-BE49-F238E27FC236}">
                <a16:creationId xmlns:a16="http://schemas.microsoft.com/office/drawing/2014/main" id="{39DA6073-53F8-2B50-0D4C-6382AB6958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57593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45BF3E70-71EB-F971-5579-502BC97D88F7}"/>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534FE61C-1CA5-19B0-0C32-64BCEE27AF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7:notes">
            <a:extLst>
              <a:ext uri="{FF2B5EF4-FFF2-40B4-BE49-F238E27FC236}">
                <a16:creationId xmlns:a16="http://schemas.microsoft.com/office/drawing/2014/main" id="{310C5176-E6A3-EB4D-0322-C9B128C5015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02703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8204D93A-0F44-8782-B0C3-3D6E8692929D}"/>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C3E632DD-3771-FB9F-F52D-16702885B5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7:notes">
            <a:extLst>
              <a:ext uri="{FF2B5EF4-FFF2-40B4-BE49-F238E27FC236}">
                <a16:creationId xmlns:a16="http://schemas.microsoft.com/office/drawing/2014/main" id="{FD05E878-9279-64EC-3588-12CDDA4189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69457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DA1F071F-9B23-A49E-68A0-7739CC478F47}"/>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FEF7C748-23D4-EBF7-4FC6-6FDE29B174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7:notes">
            <a:extLst>
              <a:ext uri="{FF2B5EF4-FFF2-40B4-BE49-F238E27FC236}">
                <a16:creationId xmlns:a16="http://schemas.microsoft.com/office/drawing/2014/main" id="{16BC03EC-24DD-2A2E-3F06-7E875D34BF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1737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0D0FF4E9-C808-31E5-36AE-61C52A55462B}"/>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7CDCD695-627E-0FA1-7926-4664A9773C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7:notes">
            <a:extLst>
              <a:ext uri="{FF2B5EF4-FFF2-40B4-BE49-F238E27FC236}">
                <a16:creationId xmlns:a16="http://schemas.microsoft.com/office/drawing/2014/main" id="{62A7084B-9BF6-5287-2C0B-25C9B46E28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72127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1BBD698A-125A-0F38-CAC2-57859E6AEB67}"/>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4DCE9567-1275-3B4D-9072-2EE82C5E51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7:notes">
            <a:extLst>
              <a:ext uri="{FF2B5EF4-FFF2-40B4-BE49-F238E27FC236}">
                <a16:creationId xmlns:a16="http://schemas.microsoft.com/office/drawing/2014/main" id="{6E69023D-4F50-1779-94C0-4117A84720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200630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0C7F34E7-61D8-906F-98D5-79BDB8F80FDB}"/>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83541067-907C-3E7C-7F0A-837501EDB2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7:notes">
            <a:extLst>
              <a:ext uri="{FF2B5EF4-FFF2-40B4-BE49-F238E27FC236}">
                <a16:creationId xmlns:a16="http://schemas.microsoft.com/office/drawing/2014/main" id="{72568569-8231-697D-0923-42077E2421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161477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E2B0473F-9D89-D2D2-8360-DF9F7F9ABB15}"/>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90FA57F0-F0FA-6FE1-1F42-1FAD316C40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7:notes">
            <a:extLst>
              <a:ext uri="{FF2B5EF4-FFF2-40B4-BE49-F238E27FC236}">
                <a16:creationId xmlns:a16="http://schemas.microsoft.com/office/drawing/2014/main" id="{C281FD06-90D2-09F9-565A-B24B437AF64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616117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7645B68E-3C12-DA26-451E-04625BA53438}"/>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FD586A12-176E-FB86-F9ED-FE2B8DB804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7:notes">
            <a:extLst>
              <a:ext uri="{FF2B5EF4-FFF2-40B4-BE49-F238E27FC236}">
                <a16:creationId xmlns:a16="http://schemas.microsoft.com/office/drawing/2014/main" id="{5FE28A44-595C-9EC9-68BD-7EE6559C17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642103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43B609C7-2BAF-CA97-CE5B-05A52626CE76}"/>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960A3CBA-2824-7DD7-DDAA-3FFACB42DC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7:notes">
            <a:extLst>
              <a:ext uri="{FF2B5EF4-FFF2-40B4-BE49-F238E27FC236}">
                <a16:creationId xmlns:a16="http://schemas.microsoft.com/office/drawing/2014/main" id="{50B400AB-D82F-335D-AF0D-7FD05DEC25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32010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85ad5efe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g385ad5efec9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9" name="Google Shape;269;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37</a:t>
            </a:fld>
            <a:endParaRPr sz="1200" b="0" i="0" u="none" strike="noStrike" cap="none">
              <a:solidFill>
                <a:schemeClr val="dk1"/>
              </a:solidFill>
              <a:latin typeface="Calibri"/>
              <a:ea typeface="Calibri"/>
              <a:cs typeface="Calibri"/>
              <a:sym typeface="Calibri"/>
            </a:endParaRPr>
          </a:p>
        </p:txBody>
      </p:sp>
      <p:sp>
        <p:nvSpPr>
          <p:cNvPr id="277" name="Google Shape;277;p27: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p2"/>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p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p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p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p5"/>
          <p:cNvGraphicFramePr/>
          <p:nvPr/>
        </p:nvGraphicFramePr>
        <p:xfrm>
          <a:off x="201942" y="833662"/>
          <a:ext cx="3000000" cy="3000000"/>
        </p:xfrm>
        <a:graphic>
          <a:graphicData uri="http://schemas.openxmlformats.org/drawingml/2006/table">
            <a:tbl>
              <a:tblPr firstRow="1" bandRow="1">
                <a:noFill/>
                <a:tableStyleId>{4CFC87C6-1A0B-40AD-94C4-E44D0AB50E7B}</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p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p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p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p11"/>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p11" descr="A close up of a logo&#10;&#10;Description automatically generated"/>
          <p:cNvPicPr preferRelativeResize="0"/>
          <p:nvPr/>
        </p:nvPicPr>
        <p:blipFill rotWithShape="1">
          <a:blip r:embed="rId2">
            <a:alphaModFix/>
          </a:blip>
          <a:srcRect l="42816" t="18358" r="37293" b="19149"/>
          <a:stretch/>
        </p:blipFill>
        <p:spPr>
          <a:xfrm>
            <a:off x="6052536" y="514443"/>
            <a:ext cx="2095112" cy="3703320"/>
          </a:xfrm>
          <a:prstGeom prst="rect">
            <a:avLst/>
          </a:prstGeom>
          <a:noFill/>
          <a:ln>
            <a:noFill/>
          </a:ln>
        </p:spPr>
      </p:pic>
      <p:sp>
        <p:nvSpPr>
          <p:cNvPr id="50" name="Google Shape;50;p11"/>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p11"/>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US"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p11"/>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4" name="Google Shape;64;p1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5" name="Google Shape;65;p1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
        <p:cNvGrpSpPr/>
        <p:nvPr/>
      </p:nvGrpSpPr>
      <p:grpSpPr>
        <a:xfrm>
          <a:off x="0" y="0"/>
          <a:ext cx="0" cy="0"/>
          <a:chOff x="0" y="0"/>
          <a:chExt cx="0" cy="0"/>
        </a:xfrm>
      </p:grpSpPr>
      <p:sp>
        <p:nvSpPr>
          <p:cNvPr id="67" name="Google Shape;67;p14"/>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68" name="Google Shape;68;p14"/>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1" name="Google Shape;71;p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74" name="Google Shape;74;p16"/>
          <p:cNvGraphicFramePr/>
          <p:nvPr/>
        </p:nvGraphicFramePr>
        <p:xfrm>
          <a:off x="201942" y="833662"/>
          <a:ext cx="3000000" cy="3000000"/>
        </p:xfrm>
        <a:graphic>
          <a:graphicData uri="http://schemas.openxmlformats.org/drawingml/2006/table">
            <a:tbl>
              <a:tblPr firstRow="1" bandRow="1">
                <a:noFill/>
                <a:tableStyleId>{4CFC87C6-1A0B-40AD-94C4-E44D0AB50E7B}</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5" name="Google Shape;75;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8" name="Google Shape;78;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9" name="Google Shape;79;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0" name="Google Shape;80;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3" name="Google Shape;83;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4"/>
        <p:cNvGrpSpPr/>
        <p:nvPr/>
      </p:nvGrpSpPr>
      <p:grpSpPr>
        <a:xfrm>
          <a:off x="0" y="0"/>
          <a:ext cx="0" cy="0"/>
          <a:chOff x="0" y="0"/>
          <a:chExt cx="0" cy="0"/>
        </a:xfrm>
      </p:grpSpPr>
      <p:sp>
        <p:nvSpPr>
          <p:cNvPr id="85" name="Google Shape;85;p1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6" name="Google Shape;86;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7"/>
        <p:cNvGrpSpPr/>
        <p:nvPr/>
      </p:nvGrpSpPr>
      <p:grpSpPr>
        <a:xfrm>
          <a:off x="0" y="0"/>
          <a:ext cx="0" cy="0"/>
          <a:chOff x="0" y="0"/>
          <a:chExt cx="0" cy="0"/>
        </a:xfrm>
      </p:grpSpPr>
      <p:sp>
        <p:nvSpPr>
          <p:cNvPr id="88" name="Google Shape;88;p2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2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0" name="Google Shape;90;p2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1" name="Google Shape;91;p2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2" name="Google Shape;92;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5"/>
        <p:cNvGrpSpPr/>
        <p:nvPr/>
      </p:nvGrpSpPr>
      <p:grpSpPr>
        <a:xfrm>
          <a:off x="0" y="0"/>
          <a:ext cx="0" cy="0"/>
          <a:chOff x="0" y="0"/>
          <a:chExt cx="0" cy="0"/>
        </a:xfrm>
      </p:grpSpPr>
      <p:sp>
        <p:nvSpPr>
          <p:cNvPr id="96" name="Google Shape;96;p22"/>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97" name="Google Shape;97;p22" descr="A close up of a logo&#10;&#10;Description automatically generated"/>
          <p:cNvPicPr preferRelativeResize="0"/>
          <p:nvPr/>
        </p:nvPicPr>
        <p:blipFill rotWithShape="1">
          <a:blip r:embed="rId2">
            <a:alphaModFix/>
          </a:blip>
          <a:srcRect l="42816" t="18360" r="37293" b="19147"/>
          <a:stretch/>
        </p:blipFill>
        <p:spPr>
          <a:xfrm>
            <a:off x="6052536" y="514443"/>
            <a:ext cx="2095112" cy="3703320"/>
          </a:xfrm>
          <a:prstGeom prst="rect">
            <a:avLst/>
          </a:prstGeom>
          <a:noFill/>
          <a:ln>
            <a:noFill/>
          </a:ln>
        </p:spPr>
      </p:pic>
      <p:sp>
        <p:nvSpPr>
          <p:cNvPr id="98" name="Google Shape;98;p2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9" name="Google Shape;99;p22"/>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US"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100" name="Google Shape;100;p22"/>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10"/>
        <p:cNvGrpSpPr/>
        <p:nvPr/>
      </p:nvGrpSpPr>
      <p:grpSpPr>
        <a:xfrm>
          <a:off x="0" y="0"/>
          <a:ext cx="0" cy="0"/>
          <a:chOff x="0" y="0"/>
          <a:chExt cx="0" cy="0"/>
        </a:xfrm>
      </p:grpSpPr>
      <p:sp>
        <p:nvSpPr>
          <p:cNvPr id="111" name="Google Shape;111;p24"/>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12" name="Google Shape;112;p24" descr="A close up of a logo&#10;&#10;Description automatically generated"/>
          <p:cNvPicPr preferRelativeResize="0"/>
          <p:nvPr/>
        </p:nvPicPr>
        <p:blipFill rotWithShape="1">
          <a:blip r:embed="rId2">
            <a:alphaModFix/>
          </a:blip>
          <a:srcRect l="42816" t="18358" r="37293" b="19149"/>
          <a:stretch/>
        </p:blipFill>
        <p:spPr>
          <a:xfrm>
            <a:off x="6052536" y="514443"/>
            <a:ext cx="2095112" cy="3703320"/>
          </a:xfrm>
          <a:prstGeom prst="rect">
            <a:avLst/>
          </a:prstGeom>
          <a:noFill/>
          <a:ln>
            <a:noFill/>
          </a:ln>
        </p:spPr>
      </p:pic>
      <p:sp>
        <p:nvSpPr>
          <p:cNvPr id="113" name="Google Shape;113;p24"/>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14" name="Google Shape;114;p24"/>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US"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115" name="Google Shape;115;p24"/>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6"/>
        <p:cNvGrpSpPr/>
        <p:nvPr/>
      </p:nvGrpSpPr>
      <p:grpSpPr>
        <a:xfrm>
          <a:off x="0" y="0"/>
          <a:ext cx="0" cy="0"/>
          <a:chOff x="0" y="0"/>
          <a:chExt cx="0" cy="0"/>
        </a:xfrm>
      </p:grpSpPr>
      <p:sp>
        <p:nvSpPr>
          <p:cNvPr id="117" name="Google Shape;117;p25"/>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18" name="Google Shape;118;p25"/>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9"/>
        <p:cNvGrpSpPr/>
        <p:nvPr/>
      </p:nvGrpSpPr>
      <p:grpSpPr>
        <a:xfrm>
          <a:off x="0" y="0"/>
          <a:ext cx="0" cy="0"/>
          <a:chOff x="0" y="0"/>
          <a:chExt cx="0" cy="0"/>
        </a:xfrm>
      </p:grpSpPr>
      <p:sp>
        <p:nvSpPr>
          <p:cNvPr id="120" name="Google Shape;120;p2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21" name="Google Shape;121;p2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4" name="Google Shape;124;p2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25" name="Google Shape;125;p2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26"/>
        <p:cNvGrpSpPr/>
        <p:nvPr/>
      </p:nvGrpSpPr>
      <p:grpSpPr>
        <a:xfrm>
          <a:off x="0" y="0"/>
          <a:ext cx="0" cy="0"/>
          <a:chOff x="0" y="0"/>
          <a:chExt cx="0" cy="0"/>
        </a:xfrm>
      </p:grpSpPr>
      <p:sp>
        <p:nvSpPr>
          <p:cNvPr id="127" name="Google Shape;127;p2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28" name="Google Shape;128;p28"/>
          <p:cNvGraphicFramePr/>
          <p:nvPr/>
        </p:nvGraphicFramePr>
        <p:xfrm>
          <a:off x="201942" y="833662"/>
          <a:ext cx="3000000" cy="3000000"/>
        </p:xfrm>
        <a:graphic>
          <a:graphicData uri="http://schemas.openxmlformats.org/drawingml/2006/table">
            <a:tbl>
              <a:tblPr firstRow="1" bandRow="1">
                <a:noFill/>
                <a:tableStyleId>{4CFC87C6-1A0B-40AD-94C4-E44D0AB50E7B}</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29" name="Google Shape;129;p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0"/>
        <p:cNvGrpSpPr/>
        <p:nvPr/>
      </p:nvGrpSpPr>
      <p:grpSpPr>
        <a:xfrm>
          <a:off x="0" y="0"/>
          <a:ext cx="0" cy="0"/>
          <a:chOff x="0" y="0"/>
          <a:chExt cx="0" cy="0"/>
        </a:xfrm>
      </p:grpSpPr>
      <p:sp>
        <p:nvSpPr>
          <p:cNvPr id="131" name="Google Shape;131;p2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2" name="Google Shape;132;p2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33" name="Google Shape;133;p2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34" name="Google Shape;134;p2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5"/>
        <p:cNvGrpSpPr/>
        <p:nvPr/>
      </p:nvGrpSpPr>
      <p:grpSpPr>
        <a:xfrm>
          <a:off x="0" y="0"/>
          <a:ext cx="0" cy="0"/>
          <a:chOff x="0" y="0"/>
          <a:chExt cx="0" cy="0"/>
        </a:xfrm>
      </p:grpSpPr>
      <p:sp>
        <p:nvSpPr>
          <p:cNvPr id="136" name="Google Shape;136;p3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7" name="Google Shape;137;p3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8"/>
        <p:cNvGrpSpPr/>
        <p:nvPr/>
      </p:nvGrpSpPr>
      <p:grpSpPr>
        <a:xfrm>
          <a:off x="0" y="0"/>
          <a:ext cx="0" cy="0"/>
          <a:chOff x="0" y="0"/>
          <a:chExt cx="0" cy="0"/>
        </a:xfrm>
      </p:grpSpPr>
      <p:sp>
        <p:nvSpPr>
          <p:cNvPr id="139" name="Google Shape;139;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40" name="Google Shape;140;p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1"/>
        <p:cNvGrpSpPr/>
        <p:nvPr/>
      </p:nvGrpSpPr>
      <p:grpSpPr>
        <a:xfrm>
          <a:off x="0" y="0"/>
          <a:ext cx="0" cy="0"/>
          <a:chOff x="0" y="0"/>
          <a:chExt cx="0" cy="0"/>
        </a:xfrm>
      </p:grpSpPr>
      <p:sp>
        <p:nvSpPr>
          <p:cNvPr id="142" name="Google Shape;142;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44" name="Google Shape;144;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45" name="Google Shape;145;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146" name="Google Shape;146;p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7"/>
        <p:cNvGrpSpPr/>
        <p:nvPr/>
      </p:nvGrpSpPr>
      <p:grpSpPr>
        <a:xfrm>
          <a:off x="0" y="0"/>
          <a:ext cx="0" cy="0"/>
          <a:chOff x="0" y="0"/>
          <a:chExt cx="0" cy="0"/>
        </a:xfrm>
      </p:grpSpPr>
      <p:sp>
        <p:nvSpPr>
          <p:cNvPr id="148" name="Google Shape;148;p3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p1"/>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p1"/>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US"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p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pic>
        <p:nvPicPr>
          <p:cNvPr id="10" name="Google Shape;10;p1"/>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p1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p1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US"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p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pic>
        <p:nvPicPr>
          <p:cNvPr id="58" name="Google Shape;58;p12"/>
          <p:cNvPicPr preferRelativeResize="0"/>
          <p:nvPr/>
        </p:nvPicPr>
        <p:blipFill rotWithShape="1">
          <a:blip r:embed="rId12">
            <a:alphaModFix/>
          </a:blip>
          <a:srcRect/>
          <a:stretch/>
        </p:blipFill>
        <p:spPr>
          <a:xfrm>
            <a:off x="7669500" y="68264"/>
            <a:ext cx="1395475" cy="572700"/>
          </a:xfrm>
          <a:prstGeom prst="rect">
            <a:avLst/>
          </a:prstGeom>
          <a:noFill/>
          <a:ln>
            <a:noFill/>
          </a:ln>
        </p:spPr>
      </p:pic>
      <p:grpSp>
        <p:nvGrpSpPr>
          <p:cNvPr id="59" name="Google Shape;59;p12"/>
          <p:cNvGrpSpPr/>
          <p:nvPr/>
        </p:nvGrpSpPr>
        <p:grpSpPr>
          <a:xfrm>
            <a:off x="6593" y="10"/>
            <a:ext cx="175500" cy="709221"/>
            <a:chOff x="6593" y="10"/>
            <a:chExt cx="175500" cy="709221"/>
          </a:xfrm>
        </p:grpSpPr>
        <p:sp>
          <p:nvSpPr>
            <p:cNvPr id="60" name="Google Shape;60;p1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01"/>
        <p:cNvGrpSpPr/>
        <p:nvPr/>
      </p:nvGrpSpPr>
      <p:grpSpPr>
        <a:xfrm>
          <a:off x="0" y="0"/>
          <a:ext cx="0" cy="0"/>
          <a:chOff x="0" y="0"/>
          <a:chExt cx="0" cy="0"/>
        </a:xfrm>
      </p:grpSpPr>
      <p:sp>
        <p:nvSpPr>
          <p:cNvPr id="102" name="Google Shape;102;p2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103" name="Google Shape;103;p23"/>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04" name="Google Shape;104;p23"/>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US"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05" name="Google Shape;105;p2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a:t>
            </a:fld>
            <a:endParaRPr/>
          </a:p>
        </p:txBody>
      </p:sp>
      <p:pic>
        <p:nvPicPr>
          <p:cNvPr id="106" name="Google Shape;106;p23"/>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07" name="Google Shape;107;p23"/>
          <p:cNvGrpSpPr/>
          <p:nvPr/>
        </p:nvGrpSpPr>
        <p:grpSpPr>
          <a:xfrm>
            <a:off x="6593" y="10"/>
            <a:ext cx="175500" cy="709221"/>
            <a:chOff x="6593" y="10"/>
            <a:chExt cx="175500" cy="709221"/>
          </a:xfrm>
        </p:grpSpPr>
        <p:sp>
          <p:nvSpPr>
            <p:cNvPr id="108" name="Google Shape;108;p23"/>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23"/>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Lst>
  <mc:AlternateContent xmlns:mc="http://schemas.openxmlformats.org/markup-compatibility/2006" xmlns:p14="http://schemas.microsoft.com/office/powerpoint/2010/main">
    <mc:Choice Requires="p14">
      <p:transition p14:dur="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34"/>
          <p:cNvSpPr txBox="1">
            <a:spLocks noGrp="1"/>
          </p:cNvSpPr>
          <p:nvPr>
            <p:ph type="ctrTitle"/>
          </p:nvPr>
        </p:nvSpPr>
        <p:spPr>
          <a:xfrm>
            <a:off x="650400" y="1902900"/>
            <a:ext cx="7843200" cy="133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US" sz="3300" dirty="0">
                <a:latin typeface="Century Gothic"/>
                <a:ea typeface="Century Gothic"/>
                <a:cs typeface="Century Gothic"/>
                <a:sym typeface="Century Gothic"/>
              </a:rPr>
              <a:t>Home Loan Defaults</a:t>
            </a:r>
            <a:endParaRPr sz="3300" dirty="0">
              <a:latin typeface="Century Gothic"/>
              <a:ea typeface="Century Gothic"/>
              <a:cs typeface="Century Gothic"/>
              <a:sym typeface="Century Gothic"/>
            </a:endParaRPr>
          </a:p>
          <a:p>
            <a:pPr marL="0" lvl="0" indent="0" algn="l" rtl="0">
              <a:lnSpc>
                <a:spcPct val="100000"/>
              </a:lnSpc>
              <a:spcBef>
                <a:spcPts val="0"/>
              </a:spcBef>
              <a:spcAft>
                <a:spcPts val="0"/>
              </a:spcAft>
              <a:buSzPts val="4800"/>
              <a:buNone/>
            </a:pPr>
            <a:r>
              <a:rPr lang="en-US" sz="3300" b="0" dirty="0">
                <a:latin typeface="Century Gothic"/>
                <a:ea typeface="Century Gothic"/>
                <a:cs typeface="Century Gothic"/>
                <a:sym typeface="Century Gothic"/>
              </a:rPr>
              <a:t>Prediction Methods - Neural Networks</a:t>
            </a:r>
            <a:endParaRPr sz="3300" b="0" dirty="0">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Contents / Agenda</a:t>
            </a:r>
            <a:endParaRPr>
              <a:solidFill>
                <a:schemeClr val="lt2"/>
              </a:solidFill>
              <a:latin typeface="Century Gothic"/>
              <a:ea typeface="Century Gothic"/>
              <a:cs typeface="Century Gothic"/>
              <a:sym typeface="Century Gothic"/>
            </a:endParaRPr>
          </a:p>
        </p:txBody>
      </p:sp>
      <p:sp>
        <p:nvSpPr>
          <p:cNvPr id="159" name="Google Shape;159;p3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Business Problem Overview &amp; Solution Approach</a:t>
            </a:r>
            <a:endParaRPr/>
          </a:p>
          <a:p>
            <a:pPr marL="457200" lvl="0" indent="-317500" algn="l"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Data Dictionary</a:t>
            </a:r>
            <a:endParaRPr/>
          </a:p>
          <a:p>
            <a:pPr marL="457200" lvl="0" indent="-317500" algn="l"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Exploratory Data Analysis (EDA) Results</a:t>
            </a:r>
            <a:endParaRPr/>
          </a:p>
          <a:p>
            <a:pPr marL="457200" lvl="0" indent="-317500" algn="l"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Data Preprocessing</a:t>
            </a:r>
            <a:endParaRPr/>
          </a:p>
          <a:p>
            <a:pPr marL="457200" lvl="0" indent="-317500" algn="l"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Model Performance Summary</a:t>
            </a:r>
            <a:endParaRPr/>
          </a:p>
          <a:p>
            <a:pPr marL="457200" lvl="0" indent="-317500" algn="l"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Best Model Selection</a:t>
            </a:r>
            <a:endParaRPr/>
          </a:p>
          <a:p>
            <a:pPr marL="457200" lvl="0" indent="-317500" algn="l"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Conclusions &amp; Recommendations</a:t>
            </a:r>
            <a:endParaRPr/>
          </a:p>
          <a:p>
            <a:pPr marL="457200" lvl="0" indent="-317500" algn="l"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Appendix / Screenshots</a:t>
            </a:r>
            <a:endParaRPr/>
          </a:p>
        </p:txBody>
      </p:sp>
      <p:sp>
        <p:nvSpPr>
          <p:cNvPr id="2" name="Slide Number Placeholder 1">
            <a:extLst>
              <a:ext uri="{FF2B5EF4-FFF2-40B4-BE49-F238E27FC236}">
                <a16:creationId xmlns:a16="http://schemas.microsoft.com/office/drawing/2014/main" id="{E415734C-7719-3903-04B0-D52F93F53B0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Data Dictionary</a:t>
            </a:r>
            <a:endParaRPr>
              <a:solidFill>
                <a:schemeClr val="lt2"/>
              </a:solidFill>
              <a:latin typeface="Century Gothic"/>
              <a:ea typeface="Century Gothic"/>
              <a:cs typeface="Century Gothic"/>
              <a:sym typeface="Century Gothic"/>
            </a:endParaRPr>
          </a:p>
        </p:txBody>
      </p:sp>
      <p:sp>
        <p:nvSpPr>
          <p:cNvPr id="165" name="Google Shape;165;p36"/>
          <p:cNvSpPr txBox="1">
            <a:spLocks noGrp="1"/>
          </p:cNvSpPr>
          <p:nvPr>
            <p:ph type="body" idx="1"/>
          </p:nvPr>
        </p:nvSpPr>
        <p:spPr>
          <a:xfrm>
            <a:off x="311750" y="861975"/>
            <a:ext cx="8520600" cy="3706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000"/>
              </a:spcBef>
              <a:spcAft>
                <a:spcPts val="0"/>
              </a:spcAft>
              <a:buSzPts val="1500"/>
              <a:buNone/>
            </a:pPr>
            <a:r>
              <a:rPr lang="en-US" sz="1200">
                <a:solidFill>
                  <a:schemeClr val="dk1"/>
                </a:solidFill>
                <a:latin typeface="Century Gothic"/>
                <a:ea typeface="Century Gothic"/>
                <a:cs typeface="Century Gothic"/>
                <a:sym typeface="Century Gothic"/>
              </a:rPr>
              <a:t>The data contains different attributes of customers’ loan and credit details. The detailed data dictionary is given below:</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BAD: Whether the client defaulted on the loan (0 = No, 1 = Yes)</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LOAN: Amount of loan approved</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MORTDUE: Amount due on the existing mortgage</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VALUE: Current value of the property</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REASON: Reason for the loan request (HomeImp = Home Improvement, DebtCon = Debt Consolidation)</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JOB: Type of job the applicant has (e.g., Manager, Self-employed)</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YOJ: Years at present job</a:t>
            </a:r>
            <a:endParaRPr/>
          </a:p>
          <a:p>
            <a:pPr marL="457200" lvl="0" indent="0" algn="l" rtl="0">
              <a:lnSpc>
                <a:spcPct val="150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50000"/>
              </a:lnSpc>
              <a:spcBef>
                <a:spcPts val="1000"/>
              </a:spcBef>
              <a:spcAft>
                <a:spcPts val="0"/>
              </a:spcAft>
              <a:buSzPts val="1500"/>
              <a:buNone/>
            </a:pPr>
            <a:endParaRPr sz="1200">
              <a:solidFill>
                <a:schemeClr val="dk1"/>
              </a:solidFill>
              <a:latin typeface="Century Gothic"/>
              <a:ea typeface="Century Gothic"/>
              <a:cs typeface="Century Gothic"/>
              <a:sym typeface="Century Gothic"/>
            </a:endParaRPr>
          </a:p>
          <a:p>
            <a:pPr marL="457200" lvl="0" indent="0" algn="l" rtl="0">
              <a:lnSpc>
                <a:spcPct val="150000"/>
              </a:lnSpc>
              <a:spcBef>
                <a:spcPts val="1000"/>
              </a:spcBef>
              <a:spcAft>
                <a:spcPts val="1000"/>
              </a:spcAft>
              <a:buSzPts val="1500"/>
              <a:buNone/>
            </a:pPr>
            <a:endParaRPr sz="1200">
              <a:solidFill>
                <a:schemeClr val="dk1"/>
              </a:solidFill>
              <a:latin typeface="Century Gothic"/>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80F3270F-F59E-CE2A-6CB2-BFABCD8F254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Data Dictionary</a:t>
            </a:r>
            <a:endParaRPr>
              <a:solidFill>
                <a:schemeClr val="lt2"/>
              </a:solidFill>
              <a:latin typeface="Century Gothic"/>
              <a:ea typeface="Century Gothic"/>
              <a:cs typeface="Century Gothic"/>
              <a:sym typeface="Century Gothic"/>
            </a:endParaRPr>
          </a:p>
        </p:txBody>
      </p:sp>
      <p:sp>
        <p:nvSpPr>
          <p:cNvPr id="171" name="Google Shape;171;p37"/>
          <p:cNvSpPr txBox="1">
            <a:spLocks noGrp="1"/>
          </p:cNvSpPr>
          <p:nvPr>
            <p:ph type="body" idx="1"/>
          </p:nvPr>
        </p:nvSpPr>
        <p:spPr>
          <a:xfrm>
            <a:off x="311750" y="861975"/>
            <a:ext cx="8520600" cy="3706800"/>
          </a:xfrm>
          <a:prstGeom prst="rect">
            <a:avLst/>
          </a:prstGeom>
          <a:noFill/>
          <a:ln>
            <a:noFill/>
          </a:ln>
        </p:spPr>
        <p:txBody>
          <a:bodyPr spcFirstLastPara="1" wrap="square" lIns="91425" tIns="91425" rIns="91425" bIns="91425" anchor="t" anchorCtr="0">
            <a:noAutofit/>
          </a:bodyPr>
          <a:lstStyle/>
          <a:p>
            <a:pPr marL="457200" lvl="0" indent="-228600" algn="l" rtl="0">
              <a:lnSpc>
                <a:spcPct val="150000"/>
              </a:lnSpc>
              <a:spcBef>
                <a:spcPts val="1000"/>
              </a:spcBef>
              <a:spcAft>
                <a:spcPts val="0"/>
              </a:spcAft>
              <a:buClr>
                <a:schemeClr val="dk1"/>
              </a:buClr>
              <a:buSzPts val="1200"/>
              <a:buFont typeface="Century Gothic"/>
              <a:buNone/>
            </a:pPr>
            <a:endParaRPr sz="1200">
              <a:solidFill>
                <a:schemeClr val="dk1"/>
              </a:solidFill>
              <a:latin typeface="Century Gothic"/>
              <a:ea typeface="Century Gothic"/>
              <a:cs typeface="Century Gothic"/>
              <a:sym typeface="Century Gothic"/>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DEROG: Number of major derogatory reports (serious delinquency/late payments)</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DELINQ: Number of delinquent credit lines (past due payments)</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CLAGE: Age of the oldest credit line in months</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NINQ: Number of recent credit inquiries</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CLNO: Number of existing credit lines</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DEBTINC: Debt-to-income ratio (all monthly debt payments divided by gross monthly income)</a:t>
            </a:r>
            <a:endParaRPr/>
          </a:p>
          <a:p>
            <a:pPr marL="914400" lvl="0" indent="-228600" algn="l" rtl="0">
              <a:lnSpc>
                <a:spcPct val="115000"/>
              </a:lnSpc>
              <a:spcBef>
                <a:spcPts val="1000"/>
              </a:spcBef>
              <a:spcAft>
                <a:spcPts val="0"/>
              </a:spcAft>
              <a:buClr>
                <a:srgbClr val="2D3B45"/>
              </a:buClr>
              <a:buSzPts val="1200"/>
              <a:buFont typeface="Century Gothic"/>
              <a:buNone/>
            </a:pPr>
            <a:endParaRPr sz="1200">
              <a:solidFill>
                <a:schemeClr val="dk1"/>
              </a:solidFill>
              <a:latin typeface="Century Gothic"/>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CC5786F4-E255-FBF4-D23D-7D139A55AF1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
          <p:cNvSpPr txBox="1">
            <a:spLocks noGrp="1"/>
          </p:cNvSpPr>
          <p:nvPr>
            <p:ph type="title"/>
          </p:nvPr>
        </p:nvSpPr>
        <p:spPr>
          <a:xfrm>
            <a:off x="254702" y="101531"/>
            <a:ext cx="473521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Business Problem Overview</a:t>
            </a:r>
            <a:endParaRPr dirty="0">
              <a:solidFill>
                <a:schemeClr val="lt2"/>
              </a:solidFill>
              <a:latin typeface="Century Gothic"/>
              <a:ea typeface="Century Gothic"/>
              <a:cs typeface="Century Gothic"/>
              <a:sym typeface="Century Gothic"/>
            </a:endParaRPr>
          </a:p>
        </p:txBody>
      </p:sp>
      <p:sp>
        <p:nvSpPr>
          <p:cNvPr id="232" name="Google Shape;232;p3"/>
          <p:cNvSpPr txBox="1">
            <a:spLocks noGrp="1"/>
          </p:cNvSpPr>
          <p:nvPr>
            <p:ph type="body" idx="1"/>
          </p:nvPr>
        </p:nvSpPr>
        <p:spPr>
          <a:xfrm>
            <a:off x="202550" y="861975"/>
            <a:ext cx="8629800" cy="3493747"/>
          </a:xfrm>
          <a:prstGeom prst="rect">
            <a:avLst/>
          </a:prstGeom>
          <a:noFill/>
          <a:ln>
            <a:noFill/>
          </a:ln>
        </p:spPr>
        <p:txBody>
          <a:bodyPr spcFirstLastPara="1" wrap="square" lIns="91425" tIns="91425" rIns="91425" bIns="91425" anchor="t" anchorCtr="0">
            <a:spAutoFit/>
          </a:bodyPr>
          <a:lstStyle/>
          <a:p>
            <a:pPr marL="139700" indent="0">
              <a:spcBef>
                <a:spcPts val="1000"/>
              </a:spcBef>
              <a:buClr>
                <a:schemeClr val="dk1"/>
              </a:buClr>
              <a:buSzPts val="1400"/>
              <a:buNone/>
            </a:pPr>
            <a:r>
              <a:rPr lang="en-US" b="1" dirty="0"/>
              <a:t>Consumer Home Loans </a:t>
            </a:r>
            <a:r>
              <a:rPr lang="en-US" dirty="0"/>
              <a:t>represent a substantial percentage of retail bank profits. Loan defaults (NPA – bad loans) can put those profits at risk. It is in a banks best interest to thoroughly vet perspective loan applicants to minimize loan default occurrences.</a:t>
            </a:r>
          </a:p>
          <a:p>
            <a:pPr marL="139700" indent="0">
              <a:spcBef>
                <a:spcPts val="1000"/>
              </a:spcBef>
              <a:buClr>
                <a:schemeClr val="dk1"/>
              </a:buClr>
              <a:buSzPts val="1400"/>
              <a:buNone/>
            </a:pPr>
            <a:endParaRPr lang="en-US" dirty="0"/>
          </a:p>
          <a:p>
            <a:pPr marL="139700" indent="0">
              <a:spcBef>
                <a:spcPts val="1000"/>
              </a:spcBef>
              <a:buClr>
                <a:schemeClr val="dk1"/>
              </a:buClr>
              <a:buSzPts val="1400"/>
              <a:buNone/>
            </a:pPr>
            <a:r>
              <a:rPr lang="en-US" b="1" dirty="0"/>
              <a:t>Loan Underwriting</a:t>
            </a:r>
            <a:r>
              <a:rPr lang="en-US" dirty="0"/>
              <a:t> is a multi-phase process involving:</a:t>
            </a:r>
          </a:p>
          <a:p>
            <a:pPr marL="139700" indent="0">
              <a:spcBef>
                <a:spcPts val="1000"/>
              </a:spcBef>
              <a:buClr>
                <a:schemeClr val="dk1"/>
              </a:buClr>
              <a:buSzPts val="1400"/>
              <a:buNone/>
            </a:pPr>
            <a:endParaRPr lang="en-US" sz="800" dirty="0"/>
          </a:p>
          <a:p>
            <a:pPr lvl="0"/>
            <a:r>
              <a:rPr lang="en-US" b="1" dirty="0"/>
              <a:t>Credit Analysis/Assessment </a:t>
            </a:r>
            <a:r>
              <a:rPr lang="en-US" dirty="0"/>
              <a:t>– credit scores, history, existing debt, </a:t>
            </a:r>
            <a:r>
              <a:rPr lang="en-US" b="1" dirty="0"/>
              <a:t>DTI</a:t>
            </a:r>
            <a:r>
              <a:rPr lang="en-US" dirty="0"/>
              <a:t> ratio</a:t>
            </a:r>
          </a:p>
          <a:p>
            <a:pPr lvl="0"/>
            <a:r>
              <a:rPr lang="en-US" b="1" dirty="0"/>
              <a:t>Employment/Income Verification </a:t>
            </a:r>
            <a:r>
              <a:rPr lang="en-US" dirty="0"/>
              <a:t> employment status/history, income confirmation</a:t>
            </a:r>
          </a:p>
          <a:p>
            <a:pPr lvl="0"/>
            <a:r>
              <a:rPr lang="en-US" b="1" dirty="0"/>
              <a:t>Asset Assessment </a:t>
            </a:r>
            <a:r>
              <a:rPr lang="en-US" dirty="0"/>
              <a:t>– verification of down payment, investments, properties, liquid assets</a:t>
            </a:r>
          </a:p>
          <a:p>
            <a:pPr lvl="0"/>
            <a:r>
              <a:rPr lang="en-US" b="1" dirty="0"/>
              <a:t>Collateral Evaluation </a:t>
            </a:r>
            <a:r>
              <a:rPr lang="en-US" dirty="0"/>
              <a:t>– property appraisal, loan-to-value (</a:t>
            </a:r>
            <a:r>
              <a:rPr lang="en-US" b="1" dirty="0"/>
              <a:t>LTV</a:t>
            </a:r>
            <a:r>
              <a:rPr lang="en-US" dirty="0"/>
              <a:t>) ratio, title search</a:t>
            </a:r>
          </a:p>
          <a:p>
            <a:pPr lvl="0"/>
            <a:r>
              <a:rPr lang="en-US" b="1" dirty="0"/>
              <a:t>Risk Assessment </a:t>
            </a:r>
            <a:r>
              <a:rPr lang="en-US" dirty="0"/>
              <a:t>– borrower profile, red flags, risk rating</a:t>
            </a:r>
            <a:endParaRPr lang="en-US" b="1" dirty="0"/>
          </a:p>
        </p:txBody>
      </p:sp>
      <p:sp>
        <p:nvSpPr>
          <p:cNvPr id="2" name="Slide Number Placeholder 1">
            <a:extLst>
              <a:ext uri="{FF2B5EF4-FFF2-40B4-BE49-F238E27FC236}">
                <a16:creationId xmlns:a16="http://schemas.microsoft.com/office/drawing/2014/main" id="{0DF09D0F-AACB-5458-AB21-712F38BFE07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5</a:t>
            </a:fld>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0">
          <a:extLst>
            <a:ext uri="{FF2B5EF4-FFF2-40B4-BE49-F238E27FC236}">
              <a16:creationId xmlns:a16="http://schemas.microsoft.com/office/drawing/2014/main" id="{206B1578-1E42-D453-7DDF-AD99B1146A84}"/>
            </a:ext>
          </a:extLst>
        </p:cNvPr>
        <p:cNvGrpSpPr/>
        <p:nvPr/>
      </p:nvGrpSpPr>
      <p:grpSpPr>
        <a:xfrm>
          <a:off x="0" y="0"/>
          <a:ext cx="0" cy="0"/>
          <a:chOff x="0" y="0"/>
          <a:chExt cx="0" cy="0"/>
        </a:xfrm>
      </p:grpSpPr>
      <p:sp>
        <p:nvSpPr>
          <p:cNvPr id="231" name="Google Shape;231;p3">
            <a:extLst>
              <a:ext uri="{FF2B5EF4-FFF2-40B4-BE49-F238E27FC236}">
                <a16:creationId xmlns:a16="http://schemas.microsoft.com/office/drawing/2014/main" id="{E7D40A21-58AC-7DE5-EE83-505441120458}"/>
              </a:ext>
            </a:extLst>
          </p:cNvPr>
          <p:cNvSpPr txBox="1">
            <a:spLocks noGrp="1"/>
          </p:cNvSpPr>
          <p:nvPr>
            <p:ph type="title"/>
          </p:nvPr>
        </p:nvSpPr>
        <p:spPr>
          <a:xfrm>
            <a:off x="254702" y="101531"/>
            <a:ext cx="473521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Business Problem Overview</a:t>
            </a:r>
            <a:endParaRPr dirty="0">
              <a:solidFill>
                <a:schemeClr val="lt2"/>
              </a:solidFill>
              <a:latin typeface="Century Gothic"/>
              <a:ea typeface="Century Gothic"/>
              <a:cs typeface="Century Gothic"/>
              <a:sym typeface="Century Gothic"/>
            </a:endParaRPr>
          </a:p>
        </p:txBody>
      </p:sp>
      <p:sp>
        <p:nvSpPr>
          <p:cNvPr id="232" name="Google Shape;232;p3">
            <a:extLst>
              <a:ext uri="{FF2B5EF4-FFF2-40B4-BE49-F238E27FC236}">
                <a16:creationId xmlns:a16="http://schemas.microsoft.com/office/drawing/2014/main" id="{962EE95E-91F1-7D98-E406-B6C0C567B22D}"/>
              </a:ext>
            </a:extLst>
          </p:cNvPr>
          <p:cNvSpPr txBox="1">
            <a:spLocks noGrp="1"/>
          </p:cNvSpPr>
          <p:nvPr>
            <p:ph type="body" idx="1"/>
          </p:nvPr>
        </p:nvSpPr>
        <p:spPr>
          <a:xfrm>
            <a:off x="130629" y="861975"/>
            <a:ext cx="8937743" cy="3870773"/>
          </a:xfrm>
          <a:prstGeom prst="rect">
            <a:avLst/>
          </a:prstGeom>
          <a:noFill/>
          <a:ln>
            <a:noFill/>
          </a:ln>
        </p:spPr>
        <p:txBody>
          <a:bodyPr spcFirstLastPara="1" wrap="square" lIns="91425" tIns="91425" rIns="91425" bIns="91425" anchor="t" anchorCtr="0">
            <a:spAutoFit/>
          </a:bodyPr>
          <a:lstStyle/>
          <a:p>
            <a:pPr marL="139700" indent="0">
              <a:spcBef>
                <a:spcPts val="1000"/>
              </a:spcBef>
              <a:buClr>
                <a:schemeClr val="dk1"/>
              </a:buClr>
              <a:buSzPts val="1400"/>
              <a:buNone/>
            </a:pPr>
            <a:r>
              <a:rPr lang="en-US" b="1" dirty="0"/>
              <a:t>Verification Process </a:t>
            </a:r>
            <a:r>
              <a:rPr lang="en-US" dirty="0"/>
              <a:t>the existing process is a manual one with a lot of hands-on human interactions.</a:t>
            </a:r>
          </a:p>
          <a:p>
            <a:pPr marL="139700" indent="0">
              <a:spcBef>
                <a:spcPts val="400"/>
              </a:spcBef>
              <a:buClr>
                <a:schemeClr val="dk1"/>
              </a:buClr>
              <a:buSzPts val="1400"/>
              <a:buNone/>
            </a:pPr>
            <a:endParaRPr lang="en-US" dirty="0"/>
          </a:p>
          <a:p>
            <a:pPr marL="139700" indent="0">
              <a:spcBef>
                <a:spcPts val="400"/>
              </a:spcBef>
              <a:buClr>
                <a:schemeClr val="dk1"/>
              </a:buClr>
              <a:buSzPts val="1400"/>
              <a:buNone/>
            </a:pPr>
            <a:r>
              <a:rPr lang="en-US" b="1" dirty="0"/>
              <a:t>The current process is characterized by</a:t>
            </a:r>
            <a:r>
              <a:rPr lang="en-US" dirty="0"/>
              <a:t>:</a:t>
            </a:r>
          </a:p>
          <a:p>
            <a:pPr marL="139700" indent="0">
              <a:buClr>
                <a:schemeClr val="dk1"/>
              </a:buClr>
              <a:buSzPts val="1400"/>
              <a:buNone/>
            </a:pPr>
            <a:endParaRPr lang="en-US" sz="800" dirty="0"/>
          </a:p>
          <a:p>
            <a:pPr marL="1828800"/>
            <a:r>
              <a:rPr lang="en-US" dirty="0"/>
              <a:t>Human-dependent</a:t>
            </a:r>
          </a:p>
          <a:p>
            <a:pPr marL="1828800"/>
            <a:r>
              <a:rPr lang="en-US" dirty="0"/>
              <a:t>Labor/Resource-intensive</a:t>
            </a:r>
          </a:p>
          <a:p>
            <a:pPr marL="1828800"/>
            <a:r>
              <a:rPr lang="en-US" dirty="0"/>
              <a:t>Time-consuming</a:t>
            </a:r>
          </a:p>
          <a:p>
            <a:pPr marL="1828800"/>
            <a:r>
              <a:rPr lang="en-US" dirty="0"/>
              <a:t>Manual / manually-driven</a:t>
            </a:r>
          </a:p>
          <a:p>
            <a:pPr marL="1828800"/>
            <a:r>
              <a:rPr lang="en-US" dirty="0"/>
              <a:t>Paper-heavy / document-heavy</a:t>
            </a:r>
          </a:p>
          <a:p>
            <a:pPr marL="1828800"/>
            <a:r>
              <a:rPr lang="en-US" dirty="0"/>
              <a:t>Prone to human error / inconsistency</a:t>
            </a:r>
          </a:p>
          <a:p>
            <a:pPr marL="1828800"/>
            <a:r>
              <a:rPr lang="en-US" dirty="0"/>
              <a:t>Subjective (underwriter discretion varies)</a:t>
            </a:r>
          </a:p>
          <a:p>
            <a:pPr marL="1828800"/>
            <a:r>
              <a:rPr lang="en-US" dirty="0"/>
              <a:t>Difficult to scale</a:t>
            </a:r>
          </a:p>
          <a:p>
            <a:pPr marL="139700" indent="0">
              <a:spcBef>
                <a:spcPts val="1000"/>
              </a:spcBef>
              <a:buClr>
                <a:schemeClr val="dk1"/>
              </a:buClr>
              <a:buSzPts val="1400"/>
              <a:buNone/>
            </a:pPr>
            <a:endParaRPr lang="en-US" dirty="0"/>
          </a:p>
        </p:txBody>
      </p:sp>
      <p:sp>
        <p:nvSpPr>
          <p:cNvPr id="2" name="Slide Number Placeholder 1">
            <a:extLst>
              <a:ext uri="{FF2B5EF4-FFF2-40B4-BE49-F238E27FC236}">
                <a16:creationId xmlns:a16="http://schemas.microsoft.com/office/drawing/2014/main" id="{253E95BD-33FE-E1F8-C1D9-070231F08F3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1351955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0">
          <a:extLst>
            <a:ext uri="{FF2B5EF4-FFF2-40B4-BE49-F238E27FC236}">
              <a16:creationId xmlns:a16="http://schemas.microsoft.com/office/drawing/2014/main" id="{DA221B20-1490-613B-62EA-FE5D03B6DA99}"/>
            </a:ext>
          </a:extLst>
        </p:cNvPr>
        <p:cNvGrpSpPr/>
        <p:nvPr/>
      </p:nvGrpSpPr>
      <p:grpSpPr>
        <a:xfrm>
          <a:off x="0" y="0"/>
          <a:ext cx="0" cy="0"/>
          <a:chOff x="0" y="0"/>
          <a:chExt cx="0" cy="0"/>
        </a:xfrm>
      </p:grpSpPr>
      <p:sp>
        <p:nvSpPr>
          <p:cNvPr id="231" name="Google Shape;231;p3">
            <a:extLst>
              <a:ext uri="{FF2B5EF4-FFF2-40B4-BE49-F238E27FC236}">
                <a16:creationId xmlns:a16="http://schemas.microsoft.com/office/drawing/2014/main" id="{C1DD4B4D-FE57-F030-4673-C201A6B6B083}"/>
              </a:ext>
            </a:extLst>
          </p:cNvPr>
          <p:cNvSpPr txBox="1">
            <a:spLocks noGrp="1"/>
          </p:cNvSpPr>
          <p:nvPr>
            <p:ph type="title"/>
          </p:nvPr>
        </p:nvSpPr>
        <p:spPr>
          <a:xfrm>
            <a:off x="254702" y="101531"/>
            <a:ext cx="473521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Business Problem Overview</a:t>
            </a:r>
            <a:endParaRPr dirty="0">
              <a:solidFill>
                <a:schemeClr val="lt2"/>
              </a:solidFill>
              <a:latin typeface="Century Gothic"/>
              <a:ea typeface="Century Gothic"/>
              <a:cs typeface="Century Gothic"/>
              <a:sym typeface="Century Gothic"/>
            </a:endParaRPr>
          </a:p>
        </p:txBody>
      </p:sp>
      <p:sp>
        <p:nvSpPr>
          <p:cNvPr id="232" name="Google Shape;232;p3">
            <a:extLst>
              <a:ext uri="{FF2B5EF4-FFF2-40B4-BE49-F238E27FC236}">
                <a16:creationId xmlns:a16="http://schemas.microsoft.com/office/drawing/2014/main" id="{834345AC-92B5-3448-0476-381F34CFE640}"/>
              </a:ext>
            </a:extLst>
          </p:cNvPr>
          <p:cNvSpPr txBox="1">
            <a:spLocks noGrp="1"/>
          </p:cNvSpPr>
          <p:nvPr>
            <p:ph type="body" idx="1"/>
          </p:nvPr>
        </p:nvSpPr>
        <p:spPr>
          <a:xfrm>
            <a:off x="202550" y="861975"/>
            <a:ext cx="8629800" cy="3109026"/>
          </a:xfrm>
          <a:prstGeom prst="rect">
            <a:avLst/>
          </a:prstGeom>
          <a:noFill/>
          <a:ln>
            <a:noFill/>
          </a:ln>
        </p:spPr>
        <p:txBody>
          <a:bodyPr spcFirstLastPara="1" wrap="square" lIns="91425" tIns="91425" rIns="91425" bIns="91425" anchor="t" anchorCtr="0">
            <a:spAutoFit/>
          </a:bodyPr>
          <a:lstStyle/>
          <a:p>
            <a:pPr marL="139700" indent="0">
              <a:spcBef>
                <a:spcPts val="1000"/>
              </a:spcBef>
              <a:buClr>
                <a:schemeClr val="dk1"/>
              </a:buClr>
              <a:buSzPts val="1400"/>
              <a:buNone/>
            </a:pPr>
            <a:r>
              <a:rPr lang="en-US" b="1" dirty="0"/>
              <a:t>Limitations of the current approach include:</a:t>
            </a:r>
            <a:endParaRPr lang="en-US" dirty="0"/>
          </a:p>
          <a:p>
            <a:pPr marL="139700" indent="0">
              <a:buClr>
                <a:schemeClr val="dk1"/>
              </a:buClr>
              <a:buSzPts val="1400"/>
              <a:buNone/>
            </a:pPr>
            <a:endParaRPr lang="en-US" sz="800" dirty="0"/>
          </a:p>
          <a:p>
            <a:pPr marL="1828800"/>
            <a:r>
              <a:rPr lang="en-US" dirty="0"/>
              <a:t>Effort-intensive</a:t>
            </a:r>
          </a:p>
          <a:p>
            <a:pPr marL="1828800"/>
            <a:r>
              <a:rPr lang="en-US" dirty="0"/>
              <a:t>Clerical errors</a:t>
            </a:r>
          </a:p>
          <a:p>
            <a:pPr marL="1828800"/>
            <a:r>
              <a:rPr lang="en-US" dirty="0"/>
              <a:t>Data/document errors</a:t>
            </a:r>
          </a:p>
          <a:p>
            <a:pPr marL="1828800"/>
            <a:r>
              <a:rPr lang="en-US" dirty="0"/>
              <a:t>Prone to errors in judgment</a:t>
            </a:r>
          </a:p>
          <a:p>
            <a:pPr marL="1828800"/>
            <a:r>
              <a:rPr lang="en-US" dirty="0"/>
              <a:t>Prone to incorrect approvals</a:t>
            </a:r>
          </a:p>
          <a:p>
            <a:pPr marL="1828800"/>
            <a:r>
              <a:rPr lang="en-US" dirty="0"/>
              <a:t>Susceptible to human error</a:t>
            </a:r>
          </a:p>
          <a:p>
            <a:pPr marL="1828800"/>
            <a:r>
              <a:rPr lang="en-US" dirty="0"/>
              <a:t>Vulnerable to bias</a:t>
            </a:r>
          </a:p>
          <a:p>
            <a:pPr marL="1828800"/>
            <a:r>
              <a:rPr lang="en-US" dirty="0"/>
              <a:t>Documentation/reasoning </a:t>
            </a:r>
            <a:r>
              <a:rPr lang="en-US" dirty="0" err="1"/>
              <a:t>concistency</a:t>
            </a:r>
            <a:endParaRPr lang="en-US" dirty="0"/>
          </a:p>
          <a:p>
            <a:pPr marL="1828800"/>
            <a:r>
              <a:rPr lang="en-US" dirty="0"/>
              <a:t>Bottlenecks, long turn around times – reduces potential for </a:t>
            </a:r>
            <a:r>
              <a:rPr lang="en-US" dirty="0" err="1"/>
              <a:t>scalibility</a:t>
            </a:r>
            <a:endParaRPr lang="en-US" dirty="0"/>
          </a:p>
        </p:txBody>
      </p:sp>
      <p:sp>
        <p:nvSpPr>
          <p:cNvPr id="2" name="Slide Number Placeholder 1">
            <a:extLst>
              <a:ext uri="{FF2B5EF4-FFF2-40B4-BE49-F238E27FC236}">
                <a16:creationId xmlns:a16="http://schemas.microsoft.com/office/drawing/2014/main" id="{C3D6EB1F-6B0F-7B79-D30E-A14BC830ACD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390733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0">
          <a:extLst>
            <a:ext uri="{FF2B5EF4-FFF2-40B4-BE49-F238E27FC236}">
              <a16:creationId xmlns:a16="http://schemas.microsoft.com/office/drawing/2014/main" id="{75044022-5328-9FB3-9205-A15285C1DE3C}"/>
            </a:ext>
          </a:extLst>
        </p:cNvPr>
        <p:cNvGrpSpPr/>
        <p:nvPr/>
      </p:nvGrpSpPr>
      <p:grpSpPr>
        <a:xfrm>
          <a:off x="0" y="0"/>
          <a:ext cx="0" cy="0"/>
          <a:chOff x="0" y="0"/>
          <a:chExt cx="0" cy="0"/>
        </a:xfrm>
      </p:grpSpPr>
      <p:sp>
        <p:nvSpPr>
          <p:cNvPr id="231" name="Google Shape;231;p3">
            <a:extLst>
              <a:ext uri="{FF2B5EF4-FFF2-40B4-BE49-F238E27FC236}">
                <a16:creationId xmlns:a16="http://schemas.microsoft.com/office/drawing/2014/main" id="{297F4B31-4A9A-EC8B-D0CE-866C28F030AF}"/>
              </a:ext>
            </a:extLst>
          </p:cNvPr>
          <p:cNvSpPr txBox="1">
            <a:spLocks noGrp="1"/>
          </p:cNvSpPr>
          <p:nvPr>
            <p:ph type="title"/>
          </p:nvPr>
        </p:nvSpPr>
        <p:spPr>
          <a:xfrm>
            <a:off x="254702" y="101531"/>
            <a:ext cx="473521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Project Goals and Objectives</a:t>
            </a:r>
            <a:endParaRPr dirty="0">
              <a:solidFill>
                <a:schemeClr val="lt2"/>
              </a:solidFill>
              <a:latin typeface="Century Gothic"/>
              <a:ea typeface="Century Gothic"/>
              <a:cs typeface="Century Gothic"/>
              <a:sym typeface="Century Gothic"/>
            </a:endParaRPr>
          </a:p>
        </p:txBody>
      </p:sp>
      <p:sp>
        <p:nvSpPr>
          <p:cNvPr id="232" name="Google Shape;232;p3">
            <a:extLst>
              <a:ext uri="{FF2B5EF4-FFF2-40B4-BE49-F238E27FC236}">
                <a16:creationId xmlns:a16="http://schemas.microsoft.com/office/drawing/2014/main" id="{275A489B-81A7-0307-8137-F9750F0A0884}"/>
              </a:ext>
            </a:extLst>
          </p:cNvPr>
          <p:cNvSpPr txBox="1">
            <a:spLocks noGrp="1"/>
          </p:cNvSpPr>
          <p:nvPr>
            <p:ph type="body" idx="1"/>
          </p:nvPr>
        </p:nvSpPr>
        <p:spPr>
          <a:xfrm>
            <a:off x="202550" y="861975"/>
            <a:ext cx="8629800" cy="3965414"/>
          </a:xfrm>
          <a:prstGeom prst="rect">
            <a:avLst/>
          </a:prstGeom>
          <a:noFill/>
          <a:ln>
            <a:noFill/>
          </a:ln>
        </p:spPr>
        <p:txBody>
          <a:bodyPr spcFirstLastPara="1" wrap="square" lIns="91425" tIns="91425" rIns="91425" bIns="91425" anchor="t" anchorCtr="0">
            <a:spAutoFit/>
          </a:bodyPr>
          <a:lstStyle/>
          <a:p>
            <a:pPr marL="139700" indent="0">
              <a:spcBef>
                <a:spcPts val="1000"/>
              </a:spcBef>
              <a:buClr>
                <a:schemeClr val="dk1"/>
              </a:buClr>
              <a:buSzPts val="1400"/>
              <a:buNone/>
            </a:pPr>
            <a:r>
              <a:rPr lang="en-US" b="1" dirty="0"/>
              <a:t>Goal:</a:t>
            </a:r>
          </a:p>
          <a:p>
            <a:pPr marL="139700" indent="0">
              <a:spcBef>
                <a:spcPts val="400"/>
              </a:spcBef>
              <a:buClr>
                <a:schemeClr val="dk1"/>
              </a:buClr>
              <a:buSzPts val="1400"/>
              <a:buNone/>
            </a:pPr>
            <a:endParaRPr lang="en-US" sz="800" b="1" dirty="0"/>
          </a:p>
          <a:p>
            <a:pPr marL="133350" indent="0">
              <a:buNone/>
            </a:pPr>
            <a:r>
              <a:rPr lang="en-US" dirty="0"/>
              <a:t>A bank's consumer credit department seeks to streamline the decision-making process for home equity lines of credit. In compliance with the Equal Credit Opportunity Act (ECOA), the department requires an empirically derived and statistically sound credit scoring model.</a:t>
            </a:r>
          </a:p>
          <a:p>
            <a:pPr marL="133350" indent="0">
              <a:buNone/>
            </a:pPr>
            <a:endParaRPr lang="en-US" sz="800" dirty="0"/>
          </a:p>
          <a:p>
            <a:pPr marL="133350" indent="0">
              <a:buNone/>
            </a:pPr>
            <a:r>
              <a:rPr lang="en-US" dirty="0"/>
              <a:t>The model will be developed using data collected through the existing loan underwriting process from recent applicants who were granted credit. The model needs to be interpretable to provide reasonings for loan acceptances/rejections.</a:t>
            </a:r>
          </a:p>
          <a:p>
            <a:pPr marL="133350" indent="0">
              <a:buNone/>
            </a:pPr>
            <a:endParaRPr lang="en-US" sz="800" dirty="0"/>
          </a:p>
          <a:p>
            <a:pPr marL="139700" indent="0">
              <a:spcBef>
                <a:spcPts val="1000"/>
              </a:spcBef>
              <a:buClr>
                <a:schemeClr val="dk1"/>
              </a:buClr>
              <a:buSzPts val="1400"/>
              <a:buNone/>
            </a:pPr>
            <a:r>
              <a:rPr lang="en-US" b="1" dirty="0"/>
              <a:t>Objective:</a:t>
            </a:r>
          </a:p>
          <a:p>
            <a:pPr marL="139700" indent="0">
              <a:spcBef>
                <a:spcPts val="1000"/>
              </a:spcBef>
              <a:buClr>
                <a:schemeClr val="dk1"/>
              </a:buClr>
              <a:buSzPts val="1400"/>
              <a:buNone/>
            </a:pPr>
            <a:r>
              <a:rPr lang="en-US" dirty="0"/>
              <a:t>Build a classification model using an Artificial Neural Network (ANN) to predict clients who are likely to default on  loans. The </a:t>
            </a:r>
            <a:r>
              <a:rPr lang="en-US"/>
              <a:t>model should provide </a:t>
            </a:r>
            <a:r>
              <a:rPr lang="en-US" dirty="0"/>
              <a:t>recommendations on the key features to consider during loan approval.</a:t>
            </a:r>
          </a:p>
        </p:txBody>
      </p:sp>
      <p:sp>
        <p:nvSpPr>
          <p:cNvPr id="2" name="Slide Number Placeholder 1">
            <a:extLst>
              <a:ext uri="{FF2B5EF4-FFF2-40B4-BE49-F238E27FC236}">
                <a16:creationId xmlns:a16="http://schemas.microsoft.com/office/drawing/2014/main" id="{ED837053-9176-CEC0-592B-0876C4E078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8</a:t>
            </a:fld>
            <a:endParaRPr lang="en"/>
          </a:p>
        </p:txBody>
      </p:sp>
    </p:spTree>
    <p:extLst>
      <p:ext uri="{BB962C8B-B14F-4D97-AF65-F5344CB8AC3E}">
        <p14:creationId xmlns:p14="http://schemas.microsoft.com/office/powerpoint/2010/main" val="1035572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1AC7F-EAFB-724B-5A24-394B8868E06D}"/>
              </a:ext>
            </a:extLst>
          </p:cNvPr>
          <p:cNvSpPr>
            <a:spLocks noGrp="1"/>
          </p:cNvSpPr>
          <p:nvPr>
            <p:ph type="title"/>
          </p:nvPr>
        </p:nvSpPr>
        <p:spPr>
          <a:xfrm>
            <a:off x="202550" y="84147"/>
            <a:ext cx="8520600" cy="572700"/>
          </a:xfrm>
        </p:spPr>
        <p:txBody>
          <a:bodyPr/>
          <a:lstStyle/>
          <a:p>
            <a:r>
              <a:rPr lang="en-US" dirty="0">
                <a:solidFill>
                  <a:schemeClr val="lt2"/>
                </a:solidFill>
                <a:latin typeface="Century Gothic"/>
                <a:ea typeface="Century Gothic"/>
                <a:cs typeface="Century Gothic"/>
                <a:sym typeface="Century Gothic"/>
              </a:rPr>
              <a:t>Solution Approach</a:t>
            </a:r>
            <a:br>
              <a:rPr lang="en-US" dirty="0">
                <a:solidFill>
                  <a:schemeClr val="lt2"/>
                </a:solidFill>
                <a:latin typeface="Century Gothic"/>
                <a:ea typeface="Century Gothic"/>
                <a:cs typeface="Century Gothic"/>
                <a:sym typeface="Century Gothic"/>
              </a:rPr>
            </a:br>
            <a:endParaRPr lang="en-US" dirty="0"/>
          </a:p>
        </p:txBody>
      </p:sp>
      <p:sp>
        <p:nvSpPr>
          <p:cNvPr id="3" name="Text Placeholder 2">
            <a:extLst>
              <a:ext uri="{FF2B5EF4-FFF2-40B4-BE49-F238E27FC236}">
                <a16:creationId xmlns:a16="http://schemas.microsoft.com/office/drawing/2014/main" id="{8EEF664F-FE4B-F917-1F60-158FDC5B15C6}"/>
              </a:ext>
            </a:extLst>
          </p:cNvPr>
          <p:cNvSpPr>
            <a:spLocks noGrp="1"/>
          </p:cNvSpPr>
          <p:nvPr>
            <p:ph type="body" idx="1"/>
          </p:nvPr>
        </p:nvSpPr>
        <p:spPr/>
        <p:txBody>
          <a:bodyPr/>
          <a:lstStyle/>
          <a:p>
            <a:pPr marL="133350" indent="0">
              <a:buNone/>
            </a:pPr>
            <a:r>
              <a:rPr lang="en-US" b="1" dirty="0"/>
              <a:t>1. Exploratory Data Analysis (EDA)</a:t>
            </a:r>
            <a:endParaRPr lang="en-US" dirty="0"/>
          </a:p>
          <a:p>
            <a:pPr lvl="0"/>
            <a:r>
              <a:rPr lang="en-US" sz="1400" dirty="0"/>
              <a:t>Perform general </a:t>
            </a:r>
            <a:r>
              <a:rPr lang="en-US" sz="1400" b="1" dirty="0"/>
              <a:t>Exploratory Data Analysis</a:t>
            </a:r>
            <a:r>
              <a:rPr lang="en-US" sz="1400" dirty="0"/>
              <a:t> (</a:t>
            </a:r>
            <a:r>
              <a:rPr lang="en-US" sz="1400" b="1" dirty="0"/>
              <a:t>EDA</a:t>
            </a:r>
            <a:r>
              <a:rPr lang="en-US" sz="1400" dirty="0"/>
              <a:t>) </a:t>
            </a:r>
          </a:p>
          <a:p>
            <a:pPr lvl="0"/>
            <a:r>
              <a:rPr lang="en-US" sz="1400" dirty="0"/>
              <a:t>Perform supplementary </a:t>
            </a:r>
            <a:r>
              <a:rPr lang="en-US" sz="1400" b="1" dirty="0"/>
              <a:t>EDA </a:t>
            </a:r>
            <a:r>
              <a:rPr lang="en-US" sz="1400" dirty="0"/>
              <a:t>on charts rendered through Rapid Miner</a:t>
            </a:r>
            <a:r>
              <a:rPr lang="en-US" sz="1200" dirty="0"/>
              <a:t>.</a:t>
            </a:r>
          </a:p>
          <a:p>
            <a:endParaRPr lang="en-US" sz="1000" b="1" dirty="0"/>
          </a:p>
          <a:p>
            <a:pPr marL="133350" indent="0">
              <a:buNone/>
            </a:pPr>
            <a:r>
              <a:rPr lang="en-US" b="1" dirty="0"/>
              <a:t>2. Perform Follow up EDA after Feature Engineering </a:t>
            </a:r>
            <a:endParaRPr lang="en-US" dirty="0"/>
          </a:p>
          <a:p>
            <a:pPr marL="133350" indent="0">
              <a:buNone/>
            </a:pPr>
            <a:r>
              <a:rPr lang="en-US" sz="1300" dirty="0"/>
              <a:t>Assuming that </a:t>
            </a:r>
            <a:r>
              <a:rPr lang="en-US" sz="1300" b="1" dirty="0"/>
              <a:t>Feature Engineering</a:t>
            </a:r>
            <a:r>
              <a:rPr lang="en-US" sz="1300" dirty="0"/>
              <a:t> was provided for the project:</a:t>
            </a:r>
          </a:p>
          <a:p>
            <a:pPr lvl="0"/>
            <a:r>
              <a:rPr lang="en-US" sz="1400" dirty="0"/>
              <a:t>Repeat EDA and supplementary EDA analysis of preprocessed (normalized) data</a:t>
            </a:r>
          </a:p>
          <a:p>
            <a:pPr lvl="0"/>
            <a:endParaRPr lang="en-US" sz="1000" dirty="0"/>
          </a:p>
          <a:p>
            <a:pPr marL="133350" indent="0">
              <a:buNone/>
            </a:pPr>
            <a:r>
              <a:rPr lang="en-US" b="1" dirty="0"/>
              <a:t>3. Basic Neural Network (NN) Analysis</a:t>
            </a:r>
            <a:endParaRPr lang="en-US" dirty="0"/>
          </a:p>
          <a:p>
            <a:pPr lvl="0"/>
            <a:r>
              <a:rPr lang="en-US" sz="1400" dirty="0"/>
              <a:t>Analyze initial Model performance results</a:t>
            </a:r>
          </a:p>
          <a:p>
            <a:pPr lvl="0"/>
            <a:endParaRPr lang="en-US" sz="1200" b="1" dirty="0"/>
          </a:p>
          <a:p>
            <a:pPr marL="133350" indent="0">
              <a:buNone/>
            </a:pPr>
            <a:r>
              <a:rPr lang="en-US" b="1" dirty="0"/>
              <a:t>4. Neural Network with Parameter Tuning</a:t>
            </a:r>
          </a:p>
          <a:p>
            <a:pPr marL="133350" indent="0">
              <a:buNone/>
            </a:pPr>
            <a:r>
              <a:rPr lang="en-US" sz="1300" b="1" dirty="0"/>
              <a:t>Hand Tune</a:t>
            </a:r>
            <a:r>
              <a:rPr lang="en-US" sz="1300" dirty="0"/>
              <a:t> selected NN parameters and rerun the model (iteratively)</a:t>
            </a:r>
          </a:p>
          <a:p>
            <a:pPr lvl="0"/>
            <a:r>
              <a:rPr lang="en-US" sz="1400" dirty="0"/>
              <a:t>Comment on parameter tuned NN Model performance</a:t>
            </a:r>
          </a:p>
          <a:p>
            <a:endParaRPr lang="en-US" sz="1100" b="1" dirty="0"/>
          </a:p>
          <a:p>
            <a:pPr marL="133350" indent="0">
              <a:buNone/>
            </a:pPr>
            <a:endParaRPr lang="en-US" dirty="0"/>
          </a:p>
        </p:txBody>
      </p:sp>
      <p:sp>
        <p:nvSpPr>
          <p:cNvPr id="4" name="Slide Number Placeholder 3">
            <a:extLst>
              <a:ext uri="{FF2B5EF4-FFF2-40B4-BE49-F238E27FC236}">
                <a16:creationId xmlns:a16="http://schemas.microsoft.com/office/drawing/2014/main" id="{8A7BBDE3-278D-35FB-7473-C3CF6999A37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3936730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081A1-0986-4C76-ADA6-06B7FAA81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6ACB7-ACCC-D328-557C-33FF6B613013}"/>
              </a:ext>
            </a:extLst>
          </p:cNvPr>
          <p:cNvSpPr>
            <a:spLocks noGrp="1"/>
          </p:cNvSpPr>
          <p:nvPr>
            <p:ph type="title"/>
          </p:nvPr>
        </p:nvSpPr>
        <p:spPr>
          <a:xfrm>
            <a:off x="202550" y="84147"/>
            <a:ext cx="8520600" cy="572700"/>
          </a:xfrm>
        </p:spPr>
        <p:txBody>
          <a:bodyPr/>
          <a:lstStyle/>
          <a:p>
            <a:r>
              <a:rPr lang="en-US" dirty="0">
                <a:solidFill>
                  <a:schemeClr val="lt2"/>
                </a:solidFill>
                <a:latin typeface="Century Gothic"/>
                <a:ea typeface="Century Gothic"/>
                <a:cs typeface="Century Gothic"/>
                <a:sym typeface="Century Gothic"/>
              </a:rPr>
              <a:t>Solution Approach</a:t>
            </a:r>
            <a:br>
              <a:rPr lang="en-US" dirty="0">
                <a:solidFill>
                  <a:schemeClr val="lt2"/>
                </a:solidFill>
                <a:latin typeface="Century Gothic"/>
                <a:ea typeface="Century Gothic"/>
                <a:cs typeface="Century Gothic"/>
                <a:sym typeface="Century Gothic"/>
              </a:rPr>
            </a:br>
            <a:endParaRPr lang="en-US" dirty="0"/>
          </a:p>
        </p:txBody>
      </p:sp>
      <p:sp>
        <p:nvSpPr>
          <p:cNvPr id="3" name="Text Placeholder 2">
            <a:extLst>
              <a:ext uri="{FF2B5EF4-FFF2-40B4-BE49-F238E27FC236}">
                <a16:creationId xmlns:a16="http://schemas.microsoft.com/office/drawing/2014/main" id="{08581D07-B79C-D9A4-8AEE-602465399B57}"/>
              </a:ext>
            </a:extLst>
          </p:cNvPr>
          <p:cNvSpPr>
            <a:spLocks noGrp="1"/>
          </p:cNvSpPr>
          <p:nvPr>
            <p:ph type="body" idx="1"/>
          </p:nvPr>
        </p:nvSpPr>
        <p:spPr>
          <a:xfrm>
            <a:off x="55002" y="861975"/>
            <a:ext cx="9033996" cy="3706800"/>
          </a:xfrm>
        </p:spPr>
        <p:txBody>
          <a:bodyPr/>
          <a:lstStyle/>
          <a:p>
            <a:pPr marL="133350" indent="0">
              <a:buNone/>
            </a:pPr>
            <a:r>
              <a:rPr lang="en-US" b="1" dirty="0"/>
              <a:t>5. Neural Network Tuned Using Grid Search</a:t>
            </a:r>
          </a:p>
          <a:p>
            <a:pPr marL="133350" indent="0">
              <a:buNone/>
            </a:pPr>
            <a:r>
              <a:rPr lang="en-US" sz="1400" b="1" dirty="0" err="1"/>
              <a:t>GridSearchCV</a:t>
            </a:r>
            <a:r>
              <a:rPr lang="en-US" sz="1400" dirty="0"/>
              <a:t> Evaluates all combinations of hyperparameters to find the best-performing configuration</a:t>
            </a:r>
            <a:endParaRPr lang="en-US" sz="1300" dirty="0"/>
          </a:p>
          <a:p>
            <a:pPr lvl="0"/>
            <a:r>
              <a:rPr lang="en-US" sz="1600" dirty="0"/>
              <a:t>Analyze hyperparameter tuned </a:t>
            </a:r>
            <a:r>
              <a:rPr lang="en-US" sz="1600" b="1" dirty="0"/>
              <a:t>NN Model </a:t>
            </a:r>
            <a:r>
              <a:rPr lang="en-US" sz="1600" dirty="0"/>
              <a:t>performance.</a:t>
            </a:r>
          </a:p>
          <a:p>
            <a:endParaRPr lang="en-US" sz="1100" b="1" dirty="0"/>
          </a:p>
          <a:p>
            <a:pPr marL="133350" indent="0">
              <a:buNone/>
            </a:pPr>
            <a:r>
              <a:rPr lang="en-US" b="1" dirty="0"/>
              <a:t>6. Model Performance Summary</a:t>
            </a:r>
            <a:endParaRPr lang="en-US" dirty="0"/>
          </a:p>
          <a:p>
            <a:pPr lvl="0"/>
            <a:r>
              <a:rPr lang="en-US" sz="1600" dirty="0"/>
              <a:t>Compare NN, parameter and hyperparameter tuned Model results</a:t>
            </a:r>
          </a:p>
          <a:p>
            <a:pPr lvl="0"/>
            <a:endParaRPr lang="en-US" sz="1100" dirty="0"/>
          </a:p>
          <a:p>
            <a:pPr marL="133350" indent="0">
              <a:buNone/>
            </a:pPr>
            <a:r>
              <a:rPr lang="en-US" b="1" dirty="0"/>
              <a:t>7. Conclusions and Recommendations</a:t>
            </a:r>
            <a:endParaRPr lang="en-US" dirty="0"/>
          </a:p>
          <a:p>
            <a:pPr lvl="0"/>
            <a:r>
              <a:rPr lang="en-US" sz="1600" dirty="0"/>
              <a:t>Final observations, insights and recommendations</a:t>
            </a:r>
          </a:p>
          <a:p>
            <a:pPr marL="133350" indent="0">
              <a:buNone/>
            </a:pPr>
            <a:endParaRPr lang="en-US" dirty="0"/>
          </a:p>
        </p:txBody>
      </p:sp>
      <p:sp>
        <p:nvSpPr>
          <p:cNvPr id="4" name="Slide Number Placeholder 3">
            <a:extLst>
              <a:ext uri="{FF2B5EF4-FFF2-40B4-BE49-F238E27FC236}">
                <a16:creationId xmlns:a16="http://schemas.microsoft.com/office/drawing/2014/main" id="{D4870981-BF32-22A2-045C-988017529D1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260648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037BA-0C0B-D6EF-DEB7-071B819312DB}"/>
              </a:ext>
            </a:extLst>
          </p:cNvPr>
          <p:cNvSpPr>
            <a:spLocks noGrp="1"/>
          </p:cNvSpPr>
          <p:nvPr>
            <p:ph type="title"/>
          </p:nvPr>
        </p:nvSpPr>
        <p:spPr>
          <a:xfrm>
            <a:off x="202964" y="63286"/>
            <a:ext cx="8520600" cy="572700"/>
          </a:xfrm>
        </p:spPr>
        <p:txBody>
          <a:bodyPr/>
          <a:lstStyle/>
          <a:p>
            <a:r>
              <a:rPr lang="en-US" dirty="0">
                <a:solidFill>
                  <a:schemeClr val="lt2"/>
                </a:solidFill>
                <a:latin typeface="Century Gothic"/>
                <a:ea typeface="Century Gothic"/>
                <a:cs typeface="Century Gothic"/>
                <a:sym typeface="Century Gothic"/>
              </a:rPr>
              <a:t>Expected Outcomes</a:t>
            </a:r>
            <a:endParaRPr lang="en-US" dirty="0"/>
          </a:p>
        </p:txBody>
      </p:sp>
      <p:sp>
        <p:nvSpPr>
          <p:cNvPr id="3" name="Text Placeholder 2">
            <a:extLst>
              <a:ext uri="{FF2B5EF4-FFF2-40B4-BE49-F238E27FC236}">
                <a16:creationId xmlns:a16="http://schemas.microsoft.com/office/drawing/2014/main" id="{6612A709-F407-4469-B44F-89D09010BA6B}"/>
              </a:ext>
            </a:extLst>
          </p:cNvPr>
          <p:cNvSpPr>
            <a:spLocks noGrp="1"/>
          </p:cNvSpPr>
          <p:nvPr>
            <p:ph type="body" idx="1"/>
          </p:nvPr>
        </p:nvSpPr>
        <p:spPr>
          <a:xfrm>
            <a:off x="148364" y="1322561"/>
            <a:ext cx="8629800" cy="1989598"/>
          </a:xfrm>
        </p:spPr>
        <p:txBody>
          <a:bodyPr/>
          <a:lstStyle/>
          <a:p>
            <a:pPr lvl="0"/>
            <a:r>
              <a:rPr lang="en-US" b="1" dirty="0"/>
              <a:t>Improved revenue</a:t>
            </a:r>
            <a:r>
              <a:rPr lang="en-US" dirty="0"/>
              <a:t>: Better inventory management and optimized cancellation policies</a:t>
            </a:r>
          </a:p>
          <a:p>
            <a:pPr marL="133350" lvl="0" indent="0">
              <a:buNone/>
            </a:pPr>
            <a:endParaRPr lang="en-US" sz="400" dirty="0"/>
          </a:p>
          <a:p>
            <a:pPr lvl="0"/>
            <a:r>
              <a:rPr lang="en-US" b="1" dirty="0"/>
              <a:t>Reduced operational costs</a:t>
            </a:r>
            <a:r>
              <a:rPr lang="en-US" dirty="0"/>
              <a:t>: More efficient resource allocation</a:t>
            </a:r>
          </a:p>
          <a:p>
            <a:pPr marL="133350" lvl="0" indent="0">
              <a:buNone/>
            </a:pPr>
            <a:endParaRPr lang="en-US" sz="400" dirty="0"/>
          </a:p>
          <a:p>
            <a:pPr lvl="0"/>
            <a:r>
              <a:rPr lang="en-US" b="1" dirty="0"/>
              <a:t>Enhanced customer experience</a:t>
            </a:r>
            <a:r>
              <a:rPr lang="en-US" dirty="0"/>
              <a:t>: Customized policies for different risk segments</a:t>
            </a:r>
          </a:p>
          <a:p>
            <a:pPr marL="133350" lvl="0" indent="0">
              <a:buNone/>
            </a:pPr>
            <a:endParaRPr lang="en-US" sz="400" dirty="0"/>
          </a:p>
          <a:p>
            <a:pPr lvl="0"/>
            <a:r>
              <a:rPr lang="en-US" b="1" dirty="0"/>
              <a:t>Data-driven decision making</a:t>
            </a:r>
            <a:r>
              <a:rPr lang="en-US" dirty="0"/>
              <a:t>: Actionable insights for strategic planning</a:t>
            </a:r>
          </a:p>
          <a:p>
            <a:pPr marL="133350" lvl="0" indent="0">
              <a:buNone/>
            </a:pPr>
            <a:endParaRPr lang="en-US" sz="400" dirty="0"/>
          </a:p>
          <a:p>
            <a:r>
              <a:rPr lang="en-US" b="1" dirty="0"/>
              <a:t>Additional revenue streams: </a:t>
            </a:r>
            <a:r>
              <a:rPr lang="en-US" dirty="0"/>
              <a:t>Suggest new programs and strategies to capture untapped revenue streams</a:t>
            </a:r>
          </a:p>
        </p:txBody>
      </p:sp>
      <p:sp>
        <p:nvSpPr>
          <p:cNvPr id="4" name="Slide Number Placeholder 3">
            <a:extLst>
              <a:ext uri="{FF2B5EF4-FFF2-40B4-BE49-F238E27FC236}">
                <a16:creationId xmlns:a16="http://schemas.microsoft.com/office/drawing/2014/main" id="{57847B8F-A3E5-FA4D-B837-D46A815D8ED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913878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0"/>
          <p:cNvSpPr txBox="1"/>
          <p:nvPr/>
        </p:nvSpPr>
        <p:spPr>
          <a:xfrm>
            <a:off x="468977" y="92417"/>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Initial Exploratory Data Analysis (EDA)</a:t>
            </a:r>
            <a:endParaRPr sz="2200" b="1" i="0" u="none" strike="noStrike" cap="none" dirty="0">
              <a:solidFill>
                <a:schemeClr val="lt2"/>
              </a:solidFill>
              <a:latin typeface="Century Gothic"/>
              <a:ea typeface="Century Gothic"/>
              <a:cs typeface="Century Gothic"/>
              <a:sym typeface="Century Gothic"/>
            </a:endParaRPr>
          </a:p>
        </p:txBody>
      </p:sp>
      <p:sp>
        <p:nvSpPr>
          <p:cNvPr id="190" name="Google Shape;190;p40"/>
          <p:cNvSpPr txBox="1">
            <a:spLocks noGrp="1"/>
          </p:cNvSpPr>
          <p:nvPr>
            <p:ph type="body" idx="1"/>
          </p:nvPr>
        </p:nvSpPr>
        <p:spPr>
          <a:xfrm>
            <a:off x="339152" y="2860770"/>
            <a:ext cx="8629800" cy="2190313"/>
          </a:xfrm>
          <a:prstGeom prst="rect">
            <a:avLst/>
          </a:prstGeom>
          <a:noFill/>
          <a:ln>
            <a:noFill/>
          </a:ln>
        </p:spPr>
        <p:txBody>
          <a:bodyPr spcFirstLastPara="1" wrap="square" lIns="91425" tIns="91425" rIns="91425" bIns="91425" anchor="t" anchorCtr="0">
            <a:spAutoFit/>
          </a:bodyPr>
          <a:lstStyle/>
          <a:p>
            <a:pPr marL="0" indent="0" algn="just">
              <a:spcBef>
                <a:spcPts val="1000"/>
              </a:spcBef>
              <a:buClr>
                <a:schemeClr val="dk1"/>
              </a:buClr>
              <a:buSzPts val="1400"/>
              <a:buNone/>
            </a:pPr>
            <a:r>
              <a:rPr lang="en-US" sz="1400" dirty="0"/>
              <a:t>Summary statistics for features including count, mean, standard deviation, and distribution percentiles.</a:t>
            </a:r>
            <a:endParaRPr lang="en-US" sz="1400" dirty="0">
              <a:solidFill>
                <a:schemeClr val="dk1"/>
              </a:solidFill>
              <a:latin typeface="Century Gothic"/>
              <a:ea typeface="Century Gothic"/>
              <a:cs typeface="Century Gothic"/>
              <a:sym typeface="Century Gothic"/>
            </a:endParaRPr>
          </a:p>
          <a:p>
            <a:pPr marL="139700" lvl="0" indent="0" algn="just">
              <a:spcBef>
                <a:spcPts val="600"/>
              </a:spcBef>
              <a:buClr>
                <a:schemeClr val="dk1"/>
              </a:buClr>
              <a:buSzPts val="1400"/>
              <a:buNone/>
            </a:pPr>
            <a:r>
              <a:rPr lang="en-US" sz="1100" b="1" dirty="0">
                <a:solidFill>
                  <a:schemeClr val="dk1"/>
                </a:solidFill>
                <a:latin typeface="Century Gothic"/>
                <a:ea typeface="Century Gothic"/>
                <a:cs typeface="Century Gothic"/>
                <a:sym typeface="Century Gothic"/>
              </a:rPr>
              <a:t>Missing values </a:t>
            </a:r>
            <a:r>
              <a:rPr lang="en-US" sz="1100" dirty="0">
                <a:solidFill>
                  <a:schemeClr val="dk1"/>
                </a:solidFill>
                <a:latin typeface="Century Gothic"/>
                <a:ea typeface="Century Gothic"/>
                <a:cs typeface="Century Gothic"/>
                <a:sym typeface="Century Gothic"/>
              </a:rPr>
              <a:t>— There are a lot of missing values (</a:t>
            </a:r>
            <a:r>
              <a:rPr lang="en-US" sz="1100" b="1" dirty="0">
                <a:solidFill>
                  <a:schemeClr val="dk1"/>
                </a:solidFill>
                <a:latin typeface="Century Gothic"/>
                <a:ea typeface="Century Gothic"/>
                <a:cs typeface="Century Gothic"/>
                <a:sym typeface="Century Gothic"/>
              </a:rPr>
              <a:t>DEBTINC</a:t>
            </a:r>
            <a:r>
              <a:rPr lang="en-US" sz="1100" dirty="0">
                <a:solidFill>
                  <a:schemeClr val="dk1"/>
                </a:solidFill>
                <a:latin typeface="Century Gothic"/>
                <a:ea typeface="Century Gothic"/>
                <a:cs typeface="Century Gothic"/>
                <a:sym typeface="Century Gothic"/>
              </a:rPr>
              <a:t> has 4,693 vs 5,960 total records); imputation needed</a:t>
            </a:r>
          </a:p>
          <a:p>
            <a:pPr marL="139700" lvl="0" indent="0" algn="just">
              <a:spcBef>
                <a:spcPts val="600"/>
              </a:spcBef>
              <a:buClr>
                <a:schemeClr val="dk1"/>
              </a:buClr>
              <a:buSzPts val="1400"/>
              <a:buNone/>
            </a:pPr>
            <a:r>
              <a:rPr lang="en-US" sz="1100" b="1" dirty="0">
                <a:solidFill>
                  <a:schemeClr val="dk1"/>
                </a:solidFill>
                <a:latin typeface="Century Gothic"/>
                <a:ea typeface="Century Gothic"/>
                <a:cs typeface="Century Gothic"/>
                <a:sym typeface="Century Gothic"/>
              </a:rPr>
              <a:t>High variance</a:t>
            </a:r>
            <a:r>
              <a:rPr lang="en-US" sz="1100" dirty="0">
                <a:solidFill>
                  <a:schemeClr val="dk1"/>
                </a:solidFill>
                <a:latin typeface="Century Gothic"/>
                <a:ea typeface="Century Gothic"/>
                <a:cs typeface="Century Gothic"/>
                <a:sym typeface="Century Gothic"/>
              </a:rPr>
              <a:t> — </a:t>
            </a:r>
            <a:r>
              <a:rPr lang="en-US" sz="1100" b="1" dirty="0">
                <a:solidFill>
                  <a:schemeClr val="dk1"/>
                </a:solidFill>
                <a:latin typeface="Century Gothic"/>
                <a:ea typeface="Century Gothic"/>
                <a:cs typeface="Century Gothic"/>
                <a:sym typeface="Century Gothic"/>
              </a:rPr>
              <a:t>VALUE</a:t>
            </a:r>
            <a:r>
              <a:rPr lang="en-US" sz="1100" dirty="0">
                <a:solidFill>
                  <a:schemeClr val="dk1"/>
                </a:solidFill>
                <a:latin typeface="Century Gothic"/>
                <a:ea typeface="Century Gothic"/>
                <a:cs typeface="Century Gothic"/>
                <a:sym typeface="Century Gothic"/>
              </a:rPr>
              <a:t> and </a:t>
            </a:r>
            <a:r>
              <a:rPr lang="en-US" sz="1100" b="1" dirty="0">
                <a:solidFill>
                  <a:schemeClr val="dk1"/>
                </a:solidFill>
                <a:latin typeface="Century Gothic"/>
                <a:ea typeface="Century Gothic"/>
                <a:cs typeface="Century Gothic"/>
                <a:sym typeface="Century Gothic"/>
              </a:rPr>
              <a:t>MORTDUE</a:t>
            </a:r>
            <a:r>
              <a:rPr lang="en-US" sz="1100" dirty="0">
                <a:solidFill>
                  <a:schemeClr val="dk1"/>
                </a:solidFill>
                <a:latin typeface="Century Gothic"/>
                <a:ea typeface="Century Gothic"/>
                <a:cs typeface="Century Gothic"/>
                <a:sym typeface="Century Gothic"/>
              </a:rPr>
              <a:t> have large standard deviations (</a:t>
            </a:r>
            <a:r>
              <a:rPr lang="en-US" sz="1100" b="1" dirty="0">
                <a:solidFill>
                  <a:schemeClr val="dk1"/>
                </a:solidFill>
                <a:latin typeface="Century Gothic"/>
                <a:ea typeface="Century Gothic"/>
                <a:cs typeface="Century Gothic"/>
                <a:sym typeface="Century Gothic"/>
              </a:rPr>
              <a:t>STD</a:t>
            </a:r>
            <a:r>
              <a:rPr lang="en-US" sz="1100" dirty="0">
                <a:solidFill>
                  <a:schemeClr val="dk1"/>
                </a:solidFill>
                <a:latin typeface="Century Gothic"/>
                <a:ea typeface="Century Gothic"/>
                <a:cs typeface="Century Gothic"/>
                <a:sym typeface="Century Gothic"/>
              </a:rPr>
              <a:t>)relative to means</a:t>
            </a:r>
          </a:p>
          <a:p>
            <a:pPr marL="139700" lvl="0" indent="0" algn="just">
              <a:spcBef>
                <a:spcPts val="600"/>
              </a:spcBef>
              <a:buClr>
                <a:schemeClr val="dk1"/>
              </a:buClr>
              <a:buSzPts val="1400"/>
              <a:buNone/>
            </a:pPr>
            <a:r>
              <a:rPr lang="en-US" sz="1100" b="1" dirty="0">
                <a:solidFill>
                  <a:schemeClr val="dk1"/>
                </a:solidFill>
                <a:latin typeface="Century Gothic"/>
                <a:ea typeface="Century Gothic"/>
                <a:cs typeface="Century Gothic"/>
                <a:sym typeface="Century Gothic"/>
              </a:rPr>
              <a:t>Potential outliers</a:t>
            </a:r>
            <a:r>
              <a:rPr lang="en-US" sz="1100" dirty="0">
                <a:solidFill>
                  <a:schemeClr val="dk1"/>
                </a:solidFill>
                <a:latin typeface="Century Gothic"/>
                <a:ea typeface="Century Gothic"/>
                <a:cs typeface="Century Gothic"/>
                <a:sym typeface="Century Gothic"/>
              </a:rPr>
              <a:t> — </a:t>
            </a:r>
            <a:r>
              <a:rPr lang="en-US" sz="1100" b="1" dirty="0">
                <a:solidFill>
                  <a:schemeClr val="dk1"/>
                </a:solidFill>
                <a:latin typeface="Century Gothic"/>
                <a:ea typeface="Century Gothic"/>
                <a:cs typeface="Century Gothic"/>
                <a:sym typeface="Century Gothic"/>
              </a:rPr>
              <a:t>CLAGE</a:t>
            </a:r>
            <a:r>
              <a:rPr lang="en-US" sz="1100" dirty="0">
                <a:solidFill>
                  <a:schemeClr val="dk1"/>
                </a:solidFill>
                <a:latin typeface="Century Gothic"/>
                <a:ea typeface="Century Gothic"/>
                <a:cs typeface="Century Gothic"/>
                <a:sym typeface="Century Gothic"/>
              </a:rPr>
              <a:t> max of 1,168 months (~97 years), </a:t>
            </a:r>
            <a:r>
              <a:rPr lang="en-US" sz="1100" b="1" dirty="0">
                <a:solidFill>
                  <a:schemeClr val="dk1"/>
                </a:solidFill>
                <a:latin typeface="Century Gothic"/>
                <a:ea typeface="Century Gothic"/>
                <a:cs typeface="Century Gothic"/>
                <a:sym typeface="Century Gothic"/>
              </a:rPr>
              <a:t>DEBTINC</a:t>
            </a:r>
            <a:r>
              <a:rPr lang="en-US" sz="1100" dirty="0">
                <a:solidFill>
                  <a:schemeClr val="dk1"/>
                </a:solidFill>
                <a:latin typeface="Century Gothic"/>
                <a:ea typeface="Century Gothic"/>
                <a:cs typeface="Century Gothic"/>
                <a:sym typeface="Century Gothic"/>
              </a:rPr>
              <a:t> max of 203% seem extreme</a:t>
            </a:r>
          </a:p>
          <a:p>
            <a:pPr marL="139700" lvl="0" indent="0" algn="just">
              <a:spcBef>
                <a:spcPts val="600"/>
              </a:spcBef>
              <a:buClr>
                <a:schemeClr val="dk1"/>
              </a:buClr>
              <a:buSzPts val="1400"/>
              <a:buNone/>
            </a:pPr>
            <a:r>
              <a:rPr lang="en-US" sz="1100" b="1" dirty="0">
                <a:solidFill>
                  <a:schemeClr val="dk1"/>
                </a:solidFill>
                <a:latin typeface="Century Gothic"/>
                <a:ea typeface="Century Gothic"/>
                <a:cs typeface="Century Gothic"/>
                <a:sym typeface="Century Gothic"/>
              </a:rPr>
              <a:t>Skewed distributions</a:t>
            </a:r>
            <a:r>
              <a:rPr lang="en-US" sz="1100" dirty="0">
                <a:solidFill>
                  <a:schemeClr val="dk1"/>
                </a:solidFill>
                <a:latin typeface="Century Gothic"/>
                <a:ea typeface="Century Gothic"/>
                <a:cs typeface="Century Gothic"/>
                <a:sym typeface="Century Gothic"/>
              </a:rPr>
              <a:t> — Several features show large gaps between 75% and max (</a:t>
            </a:r>
            <a:r>
              <a:rPr lang="en-US" sz="1100" b="1" dirty="0">
                <a:solidFill>
                  <a:schemeClr val="dk1"/>
                </a:solidFill>
                <a:latin typeface="Century Gothic"/>
                <a:ea typeface="Century Gothic"/>
                <a:cs typeface="Century Gothic"/>
                <a:sym typeface="Century Gothic"/>
              </a:rPr>
              <a:t>LOAN, VALUE, MORTDUE</a:t>
            </a:r>
            <a:r>
              <a:rPr lang="en-US" sz="1100" dirty="0">
                <a:solidFill>
                  <a:schemeClr val="dk1"/>
                </a:solidFill>
                <a:latin typeface="Century Gothic"/>
                <a:ea typeface="Century Gothic"/>
                <a:cs typeface="Century Gothic"/>
                <a:sym typeface="Century Gothic"/>
              </a:rPr>
              <a:t>)</a:t>
            </a:r>
          </a:p>
          <a:p>
            <a:pPr marL="139700" lvl="0" indent="0" algn="just">
              <a:spcBef>
                <a:spcPts val="600"/>
              </a:spcBef>
              <a:buClr>
                <a:schemeClr val="dk1"/>
              </a:buClr>
              <a:buSzPts val="1400"/>
              <a:buNone/>
            </a:pPr>
            <a:r>
              <a:rPr lang="en-US" sz="1100" b="1" dirty="0">
                <a:solidFill>
                  <a:schemeClr val="dk1"/>
                </a:solidFill>
                <a:latin typeface="Century Gothic"/>
                <a:ea typeface="Century Gothic"/>
                <a:cs typeface="Century Gothic"/>
                <a:sym typeface="Century Gothic"/>
              </a:rPr>
              <a:t>Categorical features </a:t>
            </a:r>
            <a:r>
              <a:rPr lang="en-US" sz="1100" dirty="0">
                <a:solidFill>
                  <a:schemeClr val="dk1"/>
                </a:solidFill>
                <a:latin typeface="Century Gothic"/>
                <a:ea typeface="Century Gothic"/>
                <a:cs typeface="Century Gothic"/>
                <a:sym typeface="Century Gothic"/>
              </a:rPr>
              <a:t>— </a:t>
            </a:r>
            <a:r>
              <a:rPr lang="en-US" sz="1100" b="1" dirty="0">
                <a:solidFill>
                  <a:schemeClr val="dk1"/>
                </a:solidFill>
                <a:latin typeface="Century Gothic"/>
                <a:ea typeface="Century Gothic"/>
                <a:cs typeface="Century Gothic"/>
                <a:sym typeface="Century Gothic"/>
              </a:rPr>
              <a:t>REASON</a:t>
            </a:r>
            <a:r>
              <a:rPr lang="en-US" sz="1100" dirty="0">
                <a:solidFill>
                  <a:schemeClr val="dk1"/>
                </a:solidFill>
                <a:latin typeface="Century Gothic"/>
                <a:ea typeface="Century Gothic"/>
                <a:cs typeface="Century Gothic"/>
                <a:sym typeface="Century Gothic"/>
              </a:rPr>
              <a:t> and </a:t>
            </a:r>
            <a:r>
              <a:rPr lang="en-US" sz="1100" b="1" dirty="0">
                <a:solidFill>
                  <a:schemeClr val="dk1"/>
                </a:solidFill>
                <a:latin typeface="Century Gothic"/>
                <a:ea typeface="Century Gothic"/>
                <a:cs typeface="Century Gothic"/>
                <a:sym typeface="Century Gothic"/>
              </a:rPr>
              <a:t>JOB</a:t>
            </a:r>
            <a:r>
              <a:rPr lang="en-US" sz="1100" dirty="0">
                <a:solidFill>
                  <a:schemeClr val="dk1"/>
                </a:solidFill>
                <a:latin typeface="Century Gothic"/>
                <a:ea typeface="Century Gothic"/>
                <a:cs typeface="Century Gothic"/>
                <a:sym typeface="Century Gothic"/>
              </a:rPr>
              <a:t> will need encoding</a:t>
            </a:r>
          </a:p>
          <a:p>
            <a:pPr marL="139700" lvl="0" indent="0" algn="just">
              <a:spcBef>
                <a:spcPts val="600"/>
              </a:spcBef>
              <a:buClr>
                <a:schemeClr val="dk1"/>
              </a:buClr>
              <a:buSzPts val="1400"/>
              <a:buNone/>
            </a:pPr>
            <a:r>
              <a:rPr lang="en-US" sz="1100" b="1" dirty="0">
                <a:solidFill>
                  <a:schemeClr val="dk1"/>
                </a:solidFill>
                <a:latin typeface="Century Gothic"/>
                <a:ea typeface="Century Gothic"/>
                <a:cs typeface="Century Gothic"/>
                <a:sym typeface="Century Gothic"/>
              </a:rPr>
              <a:t>DEBTINC most incomplete</a:t>
            </a:r>
            <a:r>
              <a:rPr lang="en-US" sz="1100" dirty="0">
                <a:solidFill>
                  <a:schemeClr val="dk1"/>
                </a:solidFill>
                <a:latin typeface="Century Gothic"/>
                <a:ea typeface="Century Gothic"/>
                <a:cs typeface="Century Gothic"/>
                <a:sym typeface="Century Gothic"/>
              </a:rPr>
              <a:t> — Only 4,693 records; key feature for loan risk so imputation strategy matters</a:t>
            </a:r>
            <a:endParaRPr sz="1100" dirty="0">
              <a:solidFill>
                <a:schemeClr val="dk1"/>
              </a:solidFill>
              <a:latin typeface="Century Gothic"/>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36B2B995-4D16-DF6D-FD26-76560102C2F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12</a:t>
            </a:fld>
            <a:endParaRPr lang="en-US"/>
          </a:p>
        </p:txBody>
      </p:sp>
      <p:pic>
        <p:nvPicPr>
          <p:cNvPr id="4" name="Picture 3" descr="A table with numbers and text&#10;&#10;AI-generated content may be incorrect.">
            <a:extLst>
              <a:ext uri="{FF2B5EF4-FFF2-40B4-BE49-F238E27FC236}">
                <a16:creationId xmlns:a16="http://schemas.microsoft.com/office/drawing/2014/main" id="{588FAFCB-0529-4A50-A39C-A8C94109A17F}"/>
              </a:ext>
            </a:extLst>
          </p:cNvPr>
          <p:cNvPicPr>
            <a:picLocks noChangeAspect="1"/>
          </p:cNvPicPr>
          <p:nvPr/>
        </p:nvPicPr>
        <p:blipFill>
          <a:blip r:embed="rId3"/>
          <a:stretch>
            <a:fillRect/>
          </a:stretch>
        </p:blipFill>
        <p:spPr>
          <a:xfrm>
            <a:off x="190263" y="555114"/>
            <a:ext cx="8520600" cy="24942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FFAA6185-CFFE-36D7-ABB7-C43431A6271F}"/>
            </a:ext>
          </a:extLst>
        </p:cNvPr>
        <p:cNvGrpSpPr/>
        <p:nvPr/>
      </p:nvGrpSpPr>
      <p:grpSpPr>
        <a:xfrm>
          <a:off x="0" y="0"/>
          <a:ext cx="0" cy="0"/>
          <a:chOff x="0" y="0"/>
          <a:chExt cx="0" cy="0"/>
        </a:xfrm>
      </p:grpSpPr>
      <p:sp>
        <p:nvSpPr>
          <p:cNvPr id="188" name="Google Shape;188;p40">
            <a:extLst>
              <a:ext uri="{FF2B5EF4-FFF2-40B4-BE49-F238E27FC236}">
                <a16:creationId xmlns:a16="http://schemas.microsoft.com/office/drawing/2014/main" id="{AF62257D-ABC8-1356-072D-F743F0B6D2B6}"/>
              </a:ext>
            </a:extLst>
          </p:cNvPr>
          <p:cNvSpPr txBox="1"/>
          <p:nvPr/>
        </p:nvSpPr>
        <p:spPr>
          <a:xfrm>
            <a:off x="468977" y="92417"/>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Initial Exploratory Data Analysis (EDA)</a:t>
            </a:r>
            <a:endParaRPr sz="2200" b="1" i="0" u="none" strike="noStrike" cap="none" dirty="0">
              <a:solidFill>
                <a:schemeClr val="lt2"/>
              </a:solidFill>
              <a:latin typeface="Century Gothic"/>
              <a:ea typeface="Century Gothic"/>
              <a:cs typeface="Century Gothic"/>
              <a:sym typeface="Century Gothic"/>
            </a:endParaRPr>
          </a:p>
        </p:txBody>
      </p:sp>
      <p:sp>
        <p:nvSpPr>
          <p:cNvPr id="190" name="Google Shape;190;p40">
            <a:extLst>
              <a:ext uri="{FF2B5EF4-FFF2-40B4-BE49-F238E27FC236}">
                <a16:creationId xmlns:a16="http://schemas.microsoft.com/office/drawing/2014/main" id="{AD904EFD-DFC2-DE6F-CA98-CF0217DA166C}"/>
              </a:ext>
            </a:extLst>
          </p:cNvPr>
          <p:cNvSpPr txBox="1">
            <a:spLocks noGrp="1"/>
          </p:cNvSpPr>
          <p:nvPr>
            <p:ph type="body" idx="1"/>
          </p:nvPr>
        </p:nvSpPr>
        <p:spPr>
          <a:xfrm>
            <a:off x="468977" y="3976062"/>
            <a:ext cx="8629800" cy="560636"/>
          </a:xfrm>
          <a:prstGeom prst="rect">
            <a:avLst/>
          </a:prstGeom>
          <a:noFill/>
          <a:ln>
            <a:noFill/>
          </a:ln>
        </p:spPr>
        <p:txBody>
          <a:bodyPr spcFirstLastPara="1" wrap="square" lIns="91425" tIns="91425" rIns="91425" bIns="91425" anchor="t" anchorCtr="0">
            <a:spAutoFit/>
          </a:bodyPr>
          <a:lstStyle/>
          <a:p>
            <a:pPr marL="0" indent="0" algn="just">
              <a:spcBef>
                <a:spcPts val="1000"/>
              </a:spcBef>
              <a:buClr>
                <a:schemeClr val="dk1"/>
              </a:buClr>
              <a:buSzPts val="1400"/>
              <a:buNone/>
            </a:pPr>
            <a:r>
              <a:rPr lang="en-US" sz="1400" dirty="0"/>
              <a:t>Analyze the raw data types and identify any that can be converted for better </a:t>
            </a:r>
            <a:r>
              <a:rPr lang="en-US" sz="1400" dirty="0" err="1"/>
              <a:t>cpu</a:t>
            </a:r>
            <a:r>
              <a:rPr lang="en-US" sz="1400" dirty="0"/>
              <a:t> performance.</a:t>
            </a:r>
            <a:endParaRPr lang="en-US" sz="1400" dirty="0">
              <a:solidFill>
                <a:schemeClr val="dk1"/>
              </a:solidFill>
              <a:latin typeface="Century Gothic"/>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D829E952-8EBA-DB2F-EE98-873EA8988AA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13</a:t>
            </a:fld>
            <a:endParaRPr lang="en-US"/>
          </a:p>
        </p:txBody>
      </p:sp>
      <p:pic>
        <p:nvPicPr>
          <p:cNvPr id="5" name="Picture 4" descr="A table with numbers and text&#10;&#10;AI-generated content may be incorrect.">
            <a:extLst>
              <a:ext uri="{FF2B5EF4-FFF2-40B4-BE49-F238E27FC236}">
                <a16:creationId xmlns:a16="http://schemas.microsoft.com/office/drawing/2014/main" id="{FB83C8DE-B349-DA82-1D59-7A79DB4F2874}"/>
              </a:ext>
            </a:extLst>
          </p:cNvPr>
          <p:cNvPicPr>
            <a:picLocks noChangeAspect="1"/>
          </p:cNvPicPr>
          <p:nvPr/>
        </p:nvPicPr>
        <p:blipFill>
          <a:blip r:embed="rId3"/>
          <a:stretch>
            <a:fillRect/>
          </a:stretch>
        </p:blipFill>
        <p:spPr>
          <a:xfrm>
            <a:off x="751474" y="887120"/>
            <a:ext cx="3343530" cy="2969508"/>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B9075E99-59ED-4761-5416-32E192751CDD}"/>
              </a:ext>
            </a:extLst>
          </p:cNvPr>
          <p:cNvPicPr>
            <a:picLocks noChangeAspect="1"/>
          </p:cNvPicPr>
          <p:nvPr/>
        </p:nvPicPr>
        <p:blipFill>
          <a:blip r:embed="rId4"/>
          <a:stretch>
            <a:fillRect/>
          </a:stretch>
        </p:blipFill>
        <p:spPr>
          <a:xfrm>
            <a:off x="4736153" y="887120"/>
            <a:ext cx="2493481" cy="2969508"/>
          </a:xfrm>
          <a:prstGeom prst="rect">
            <a:avLst/>
          </a:prstGeom>
        </p:spPr>
      </p:pic>
    </p:spTree>
    <p:extLst>
      <p:ext uri="{BB962C8B-B14F-4D97-AF65-F5344CB8AC3E}">
        <p14:creationId xmlns:p14="http://schemas.microsoft.com/office/powerpoint/2010/main" val="3710926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583389CB-990A-39CD-7EEE-9856A2557449}"/>
            </a:ext>
          </a:extLst>
        </p:cNvPr>
        <p:cNvGrpSpPr/>
        <p:nvPr/>
      </p:nvGrpSpPr>
      <p:grpSpPr>
        <a:xfrm>
          <a:off x="0" y="0"/>
          <a:ext cx="0" cy="0"/>
          <a:chOff x="0" y="0"/>
          <a:chExt cx="0" cy="0"/>
        </a:xfrm>
      </p:grpSpPr>
      <p:sp>
        <p:nvSpPr>
          <p:cNvPr id="188" name="Google Shape;188;p40">
            <a:extLst>
              <a:ext uri="{FF2B5EF4-FFF2-40B4-BE49-F238E27FC236}">
                <a16:creationId xmlns:a16="http://schemas.microsoft.com/office/drawing/2014/main" id="{B8D127EB-5A1A-AC36-F0EF-AE8CD792FCAF}"/>
              </a:ext>
            </a:extLst>
          </p:cNvPr>
          <p:cNvSpPr txBox="1"/>
          <p:nvPr/>
        </p:nvSpPr>
        <p:spPr>
          <a:xfrm>
            <a:off x="468977" y="92417"/>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Initial Exploratory Data Analysis (EDA)</a:t>
            </a:r>
            <a:endParaRPr sz="2200" b="1" i="0" u="none" strike="noStrike" cap="none" dirty="0">
              <a:solidFill>
                <a:schemeClr val="lt2"/>
              </a:solidFill>
              <a:latin typeface="Century Gothic"/>
              <a:ea typeface="Century Gothic"/>
              <a:cs typeface="Century Gothic"/>
              <a:sym typeface="Century Gothic"/>
            </a:endParaRPr>
          </a:p>
        </p:txBody>
      </p:sp>
      <p:sp>
        <p:nvSpPr>
          <p:cNvPr id="190" name="Google Shape;190;p40">
            <a:extLst>
              <a:ext uri="{FF2B5EF4-FFF2-40B4-BE49-F238E27FC236}">
                <a16:creationId xmlns:a16="http://schemas.microsoft.com/office/drawing/2014/main" id="{3AC34783-53F4-61D8-E516-1A82352E8004}"/>
              </a:ext>
            </a:extLst>
          </p:cNvPr>
          <p:cNvSpPr txBox="1">
            <a:spLocks noGrp="1"/>
          </p:cNvSpPr>
          <p:nvPr>
            <p:ph type="body" idx="1"/>
          </p:nvPr>
        </p:nvSpPr>
        <p:spPr>
          <a:xfrm>
            <a:off x="462953" y="2277682"/>
            <a:ext cx="8369346" cy="2055917"/>
          </a:xfrm>
          <a:prstGeom prst="rect">
            <a:avLst/>
          </a:prstGeom>
          <a:noFill/>
          <a:ln>
            <a:noFill/>
          </a:ln>
        </p:spPr>
        <p:txBody>
          <a:bodyPr spcFirstLastPara="1" wrap="square" lIns="91425" tIns="91425" rIns="91425" bIns="91425" anchor="t" anchorCtr="0">
            <a:spAutoFit/>
          </a:bodyPr>
          <a:lstStyle/>
          <a:p>
            <a:pPr marL="0" indent="0" algn="just">
              <a:spcBef>
                <a:spcPts val="1000"/>
              </a:spcBef>
              <a:buClr>
                <a:schemeClr val="dk1"/>
              </a:buClr>
              <a:buSzPts val="1400"/>
              <a:buNone/>
            </a:pPr>
            <a:r>
              <a:rPr lang="en-US" sz="1400" dirty="0"/>
              <a:t>Based on the initial observations of the number of missing feature values, it’s important to note the shape of the imported data set. The dataset has </a:t>
            </a:r>
            <a:r>
              <a:rPr lang="en-US" sz="1400" b="1" dirty="0"/>
              <a:t>5960</a:t>
            </a:r>
            <a:r>
              <a:rPr lang="en-US" sz="1400" dirty="0"/>
              <a:t> rows of data. It’s important to keep that fact in mind when examining missing values and exploring imputation techniques.</a:t>
            </a:r>
          </a:p>
          <a:p>
            <a:pPr marL="0" indent="0" algn="just">
              <a:spcBef>
                <a:spcPts val="1000"/>
              </a:spcBef>
              <a:buClr>
                <a:schemeClr val="dk1"/>
              </a:buClr>
              <a:buSzPts val="1400"/>
              <a:buNone/>
            </a:pPr>
            <a:r>
              <a:rPr lang="en-US" sz="1400" dirty="0">
                <a:solidFill>
                  <a:schemeClr val="dk1"/>
                </a:solidFill>
                <a:latin typeface="Nunito" pitchFamily="2" charset="0"/>
                <a:ea typeface="Century Gothic"/>
                <a:cs typeface="Century Gothic"/>
                <a:sym typeface="Century Gothic"/>
              </a:rPr>
              <a:t>The number of missing values calls into question the quality of the dataset and given the required number of imputations, how truly accurate the model performance, predictions and results will be.</a:t>
            </a:r>
          </a:p>
          <a:p>
            <a:pPr marL="0" indent="0" algn="just">
              <a:spcBef>
                <a:spcPts val="1000"/>
              </a:spcBef>
              <a:buClr>
                <a:schemeClr val="dk1"/>
              </a:buClr>
              <a:buSzPts val="1400"/>
              <a:buNone/>
            </a:pPr>
            <a:r>
              <a:rPr lang="en-US" sz="1400" dirty="0">
                <a:solidFill>
                  <a:schemeClr val="dk1"/>
                </a:solidFill>
                <a:latin typeface="Nunito" pitchFamily="2" charset="0"/>
                <a:ea typeface="Century Gothic"/>
                <a:cs typeface="Century Gothic"/>
                <a:sym typeface="Century Gothic"/>
              </a:rPr>
              <a:t>It’s important to truly understand the dataset, especially if it comes from an unknown source.</a:t>
            </a:r>
          </a:p>
        </p:txBody>
      </p:sp>
      <p:sp>
        <p:nvSpPr>
          <p:cNvPr id="2" name="Slide Number Placeholder 1">
            <a:extLst>
              <a:ext uri="{FF2B5EF4-FFF2-40B4-BE49-F238E27FC236}">
                <a16:creationId xmlns:a16="http://schemas.microsoft.com/office/drawing/2014/main" id="{69CE0E9C-E8F6-CCC8-3471-4974CBF7BAE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14</a:t>
            </a:fld>
            <a:endParaRPr lang="en-US"/>
          </a:p>
        </p:txBody>
      </p:sp>
      <p:pic>
        <p:nvPicPr>
          <p:cNvPr id="4" name="Picture 3" descr="A blue and white rectangular box with black text&#10;&#10;AI-generated content may be incorrect.">
            <a:extLst>
              <a:ext uri="{FF2B5EF4-FFF2-40B4-BE49-F238E27FC236}">
                <a16:creationId xmlns:a16="http://schemas.microsoft.com/office/drawing/2014/main" id="{05E1F423-9C63-20BD-4788-EA4F29057E86}"/>
              </a:ext>
            </a:extLst>
          </p:cNvPr>
          <p:cNvPicPr>
            <a:picLocks noChangeAspect="1"/>
          </p:cNvPicPr>
          <p:nvPr/>
        </p:nvPicPr>
        <p:blipFill>
          <a:blip r:embed="rId3"/>
          <a:stretch>
            <a:fillRect/>
          </a:stretch>
        </p:blipFill>
        <p:spPr>
          <a:xfrm>
            <a:off x="2874616" y="890193"/>
            <a:ext cx="2762250" cy="1066800"/>
          </a:xfrm>
          <a:prstGeom prst="rect">
            <a:avLst/>
          </a:prstGeom>
        </p:spPr>
      </p:pic>
    </p:spTree>
    <p:extLst>
      <p:ext uri="{BB962C8B-B14F-4D97-AF65-F5344CB8AC3E}">
        <p14:creationId xmlns:p14="http://schemas.microsoft.com/office/powerpoint/2010/main" val="1117365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4481D2B7-A349-3BC9-B217-6D58BFADE7C3}"/>
            </a:ext>
          </a:extLst>
        </p:cNvPr>
        <p:cNvGrpSpPr/>
        <p:nvPr/>
      </p:nvGrpSpPr>
      <p:grpSpPr>
        <a:xfrm>
          <a:off x="0" y="0"/>
          <a:ext cx="0" cy="0"/>
          <a:chOff x="0" y="0"/>
          <a:chExt cx="0" cy="0"/>
        </a:xfrm>
      </p:grpSpPr>
      <p:sp>
        <p:nvSpPr>
          <p:cNvPr id="188" name="Google Shape;188;p40">
            <a:extLst>
              <a:ext uri="{FF2B5EF4-FFF2-40B4-BE49-F238E27FC236}">
                <a16:creationId xmlns:a16="http://schemas.microsoft.com/office/drawing/2014/main" id="{FD54A228-2CBF-2798-D5F8-43587D0E16F0}"/>
              </a:ext>
            </a:extLst>
          </p:cNvPr>
          <p:cNvSpPr txBox="1"/>
          <p:nvPr/>
        </p:nvSpPr>
        <p:spPr>
          <a:xfrm>
            <a:off x="468977" y="92417"/>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Initial Exploratory Data Analysis (EDA)</a:t>
            </a:r>
            <a:endParaRPr sz="2200" b="1" i="0" u="none" strike="noStrike" cap="none" dirty="0">
              <a:solidFill>
                <a:schemeClr val="lt2"/>
              </a:solidFill>
              <a:latin typeface="Century Gothic"/>
              <a:ea typeface="Century Gothic"/>
              <a:cs typeface="Century Gothic"/>
              <a:sym typeface="Century Gothic"/>
            </a:endParaRPr>
          </a:p>
        </p:txBody>
      </p:sp>
      <p:sp>
        <p:nvSpPr>
          <p:cNvPr id="190" name="Google Shape;190;p40">
            <a:extLst>
              <a:ext uri="{FF2B5EF4-FFF2-40B4-BE49-F238E27FC236}">
                <a16:creationId xmlns:a16="http://schemas.microsoft.com/office/drawing/2014/main" id="{C4ADD3FA-CB61-26D8-F424-9E0C478FBBA4}"/>
              </a:ext>
            </a:extLst>
          </p:cNvPr>
          <p:cNvSpPr txBox="1">
            <a:spLocks noGrp="1"/>
          </p:cNvSpPr>
          <p:nvPr>
            <p:ph type="body" idx="1"/>
          </p:nvPr>
        </p:nvSpPr>
        <p:spPr>
          <a:xfrm>
            <a:off x="620231" y="4090413"/>
            <a:ext cx="8369346" cy="560636"/>
          </a:xfrm>
          <a:prstGeom prst="rect">
            <a:avLst/>
          </a:prstGeom>
          <a:noFill/>
          <a:ln>
            <a:noFill/>
          </a:ln>
        </p:spPr>
        <p:txBody>
          <a:bodyPr spcFirstLastPara="1" wrap="square" lIns="91425" tIns="91425" rIns="91425" bIns="91425" anchor="t" anchorCtr="0">
            <a:spAutoFit/>
          </a:bodyPr>
          <a:lstStyle/>
          <a:p>
            <a:pPr marL="0" indent="0" algn="just">
              <a:spcBef>
                <a:spcPts val="1000"/>
              </a:spcBef>
              <a:buClr>
                <a:schemeClr val="dk1"/>
              </a:buClr>
              <a:buSzPts val="1400"/>
              <a:buNone/>
            </a:pPr>
            <a:r>
              <a:rPr lang="en-US" sz="1400" dirty="0">
                <a:solidFill>
                  <a:schemeClr val="dk1"/>
                </a:solidFill>
                <a:latin typeface="Nunito" pitchFamily="2" charset="0"/>
                <a:ea typeface="Century Gothic"/>
                <a:cs typeface="Century Gothic"/>
                <a:sym typeface="Century Gothic"/>
              </a:rPr>
              <a:t>A break down of the </a:t>
            </a:r>
            <a:r>
              <a:rPr lang="en-US" sz="1400" b="1" dirty="0">
                <a:solidFill>
                  <a:schemeClr val="dk1"/>
                </a:solidFill>
                <a:latin typeface="Nunito" pitchFamily="2" charset="0"/>
                <a:ea typeface="Century Gothic"/>
                <a:cs typeface="Century Gothic"/>
                <a:sym typeface="Century Gothic"/>
              </a:rPr>
              <a:t>Numeric</a:t>
            </a:r>
            <a:r>
              <a:rPr lang="en-US" sz="1400" dirty="0">
                <a:solidFill>
                  <a:schemeClr val="dk1"/>
                </a:solidFill>
                <a:latin typeface="Nunito" pitchFamily="2" charset="0"/>
                <a:ea typeface="Century Gothic"/>
                <a:cs typeface="Century Gothic"/>
                <a:sym typeface="Century Gothic"/>
              </a:rPr>
              <a:t> and </a:t>
            </a:r>
            <a:r>
              <a:rPr lang="en-US" sz="1400" b="1" dirty="0">
                <a:solidFill>
                  <a:schemeClr val="dk1"/>
                </a:solidFill>
                <a:latin typeface="Nunito" pitchFamily="2" charset="0"/>
                <a:ea typeface="Century Gothic"/>
                <a:cs typeface="Century Gothic"/>
                <a:sym typeface="Century Gothic"/>
              </a:rPr>
              <a:t>Categorical</a:t>
            </a:r>
            <a:r>
              <a:rPr lang="en-US" sz="1400" dirty="0">
                <a:solidFill>
                  <a:schemeClr val="dk1"/>
                </a:solidFill>
                <a:latin typeface="Nunito" pitchFamily="2" charset="0"/>
                <a:ea typeface="Century Gothic"/>
                <a:cs typeface="Century Gothic"/>
                <a:sym typeface="Century Gothic"/>
              </a:rPr>
              <a:t> feature missing data counts.</a:t>
            </a:r>
          </a:p>
        </p:txBody>
      </p:sp>
      <p:sp>
        <p:nvSpPr>
          <p:cNvPr id="2" name="Slide Number Placeholder 1">
            <a:extLst>
              <a:ext uri="{FF2B5EF4-FFF2-40B4-BE49-F238E27FC236}">
                <a16:creationId xmlns:a16="http://schemas.microsoft.com/office/drawing/2014/main" id="{5ACDAD94-9171-457D-2A1E-26279FDADFC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15</a:t>
            </a:fld>
            <a:endParaRPr lang="en-US"/>
          </a:p>
        </p:txBody>
      </p:sp>
      <p:pic>
        <p:nvPicPr>
          <p:cNvPr id="5" name="Picture 4" descr="A screenshot of a graph&#10;&#10;AI-generated content may be incorrect.">
            <a:extLst>
              <a:ext uri="{FF2B5EF4-FFF2-40B4-BE49-F238E27FC236}">
                <a16:creationId xmlns:a16="http://schemas.microsoft.com/office/drawing/2014/main" id="{C88CA4D9-CC3E-8976-C55F-B4D568472AEE}"/>
              </a:ext>
            </a:extLst>
          </p:cNvPr>
          <p:cNvPicPr>
            <a:picLocks noChangeAspect="1"/>
          </p:cNvPicPr>
          <p:nvPr/>
        </p:nvPicPr>
        <p:blipFill>
          <a:blip r:embed="rId3"/>
          <a:stretch>
            <a:fillRect/>
          </a:stretch>
        </p:blipFill>
        <p:spPr>
          <a:xfrm>
            <a:off x="4854432" y="928042"/>
            <a:ext cx="3650178" cy="1219491"/>
          </a:xfrm>
          <a:prstGeom prst="rect">
            <a:avLst/>
          </a:prstGeom>
        </p:spPr>
      </p:pic>
      <p:pic>
        <p:nvPicPr>
          <p:cNvPr id="7" name="Picture 6" descr="A table with numbers and a missing number&#10;&#10;AI-generated content may be incorrect.">
            <a:extLst>
              <a:ext uri="{FF2B5EF4-FFF2-40B4-BE49-F238E27FC236}">
                <a16:creationId xmlns:a16="http://schemas.microsoft.com/office/drawing/2014/main" id="{28B74B05-DDE5-76D7-8B33-734623A8FDC2}"/>
              </a:ext>
            </a:extLst>
          </p:cNvPr>
          <p:cNvPicPr>
            <a:picLocks noChangeAspect="1"/>
          </p:cNvPicPr>
          <p:nvPr/>
        </p:nvPicPr>
        <p:blipFill>
          <a:blip r:embed="rId4"/>
          <a:stretch>
            <a:fillRect/>
          </a:stretch>
        </p:blipFill>
        <p:spPr>
          <a:xfrm>
            <a:off x="639392" y="879916"/>
            <a:ext cx="3650178" cy="3210497"/>
          </a:xfrm>
          <a:prstGeom prst="rect">
            <a:avLst/>
          </a:prstGeom>
        </p:spPr>
      </p:pic>
    </p:spTree>
    <p:extLst>
      <p:ext uri="{BB962C8B-B14F-4D97-AF65-F5344CB8AC3E}">
        <p14:creationId xmlns:p14="http://schemas.microsoft.com/office/powerpoint/2010/main" val="1359273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FCD7EBC3-DA58-0071-7873-B06AE77449C7}"/>
            </a:ext>
          </a:extLst>
        </p:cNvPr>
        <p:cNvGrpSpPr/>
        <p:nvPr/>
      </p:nvGrpSpPr>
      <p:grpSpPr>
        <a:xfrm>
          <a:off x="0" y="0"/>
          <a:ext cx="0" cy="0"/>
          <a:chOff x="0" y="0"/>
          <a:chExt cx="0" cy="0"/>
        </a:xfrm>
      </p:grpSpPr>
      <p:sp>
        <p:nvSpPr>
          <p:cNvPr id="188" name="Google Shape;188;p40">
            <a:extLst>
              <a:ext uri="{FF2B5EF4-FFF2-40B4-BE49-F238E27FC236}">
                <a16:creationId xmlns:a16="http://schemas.microsoft.com/office/drawing/2014/main" id="{7EE449BB-55A7-83E9-7C93-764F49B87BBA}"/>
              </a:ext>
            </a:extLst>
          </p:cNvPr>
          <p:cNvSpPr txBox="1"/>
          <p:nvPr/>
        </p:nvSpPr>
        <p:spPr>
          <a:xfrm>
            <a:off x="468977" y="92417"/>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Initial Exploratory Data Analysis (EDA)</a:t>
            </a:r>
            <a:endParaRPr sz="2200" b="1" i="0" u="none" strike="noStrike" cap="none" dirty="0">
              <a:solidFill>
                <a:schemeClr val="lt2"/>
              </a:solidFill>
              <a:latin typeface="Century Gothic"/>
              <a:ea typeface="Century Gothic"/>
              <a:cs typeface="Century Gothic"/>
              <a:sym typeface="Century Gothic"/>
            </a:endParaRPr>
          </a:p>
        </p:txBody>
      </p:sp>
      <p:sp>
        <p:nvSpPr>
          <p:cNvPr id="190" name="Google Shape;190;p40">
            <a:extLst>
              <a:ext uri="{FF2B5EF4-FFF2-40B4-BE49-F238E27FC236}">
                <a16:creationId xmlns:a16="http://schemas.microsoft.com/office/drawing/2014/main" id="{26B25A56-C340-CDB3-8689-22711DFCCC68}"/>
              </a:ext>
            </a:extLst>
          </p:cNvPr>
          <p:cNvSpPr txBox="1">
            <a:spLocks noGrp="1"/>
          </p:cNvSpPr>
          <p:nvPr>
            <p:ph type="body" idx="1"/>
          </p:nvPr>
        </p:nvSpPr>
        <p:spPr>
          <a:xfrm>
            <a:off x="337616" y="3916399"/>
            <a:ext cx="8783321" cy="1030508"/>
          </a:xfrm>
          <a:prstGeom prst="rect">
            <a:avLst/>
          </a:prstGeom>
          <a:noFill/>
          <a:ln>
            <a:noFill/>
          </a:ln>
        </p:spPr>
        <p:txBody>
          <a:bodyPr spcFirstLastPara="1" wrap="square" lIns="91425" tIns="91425" rIns="91425" bIns="91425" anchor="t" anchorCtr="0">
            <a:spAutoFit/>
          </a:bodyPr>
          <a:lstStyle/>
          <a:p>
            <a:pPr marL="0" indent="0" algn="just">
              <a:spcBef>
                <a:spcPts val="400"/>
              </a:spcBef>
              <a:buClr>
                <a:schemeClr val="dk1"/>
              </a:buClr>
              <a:buSzPts val="1400"/>
              <a:buNone/>
            </a:pPr>
            <a:r>
              <a:rPr lang="en-US" sz="1400" dirty="0"/>
              <a:t>Summary table of data completeness by showing how many rows have missing values.</a:t>
            </a:r>
          </a:p>
          <a:p>
            <a:pPr marL="0" indent="0" algn="just">
              <a:spcBef>
                <a:spcPts val="400"/>
              </a:spcBef>
              <a:buClr>
                <a:schemeClr val="dk1"/>
              </a:buClr>
              <a:buSzPts val="1400"/>
              <a:buNone/>
            </a:pPr>
            <a:r>
              <a:rPr lang="en-US" sz="1400" dirty="0">
                <a:solidFill>
                  <a:schemeClr val="dk1"/>
                </a:solidFill>
                <a:latin typeface="Nunito" pitchFamily="2" charset="0"/>
                <a:ea typeface="Century Gothic"/>
                <a:cs typeface="Century Gothic"/>
                <a:sym typeface="Century Gothic"/>
              </a:rPr>
              <a:t>A lot of rows of 1 or more missing feature values. Give a data set of </a:t>
            </a:r>
            <a:r>
              <a:rPr lang="en-US" sz="1400" b="1" dirty="0"/>
              <a:t>5960 </a:t>
            </a:r>
            <a:r>
              <a:rPr lang="en-US" sz="1400" dirty="0"/>
              <a:t>rows, only </a:t>
            </a:r>
            <a:r>
              <a:rPr lang="en-US" sz="1400" b="1" dirty="0"/>
              <a:t>3364</a:t>
            </a:r>
            <a:r>
              <a:rPr lang="en-US" sz="1400" dirty="0"/>
              <a:t> rows are feature complete. This once again calls into question the quality of the dataset.</a:t>
            </a:r>
            <a:endParaRPr lang="en-US" sz="1400" dirty="0">
              <a:solidFill>
                <a:schemeClr val="dk1"/>
              </a:solidFill>
              <a:latin typeface="Nunito" pitchFamily="2" charset="0"/>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38BE8119-BAD0-2D05-B602-0AC6E3FD4BD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16</a:t>
            </a:fld>
            <a:endParaRPr lang="en-US"/>
          </a:p>
        </p:txBody>
      </p:sp>
      <p:pic>
        <p:nvPicPr>
          <p:cNvPr id="4" name="Picture 3" descr="A table with numbers and a missing feature&#10;&#10;AI-generated content may be incorrect.">
            <a:extLst>
              <a:ext uri="{FF2B5EF4-FFF2-40B4-BE49-F238E27FC236}">
                <a16:creationId xmlns:a16="http://schemas.microsoft.com/office/drawing/2014/main" id="{E2BAC7F4-A094-A474-AD9A-FB721194EB2A}"/>
              </a:ext>
            </a:extLst>
          </p:cNvPr>
          <p:cNvPicPr>
            <a:picLocks noChangeAspect="1"/>
          </p:cNvPicPr>
          <p:nvPr/>
        </p:nvPicPr>
        <p:blipFill>
          <a:blip r:embed="rId3"/>
          <a:stretch>
            <a:fillRect/>
          </a:stretch>
        </p:blipFill>
        <p:spPr>
          <a:xfrm>
            <a:off x="2583244" y="706698"/>
            <a:ext cx="3212540" cy="3342133"/>
          </a:xfrm>
          <a:prstGeom prst="rect">
            <a:avLst/>
          </a:prstGeom>
        </p:spPr>
      </p:pic>
    </p:spTree>
    <p:extLst>
      <p:ext uri="{BB962C8B-B14F-4D97-AF65-F5344CB8AC3E}">
        <p14:creationId xmlns:p14="http://schemas.microsoft.com/office/powerpoint/2010/main" val="2273604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AD8425B6-CFFB-7E1D-5080-1DE2356F916C}"/>
            </a:ext>
          </a:extLst>
        </p:cNvPr>
        <p:cNvGrpSpPr/>
        <p:nvPr/>
      </p:nvGrpSpPr>
      <p:grpSpPr>
        <a:xfrm>
          <a:off x="0" y="0"/>
          <a:ext cx="0" cy="0"/>
          <a:chOff x="0" y="0"/>
          <a:chExt cx="0" cy="0"/>
        </a:xfrm>
      </p:grpSpPr>
      <p:sp>
        <p:nvSpPr>
          <p:cNvPr id="188" name="Google Shape;188;p40">
            <a:extLst>
              <a:ext uri="{FF2B5EF4-FFF2-40B4-BE49-F238E27FC236}">
                <a16:creationId xmlns:a16="http://schemas.microsoft.com/office/drawing/2014/main" id="{39A4BBA8-D426-8A25-8080-45F9E2428B63}"/>
              </a:ext>
            </a:extLst>
          </p:cNvPr>
          <p:cNvSpPr txBox="1"/>
          <p:nvPr/>
        </p:nvSpPr>
        <p:spPr>
          <a:xfrm>
            <a:off x="468977" y="92417"/>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Initial Exploratory Data Analysis (EDA)</a:t>
            </a:r>
            <a:endParaRPr sz="2200" b="1" i="0" u="none" strike="noStrike" cap="none" dirty="0">
              <a:solidFill>
                <a:schemeClr val="lt2"/>
              </a:solidFill>
              <a:latin typeface="Century Gothic"/>
              <a:ea typeface="Century Gothic"/>
              <a:cs typeface="Century Gothic"/>
              <a:sym typeface="Century Gothic"/>
            </a:endParaRPr>
          </a:p>
        </p:txBody>
      </p:sp>
      <p:sp>
        <p:nvSpPr>
          <p:cNvPr id="190" name="Google Shape;190;p40">
            <a:extLst>
              <a:ext uri="{FF2B5EF4-FFF2-40B4-BE49-F238E27FC236}">
                <a16:creationId xmlns:a16="http://schemas.microsoft.com/office/drawing/2014/main" id="{EABC3B1E-41FF-A70C-1FF3-E07E62BB6440}"/>
              </a:ext>
            </a:extLst>
          </p:cNvPr>
          <p:cNvSpPr txBox="1">
            <a:spLocks noGrp="1"/>
          </p:cNvSpPr>
          <p:nvPr>
            <p:ph type="body" idx="1"/>
          </p:nvPr>
        </p:nvSpPr>
        <p:spPr>
          <a:xfrm>
            <a:off x="1091076" y="4379495"/>
            <a:ext cx="8783321" cy="483692"/>
          </a:xfrm>
          <a:prstGeom prst="rect">
            <a:avLst/>
          </a:prstGeom>
          <a:noFill/>
          <a:ln>
            <a:noFill/>
          </a:ln>
        </p:spPr>
        <p:txBody>
          <a:bodyPr spcFirstLastPara="1" wrap="square" lIns="91425" tIns="91425" rIns="91425" bIns="91425" anchor="t" anchorCtr="0">
            <a:spAutoFit/>
          </a:bodyPr>
          <a:lstStyle/>
          <a:p>
            <a:pPr marL="0" indent="0" algn="just">
              <a:spcBef>
                <a:spcPts val="400"/>
              </a:spcBef>
              <a:buClr>
                <a:schemeClr val="dk1"/>
              </a:buClr>
              <a:buSzPts val="1400"/>
              <a:buNone/>
            </a:pPr>
            <a:r>
              <a:rPr lang="en-US" sz="1400" dirty="0"/>
              <a:t>Table containing a random sampling of 20 rows from the imported raw dataset.</a:t>
            </a:r>
            <a:endParaRPr lang="en-US" sz="1400" dirty="0">
              <a:solidFill>
                <a:schemeClr val="dk1"/>
              </a:solidFill>
              <a:latin typeface="Nunito" pitchFamily="2" charset="0"/>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650DA881-C9C3-FB6F-53AE-60914FEC583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17</a:t>
            </a:fld>
            <a:endParaRPr lang="en-US"/>
          </a:p>
        </p:txBody>
      </p:sp>
      <p:pic>
        <p:nvPicPr>
          <p:cNvPr id="5" name="Picture 4" descr="A table with numbers and letters&#10;&#10;AI-generated content may be incorrect.">
            <a:extLst>
              <a:ext uri="{FF2B5EF4-FFF2-40B4-BE49-F238E27FC236}">
                <a16:creationId xmlns:a16="http://schemas.microsoft.com/office/drawing/2014/main" id="{3091A069-3ABC-DB66-6DB6-5CC597D3E7E7}"/>
              </a:ext>
            </a:extLst>
          </p:cNvPr>
          <p:cNvPicPr>
            <a:picLocks noChangeAspect="1"/>
          </p:cNvPicPr>
          <p:nvPr/>
        </p:nvPicPr>
        <p:blipFill>
          <a:blip r:embed="rId3"/>
          <a:stretch>
            <a:fillRect/>
          </a:stretch>
        </p:blipFill>
        <p:spPr>
          <a:xfrm>
            <a:off x="154466" y="676885"/>
            <a:ext cx="8937744" cy="3702610"/>
          </a:xfrm>
          <a:prstGeom prst="rect">
            <a:avLst/>
          </a:prstGeom>
        </p:spPr>
      </p:pic>
    </p:spTree>
    <p:extLst>
      <p:ext uri="{BB962C8B-B14F-4D97-AF65-F5344CB8AC3E}">
        <p14:creationId xmlns:p14="http://schemas.microsoft.com/office/powerpoint/2010/main" val="3895439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6508A608-C709-672D-76E5-08A2BA2FEDF8}"/>
            </a:ext>
          </a:extLst>
        </p:cNvPr>
        <p:cNvGrpSpPr/>
        <p:nvPr/>
      </p:nvGrpSpPr>
      <p:grpSpPr>
        <a:xfrm>
          <a:off x="0" y="0"/>
          <a:ext cx="0" cy="0"/>
          <a:chOff x="0" y="0"/>
          <a:chExt cx="0" cy="0"/>
        </a:xfrm>
      </p:grpSpPr>
      <p:sp>
        <p:nvSpPr>
          <p:cNvPr id="188" name="Google Shape;188;p40">
            <a:extLst>
              <a:ext uri="{FF2B5EF4-FFF2-40B4-BE49-F238E27FC236}">
                <a16:creationId xmlns:a16="http://schemas.microsoft.com/office/drawing/2014/main" id="{AAC0034B-DA7B-E649-706D-6FA29010BD82}"/>
              </a:ext>
            </a:extLst>
          </p:cNvPr>
          <p:cNvSpPr txBox="1"/>
          <p:nvPr/>
        </p:nvSpPr>
        <p:spPr>
          <a:xfrm>
            <a:off x="468977" y="92417"/>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Initial Exploratory Data Analysis (EDA)</a:t>
            </a:r>
            <a:endParaRPr sz="2200" b="1" i="0" u="none" strike="noStrike" cap="none" dirty="0">
              <a:solidFill>
                <a:schemeClr val="lt2"/>
              </a:solidFill>
              <a:latin typeface="Century Gothic"/>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998C4AE4-924F-8813-5D5A-AE2DDFEA998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18</a:t>
            </a:fld>
            <a:endParaRPr lang="en-US"/>
          </a:p>
        </p:txBody>
      </p:sp>
      <p:pic>
        <p:nvPicPr>
          <p:cNvPr id="14" name="Picture 13" descr="A group of graphs showing different sizes of data&#10;&#10;AI-generated content may be incorrect.">
            <a:extLst>
              <a:ext uri="{FF2B5EF4-FFF2-40B4-BE49-F238E27FC236}">
                <a16:creationId xmlns:a16="http://schemas.microsoft.com/office/drawing/2014/main" id="{23594621-C020-A049-C758-82BC8B3A4459}"/>
              </a:ext>
            </a:extLst>
          </p:cNvPr>
          <p:cNvPicPr>
            <a:picLocks noChangeAspect="1"/>
          </p:cNvPicPr>
          <p:nvPr/>
        </p:nvPicPr>
        <p:blipFill>
          <a:blip r:embed="rId3"/>
          <a:stretch>
            <a:fillRect/>
          </a:stretch>
        </p:blipFill>
        <p:spPr>
          <a:xfrm>
            <a:off x="955141" y="661576"/>
            <a:ext cx="6937575" cy="4288873"/>
          </a:xfrm>
          <a:prstGeom prst="rect">
            <a:avLst/>
          </a:prstGeom>
        </p:spPr>
      </p:pic>
    </p:spTree>
    <p:extLst>
      <p:ext uri="{BB962C8B-B14F-4D97-AF65-F5344CB8AC3E}">
        <p14:creationId xmlns:p14="http://schemas.microsoft.com/office/powerpoint/2010/main" val="2551331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7801EBCA-1448-6939-1515-55C7FF35FE59}"/>
            </a:ext>
          </a:extLst>
        </p:cNvPr>
        <p:cNvGrpSpPr/>
        <p:nvPr/>
      </p:nvGrpSpPr>
      <p:grpSpPr>
        <a:xfrm>
          <a:off x="0" y="0"/>
          <a:ext cx="0" cy="0"/>
          <a:chOff x="0" y="0"/>
          <a:chExt cx="0" cy="0"/>
        </a:xfrm>
      </p:grpSpPr>
      <p:sp>
        <p:nvSpPr>
          <p:cNvPr id="188" name="Google Shape;188;p40">
            <a:extLst>
              <a:ext uri="{FF2B5EF4-FFF2-40B4-BE49-F238E27FC236}">
                <a16:creationId xmlns:a16="http://schemas.microsoft.com/office/drawing/2014/main" id="{420D67E4-D8A4-6954-22CB-F8B469E68491}"/>
              </a:ext>
            </a:extLst>
          </p:cNvPr>
          <p:cNvSpPr txBox="1"/>
          <p:nvPr/>
        </p:nvSpPr>
        <p:spPr>
          <a:xfrm>
            <a:off x="468977" y="92417"/>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Initial Exploratory Data Analysis (EDA)</a:t>
            </a:r>
            <a:endParaRPr sz="2200" b="1" i="0" u="none" strike="noStrike" cap="none" dirty="0">
              <a:solidFill>
                <a:schemeClr val="lt2"/>
              </a:solidFill>
              <a:latin typeface="Century Gothic"/>
              <a:ea typeface="Century Gothic"/>
              <a:cs typeface="Century Gothic"/>
              <a:sym typeface="Century Gothic"/>
            </a:endParaRPr>
          </a:p>
        </p:txBody>
      </p:sp>
      <p:sp>
        <p:nvSpPr>
          <p:cNvPr id="190" name="Google Shape;190;p40">
            <a:extLst>
              <a:ext uri="{FF2B5EF4-FFF2-40B4-BE49-F238E27FC236}">
                <a16:creationId xmlns:a16="http://schemas.microsoft.com/office/drawing/2014/main" id="{982982A5-983B-F19B-75FD-546CE3BF23AF}"/>
              </a:ext>
            </a:extLst>
          </p:cNvPr>
          <p:cNvSpPr txBox="1">
            <a:spLocks noGrp="1"/>
          </p:cNvSpPr>
          <p:nvPr>
            <p:ph type="body" idx="1"/>
          </p:nvPr>
        </p:nvSpPr>
        <p:spPr>
          <a:xfrm>
            <a:off x="58709" y="3235808"/>
            <a:ext cx="4513291" cy="1819699"/>
          </a:xfrm>
          <a:prstGeom prst="rect">
            <a:avLst/>
          </a:prstGeom>
          <a:noFill/>
          <a:ln>
            <a:noFill/>
          </a:ln>
        </p:spPr>
        <p:txBody>
          <a:bodyPr spcFirstLastPara="1" wrap="square" lIns="91425" tIns="91425" rIns="91425" bIns="91425" anchor="t" anchorCtr="0">
            <a:spAutoFit/>
          </a:bodyPr>
          <a:lstStyle/>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LOAN</a:t>
            </a:r>
            <a:r>
              <a:rPr lang="en-US" sz="1200" dirty="0">
                <a:solidFill>
                  <a:schemeClr val="dk1"/>
                </a:solidFill>
                <a:latin typeface="Nunito" pitchFamily="2" charset="0"/>
                <a:ea typeface="Century Gothic"/>
                <a:cs typeface="Century Gothic"/>
                <a:sym typeface="Century Gothic"/>
              </a:rPr>
              <a:t> – Right-skewed, clustered around $15k, large outliers</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MORTDUE</a:t>
            </a:r>
            <a:r>
              <a:rPr lang="en-US" sz="1200" dirty="0">
                <a:solidFill>
                  <a:schemeClr val="dk1"/>
                </a:solidFill>
                <a:latin typeface="Nunito" pitchFamily="2" charset="0"/>
                <a:ea typeface="Century Gothic"/>
                <a:cs typeface="Century Gothic"/>
                <a:sym typeface="Century Gothic"/>
              </a:rPr>
              <a:t> – Right-skewed, clustered around $70k</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VALUE</a:t>
            </a:r>
            <a:r>
              <a:rPr lang="en-US" sz="1200" dirty="0">
                <a:solidFill>
                  <a:schemeClr val="dk1"/>
                </a:solidFill>
                <a:latin typeface="Nunito" pitchFamily="2" charset="0"/>
                <a:ea typeface="Century Gothic"/>
                <a:cs typeface="Century Gothic"/>
                <a:sym typeface="Century Gothic"/>
              </a:rPr>
              <a:t> – Highly Right-skewed</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YOJ</a:t>
            </a:r>
            <a:r>
              <a:rPr lang="en-US" sz="1200" dirty="0">
                <a:solidFill>
                  <a:schemeClr val="dk1"/>
                </a:solidFill>
                <a:latin typeface="Nunito" pitchFamily="2" charset="0"/>
                <a:ea typeface="Century Gothic"/>
                <a:cs typeface="Century Gothic"/>
                <a:sym typeface="Century Gothic"/>
              </a:rPr>
              <a:t> – </a:t>
            </a:r>
            <a:r>
              <a:rPr lang="en-US" sz="1200" dirty="0"/>
              <a:t>Most normal distribution, mode=0</a:t>
            </a:r>
            <a:endParaRPr lang="en-US" sz="1200" dirty="0">
              <a:solidFill>
                <a:schemeClr val="dk1"/>
              </a:solidFill>
              <a:latin typeface="Nunito" pitchFamily="2" charset="0"/>
              <a:ea typeface="Century Gothic"/>
              <a:cs typeface="Century Gothic"/>
              <a:sym typeface="Century Gothic"/>
            </a:endParaRP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DROG</a:t>
            </a:r>
            <a:r>
              <a:rPr lang="en-US" sz="1200" dirty="0">
                <a:solidFill>
                  <a:schemeClr val="dk1"/>
                </a:solidFill>
                <a:latin typeface="Nunito" pitchFamily="2" charset="0"/>
                <a:ea typeface="Century Gothic"/>
                <a:cs typeface="Century Gothic"/>
                <a:sym typeface="Century Gothic"/>
              </a:rPr>
              <a:t> – Zero inflated (most values=0)</a:t>
            </a:r>
          </a:p>
          <a:p>
            <a:pPr marL="0" indent="0" algn="just">
              <a:spcBef>
                <a:spcPts val="400"/>
              </a:spcBef>
              <a:buClr>
                <a:schemeClr val="dk1"/>
              </a:buClr>
              <a:buSzPts val="1400"/>
              <a:buNone/>
            </a:pPr>
            <a:endParaRPr lang="en-US" sz="1200" dirty="0">
              <a:solidFill>
                <a:schemeClr val="dk1"/>
              </a:solidFill>
              <a:latin typeface="Nunito" pitchFamily="2" charset="0"/>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DA5B5804-E992-A86E-A70A-C3372EFE405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19</a:t>
            </a:fld>
            <a:endParaRPr lang="en-US"/>
          </a:p>
        </p:txBody>
      </p:sp>
      <p:pic>
        <p:nvPicPr>
          <p:cNvPr id="6" name="Picture 5" descr="A screenshot of a computer&#10;&#10;AI-generated content may be incorrect.">
            <a:extLst>
              <a:ext uri="{FF2B5EF4-FFF2-40B4-BE49-F238E27FC236}">
                <a16:creationId xmlns:a16="http://schemas.microsoft.com/office/drawing/2014/main" id="{47040D35-6A41-D321-A02B-104D344F9E4F}"/>
              </a:ext>
            </a:extLst>
          </p:cNvPr>
          <p:cNvPicPr>
            <a:picLocks noChangeAspect="1"/>
          </p:cNvPicPr>
          <p:nvPr/>
        </p:nvPicPr>
        <p:blipFill>
          <a:blip r:embed="rId3"/>
          <a:stretch>
            <a:fillRect/>
          </a:stretch>
        </p:blipFill>
        <p:spPr>
          <a:xfrm>
            <a:off x="154423" y="555114"/>
            <a:ext cx="8662737" cy="2604081"/>
          </a:xfrm>
          <a:prstGeom prst="rect">
            <a:avLst/>
          </a:prstGeom>
        </p:spPr>
      </p:pic>
      <p:sp>
        <p:nvSpPr>
          <p:cNvPr id="7" name="Google Shape;190;p40">
            <a:extLst>
              <a:ext uri="{FF2B5EF4-FFF2-40B4-BE49-F238E27FC236}">
                <a16:creationId xmlns:a16="http://schemas.microsoft.com/office/drawing/2014/main" id="{1E9FB3D4-0EDE-A761-86A1-81DFF8411D60}"/>
              </a:ext>
            </a:extLst>
          </p:cNvPr>
          <p:cNvSpPr txBox="1">
            <a:spLocks/>
          </p:cNvSpPr>
          <p:nvPr/>
        </p:nvSpPr>
        <p:spPr>
          <a:xfrm>
            <a:off x="4501708" y="3235808"/>
            <a:ext cx="4513291" cy="1766607"/>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DELINQ</a:t>
            </a:r>
            <a:r>
              <a:rPr lang="en-US" sz="1200" dirty="0">
                <a:solidFill>
                  <a:schemeClr val="dk1"/>
                </a:solidFill>
                <a:latin typeface="Nunito" pitchFamily="2" charset="0"/>
                <a:ea typeface="Century Gothic"/>
                <a:cs typeface="Century Gothic"/>
                <a:sym typeface="Century Gothic"/>
              </a:rPr>
              <a:t> – Zero inflated (most values=0) </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CLAGE</a:t>
            </a:r>
            <a:r>
              <a:rPr lang="en-US" sz="1200" dirty="0">
                <a:solidFill>
                  <a:schemeClr val="dk1"/>
                </a:solidFill>
                <a:latin typeface="Nunito" pitchFamily="2" charset="0"/>
                <a:ea typeface="Century Gothic"/>
                <a:cs typeface="Century Gothic"/>
                <a:sym typeface="Century Gothic"/>
              </a:rPr>
              <a:t> – Relatively symmetric, extreme outliers</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NINQ</a:t>
            </a:r>
            <a:r>
              <a:rPr lang="en-US" sz="1200" dirty="0">
                <a:solidFill>
                  <a:schemeClr val="dk1"/>
                </a:solidFill>
                <a:latin typeface="Nunito" pitchFamily="2" charset="0"/>
                <a:ea typeface="Century Gothic"/>
                <a:cs typeface="Century Gothic"/>
                <a:sym typeface="Century Gothic"/>
              </a:rPr>
              <a:t> – Highly Right-skewed, most have 0-2 inquires</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CLNO</a:t>
            </a:r>
            <a:r>
              <a:rPr lang="en-US" sz="1200" dirty="0">
                <a:solidFill>
                  <a:schemeClr val="dk1"/>
                </a:solidFill>
                <a:latin typeface="Nunito" pitchFamily="2" charset="0"/>
                <a:ea typeface="Century Gothic"/>
                <a:cs typeface="Century Gothic"/>
                <a:sym typeface="Century Gothic"/>
              </a:rPr>
              <a:t> – </a:t>
            </a:r>
            <a:r>
              <a:rPr lang="en-US" sz="1200" dirty="0"/>
              <a:t>Close to normal distribution, but still has right skew</a:t>
            </a:r>
            <a:endParaRPr lang="en-US" sz="1200" dirty="0">
              <a:solidFill>
                <a:schemeClr val="dk1"/>
              </a:solidFill>
              <a:latin typeface="Nunito" pitchFamily="2" charset="0"/>
              <a:ea typeface="Century Gothic"/>
              <a:cs typeface="Century Gothic"/>
              <a:sym typeface="Century Gothic"/>
            </a:endParaRP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DEBTINC</a:t>
            </a:r>
            <a:r>
              <a:rPr lang="en-US" sz="1200" dirty="0">
                <a:solidFill>
                  <a:schemeClr val="dk1"/>
                </a:solidFill>
                <a:latin typeface="Nunito" pitchFamily="2" charset="0"/>
                <a:ea typeface="Century Gothic"/>
                <a:cs typeface="Century Gothic"/>
                <a:sym typeface="Century Gothic"/>
              </a:rPr>
              <a:t> – High kurtosis, extreme outliers</a:t>
            </a:r>
          </a:p>
          <a:p>
            <a:pPr marL="0" indent="0" algn="just">
              <a:spcBef>
                <a:spcPts val="400"/>
              </a:spcBef>
              <a:buClr>
                <a:schemeClr val="dk1"/>
              </a:buClr>
              <a:buSzPts val="1400"/>
              <a:buFont typeface="Nunito"/>
              <a:buNone/>
            </a:pPr>
            <a:endParaRPr lang="en-US" sz="1200" dirty="0">
              <a:solidFill>
                <a:schemeClr val="dk1"/>
              </a:solidFill>
              <a:latin typeface="Nunito" pitchFamily="2" charset="0"/>
              <a:ea typeface="Century Gothic"/>
              <a:cs typeface="Century Gothic"/>
              <a:sym typeface="Century Gothic"/>
            </a:endParaRPr>
          </a:p>
        </p:txBody>
      </p:sp>
    </p:spTree>
    <p:extLst>
      <p:ext uri="{BB962C8B-B14F-4D97-AF65-F5344CB8AC3E}">
        <p14:creationId xmlns:p14="http://schemas.microsoft.com/office/powerpoint/2010/main" val="2794944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35B6F3D8-5F46-BCB2-F006-DC519B3F1F59}"/>
            </a:ext>
          </a:extLst>
        </p:cNvPr>
        <p:cNvGrpSpPr/>
        <p:nvPr/>
      </p:nvGrpSpPr>
      <p:grpSpPr>
        <a:xfrm>
          <a:off x="0" y="0"/>
          <a:ext cx="0" cy="0"/>
          <a:chOff x="0" y="0"/>
          <a:chExt cx="0" cy="0"/>
        </a:xfrm>
      </p:grpSpPr>
      <p:sp>
        <p:nvSpPr>
          <p:cNvPr id="188" name="Google Shape;188;p40">
            <a:extLst>
              <a:ext uri="{FF2B5EF4-FFF2-40B4-BE49-F238E27FC236}">
                <a16:creationId xmlns:a16="http://schemas.microsoft.com/office/drawing/2014/main" id="{B2B27650-447C-6886-E929-BE65E9D77227}"/>
              </a:ext>
            </a:extLst>
          </p:cNvPr>
          <p:cNvSpPr txBox="1"/>
          <p:nvPr/>
        </p:nvSpPr>
        <p:spPr>
          <a:xfrm>
            <a:off x="468977" y="92417"/>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Initial Exploratory Data Analysis (EDA)</a:t>
            </a:r>
            <a:endParaRPr sz="2200" b="1" i="0" u="none" strike="noStrike" cap="none" dirty="0">
              <a:solidFill>
                <a:schemeClr val="lt2"/>
              </a:solidFill>
              <a:latin typeface="Century Gothic"/>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A59A2DCD-6436-7874-528C-D5373053264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20</a:t>
            </a:fld>
            <a:endParaRPr lang="en-US"/>
          </a:p>
        </p:txBody>
      </p:sp>
      <p:pic>
        <p:nvPicPr>
          <p:cNvPr id="6" name="Picture 5" descr="A group of blue squares&#10;&#10;AI-generated content may be incorrect.">
            <a:extLst>
              <a:ext uri="{FF2B5EF4-FFF2-40B4-BE49-F238E27FC236}">
                <a16:creationId xmlns:a16="http://schemas.microsoft.com/office/drawing/2014/main" id="{5A6C41A6-2C41-BF8F-DD3A-4B20F4A21BDD}"/>
              </a:ext>
            </a:extLst>
          </p:cNvPr>
          <p:cNvPicPr>
            <a:picLocks noChangeAspect="1"/>
          </p:cNvPicPr>
          <p:nvPr/>
        </p:nvPicPr>
        <p:blipFill>
          <a:blip r:embed="rId3"/>
          <a:stretch>
            <a:fillRect/>
          </a:stretch>
        </p:blipFill>
        <p:spPr>
          <a:xfrm>
            <a:off x="411434" y="563770"/>
            <a:ext cx="8321131" cy="2769660"/>
          </a:xfrm>
          <a:prstGeom prst="rect">
            <a:avLst/>
          </a:prstGeom>
        </p:spPr>
      </p:pic>
      <p:sp>
        <p:nvSpPr>
          <p:cNvPr id="17" name="Google Shape;190;p40">
            <a:extLst>
              <a:ext uri="{FF2B5EF4-FFF2-40B4-BE49-F238E27FC236}">
                <a16:creationId xmlns:a16="http://schemas.microsoft.com/office/drawing/2014/main" id="{A195F955-1E6B-F583-C74A-EAB871393921}"/>
              </a:ext>
            </a:extLst>
          </p:cNvPr>
          <p:cNvSpPr txBox="1">
            <a:spLocks noGrp="1"/>
          </p:cNvSpPr>
          <p:nvPr>
            <p:ph type="body" idx="1"/>
          </p:nvPr>
        </p:nvSpPr>
        <p:spPr>
          <a:xfrm>
            <a:off x="58708" y="3344408"/>
            <a:ext cx="4513291" cy="1819699"/>
          </a:xfrm>
          <a:prstGeom prst="rect">
            <a:avLst/>
          </a:prstGeom>
          <a:noFill/>
          <a:ln>
            <a:noFill/>
          </a:ln>
        </p:spPr>
        <p:txBody>
          <a:bodyPr spcFirstLastPara="1" wrap="square" lIns="91425" tIns="91425" rIns="91425" bIns="91425" anchor="t" anchorCtr="0">
            <a:spAutoFit/>
          </a:bodyPr>
          <a:lstStyle/>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LOAN</a:t>
            </a:r>
            <a:r>
              <a:rPr lang="en-US" sz="1200" dirty="0">
                <a:solidFill>
                  <a:schemeClr val="dk1"/>
                </a:solidFill>
                <a:latin typeface="Nunito" pitchFamily="2" charset="0"/>
                <a:ea typeface="Century Gothic"/>
                <a:cs typeface="Century Gothic"/>
                <a:sym typeface="Century Gothic"/>
              </a:rPr>
              <a:t> – Wide </a:t>
            </a:r>
            <a:r>
              <a:rPr lang="en-US" sz="1200" b="1" dirty="0">
                <a:solidFill>
                  <a:schemeClr val="dk1"/>
                </a:solidFill>
                <a:latin typeface="Nunito" pitchFamily="2" charset="0"/>
                <a:ea typeface="Century Gothic"/>
                <a:cs typeface="Century Gothic"/>
                <a:sym typeface="Century Gothic"/>
              </a:rPr>
              <a:t>Inter Quartile Range</a:t>
            </a:r>
            <a:r>
              <a:rPr lang="en-US" sz="1200" dirty="0">
                <a:solidFill>
                  <a:schemeClr val="dk1"/>
                </a:solidFill>
                <a:latin typeface="Nunito" pitchFamily="2" charset="0"/>
                <a:ea typeface="Century Gothic"/>
                <a:cs typeface="Century Gothic"/>
                <a:sym typeface="Century Gothic"/>
              </a:rPr>
              <a:t> (</a:t>
            </a:r>
            <a:r>
              <a:rPr lang="en-US" sz="1200" b="1" dirty="0">
                <a:solidFill>
                  <a:schemeClr val="dk1"/>
                </a:solidFill>
                <a:latin typeface="Nunito" pitchFamily="2" charset="0"/>
                <a:ea typeface="Century Gothic"/>
                <a:cs typeface="Century Gothic"/>
                <a:sym typeface="Century Gothic"/>
              </a:rPr>
              <a:t>IQR</a:t>
            </a:r>
            <a:r>
              <a:rPr lang="en-US" sz="1200" dirty="0">
                <a:solidFill>
                  <a:schemeClr val="dk1"/>
                </a:solidFill>
                <a:latin typeface="Nunito" pitchFamily="2" charset="0"/>
                <a:ea typeface="Century Gothic"/>
                <a:cs typeface="Century Gothic"/>
                <a:sym typeface="Century Gothic"/>
              </a:rPr>
              <a:t>), outliers &gt; $40k</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MORTDUE</a:t>
            </a:r>
            <a:r>
              <a:rPr lang="en-US" sz="1200" dirty="0">
                <a:solidFill>
                  <a:schemeClr val="dk1"/>
                </a:solidFill>
                <a:latin typeface="Nunito" pitchFamily="2" charset="0"/>
                <a:ea typeface="Century Gothic"/>
                <a:cs typeface="Century Gothic"/>
                <a:sym typeface="Century Gothic"/>
              </a:rPr>
              <a:t> – Tight </a:t>
            </a:r>
            <a:r>
              <a:rPr lang="en-US" sz="1200" b="1" dirty="0">
                <a:solidFill>
                  <a:schemeClr val="dk1"/>
                </a:solidFill>
                <a:latin typeface="Nunito" pitchFamily="2" charset="0"/>
                <a:ea typeface="Century Gothic"/>
                <a:cs typeface="Century Gothic"/>
                <a:sym typeface="Century Gothic"/>
              </a:rPr>
              <a:t>IQR</a:t>
            </a:r>
            <a:r>
              <a:rPr lang="en-US" sz="1200" dirty="0">
                <a:solidFill>
                  <a:schemeClr val="dk1"/>
                </a:solidFill>
                <a:latin typeface="Nunito" pitchFamily="2" charset="0"/>
                <a:ea typeface="Century Gothic"/>
                <a:cs typeface="Century Gothic"/>
                <a:sym typeface="Century Gothic"/>
              </a:rPr>
              <a:t>, high outliers &gt; $45k</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VALUE</a:t>
            </a:r>
            <a:r>
              <a:rPr lang="en-US" sz="1200" dirty="0">
                <a:solidFill>
                  <a:schemeClr val="dk1"/>
                </a:solidFill>
                <a:latin typeface="Nunito" pitchFamily="2" charset="0"/>
                <a:ea typeface="Century Gothic"/>
                <a:cs typeface="Century Gothic"/>
                <a:sym typeface="Century Gothic"/>
              </a:rPr>
              <a:t> – Tight </a:t>
            </a:r>
            <a:r>
              <a:rPr lang="en-US" sz="1200" b="1" dirty="0">
                <a:solidFill>
                  <a:schemeClr val="dk1"/>
                </a:solidFill>
                <a:latin typeface="Nunito" pitchFamily="2" charset="0"/>
                <a:ea typeface="Century Gothic"/>
                <a:cs typeface="Century Gothic"/>
                <a:sym typeface="Century Gothic"/>
              </a:rPr>
              <a:t>IQR</a:t>
            </a:r>
            <a:r>
              <a:rPr lang="en-US" sz="1200" dirty="0">
                <a:solidFill>
                  <a:schemeClr val="dk1"/>
                </a:solidFill>
                <a:latin typeface="Nunito" pitchFamily="2" charset="0"/>
                <a:ea typeface="Century Gothic"/>
                <a:cs typeface="Century Gothic"/>
                <a:sym typeface="Century Gothic"/>
              </a:rPr>
              <a:t>, high outliers &gt; 200k</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YOJ</a:t>
            </a:r>
            <a:r>
              <a:rPr lang="en-US" sz="1200" dirty="0">
                <a:solidFill>
                  <a:schemeClr val="dk1"/>
                </a:solidFill>
                <a:latin typeface="Nunito" pitchFamily="2" charset="0"/>
                <a:ea typeface="Century Gothic"/>
                <a:cs typeface="Century Gothic"/>
                <a:sym typeface="Century Gothic"/>
              </a:rPr>
              <a:t> – </a:t>
            </a:r>
            <a:r>
              <a:rPr lang="en-US" sz="1200" dirty="0"/>
              <a:t>Wideset </a:t>
            </a:r>
            <a:r>
              <a:rPr lang="en-US" sz="1200" b="1" dirty="0"/>
              <a:t>IQR</a:t>
            </a:r>
            <a:r>
              <a:rPr lang="en-US" sz="1200" dirty="0"/>
              <a:t>, still high outliers</a:t>
            </a:r>
            <a:endParaRPr lang="en-US" sz="1200" dirty="0">
              <a:solidFill>
                <a:schemeClr val="dk1"/>
              </a:solidFill>
              <a:latin typeface="Nunito" pitchFamily="2" charset="0"/>
              <a:ea typeface="Century Gothic"/>
              <a:cs typeface="Century Gothic"/>
              <a:sym typeface="Century Gothic"/>
            </a:endParaRP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DROG</a:t>
            </a:r>
            <a:r>
              <a:rPr lang="en-US" sz="1200" dirty="0">
                <a:solidFill>
                  <a:schemeClr val="dk1"/>
                </a:solidFill>
                <a:latin typeface="Nunito" pitchFamily="2" charset="0"/>
                <a:ea typeface="Century Gothic"/>
                <a:cs typeface="Century Gothic"/>
                <a:sym typeface="Century Gothic"/>
              </a:rPr>
              <a:t> – Box collapsed at 0</a:t>
            </a:r>
          </a:p>
          <a:p>
            <a:pPr marL="0" indent="0" algn="just">
              <a:spcBef>
                <a:spcPts val="400"/>
              </a:spcBef>
              <a:buClr>
                <a:schemeClr val="dk1"/>
              </a:buClr>
              <a:buSzPts val="1400"/>
              <a:buNone/>
            </a:pPr>
            <a:endParaRPr lang="en-US" sz="1200" dirty="0">
              <a:solidFill>
                <a:schemeClr val="dk1"/>
              </a:solidFill>
              <a:latin typeface="Nunito" pitchFamily="2" charset="0"/>
              <a:ea typeface="Century Gothic"/>
              <a:cs typeface="Century Gothic"/>
              <a:sym typeface="Century Gothic"/>
            </a:endParaRPr>
          </a:p>
        </p:txBody>
      </p:sp>
      <p:sp>
        <p:nvSpPr>
          <p:cNvPr id="18" name="Google Shape;190;p40">
            <a:extLst>
              <a:ext uri="{FF2B5EF4-FFF2-40B4-BE49-F238E27FC236}">
                <a16:creationId xmlns:a16="http://schemas.microsoft.com/office/drawing/2014/main" id="{8991B495-0A1D-924D-1BF8-850344390C24}"/>
              </a:ext>
            </a:extLst>
          </p:cNvPr>
          <p:cNvSpPr txBox="1">
            <a:spLocks/>
          </p:cNvSpPr>
          <p:nvPr/>
        </p:nvSpPr>
        <p:spPr>
          <a:xfrm>
            <a:off x="4572001" y="3333430"/>
            <a:ext cx="4513291" cy="1766607"/>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DELINQ</a:t>
            </a:r>
            <a:r>
              <a:rPr lang="en-US" sz="1200" dirty="0">
                <a:solidFill>
                  <a:schemeClr val="dk1"/>
                </a:solidFill>
                <a:latin typeface="Nunito" pitchFamily="2" charset="0"/>
                <a:ea typeface="Century Gothic"/>
                <a:cs typeface="Century Gothic"/>
                <a:sym typeface="Century Gothic"/>
              </a:rPr>
              <a:t> – Box collapsed at 0 </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CLAGE</a:t>
            </a:r>
            <a:r>
              <a:rPr lang="en-US" sz="1200" dirty="0">
                <a:solidFill>
                  <a:schemeClr val="dk1"/>
                </a:solidFill>
                <a:latin typeface="Nunito" pitchFamily="2" charset="0"/>
                <a:ea typeface="Century Gothic"/>
                <a:cs typeface="Century Gothic"/>
                <a:sym typeface="Century Gothic"/>
              </a:rPr>
              <a:t> – Tight </a:t>
            </a:r>
            <a:r>
              <a:rPr lang="en-US" sz="1200" b="1" dirty="0">
                <a:solidFill>
                  <a:schemeClr val="dk1"/>
                </a:solidFill>
                <a:latin typeface="Nunito" pitchFamily="2" charset="0"/>
                <a:ea typeface="Century Gothic"/>
                <a:cs typeface="Century Gothic"/>
                <a:sym typeface="Century Gothic"/>
              </a:rPr>
              <a:t>IQR</a:t>
            </a:r>
            <a:r>
              <a:rPr lang="en-US" sz="1200" dirty="0">
                <a:solidFill>
                  <a:schemeClr val="dk1"/>
                </a:solidFill>
                <a:latin typeface="Nunito" pitchFamily="2" charset="0"/>
                <a:ea typeface="Century Gothic"/>
                <a:cs typeface="Century Gothic"/>
                <a:sym typeface="Century Gothic"/>
              </a:rPr>
              <a:t>, fewer outliers</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NINQ</a:t>
            </a:r>
            <a:r>
              <a:rPr lang="en-US" sz="1200" dirty="0">
                <a:solidFill>
                  <a:schemeClr val="dk1"/>
                </a:solidFill>
                <a:latin typeface="Nunito" pitchFamily="2" charset="0"/>
                <a:ea typeface="Century Gothic"/>
                <a:cs typeface="Century Gothic"/>
                <a:sym typeface="Century Gothic"/>
              </a:rPr>
              <a:t> – Tight </a:t>
            </a:r>
            <a:r>
              <a:rPr lang="en-US" sz="1200" b="1" dirty="0">
                <a:solidFill>
                  <a:schemeClr val="dk1"/>
                </a:solidFill>
                <a:latin typeface="Nunito" pitchFamily="2" charset="0"/>
                <a:ea typeface="Century Gothic"/>
                <a:cs typeface="Century Gothic"/>
                <a:sym typeface="Century Gothic"/>
              </a:rPr>
              <a:t>IQR</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CLNO</a:t>
            </a:r>
            <a:r>
              <a:rPr lang="en-US" sz="1200" dirty="0">
                <a:solidFill>
                  <a:schemeClr val="dk1"/>
                </a:solidFill>
                <a:latin typeface="Nunito" pitchFamily="2" charset="0"/>
                <a:ea typeface="Century Gothic"/>
                <a:cs typeface="Century Gothic"/>
                <a:sym typeface="Century Gothic"/>
              </a:rPr>
              <a:t> – </a:t>
            </a:r>
            <a:r>
              <a:rPr lang="en-US" sz="1200" dirty="0"/>
              <a:t>Tight </a:t>
            </a:r>
            <a:r>
              <a:rPr lang="en-US" sz="1200" b="1" dirty="0"/>
              <a:t>IQR, </a:t>
            </a:r>
            <a:r>
              <a:rPr lang="en-US" sz="1200" dirty="0"/>
              <a:t>high outliers</a:t>
            </a:r>
            <a:endParaRPr lang="en-US" sz="1200" b="1" dirty="0">
              <a:solidFill>
                <a:schemeClr val="dk1"/>
              </a:solidFill>
              <a:latin typeface="Nunito" pitchFamily="2" charset="0"/>
              <a:ea typeface="Century Gothic"/>
              <a:cs typeface="Century Gothic"/>
              <a:sym typeface="Century Gothic"/>
            </a:endParaRP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DEBTINC</a:t>
            </a:r>
            <a:r>
              <a:rPr lang="en-US" sz="1200" dirty="0">
                <a:solidFill>
                  <a:schemeClr val="dk1"/>
                </a:solidFill>
                <a:latin typeface="Nunito" pitchFamily="2" charset="0"/>
                <a:ea typeface="Century Gothic"/>
                <a:cs typeface="Century Gothic"/>
                <a:sym typeface="Century Gothic"/>
              </a:rPr>
              <a:t> – Tight </a:t>
            </a:r>
            <a:r>
              <a:rPr lang="en-US" sz="1200" b="1" dirty="0">
                <a:solidFill>
                  <a:schemeClr val="dk1"/>
                </a:solidFill>
                <a:latin typeface="Nunito" pitchFamily="2" charset="0"/>
                <a:ea typeface="Century Gothic"/>
                <a:cs typeface="Century Gothic"/>
                <a:sym typeface="Century Gothic"/>
              </a:rPr>
              <a:t>IQR</a:t>
            </a:r>
            <a:r>
              <a:rPr lang="en-US" sz="1200" dirty="0">
                <a:solidFill>
                  <a:schemeClr val="dk1"/>
                </a:solidFill>
                <a:latin typeface="Nunito" pitchFamily="2" charset="0"/>
                <a:ea typeface="Century Gothic"/>
                <a:cs typeface="Century Gothic"/>
                <a:sym typeface="Century Gothic"/>
              </a:rPr>
              <a:t>, +/- outliers exist</a:t>
            </a:r>
          </a:p>
          <a:p>
            <a:pPr marL="0" indent="0" algn="just">
              <a:spcBef>
                <a:spcPts val="400"/>
              </a:spcBef>
              <a:buClr>
                <a:schemeClr val="dk1"/>
              </a:buClr>
              <a:buSzPts val="1400"/>
              <a:buFont typeface="Nunito"/>
              <a:buNone/>
            </a:pPr>
            <a:endParaRPr lang="en-US" sz="1200" dirty="0">
              <a:solidFill>
                <a:schemeClr val="dk1"/>
              </a:solidFill>
              <a:latin typeface="Nunito" pitchFamily="2" charset="0"/>
              <a:ea typeface="Century Gothic"/>
              <a:cs typeface="Century Gothic"/>
              <a:sym typeface="Century Gothic"/>
            </a:endParaRPr>
          </a:p>
        </p:txBody>
      </p:sp>
    </p:spTree>
    <p:extLst>
      <p:ext uri="{BB962C8B-B14F-4D97-AF65-F5344CB8AC3E}">
        <p14:creationId xmlns:p14="http://schemas.microsoft.com/office/powerpoint/2010/main" val="2088894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22F38413-F87B-FFA6-0694-E490DCAB68CA}"/>
            </a:ext>
          </a:extLst>
        </p:cNvPr>
        <p:cNvGrpSpPr/>
        <p:nvPr/>
      </p:nvGrpSpPr>
      <p:grpSpPr>
        <a:xfrm>
          <a:off x="0" y="0"/>
          <a:ext cx="0" cy="0"/>
          <a:chOff x="0" y="0"/>
          <a:chExt cx="0" cy="0"/>
        </a:xfrm>
      </p:grpSpPr>
      <p:sp>
        <p:nvSpPr>
          <p:cNvPr id="188" name="Google Shape;188;p40">
            <a:extLst>
              <a:ext uri="{FF2B5EF4-FFF2-40B4-BE49-F238E27FC236}">
                <a16:creationId xmlns:a16="http://schemas.microsoft.com/office/drawing/2014/main" id="{AB7C7CDD-63F6-5FF0-8253-67E0D7589DE6}"/>
              </a:ext>
            </a:extLst>
          </p:cNvPr>
          <p:cNvSpPr txBox="1"/>
          <p:nvPr/>
        </p:nvSpPr>
        <p:spPr>
          <a:xfrm>
            <a:off x="468977" y="92417"/>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Initial Exploratory Data Analysis (EDA)</a:t>
            </a:r>
            <a:endParaRPr sz="2200" b="1" i="0" u="none" strike="noStrike" cap="none" dirty="0">
              <a:solidFill>
                <a:schemeClr val="lt2"/>
              </a:solidFill>
              <a:latin typeface="Century Gothic"/>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775E2060-3936-0B42-882C-EAC7DBC78A5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21</a:t>
            </a:fld>
            <a:endParaRPr lang="en-US"/>
          </a:p>
        </p:txBody>
      </p:sp>
      <p:pic>
        <p:nvPicPr>
          <p:cNvPr id="7" name="Picture 6" descr="A graph of a bar chart&#10;&#10;AI-generated content may be incorrect.">
            <a:extLst>
              <a:ext uri="{FF2B5EF4-FFF2-40B4-BE49-F238E27FC236}">
                <a16:creationId xmlns:a16="http://schemas.microsoft.com/office/drawing/2014/main" id="{952CFBD5-6C53-8B91-1326-FDABF9CA0963}"/>
              </a:ext>
            </a:extLst>
          </p:cNvPr>
          <p:cNvPicPr>
            <a:picLocks noChangeAspect="1"/>
          </p:cNvPicPr>
          <p:nvPr/>
        </p:nvPicPr>
        <p:blipFill>
          <a:blip r:embed="rId3"/>
          <a:stretch>
            <a:fillRect/>
          </a:stretch>
        </p:blipFill>
        <p:spPr>
          <a:xfrm>
            <a:off x="145963" y="914743"/>
            <a:ext cx="8573359" cy="2206593"/>
          </a:xfrm>
          <a:prstGeom prst="rect">
            <a:avLst/>
          </a:prstGeom>
        </p:spPr>
      </p:pic>
      <p:sp>
        <p:nvSpPr>
          <p:cNvPr id="14" name="Google Shape;190;p40">
            <a:extLst>
              <a:ext uri="{FF2B5EF4-FFF2-40B4-BE49-F238E27FC236}">
                <a16:creationId xmlns:a16="http://schemas.microsoft.com/office/drawing/2014/main" id="{8AE5F60F-91BC-219C-A109-FF2B8B86F1BC}"/>
              </a:ext>
            </a:extLst>
          </p:cNvPr>
          <p:cNvSpPr txBox="1">
            <a:spLocks noGrp="1"/>
          </p:cNvSpPr>
          <p:nvPr>
            <p:ph type="body" idx="1"/>
          </p:nvPr>
        </p:nvSpPr>
        <p:spPr>
          <a:xfrm>
            <a:off x="416217" y="3231384"/>
            <a:ext cx="7889010" cy="1502945"/>
          </a:xfrm>
          <a:prstGeom prst="rect">
            <a:avLst/>
          </a:prstGeom>
          <a:noFill/>
          <a:ln>
            <a:noFill/>
          </a:ln>
        </p:spPr>
        <p:txBody>
          <a:bodyPr spcFirstLastPara="1" wrap="square" lIns="91425" tIns="91425" rIns="91425" bIns="91425" anchor="t" anchorCtr="0">
            <a:spAutoFit/>
          </a:bodyPr>
          <a:lstStyle/>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BAD</a:t>
            </a:r>
            <a:r>
              <a:rPr lang="en-US" sz="1200" dirty="0">
                <a:solidFill>
                  <a:schemeClr val="dk1"/>
                </a:solidFill>
                <a:latin typeface="Nunito" pitchFamily="2" charset="0"/>
                <a:ea typeface="Century Gothic"/>
                <a:cs typeface="Century Gothic"/>
                <a:sym typeface="Century Gothic"/>
              </a:rPr>
              <a:t> – predicted feature label, class imbalance, 80% of loans don’t default</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YOJ</a:t>
            </a:r>
            <a:r>
              <a:rPr lang="en-US" sz="1200" dirty="0">
                <a:solidFill>
                  <a:schemeClr val="dk1"/>
                </a:solidFill>
                <a:latin typeface="Nunito" pitchFamily="2" charset="0"/>
                <a:ea typeface="Century Gothic"/>
                <a:cs typeface="Century Gothic"/>
                <a:sym typeface="Century Gothic"/>
              </a:rPr>
              <a:t> – Right-skewed, declines after 4 years</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DEROG</a:t>
            </a:r>
            <a:r>
              <a:rPr lang="en-US" sz="1200" dirty="0">
                <a:solidFill>
                  <a:schemeClr val="dk1"/>
                </a:solidFill>
                <a:latin typeface="Nunito" pitchFamily="2" charset="0"/>
                <a:ea typeface="Century Gothic"/>
                <a:cs typeface="Century Gothic"/>
                <a:sym typeface="Century Gothic"/>
              </a:rPr>
              <a:t> – Most values are 0 (</a:t>
            </a:r>
            <a:r>
              <a:rPr lang="en-US" sz="1200" b="1" dirty="0">
                <a:solidFill>
                  <a:schemeClr val="dk1"/>
                </a:solidFill>
                <a:latin typeface="Nunito" pitchFamily="2" charset="0"/>
                <a:ea typeface="Century Gothic"/>
                <a:cs typeface="Century Gothic"/>
                <a:sym typeface="Century Gothic"/>
              </a:rPr>
              <a:t>zero-inflated</a:t>
            </a:r>
            <a:r>
              <a:rPr lang="en-US" sz="1200" dirty="0">
                <a:solidFill>
                  <a:schemeClr val="dk1"/>
                </a:solidFill>
                <a:latin typeface="Nunito" pitchFamily="2" charset="0"/>
                <a:ea typeface="Century Gothic"/>
                <a:cs typeface="Century Gothic"/>
                <a:sym typeface="Century Gothic"/>
              </a:rPr>
              <a:t>)</a:t>
            </a:r>
          </a:p>
          <a:p>
            <a:pPr marL="171450" indent="-171450" algn="just">
              <a:spcBef>
                <a:spcPts val="400"/>
              </a:spcBef>
              <a:buClr>
                <a:schemeClr val="dk1"/>
              </a:buClr>
              <a:buSzPts val="1400"/>
            </a:pPr>
            <a:r>
              <a:rPr lang="en-US" sz="1200" b="1" dirty="0">
                <a:solidFill>
                  <a:schemeClr val="dk1"/>
                </a:solidFill>
                <a:latin typeface="Nunito" pitchFamily="2" charset="0"/>
                <a:ea typeface="Century Gothic"/>
                <a:cs typeface="Century Gothic"/>
                <a:sym typeface="Century Gothic"/>
              </a:rPr>
              <a:t>DELINQ</a:t>
            </a:r>
            <a:r>
              <a:rPr lang="en-US" sz="1200" dirty="0">
                <a:solidFill>
                  <a:schemeClr val="dk1"/>
                </a:solidFill>
                <a:latin typeface="Nunito" pitchFamily="2" charset="0"/>
                <a:ea typeface="Century Gothic"/>
                <a:cs typeface="Century Gothic"/>
                <a:sym typeface="Century Gothic"/>
              </a:rPr>
              <a:t> – Zero-inflated</a:t>
            </a:r>
            <a:r>
              <a:rPr lang="en-US" sz="1200">
                <a:solidFill>
                  <a:schemeClr val="dk1"/>
                </a:solidFill>
                <a:latin typeface="Nunito" pitchFamily="2" charset="0"/>
                <a:ea typeface="Century Gothic"/>
                <a:cs typeface="Century Gothic"/>
                <a:sym typeface="Century Gothic"/>
              </a:rPr>
              <a:t>, Right-skewed</a:t>
            </a:r>
            <a:endParaRPr lang="en-US" sz="1200" dirty="0">
              <a:solidFill>
                <a:schemeClr val="dk1"/>
              </a:solidFill>
              <a:latin typeface="Nunito" pitchFamily="2" charset="0"/>
              <a:ea typeface="Century Gothic"/>
              <a:cs typeface="Century Gothic"/>
              <a:sym typeface="Century Gothic"/>
            </a:endParaRPr>
          </a:p>
          <a:p>
            <a:pPr marL="0" indent="0" algn="just">
              <a:spcBef>
                <a:spcPts val="400"/>
              </a:spcBef>
              <a:buClr>
                <a:schemeClr val="dk1"/>
              </a:buClr>
              <a:buSzPts val="1400"/>
              <a:buNone/>
            </a:pPr>
            <a:endParaRPr lang="en-US" sz="1200" dirty="0">
              <a:solidFill>
                <a:schemeClr val="dk1"/>
              </a:solidFill>
              <a:latin typeface="Nunito" pitchFamily="2" charset="0"/>
              <a:ea typeface="Century Gothic"/>
              <a:cs typeface="Century Gothic"/>
              <a:sym typeface="Century Gothic"/>
            </a:endParaRPr>
          </a:p>
        </p:txBody>
      </p:sp>
    </p:spTree>
    <p:extLst>
      <p:ext uri="{BB962C8B-B14F-4D97-AF65-F5344CB8AC3E}">
        <p14:creationId xmlns:p14="http://schemas.microsoft.com/office/powerpoint/2010/main" val="2364064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F7C72CE6-50CD-3FDA-1EE1-77CD81376DFD}"/>
            </a:ext>
          </a:extLst>
        </p:cNvPr>
        <p:cNvGrpSpPr/>
        <p:nvPr/>
      </p:nvGrpSpPr>
      <p:grpSpPr>
        <a:xfrm>
          <a:off x="0" y="0"/>
          <a:ext cx="0" cy="0"/>
          <a:chOff x="0" y="0"/>
          <a:chExt cx="0" cy="0"/>
        </a:xfrm>
      </p:grpSpPr>
      <p:sp>
        <p:nvSpPr>
          <p:cNvPr id="188" name="Google Shape;188;p40">
            <a:extLst>
              <a:ext uri="{FF2B5EF4-FFF2-40B4-BE49-F238E27FC236}">
                <a16:creationId xmlns:a16="http://schemas.microsoft.com/office/drawing/2014/main" id="{5A4B02B0-61EA-B184-BFF3-68EC0287C0AA}"/>
              </a:ext>
            </a:extLst>
          </p:cNvPr>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Statistics after Retrieve (Initial EDA):</a:t>
            </a:r>
            <a:endParaRPr sz="2200" b="1" i="0" u="none" strike="noStrike" cap="none" dirty="0">
              <a:solidFill>
                <a:schemeClr val="lt2"/>
              </a:solidFill>
              <a:latin typeface="Century Gothic"/>
              <a:ea typeface="Century Gothic"/>
              <a:cs typeface="Century Gothic"/>
              <a:sym typeface="Century Gothic"/>
            </a:endParaRPr>
          </a:p>
        </p:txBody>
      </p:sp>
      <p:pic>
        <p:nvPicPr>
          <p:cNvPr id="189" name="Google Shape;189;p40">
            <a:extLst>
              <a:ext uri="{FF2B5EF4-FFF2-40B4-BE49-F238E27FC236}">
                <a16:creationId xmlns:a16="http://schemas.microsoft.com/office/drawing/2014/main" id="{52CE79F3-FEBE-367F-552A-49A11C2E2144}"/>
              </a:ext>
            </a:extLst>
          </p:cNvPr>
          <p:cNvPicPr preferRelativeResize="0"/>
          <p:nvPr/>
        </p:nvPicPr>
        <p:blipFill rotWithShape="1">
          <a:blip r:embed="rId3">
            <a:alphaModFix/>
          </a:blip>
          <a:srcRect/>
          <a:stretch/>
        </p:blipFill>
        <p:spPr>
          <a:xfrm>
            <a:off x="710763" y="1808801"/>
            <a:ext cx="7613375" cy="3381765"/>
          </a:xfrm>
          <a:prstGeom prst="rect">
            <a:avLst/>
          </a:prstGeom>
          <a:noFill/>
          <a:ln>
            <a:noFill/>
          </a:ln>
        </p:spPr>
      </p:pic>
      <p:sp>
        <p:nvSpPr>
          <p:cNvPr id="190" name="Google Shape;190;p40">
            <a:extLst>
              <a:ext uri="{FF2B5EF4-FFF2-40B4-BE49-F238E27FC236}">
                <a16:creationId xmlns:a16="http://schemas.microsoft.com/office/drawing/2014/main" id="{A4EDEFA3-D05C-C36A-0C5E-0D18A240A9F9}"/>
              </a:ext>
            </a:extLst>
          </p:cNvPr>
          <p:cNvSpPr txBox="1">
            <a:spLocks noGrp="1"/>
          </p:cNvSpPr>
          <p:nvPr>
            <p:ph type="body" idx="1"/>
          </p:nvPr>
        </p:nvSpPr>
        <p:spPr>
          <a:xfrm>
            <a:off x="202550" y="752645"/>
            <a:ext cx="8629800" cy="895800"/>
          </a:xfrm>
          <a:prstGeom prst="rect">
            <a:avLst/>
          </a:prstGeom>
          <a:noFill/>
          <a:ln>
            <a:noFill/>
          </a:ln>
        </p:spPr>
        <p:txBody>
          <a:bodyPr spcFirstLastPara="1" wrap="square" lIns="91425" tIns="91425" rIns="91425" bIns="91425" anchor="t" anchorCtr="0">
            <a:spAutoFit/>
          </a:bodyPr>
          <a:lstStyle/>
          <a:p>
            <a:pPr marL="457200" lvl="0" indent="-317500" algn="just"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At this stage, the statistics were used to understand the raw data before any modifications. This helped in identifying missing values, data types, and the overall distribution of features. It represents the initial univariate exploratory data analysis (EDA).</a:t>
            </a:r>
            <a:endParaRPr sz="1400">
              <a:solidFill>
                <a:schemeClr val="dk1"/>
              </a:solidFill>
              <a:latin typeface="Century Gothic"/>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43BD3859-C10D-8431-CE3D-A2DADCE0748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2408286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41"/>
          <p:cNvPicPr preferRelativeResize="0"/>
          <p:nvPr/>
        </p:nvPicPr>
        <p:blipFill rotWithShape="1">
          <a:blip r:embed="rId3">
            <a:alphaModFix/>
          </a:blip>
          <a:srcRect/>
          <a:stretch/>
        </p:blipFill>
        <p:spPr>
          <a:xfrm>
            <a:off x="725562" y="775254"/>
            <a:ext cx="7954612" cy="3616977"/>
          </a:xfrm>
          <a:prstGeom prst="rect">
            <a:avLst/>
          </a:prstGeom>
          <a:noFill/>
          <a:ln>
            <a:noFill/>
          </a:ln>
        </p:spPr>
      </p:pic>
      <p:sp>
        <p:nvSpPr>
          <p:cNvPr id="2" name="Slide Number Placeholder 1">
            <a:extLst>
              <a:ext uri="{FF2B5EF4-FFF2-40B4-BE49-F238E27FC236}">
                <a16:creationId xmlns:a16="http://schemas.microsoft.com/office/drawing/2014/main" id="{F7466FDC-186A-78F3-D750-AF153C48085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42"/>
          <p:cNvPicPr preferRelativeResize="0"/>
          <p:nvPr/>
        </p:nvPicPr>
        <p:blipFill rotWithShape="1">
          <a:blip r:embed="rId3">
            <a:alphaModFix/>
          </a:blip>
          <a:srcRect/>
          <a:stretch/>
        </p:blipFill>
        <p:spPr>
          <a:xfrm>
            <a:off x="304800" y="918978"/>
            <a:ext cx="8534400" cy="3434362"/>
          </a:xfrm>
          <a:prstGeom prst="rect">
            <a:avLst/>
          </a:prstGeom>
          <a:noFill/>
          <a:ln>
            <a:noFill/>
          </a:ln>
        </p:spPr>
      </p:pic>
      <p:sp>
        <p:nvSpPr>
          <p:cNvPr id="2" name="Slide Number Placeholder 1">
            <a:extLst>
              <a:ext uri="{FF2B5EF4-FFF2-40B4-BE49-F238E27FC236}">
                <a16:creationId xmlns:a16="http://schemas.microsoft.com/office/drawing/2014/main" id="{F07EBFC5-0255-CCEB-6BEC-9CC993CE4C8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4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SzPts val="1400"/>
              <a:buFont typeface="Nunito"/>
              <a:buChar char="●"/>
            </a:pPr>
            <a:r>
              <a:rPr lang="en-US" sz="1400"/>
              <a:t>The Statistics give insights into different attributes of the dataset. We have shown the results for BAD, CLAGE, and CLNO to understand how these variables behave at each stage. Other attributes like DEBTINC, DELINQ, DEROG, JOB, LOAN, MORTDUE, NINQ, REASON, VALUE, and YOJ are also available in the dataset you can explore them in the same way using the Statistics operator to understand their patterns and values.</a:t>
            </a:r>
            <a:endParaRPr sz="1400"/>
          </a:p>
          <a:p>
            <a:pPr marL="457200" lvl="0" indent="-317500" algn="just" rtl="0">
              <a:lnSpc>
                <a:spcPct val="115000"/>
              </a:lnSpc>
              <a:spcBef>
                <a:spcPts val="0"/>
              </a:spcBef>
              <a:spcAft>
                <a:spcPts val="0"/>
              </a:spcAft>
              <a:buSzPts val="1400"/>
              <a:buChar char="●"/>
            </a:pPr>
            <a:r>
              <a:rPr lang="en-US" sz="1400"/>
              <a:t>Add your insights and observations regarding the attributes you analyze in order to gain a deeper understanding of the data.</a:t>
            </a:r>
            <a:endParaRPr sz="1400"/>
          </a:p>
        </p:txBody>
      </p:sp>
      <p:sp>
        <p:nvSpPr>
          <p:cNvPr id="2" name="Slide Number Placeholder 1">
            <a:extLst>
              <a:ext uri="{FF2B5EF4-FFF2-40B4-BE49-F238E27FC236}">
                <a16:creationId xmlns:a16="http://schemas.microsoft.com/office/drawing/2014/main" id="{30F6E42A-2E01-2313-B9AF-A4E33B79B4F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44"/>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lt2"/>
                </a:solidFill>
                <a:latin typeface="Century Gothic"/>
                <a:ea typeface="Century Gothic"/>
                <a:cs typeface="Century Gothic"/>
                <a:sym typeface="Century Gothic"/>
              </a:rPr>
              <a:t>Statistics after Preprocessing:</a:t>
            </a:r>
            <a:endParaRPr sz="2200" b="1" i="0" u="none" strike="noStrike" cap="none">
              <a:solidFill>
                <a:schemeClr val="lt2"/>
              </a:solidFill>
              <a:latin typeface="Century Gothic"/>
              <a:ea typeface="Century Gothic"/>
              <a:cs typeface="Century Gothic"/>
              <a:sym typeface="Century Gothic"/>
            </a:endParaRPr>
          </a:p>
        </p:txBody>
      </p:sp>
      <p:sp>
        <p:nvSpPr>
          <p:cNvPr id="211" name="Google Shape;211;p44"/>
          <p:cNvSpPr txBox="1">
            <a:spLocks noGrp="1"/>
          </p:cNvSpPr>
          <p:nvPr>
            <p:ph type="body" idx="1"/>
          </p:nvPr>
        </p:nvSpPr>
        <p:spPr>
          <a:xfrm>
            <a:off x="202550" y="728051"/>
            <a:ext cx="8629800" cy="1143600"/>
          </a:xfrm>
          <a:prstGeom prst="rect">
            <a:avLst/>
          </a:prstGeom>
          <a:noFill/>
          <a:ln>
            <a:noFill/>
          </a:ln>
        </p:spPr>
        <p:txBody>
          <a:bodyPr spcFirstLastPara="1" wrap="square" lIns="91425" tIns="91425" rIns="91425" bIns="91425" anchor="t" anchorCtr="0">
            <a:spAutoFit/>
          </a:bodyPr>
          <a:lstStyle/>
          <a:p>
            <a:pPr marL="457200" lvl="0" indent="-317500" algn="just"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After performing preprocessing steps such as missing value replacement, nominal-to-numerical conversion, and normalization, the statistics were again used to verify the changes and improvements. This helped confirm that data cleaning and transformations were applied correctly and that the dataset was now ready for modeling.</a:t>
            </a:r>
            <a:endParaRPr/>
          </a:p>
        </p:txBody>
      </p:sp>
      <p:pic>
        <p:nvPicPr>
          <p:cNvPr id="212" name="Google Shape;212;p44"/>
          <p:cNvPicPr preferRelativeResize="0"/>
          <p:nvPr/>
        </p:nvPicPr>
        <p:blipFill rotWithShape="1">
          <a:blip r:embed="rId3">
            <a:alphaModFix/>
          </a:blip>
          <a:srcRect/>
          <a:stretch/>
        </p:blipFill>
        <p:spPr>
          <a:xfrm>
            <a:off x="514293" y="1934950"/>
            <a:ext cx="7721936" cy="3302461"/>
          </a:xfrm>
          <a:prstGeom prst="rect">
            <a:avLst/>
          </a:prstGeom>
          <a:noFill/>
          <a:ln>
            <a:noFill/>
          </a:ln>
        </p:spPr>
      </p:pic>
      <p:sp>
        <p:nvSpPr>
          <p:cNvPr id="2" name="Slide Number Placeholder 1">
            <a:extLst>
              <a:ext uri="{FF2B5EF4-FFF2-40B4-BE49-F238E27FC236}">
                <a16:creationId xmlns:a16="http://schemas.microsoft.com/office/drawing/2014/main" id="{EB1273AA-F837-53C0-86F8-6EB96BFD55E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45"/>
          <p:cNvPicPr preferRelativeResize="0"/>
          <p:nvPr/>
        </p:nvPicPr>
        <p:blipFill rotWithShape="1">
          <a:blip r:embed="rId3">
            <a:alphaModFix/>
          </a:blip>
          <a:srcRect/>
          <a:stretch/>
        </p:blipFill>
        <p:spPr>
          <a:xfrm>
            <a:off x="219711" y="614922"/>
            <a:ext cx="8321315" cy="3913656"/>
          </a:xfrm>
          <a:prstGeom prst="rect">
            <a:avLst/>
          </a:prstGeom>
          <a:noFill/>
          <a:ln>
            <a:noFill/>
          </a:ln>
        </p:spPr>
      </p:pic>
      <p:sp>
        <p:nvSpPr>
          <p:cNvPr id="2" name="Slide Number Placeholder 1">
            <a:extLst>
              <a:ext uri="{FF2B5EF4-FFF2-40B4-BE49-F238E27FC236}">
                <a16:creationId xmlns:a16="http://schemas.microsoft.com/office/drawing/2014/main" id="{CEEB3F50-3DFC-8EA4-BEC1-616F4958DF0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4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SzPts val="1400"/>
              <a:buFont typeface="Nunito"/>
              <a:buChar char="●"/>
            </a:pPr>
            <a:r>
              <a:rPr lang="en-US" sz="1400"/>
              <a:t>The Statistics give insights into different attributes of the dataset. We have shown the results for BAD_nom, CLAGE, and CLNO to understand how these variables behave after preprocessing. Other attributes like DEBTINC, DELINQ, DEROG, JOB_Mgr, JOB_Office, JOB_Other, JOB_ProfExe, JOB_Sales, JOB_Self, LOAN, MORTDUE, NINQ, REASON_DebtCon, REASON_HomeImp, VALUE, and YOJ are also available in the dataset - you can explore them in the same way using the Statistics operator to understand their patterns and values.</a:t>
            </a:r>
            <a:endParaRPr sz="1400"/>
          </a:p>
          <a:p>
            <a:pPr marL="457200" lvl="0" indent="-317500" algn="just" rtl="0">
              <a:lnSpc>
                <a:spcPct val="115000"/>
              </a:lnSpc>
              <a:spcBef>
                <a:spcPts val="0"/>
              </a:spcBef>
              <a:spcAft>
                <a:spcPts val="0"/>
              </a:spcAft>
              <a:buSzPts val="1400"/>
              <a:buChar char="●"/>
            </a:pPr>
            <a:r>
              <a:rPr lang="en-US" sz="1400"/>
              <a:t>Add your insights and observations regarding the attributes you analyze in order to gain a deeper understanding of the data.</a:t>
            </a:r>
            <a:endParaRPr sz="1400"/>
          </a:p>
        </p:txBody>
      </p:sp>
      <p:sp>
        <p:nvSpPr>
          <p:cNvPr id="2" name="Slide Number Placeholder 1">
            <a:extLst>
              <a:ext uri="{FF2B5EF4-FFF2-40B4-BE49-F238E27FC236}">
                <a16:creationId xmlns:a16="http://schemas.microsoft.com/office/drawing/2014/main" id="{C9E600A8-210F-81BB-8254-6DC42E39967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p47"/>
          <p:cNvPicPr preferRelativeResize="0"/>
          <p:nvPr/>
        </p:nvPicPr>
        <p:blipFill rotWithShape="1">
          <a:blip r:embed="rId3">
            <a:alphaModFix/>
          </a:blip>
          <a:srcRect/>
          <a:stretch/>
        </p:blipFill>
        <p:spPr>
          <a:xfrm>
            <a:off x="546852" y="801756"/>
            <a:ext cx="8411618" cy="3950181"/>
          </a:xfrm>
          <a:prstGeom prst="rect">
            <a:avLst/>
          </a:prstGeom>
          <a:noFill/>
          <a:ln>
            <a:noFill/>
          </a:ln>
        </p:spPr>
      </p:pic>
      <p:sp>
        <p:nvSpPr>
          <p:cNvPr id="2" name="Slide Number Placeholder 1">
            <a:extLst>
              <a:ext uri="{FF2B5EF4-FFF2-40B4-BE49-F238E27FC236}">
                <a16:creationId xmlns:a16="http://schemas.microsoft.com/office/drawing/2014/main" id="{611E005D-1CBD-4BDA-13A2-F5B93BE98F3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Scenario 1: Basic Neural Network </a:t>
            </a:r>
            <a:endParaRPr/>
          </a:p>
        </p:txBody>
      </p:sp>
      <p:sp>
        <p:nvSpPr>
          <p:cNvPr id="233" name="Google Shape;233;p48"/>
          <p:cNvSpPr txBox="1">
            <a:spLocks noGrp="1"/>
          </p:cNvSpPr>
          <p:nvPr>
            <p:ph type="body" idx="1"/>
          </p:nvPr>
        </p:nvSpPr>
        <p:spPr>
          <a:xfrm>
            <a:off x="202550" y="861975"/>
            <a:ext cx="8307900" cy="4884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comment on the model performance </a:t>
            </a:r>
            <a:endParaRPr sz="1400">
              <a:solidFill>
                <a:schemeClr val="dk1"/>
              </a:solidFill>
              <a:latin typeface="Century Gothic"/>
              <a:ea typeface="Century Gothic"/>
              <a:cs typeface="Century Gothic"/>
              <a:sym typeface="Century Gothic"/>
            </a:endParaRPr>
          </a:p>
        </p:txBody>
      </p:sp>
      <p:graphicFrame>
        <p:nvGraphicFramePr>
          <p:cNvPr id="234" name="Google Shape;234;p48"/>
          <p:cNvGraphicFramePr/>
          <p:nvPr/>
        </p:nvGraphicFramePr>
        <p:xfrm>
          <a:off x="1364816" y="1751211"/>
          <a:ext cx="5983350" cy="1273825"/>
        </p:xfrm>
        <a:graphic>
          <a:graphicData uri="http://schemas.openxmlformats.org/drawingml/2006/table">
            <a:tbl>
              <a:tblPr firstRow="1" bandRow="1">
                <a:noFill/>
                <a:tableStyleId>{36976CF4-DB81-4460-9A5E-51383ADFE053}</a:tableStyleId>
              </a:tblPr>
              <a:tblGrid>
                <a:gridCol w="1615400">
                  <a:extLst>
                    <a:ext uri="{9D8B030D-6E8A-4147-A177-3AD203B41FA5}">
                      <a16:colId xmlns:a16="http://schemas.microsoft.com/office/drawing/2014/main" val="20000"/>
                    </a:ext>
                  </a:extLst>
                </a:gridCol>
                <a:gridCol w="1047025">
                  <a:extLst>
                    <a:ext uri="{9D8B030D-6E8A-4147-A177-3AD203B41FA5}">
                      <a16:colId xmlns:a16="http://schemas.microsoft.com/office/drawing/2014/main" val="20001"/>
                    </a:ext>
                  </a:extLst>
                </a:gridCol>
                <a:gridCol w="1082725">
                  <a:extLst>
                    <a:ext uri="{9D8B030D-6E8A-4147-A177-3AD203B41FA5}">
                      <a16:colId xmlns:a16="http://schemas.microsoft.com/office/drawing/2014/main" val="20002"/>
                    </a:ext>
                  </a:extLst>
                </a:gridCol>
                <a:gridCol w="1041525">
                  <a:extLst>
                    <a:ext uri="{9D8B030D-6E8A-4147-A177-3AD203B41FA5}">
                      <a16:colId xmlns:a16="http://schemas.microsoft.com/office/drawing/2014/main" val="20003"/>
                    </a:ext>
                  </a:extLst>
                </a:gridCol>
                <a:gridCol w="1196675">
                  <a:extLst>
                    <a:ext uri="{9D8B030D-6E8A-4147-A177-3AD203B41FA5}">
                      <a16:colId xmlns:a16="http://schemas.microsoft.com/office/drawing/2014/main" val="20004"/>
                    </a:ext>
                  </a:extLst>
                </a:gridCol>
              </a:tblGrid>
              <a:tr h="5950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Metric</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Accuracy</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Kappa</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Weighted Recall</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Weighted Precision</a:t>
                      </a:r>
                      <a:endParaRPr sz="1200" u="none" strike="noStrike" cap="none">
                        <a:latin typeface="Nunito"/>
                        <a:ea typeface="Nunito"/>
                        <a:cs typeface="Nunito"/>
                        <a:sym typeface="Nunito"/>
                      </a:endParaRPr>
                    </a:p>
                  </a:txBody>
                  <a:tcPr marL="91450" marR="91450" marT="45725" marB="45725" anchor="ctr">
                    <a:solidFill>
                      <a:schemeClr val="lt2"/>
                    </a:solidFill>
                  </a:tcPr>
                </a:tc>
                <a:extLst>
                  <a:ext uri="{0D108BD9-81ED-4DB2-BD59-A6C34878D82A}">
                    <a16:rowId xmlns:a16="http://schemas.microsoft.com/office/drawing/2014/main" val="10000"/>
                  </a:ext>
                </a:extLst>
              </a:tr>
              <a:tr h="6788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Nunito"/>
                          <a:ea typeface="Nunito"/>
                          <a:cs typeface="Nunito"/>
                          <a:sym typeface="Nunito"/>
                        </a:rPr>
                        <a:t>Basic Neural Network </a:t>
                      </a:r>
                      <a:endParaRPr sz="1200" u="none" strike="noStrike" cap="none">
                        <a:latin typeface="Nunito"/>
                        <a:ea typeface="Nunito"/>
                        <a:cs typeface="Nunito"/>
                        <a:sym typeface="Nunito"/>
                      </a:endParaRP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84.96</a:t>
                      </a:r>
                      <a:endParaRPr sz="1200" u="none" strike="noStrike" cap="none">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0.507</a:t>
                      </a:r>
                      <a:endParaRPr sz="1200" u="none" strike="noStrike" cap="none">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74.20</a:t>
                      </a:r>
                      <a:endParaRPr sz="1200" u="none" strike="noStrike" cap="none">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76.71</a:t>
                      </a:r>
                      <a:endParaRPr sz="1200" u="none" strike="noStrike" cap="none">
                        <a:latin typeface="Nunito"/>
                        <a:ea typeface="Nunito"/>
                        <a:cs typeface="Nunito"/>
                        <a:sym typeface="Nunito"/>
                      </a:endParaRPr>
                    </a:p>
                  </a:txBody>
                  <a:tcPr marL="91425" marR="91425" marT="91425" marB="91425" anchor="ctr"/>
                </a:tc>
                <a:extLst>
                  <a:ext uri="{0D108BD9-81ED-4DB2-BD59-A6C34878D82A}">
                    <a16:rowId xmlns:a16="http://schemas.microsoft.com/office/drawing/2014/main" val="10001"/>
                  </a:ext>
                </a:extLst>
              </a:tr>
            </a:tbl>
          </a:graphicData>
        </a:graphic>
      </p:graphicFrame>
      <p:sp>
        <p:nvSpPr>
          <p:cNvPr id="2" name="Slide Number Placeholder 1">
            <a:extLst>
              <a:ext uri="{FF2B5EF4-FFF2-40B4-BE49-F238E27FC236}">
                <a16:creationId xmlns:a16="http://schemas.microsoft.com/office/drawing/2014/main" id="{2D31FCDC-E85D-2B56-2189-19DE3C4EBFF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Scenario 2: Neural Network With Parameter Tuning</a:t>
            </a:r>
            <a:endParaRPr/>
          </a:p>
        </p:txBody>
      </p:sp>
      <p:sp>
        <p:nvSpPr>
          <p:cNvPr id="240" name="Google Shape;240;p49"/>
          <p:cNvSpPr txBox="1">
            <a:spLocks noGrp="1"/>
          </p:cNvSpPr>
          <p:nvPr>
            <p:ph type="body" idx="1"/>
          </p:nvPr>
        </p:nvSpPr>
        <p:spPr>
          <a:xfrm>
            <a:off x="202550" y="861975"/>
            <a:ext cx="8307900" cy="5727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comment on the model performance of the </a:t>
            </a:r>
            <a:endParaRPr sz="1400">
              <a:solidFill>
                <a:schemeClr val="dk1"/>
              </a:solidFill>
              <a:latin typeface="Century Gothic"/>
              <a:ea typeface="Century Gothic"/>
              <a:cs typeface="Century Gothic"/>
              <a:sym typeface="Century Gothic"/>
            </a:endParaRPr>
          </a:p>
        </p:txBody>
      </p:sp>
      <p:graphicFrame>
        <p:nvGraphicFramePr>
          <p:cNvPr id="241" name="Google Shape;241;p49"/>
          <p:cNvGraphicFramePr/>
          <p:nvPr/>
        </p:nvGraphicFramePr>
        <p:xfrm>
          <a:off x="1364816" y="1765092"/>
          <a:ext cx="5983350" cy="1273825"/>
        </p:xfrm>
        <a:graphic>
          <a:graphicData uri="http://schemas.openxmlformats.org/drawingml/2006/table">
            <a:tbl>
              <a:tblPr firstRow="1" bandRow="1">
                <a:noFill/>
                <a:tableStyleId>{36976CF4-DB81-4460-9A5E-51383ADFE053}</a:tableStyleId>
              </a:tblPr>
              <a:tblGrid>
                <a:gridCol w="1615400">
                  <a:extLst>
                    <a:ext uri="{9D8B030D-6E8A-4147-A177-3AD203B41FA5}">
                      <a16:colId xmlns:a16="http://schemas.microsoft.com/office/drawing/2014/main" val="20000"/>
                    </a:ext>
                  </a:extLst>
                </a:gridCol>
                <a:gridCol w="1047025">
                  <a:extLst>
                    <a:ext uri="{9D8B030D-6E8A-4147-A177-3AD203B41FA5}">
                      <a16:colId xmlns:a16="http://schemas.microsoft.com/office/drawing/2014/main" val="20001"/>
                    </a:ext>
                  </a:extLst>
                </a:gridCol>
                <a:gridCol w="1082725">
                  <a:extLst>
                    <a:ext uri="{9D8B030D-6E8A-4147-A177-3AD203B41FA5}">
                      <a16:colId xmlns:a16="http://schemas.microsoft.com/office/drawing/2014/main" val="20002"/>
                    </a:ext>
                  </a:extLst>
                </a:gridCol>
                <a:gridCol w="1041525">
                  <a:extLst>
                    <a:ext uri="{9D8B030D-6E8A-4147-A177-3AD203B41FA5}">
                      <a16:colId xmlns:a16="http://schemas.microsoft.com/office/drawing/2014/main" val="20003"/>
                    </a:ext>
                  </a:extLst>
                </a:gridCol>
                <a:gridCol w="1196675">
                  <a:extLst>
                    <a:ext uri="{9D8B030D-6E8A-4147-A177-3AD203B41FA5}">
                      <a16:colId xmlns:a16="http://schemas.microsoft.com/office/drawing/2014/main" val="20004"/>
                    </a:ext>
                  </a:extLst>
                </a:gridCol>
              </a:tblGrid>
              <a:tr h="5950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Metric</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Accuracy</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Kappa</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Weighted Recall</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Weighted Precision</a:t>
                      </a:r>
                      <a:endParaRPr sz="1200" u="none" strike="noStrike" cap="none">
                        <a:latin typeface="Nunito"/>
                        <a:ea typeface="Nunito"/>
                        <a:cs typeface="Nunito"/>
                        <a:sym typeface="Nunito"/>
                      </a:endParaRPr>
                    </a:p>
                  </a:txBody>
                  <a:tcPr marL="91450" marR="91450" marT="45725" marB="45725" anchor="ctr">
                    <a:solidFill>
                      <a:schemeClr val="lt2"/>
                    </a:solidFill>
                  </a:tcPr>
                </a:tc>
                <a:extLst>
                  <a:ext uri="{0D108BD9-81ED-4DB2-BD59-A6C34878D82A}">
                    <a16:rowId xmlns:a16="http://schemas.microsoft.com/office/drawing/2014/main" val="10000"/>
                  </a:ext>
                </a:extLst>
              </a:tr>
              <a:tr h="6788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Nunito"/>
                          <a:ea typeface="Nunito"/>
                          <a:cs typeface="Nunito"/>
                          <a:sym typeface="Nunito"/>
                        </a:rPr>
                        <a:t>Neural Network with Parameter Tuning</a:t>
                      </a:r>
                      <a:endParaRPr sz="1200" u="none" strike="noStrike" cap="none">
                        <a:latin typeface="Nunito"/>
                        <a:ea typeface="Nunito"/>
                        <a:cs typeface="Nunito"/>
                        <a:sym typeface="Nunito"/>
                      </a:endParaRP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87.92</a:t>
                      </a:r>
                      <a:endParaRPr sz="1200" u="none" strike="noStrike" cap="none">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0.583</a:t>
                      </a:r>
                      <a:endParaRPr sz="1200" u="none" strike="noStrike" cap="none">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76.37</a:t>
                      </a:r>
                      <a:endParaRPr sz="1200" u="none" strike="noStrike" cap="none">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83.17</a:t>
                      </a:r>
                      <a:endParaRPr sz="1200" u="none" strike="noStrike" cap="none">
                        <a:latin typeface="Nunito"/>
                        <a:ea typeface="Nunito"/>
                        <a:cs typeface="Nunito"/>
                        <a:sym typeface="Nunito"/>
                      </a:endParaRPr>
                    </a:p>
                  </a:txBody>
                  <a:tcPr marL="91425" marR="91425" marT="91425" marB="91425" anchor="ctr"/>
                </a:tc>
                <a:extLst>
                  <a:ext uri="{0D108BD9-81ED-4DB2-BD59-A6C34878D82A}">
                    <a16:rowId xmlns:a16="http://schemas.microsoft.com/office/drawing/2014/main" val="10001"/>
                  </a:ext>
                </a:extLst>
              </a:tr>
            </a:tbl>
          </a:graphicData>
        </a:graphic>
      </p:graphicFrame>
      <p:sp>
        <p:nvSpPr>
          <p:cNvPr id="2" name="Slide Number Placeholder 1">
            <a:extLst>
              <a:ext uri="{FF2B5EF4-FFF2-40B4-BE49-F238E27FC236}">
                <a16:creationId xmlns:a16="http://schemas.microsoft.com/office/drawing/2014/main" id="{3CFD6D71-10EA-96E3-B3D8-D6D2984694B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5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Scenario 3: Neural Network Using Grid Search </a:t>
            </a:r>
            <a:endParaRPr/>
          </a:p>
        </p:txBody>
      </p:sp>
      <p:sp>
        <p:nvSpPr>
          <p:cNvPr id="247" name="Google Shape;247;p50"/>
          <p:cNvSpPr txBox="1">
            <a:spLocks noGrp="1"/>
          </p:cNvSpPr>
          <p:nvPr>
            <p:ph type="body" idx="1"/>
          </p:nvPr>
        </p:nvSpPr>
        <p:spPr>
          <a:xfrm>
            <a:off x="202550" y="861975"/>
            <a:ext cx="8307900" cy="5727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comment on the model performance</a:t>
            </a:r>
            <a:endParaRPr sz="1400">
              <a:solidFill>
                <a:schemeClr val="dk1"/>
              </a:solidFill>
              <a:latin typeface="Century Gothic"/>
              <a:ea typeface="Century Gothic"/>
              <a:cs typeface="Century Gothic"/>
              <a:sym typeface="Century Gothic"/>
            </a:endParaRPr>
          </a:p>
        </p:txBody>
      </p:sp>
      <p:graphicFrame>
        <p:nvGraphicFramePr>
          <p:cNvPr id="248" name="Google Shape;248;p50"/>
          <p:cNvGraphicFramePr/>
          <p:nvPr/>
        </p:nvGraphicFramePr>
        <p:xfrm>
          <a:off x="1364816" y="1765092"/>
          <a:ext cx="5983350" cy="1273825"/>
        </p:xfrm>
        <a:graphic>
          <a:graphicData uri="http://schemas.openxmlformats.org/drawingml/2006/table">
            <a:tbl>
              <a:tblPr firstRow="1" bandRow="1">
                <a:noFill/>
                <a:tableStyleId>{36976CF4-DB81-4460-9A5E-51383ADFE053}</a:tableStyleId>
              </a:tblPr>
              <a:tblGrid>
                <a:gridCol w="1615400">
                  <a:extLst>
                    <a:ext uri="{9D8B030D-6E8A-4147-A177-3AD203B41FA5}">
                      <a16:colId xmlns:a16="http://schemas.microsoft.com/office/drawing/2014/main" val="20000"/>
                    </a:ext>
                  </a:extLst>
                </a:gridCol>
                <a:gridCol w="1047025">
                  <a:extLst>
                    <a:ext uri="{9D8B030D-6E8A-4147-A177-3AD203B41FA5}">
                      <a16:colId xmlns:a16="http://schemas.microsoft.com/office/drawing/2014/main" val="20001"/>
                    </a:ext>
                  </a:extLst>
                </a:gridCol>
                <a:gridCol w="1082725">
                  <a:extLst>
                    <a:ext uri="{9D8B030D-6E8A-4147-A177-3AD203B41FA5}">
                      <a16:colId xmlns:a16="http://schemas.microsoft.com/office/drawing/2014/main" val="20002"/>
                    </a:ext>
                  </a:extLst>
                </a:gridCol>
                <a:gridCol w="1041525">
                  <a:extLst>
                    <a:ext uri="{9D8B030D-6E8A-4147-A177-3AD203B41FA5}">
                      <a16:colId xmlns:a16="http://schemas.microsoft.com/office/drawing/2014/main" val="20003"/>
                    </a:ext>
                  </a:extLst>
                </a:gridCol>
                <a:gridCol w="1196675">
                  <a:extLst>
                    <a:ext uri="{9D8B030D-6E8A-4147-A177-3AD203B41FA5}">
                      <a16:colId xmlns:a16="http://schemas.microsoft.com/office/drawing/2014/main" val="20004"/>
                    </a:ext>
                  </a:extLst>
                </a:gridCol>
              </a:tblGrid>
              <a:tr h="5950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Metric</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Accuracy</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Kappa</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Weighted Recall</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Weighted Precision</a:t>
                      </a:r>
                      <a:endParaRPr sz="1200" u="none" strike="noStrike" cap="none">
                        <a:latin typeface="Nunito"/>
                        <a:ea typeface="Nunito"/>
                        <a:cs typeface="Nunito"/>
                        <a:sym typeface="Nunito"/>
                      </a:endParaRPr>
                    </a:p>
                  </a:txBody>
                  <a:tcPr marL="91450" marR="91450" marT="45725" marB="45725" anchor="ctr">
                    <a:solidFill>
                      <a:schemeClr val="lt2"/>
                    </a:solidFill>
                  </a:tcPr>
                </a:tc>
                <a:extLst>
                  <a:ext uri="{0D108BD9-81ED-4DB2-BD59-A6C34878D82A}">
                    <a16:rowId xmlns:a16="http://schemas.microsoft.com/office/drawing/2014/main" val="10000"/>
                  </a:ext>
                </a:extLst>
              </a:tr>
              <a:tr h="6788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Nunito"/>
                          <a:ea typeface="Nunito"/>
                          <a:cs typeface="Nunito"/>
                          <a:sym typeface="Nunito"/>
                        </a:rPr>
                        <a:t>Grid Search Optimized Model</a:t>
                      </a:r>
                      <a:endParaRPr sz="1200" u="none" strike="noStrike" cap="none">
                        <a:latin typeface="Nunito"/>
                        <a:ea typeface="Nunito"/>
                        <a:cs typeface="Nunito"/>
                        <a:sym typeface="Nunito"/>
                      </a:endParaRP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8</a:t>
                      </a:r>
                      <a:r>
                        <a:rPr lang="en-US" sz="1200">
                          <a:latin typeface="Nunito"/>
                          <a:ea typeface="Nunito"/>
                          <a:cs typeface="Nunito"/>
                          <a:sym typeface="Nunito"/>
                        </a:rPr>
                        <a:t>8</a:t>
                      </a:r>
                      <a:r>
                        <a:rPr lang="en-US" sz="1200" u="none" strike="noStrike" cap="none">
                          <a:latin typeface="Nunito"/>
                          <a:ea typeface="Nunito"/>
                          <a:cs typeface="Nunito"/>
                          <a:sym typeface="Nunito"/>
                        </a:rPr>
                        <a:t>.</a:t>
                      </a:r>
                      <a:r>
                        <a:rPr lang="en-US" sz="1200">
                          <a:latin typeface="Nunito"/>
                          <a:ea typeface="Nunito"/>
                          <a:cs typeface="Nunito"/>
                          <a:sym typeface="Nunito"/>
                        </a:rPr>
                        <a:t>120</a:t>
                      </a:r>
                      <a:endParaRPr sz="1200" u="none" strike="noStrike" cap="none">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0.5</a:t>
                      </a:r>
                      <a:r>
                        <a:rPr lang="en-US" sz="1200">
                          <a:latin typeface="Nunito"/>
                          <a:ea typeface="Nunito"/>
                          <a:cs typeface="Nunito"/>
                          <a:sym typeface="Nunito"/>
                        </a:rPr>
                        <a:t>46</a:t>
                      </a:r>
                      <a:endParaRPr sz="1200" u="none" strike="noStrike" cap="none">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7</a:t>
                      </a:r>
                      <a:r>
                        <a:rPr lang="en-US" sz="1200">
                          <a:latin typeface="Nunito"/>
                          <a:ea typeface="Nunito"/>
                          <a:cs typeface="Nunito"/>
                          <a:sym typeface="Nunito"/>
                        </a:rPr>
                        <a:t>2</a:t>
                      </a:r>
                      <a:r>
                        <a:rPr lang="en-US" sz="1200" u="none" strike="noStrike" cap="none">
                          <a:latin typeface="Nunito"/>
                          <a:ea typeface="Nunito"/>
                          <a:cs typeface="Nunito"/>
                          <a:sym typeface="Nunito"/>
                        </a:rPr>
                        <a:t>.</a:t>
                      </a:r>
                      <a:r>
                        <a:rPr lang="en-US" sz="1200">
                          <a:latin typeface="Nunito"/>
                          <a:ea typeface="Nunito"/>
                          <a:cs typeface="Nunito"/>
                          <a:sym typeface="Nunito"/>
                        </a:rPr>
                        <a:t>24</a:t>
                      </a:r>
                      <a:endParaRPr sz="1200" u="none" strike="noStrike" cap="none">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8</a:t>
                      </a:r>
                      <a:r>
                        <a:rPr lang="en-US" sz="1200">
                          <a:latin typeface="Nunito"/>
                          <a:ea typeface="Nunito"/>
                          <a:cs typeface="Nunito"/>
                          <a:sym typeface="Nunito"/>
                        </a:rPr>
                        <a:t>9</a:t>
                      </a:r>
                      <a:r>
                        <a:rPr lang="en-US" sz="1200" u="none" strike="noStrike" cap="none">
                          <a:latin typeface="Nunito"/>
                          <a:ea typeface="Nunito"/>
                          <a:cs typeface="Nunito"/>
                          <a:sym typeface="Nunito"/>
                        </a:rPr>
                        <a:t>.</a:t>
                      </a:r>
                      <a:r>
                        <a:rPr lang="en-US" sz="1200">
                          <a:latin typeface="Nunito"/>
                          <a:ea typeface="Nunito"/>
                          <a:cs typeface="Nunito"/>
                          <a:sym typeface="Nunito"/>
                        </a:rPr>
                        <a:t>25</a:t>
                      </a:r>
                      <a:endParaRPr sz="1200" u="none" strike="noStrike" cap="none">
                        <a:latin typeface="Nunito"/>
                        <a:ea typeface="Nunito"/>
                        <a:cs typeface="Nunito"/>
                        <a:sym typeface="Nunito"/>
                      </a:endParaRPr>
                    </a:p>
                  </a:txBody>
                  <a:tcPr marL="91425" marR="91425" marT="91425" marB="91425" anchor="ctr"/>
                </a:tc>
                <a:extLst>
                  <a:ext uri="{0D108BD9-81ED-4DB2-BD59-A6C34878D82A}">
                    <a16:rowId xmlns:a16="http://schemas.microsoft.com/office/drawing/2014/main" val="10001"/>
                  </a:ext>
                </a:extLst>
              </a:tr>
            </a:tbl>
          </a:graphicData>
        </a:graphic>
      </p:graphicFrame>
      <p:sp>
        <p:nvSpPr>
          <p:cNvPr id="2" name="Slide Number Placeholder 1">
            <a:extLst>
              <a:ext uri="{FF2B5EF4-FFF2-40B4-BE49-F238E27FC236}">
                <a16:creationId xmlns:a16="http://schemas.microsoft.com/office/drawing/2014/main" id="{17A7C042-EEF3-AE72-50B6-A3690FE1ABF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51"/>
          <p:cNvSpPr txBox="1">
            <a:spLocks noGrp="1"/>
          </p:cNvSpPr>
          <p:nvPr>
            <p:ph type="body" idx="1"/>
          </p:nvPr>
        </p:nvSpPr>
        <p:spPr>
          <a:xfrm>
            <a:off x="202550" y="861975"/>
            <a:ext cx="8629800" cy="12411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SzPts val="1400"/>
              <a:buFont typeface="Century Gothic"/>
              <a:buChar char="●"/>
            </a:pPr>
            <a:r>
              <a:rPr lang="en-US" sz="1400">
                <a:latin typeface="Century Gothic"/>
                <a:ea typeface="Century Gothic"/>
                <a:cs typeface="Century Gothic"/>
                <a:sym typeface="Century Gothic"/>
              </a:rPr>
              <a:t>Which model is best for predicting loan defaults, and which metric is most important to check? Why?</a:t>
            </a:r>
            <a:endParaRPr/>
          </a:p>
          <a:p>
            <a:pPr marL="457200" lvl="0" indent="-317500" algn="l" rtl="0">
              <a:lnSpc>
                <a:spcPct val="115000"/>
              </a:lnSpc>
              <a:spcBef>
                <a:spcPts val="1000"/>
              </a:spcBef>
              <a:spcAft>
                <a:spcPts val="0"/>
              </a:spcAft>
              <a:buSzPts val="1400"/>
              <a:buFont typeface="Century Gothic"/>
              <a:buChar char="●"/>
            </a:pPr>
            <a:r>
              <a:rPr lang="en-US" sz="1400">
                <a:latin typeface="Century Gothic"/>
                <a:ea typeface="Century Gothic"/>
                <a:cs typeface="Century Gothic"/>
                <a:sym typeface="Century Gothic"/>
              </a:rPr>
              <a:t>Which metric is most important, and why?</a:t>
            </a:r>
            <a:endParaRPr/>
          </a:p>
          <a:p>
            <a:pPr marL="457200" lvl="0" indent="-317500" algn="l" rtl="0">
              <a:lnSpc>
                <a:spcPct val="115000"/>
              </a:lnSpc>
              <a:spcBef>
                <a:spcPts val="1000"/>
              </a:spcBef>
              <a:spcAft>
                <a:spcPts val="0"/>
              </a:spcAft>
              <a:buSzPts val="1400"/>
              <a:buFont typeface="Century Gothic"/>
              <a:buChar char="●"/>
            </a:pPr>
            <a:r>
              <a:rPr lang="en-US" sz="1400">
                <a:latin typeface="Century Gothic"/>
                <a:ea typeface="Century Gothic"/>
                <a:cs typeface="Century Gothic"/>
                <a:sym typeface="Century Gothic"/>
              </a:rPr>
              <a:t>What advice would you give the business from this model?</a:t>
            </a:r>
            <a:endParaRPr sz="1400">
              <a:latin typeface="Century Gothic"/>
              <a:ea typeface="Century Gothic"/>
              <a:cs typeface="Century Gothic"/>
              <a:sym typeface="Century Gothic"/>
            </a:endParaRPr>
          </a:p>
        </p:txBody>
      </p:sp>
      <p:sp>
        <p:nvSpPr>
          <p:cNvPr id="254" name="Google Shape;254;p51"/>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lt2"/>
                </a:solidFill>
                <a:latin typeface="Century Gothic"/>
                <a:ea typeface="Century Gothic"/>
                <a:cs typeface="Century Gothic"/>
                <a:sym typeface="Century Gothic"/>
              </a:rPr>
              <a:t>Model Performance Summary</a:t>
            </a:r>
            <a:endParaRPr sz="2200" b="1" i="0" u="none" strike="noStrike" cap="none">
              <a:solidFill>
                <a:schemeClr val="lt2"/>
              </a:solidFill>
              <a:latin typeface="Century Gothic"/>
              <a:ea typeface="Century Gothic"/>
              <a:cs typeface="Century Gothic"/>
              <a:sym typeface="Century Gothic"/>
            </a:endParaRPr>
          </a:p>
        </p:txBody>
      </p:sp>
      <p:graphicFrame>
        <p:nvGraphicFramePr>
          <p:cNvPr id="255" name="Google Shape;255;p51"/>
          <p:cNvGraphicFramePr/>
          <p:nvPr/>
        </p:nvGraphicFramePr>
        <p:xfrm>
          <a:off x="1916213" y="2367750"/>
          <a:ext cx="5311575" cy="1828840"/>
        </p:xfrm>
        <a:graphic>
          <a:graphicData uri="http://schemas.openxmlformats.org/drawingml/2006/table">
            <a:tbl>
              <a:tblPr firstRow="1" bandRow="1">
                <a:noFill/>
                <a:tableStyleId>{36976CF4-DB81-4460-9A5E-51383ADFE053}</a:tableStyleId>
              </a:tblPr>
              <a:tblGrid>
                <a:gridCol w="1434025">
                  <a:extLst>
                    <a:ext uri="{9D8B030D-6E8A-4147-A177-3AD203B41FA5}">
                      <a16:colId xmlns:a16="http://schemas.microsoft.com/office/drawing/2014/main" val="20000"/>
                    </a:ext>
                  </a:extLst>
                </a:gridCol>
                <a:gridCol w="929475">
                  <a:extLst>
                    <a:ext uri="{9D8B030D-6E8A-4147-A177-3AD203B41FA5}">
                      <a16:colId xmlns:a16="http://schemas.microsoft.com/office/drawing/2014/main" val="20001"/>
                    </a:ext>
                  </a:extLst>
                </a:gridCol>
                <a:gridCol w="961150">
                  <a:extLst>
                    <a:ext uri="{9D8B030D-6E8A-4147-A177-3AD203B41FA5}">
                      <a16:colId xmlns:a16="http://schemas.microsoft.com/office/drawing/2014/main" val="20002"/>
                    </a:ext>
                  </a:extLst>
                </a:gridCol>
                <a:gridCol w="924600">
                  <a:extLst>
                    <a:ext uri="{9D8B030D-6E8A-4147-A177-3AD203B41FA5}">
                      <a16:colId xmlns:a16="http://schemas.microsoft.com/office/drawing/2014/main" val="20003"/>
                    </a:ext>
                  </a:extLst>
                </a:gridCol>
                <a:gridCol w="1062325">
                  <a:extLst>
                    <a:ext uri="{9D8B030D-6E8A-4147-A177-3AD203B41FA5}">
                      <a16:colId xmlns:a16="http://schemas.microsoft.com/office/drawing/2014/main" val="20004"/>
                    </a:ext>
                  </a:extLst>
                </a:gridCol>
              </a:tblGrid>
              <a:tr h="36565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Metric</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Accuracy</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Kappa</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Weighted Recall</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Weighted Precision</a:t>
                      </a:r>
                      <a:endParaRPr sz="1200" u="none" strike="noStrike" cap="none">
                        <a:latin typeface="Nunito"/>
                        <a:ea typeface="Nunito"/>
                        <a:cs typeface="Nunito"/>
                        <a:sym typeface="Nunito"/>
                      </a:endParaRPr>
                    </a:p>
                  </a:txBody>
                  <a:tcPr marL="91450" marR="91450" marT="45725" marB="45725" anchor="ctr">
                    <a:solidFill>
                      <a:schemeClr val="lt2"/>
                    </a:solidFill>
                  </a:tcPr>
                </a:tc>
                <a:extLst>
                  <a:ext uri="{0D108BD9-81ED-4DB2-BD59-A6C34878D82A}">
                    <a16:rowId xmlns:a16="http://schemas.microsoft.com/office/drawing/2014/main" val="10000"/>
                  </a:ext>
                </a:extLst>
              </a:tr>
              <a:tr h="417175">
                <a:tc>
                  <a:txBody>
                    <a:bodyPr/>
                    <a:lstStyle/>
                    <a:p>
                      <a:pPr marL="0" lvl="0" indent="0" algn="ctr" rtl="0">
                        <a:spcBef>
                          <a:spcPts val="0"/>
                        </a:spcBef>
                        <a:spcAft>
                          <a:spcPts val="0"/>
                        </a:spcAft>
                        <a:buClr>
                          <a:srgbClr val="000000"/>
                        </a:buClr>
                        <a:buSzPts val="1200"/>
                        <a:buFont typeface="Arial"/>
                        <a:buNone/>
                      </a:pPr>
                      <a:r>
                        <a:rPr lang="en-US" sz="1200">
                          <a:latin typeface="Nunito"/>
                          <a:ea typeface="Nunito"/>
                          <a:cs typeface="Nunito"/>
                          <a:sym typeface="Nunito"/>
                        </a:rPr>
                        <a:t>Without parameter tuning</a:t>
                      </a:r>
                      <a:endParaRPr sz="1200">
                        <a:latin typeface="Nunito"/>
                        <a:ea typeface="Nunito"/>
                        <a:cs typeface="Nunito"/>
                        <a:sym typeface="Nunito"/>
                      </a:endParaRP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84.96</a:t>
                      </a:r>
                      <a:endParaRPr sz="1200" u="none" strike="noStrike" cap="none">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0.507</a:t>
                      </a:r>
                      <a:endParaRPr sz="1200" u="none" strike="noStrike" cap="none">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74.20</a:t>
                      </a:r>
                      <a:endParaRPr sz="1200" u="none" strike="noStrike" cap="none">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76.71</a:t>
                      </a:r>
                      <a:endParaRPr sz="1200" u="none" strike="noStrike" cap="none">
                        <a:latin typeface="Nunito"/>
                        <a:ea typeface="Nunito"/>
                        <a:cs typeface="Nunito"/>
                        <a:sym typeface="Nunito"/>
                      </a:endParaRPr>
                    </a:p>
                  </a:txBody>
                  <a:tcPr marL="91425" marR="91425" marT="91425" marB="91425" anchor="ctr"/>
                </a:tc>
                <a:extLst>
                  <a:ext uri="{0D108BD9-81ED-4DB2-BD59-A6C34878D82A}">
                    <a16:rowId xmlns:a16="http://schemas.microsoft.com/office/drawing/2014/main" val="10001"/>
                  </a:ext>
                </a:extLst>
              </a:tr>
              <a:tr h="417175">
                <a:tc>
                  <a:txBody>
                    <a:bodyPr/>
                    <a:lstStyle/>
                    <a:p>
                      <a:pPr marL="0" lvl="0" indent="0" algn="ctr" rtl="0">
                        <a:spcBef>
                          <a:spcPts val="0"/>
                        </a:spcBef>
                        <a:spcAft>
                          <a:spcPts val="0"/>
                        </a:spcAft>
                        <a:buClr>
                          <a:srgbClr val="000000"/>
                        </a:buClr>
                        <a:buSzPts val="1200"/>
                        <a:buFont typeface="Arial"/>
                        <a:buNone/>
                      </a:pPr>
                      <a:r>
                        <a:rPr lang="en-US" sz="1200">
                          <a:latin typeface="Nunito"/>
                          <a:ea typeface="Nunito"/>
                          <a:cs typeface="Nunito"/>
                          <a:sym typeface="Nunito"/>
                        </a:rPr>
                        <a:t>With parameter tuning</a:t>
                      </a:r>
                      <a:endParaRPr sz="1200">
                        <a:latin typeface="Nunito"/>
                        <a:ea typeface="Nunito"/>
                        <a:cs typeface="Nunito"/>
                        <a:sym typeface="Nunito"/>
                      </a:endParaRPr>
                    </a:p>
                  </a:txBody>
                  <a:tcPr marL="91450" marR="91450" marT="45725" marB="45725" anchor="ctr">
                    <a:lnB w="127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87.92</a:t>
                      </a:r>
                      <a:endParaRPr sz="1200" u="none" strike="noStrike" cap="none">
                        <a:latin typeface="Nunito"/>
                        <a:ea typeface="Nunito"/>
                        <a:cs typeface="Nunito"/>
                        <a:sym typeface="Nunito"/>
                      </a:endParaRPr>
                    </a:p>
                  </a:txBody>
                  <a:tcPr marL="91425" marR="91425" marT="91425" marB="91425" anchor="ctr">
                    <a:lnB w="127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0.583</a:t>
                      </a:r>
                      <a:endParaRPr sz="1200" u="none" strike="noStrike" cap="none">
                        <a:latin typeface="Nunito"/>
                        <a:ea typeface="Nunito"/>
                        <a:cs typeface="Nunito"/>
                        <a:sym typeface="Nunito"/>
                      </a:endParaRPr>
                    </a:p>
                  </a:txBody>
                  <a:tcPr marL="91425" marR="91425" marT="91425" marB="91425" anchor="ctr">
                    <a:lnB w="127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76.37</a:t>
                      </a:r>
                      <a:endParaRPr sz="1200" u="none" strike="noStrike" cap="none">
                        <a:latin typeface="Nunito"/>
                        <a:ea typeface="Nunito"/>
                        <a:cs typeface="Nunito"/>
                        <a:sym typeface="Nunito"/>
                      </a:endParaRPr>
                    </a:p>
                  </a:txBody>
                  <a:tcPr marL="91425" marR="91425" marT="91425" marB="91425" anchor="ctr">
                    <a:lnB w="127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83.17</a:t>
                      </a:r>
                      <a:endParaRPr sz="1200" u="none" strike="noStrike" cap="none">
                        <a:latin typeface="Nunito"/>
                        <a:ea typeface="Nunito"/>
                        <a:cs typeface="Nunito"/>
                        <a:sym typeface="Nunito"/>
                      </a:endParaRPr>
                    </a:p>
                  </a:txBody>
                  <a:tcPr marL="91425" marR="91425" marT="91425" marB="91425" anchor="ctr">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41717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Nunito"/>
                          <a:ea typeface="Nunito"/>
                          <a:cs typeface="Nunito"/>
                          <a:sym typeface="Nunito"/>
                        </a:rPr>
                        <a:t>Grid Search Optimized Model</a:t>
                      </a:r>
                      <a:endParaRPr sz="1200" u="none" strike="noStrike" cap="none">
                        <a:latin typeface="Nunito"/>
                        <a:ea typeface="Nunito"/>
                        <a:cs typeface="Nunito"/>
                        <a:sym typeface="Nunito"/>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8</a:t>
                      </a:r>
                      <a:r>
                        <a:rPr lang="en-US" sz="1200">
                          <a:latin typeface="Nunito"/>
                          <a:ea typeface="Nunito"/>
                          <a:cs typeface="Nunito"/>
                          <a:sym typeface="Nunito"/>
                        </a:rPr>
                        <a:t>8</a:t>
                      </a:r>
                      <a:r>
                        <a:rPr lang="en-US" sz="1200" u="none" strike="noStrike" cap="none">
                          <a:latin typeface="Nunito"/>
                          <a:ea typeface="Nunito"/>
                          <a:cs typeface="Nunito"/>
                          <a:sym typeface="Nunito"/>
                        </a:rPr>
                        <a:t>.</a:t>
                      </a:r>
                      <a:r>
                        <a:rPr lang="en-US" sz="1200">
                          <a:latin typeface="Nunito"/>
                          <a:ea typeface="Nunito"/>
                          <a:cs typeface="Nunito"/>
                          <a:sym typeface="Nunito"/>
                        </a:rPr>
                        <a:t>120</a:t>
                      </a:r>
                      <a:endParaRPr sz="1200" u="none" strike="noStrike" cap="none">
                        <a:latin typeface="Nunito"/>
                        <a:ea typeface="Nunito"/>
                        <a:cs typeface="Nunito"/>
                        <a:sym typeface="Nunito"/>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0.5</a:t>
                      </a:r>
                      <a:r>
                        <a:rPr lang="en-US" sz="1200">
                          <a:latin typeface="Nunito"/>
                          <a:ea typeface="Nunito"/>
                          <a:cs typeface="Nunito"/>
                          <a:sym typeface="Nunito"/>
                        </a:rPr>
                        <a:t>46</a:t>
                      </a:r>
                      <a:endParaRPr sz="1200" u="none" strike="noStrike" cap="none">
                        <a:latin typeface="Nunito"/>
                        <a:ea typeface="Nunito"/>
                        <a:cs typeface="Nunito"/>
                        <a:sym typeface="Nunito"/>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7</a:t>
                      </a:r>
                      <a:r>
                        <a:rPr lang="en-US" sz="1200">
                          <a:latin typeface="Nunito"/>
                          <a:ea typeface="Nunito"/>
                          <a:cs typeface="Nunito"/>
                          <a:sym typeface="Nunito"/>
                        </a:rPr>
                        <a:t>2</a:t>
                      </a:r>
                      <a:r>
                        <a:rPr lang="en-US" sz="1200" u="none" strike="noStrike" cap="none">
                          <a:latin typeface="Nunito"/>
                          <a:ea typeface="Nunito"/>
                          <a:cs typeface="Nunito"/>
                          <a:sym typeface="Nunito"/>
                        </a:rPr>
                        <a:t>.</a:t>
                      </a:r>
                      <a:r>
                        <a:rPr lang="en-US" sz="1200">
                          <a:latin typeface="Nunito"/>
                          <a:ea typeface="Nunito"/>
                          <a:cs typeface="Nunito"/>
                          <a:sym typeface="Nunito"/>
                        </a:rPr>
                        <a:t>24</a:t>
                      </a:r>
                      <a:endParaRPr sz="1200" u="none" strike="noStrike" cap="none">
                        <a:latin typeface="Nunito"/>
                        <a:ea typeface="Nunito"/>
                        <a:cs typeface="Nunito"/>
                        <a:sym typeface="Nunito"/>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a:latin typeface="Nunito"/>
                          <a:ea typeface="Nunito"/>
                          <a:cs typeface="Nunito"/>
                          <a:sym typeface="Nunito"/>
                        </a:rPr>
                        <a:t>8</a:t>
                      </a:r>
                      <a:r>
                        <a:rPr lang="en-US" sz="1200">
                          <a:latin typeface="Nunito"/>
                          <a:ea typeface="Nunito"/>
                          <a:cs typeface="Nunito"/>
                          <a:sym typeface="Nunito"/>
                        </a:rPr>
                        <a:t>9</a:t>
                      </a:r>
                      <a:r>
                        <a:rPr lang="en-US" sz="1200" u="none" strike="noStrike" cap="none">
                          <a:latin typeface="Nunito"/>
                          <a:ea typeface="Nunito"/>
                          <a:cs typeface="Nunito"/>
                          <a:sym typeface="Nunito"/>
                        </a:rPr>
                        <a:t>.</a:t>
                      </a:r>
                      <a:r>
                        <a:rPr lang="en-US" sz="1200">
                          <a:latin typeface="Nunito"/>
                          <a:ea typeface="Nunito"/>
                          <a:cs typeface="Nunito"/>
                          <a:sym typeface="Nunito"/>
                        </a:rPr>
                        <a:t>25</a:t>
                      </a:r>
                      <a:endParaRPr sz="1200" u="none" strike="noStrike" cap="none">
                        <a:latin typeface="Nunito"/>
                        <a:ea typeface="Nunito"/>
                        <a:cs typeface="Nunito"/>
                        <a:sym typeface="Nunito"/>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 name="Slide Number Placeholder 1">
            <a:extLst>
              <a:ext uri="{FF2B5EF4-FFF2-40B4-BE49-F238E27FC236}">
                <a16:creationId xmlns:a16="http://schemas.microsoft.com/office/drawing/2014/main" id="{12509EB3-413F-679D-B362-F2544166F3C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5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Conclusions and Recommendations</a:t>
            </a:r>
            <a:endParaRPr>
              <a:solidFill>
                <a:schemeClr val="lt2"/>
              </a:solidFill>
              <a:latin typeface="Century Gothic"/>
              <a:ea typeface="Century Gothic"/>
              <a:cs typeface="Century Gothic"/>
              <a:sym typeface="Century Gothic"/>
            </a:endParaRPr>
          </a:p>
        </p:txBody>
      </p:sp>
      <p:sp>
        <p:nvSpPr>
          <p:cNvPr id="261" name="Google Shape;261;p52"/>
          <p:cNvSpPr txBox="1">
            <a:spLocks noGrp="1"/>
          </p:cNvSpPr>
          <p:nvPr>
            <p:ph type="body" idx="1"/>
          </p:nvPr>
        </p:nvSpPr>
        <p:spPr>
          <a:xfrm>
            <a:off x="202550" y="861975"/>
            <a:ext cx="8629800" cy="560636"/>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mention actionable insights &amp; recommendations</a:t>
            </a:r>
            <a:endParaRPr sz="1400">
              <a:solidFill>
                <a:schemeClr val="dk1"/>
              </a:solidFill>
              <a:latin typeface="Century Gothic"/>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8D7BEC19-31A9-812F-8E02-ADF79AA6D19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53"/>
          <p:cNvSpPr txBox="1">
            <a:spLocks noGrp="1"/>
          </p:cNvSpPr>
          <p:nvPr>
            <p:ph type="ctrTitle"/>
          </p:nvPr>
        </p:nvSpPr>
        <p:spPr>
          <a:xfrm>
            <a:off x="0" y="2820425"/>
            <a:ext cx="9144000" cy="581700"/>
          </a:xfrm>
          <a:prstGeom prst="rect">
            <a:avLst/>
          </a:prstGeom>
          <a:solidFill>
            <a:schemeClr val="lt2"/>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US" sz="3300">
                <a:solidFill>
                  <a:schemeClr val="lt1"/>
                </a:solidFill>
                <a:latin typeface="Century Gothic"/>
                <a:ea typeface="Century Gothic"/>
                <a:cs typeface="Century Gothic"/>
                <a:sym typeface="Century Gothic"/>
              </a:rPr>
              <a:t>APPENDIX</a:t>
            </a:r>
            <a:endParaRPr sz="3300">
              <a:solidFill>
                <a:schemeClr val="lt1"/>
              </a:solidFill>
              <a:latin typeface="Century Gothic"/>
              <a:ea typeface="Century Gothic"/>
              <a:cs typeface="Century Gothic"/>
              <a:sym typeface="Century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5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Slide Header</a:t>
            </a:r>
            <a:endParaRPr>
              <a:solidFill>
                <a:schemeClr val="lt2"/>
              </a:solidFill>
              <a:latin typeface="Century Gothic"/>
              <a:ea typeface="Century Gothic"/>
              <a:cs typeface="Century Gothic"/>
              <a:sym typeface="Century Gothic"/>
            </a:endParaRPr>
          </a:p>
        </p:txBody>
      </p:sp>
      <p:sp>
        <p:nvSpPr>
          <p:cNvPr id="272" name="Google Shape;272;p54"/>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add any other pointers (if needed)</a:t>
            </a:r>
            <a:endParaRPr sz="1400">
              <a:solidFill>
                <a:schemeClr val="dk1"/>
              </a:solidFill>
              <a:latin typeface="Century Gothic"/>
              <a:ea typeface="Century Gothic"/>
              <a:cs typeface="Century Gothic"/>
              <a:sym typeface="Century Gothic"/>
            </a:endParaRPr>
          </a:p>
        </p:txBody>
      </p:sp>
      <p:sp>
        <p:nvSpPr>
          <p:cNvPr id="2" name="Slide Number Placeholder 1">
            <a:extLst>
              <a:ext uri="{FF2B5EF4-FFF2-40B4-BE49-F238E27FC236}">
                <a16:creationId xmlns:a16="http://schemas.microsoft.com/office/drawing/2014/main" id="{D3DC1E3D-B5A6-1A3C-BFB8-F586E099D8F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5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280" name="Google Shape;280;p55"/>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US"/>
              <a:t>37</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357</TotalTime>
  <Words>1925</Words>
  <Application>Microsoft Office PowerPoint</Application>
  <PresentationFormat>On-screen Show (16:9)</PresentationFormat>
  <Paragraphs>267</Paragraphs>
  <Slides>37</Slides>
  <Notes>34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37</vt:i4>
      </vt:variant>
    </vt:vector>
  </HeadingPairs>
  <TitlesOfParts>
    <vt:vector size="46" baseType="lpstr">
      <vt:lpstr>Calibri</vt:lpstr>
      <vt:lpstr>Arial</vt:lpstr>
      <vt:lpstr>Nunito</vt:lpstr>
      <vt:lpstr>Century Gothic</vt:lpstr>
      <vt:lpstr>Nunito ExtraBold</vt:lpstr>
      <vt:lpstr>Nunito SemiBold</vt:lpstr>
      <vt:lpstr>Just Logo</vt:lpstr>
      <vt:lpstr>Just Logo</vt:lpstr>
      <vt:lpstr>Just Logo</vt:lpstr>
      <vt:lpstr>Home Loan Defaults Prediction Methods - Neural Networks</vt:lpstr>
      <vt:lpstr>Contents / Agenda</vt:lpstr>
      <vt:lpstr>Data Dictionary</vt:lpstr>
      <vt:lpstr>Data Dictionary</vt:lpstr>
      <vt:lpstr>Business Problem Overview</vt:lpstr>
      <vt:lpstr>Business Problem Overview</vt:lpstr>
      <vt:lpstr>Business Problem Overview</vt:lpstr>
      <vt:lpstr>Project Goals and Objectives</vt:lpstr>
      <vt:lpstr>Solution Approach </vt:lpstr>
      <vt:lpstr>Solution Approach </vt:lpstr>
      <vt:lpstr>Expected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Scenario 1: Basic Neural Network </vt:lpstr>
      <vt:lpstr>Scenario 2: Neural Network With Parameter Tuning</vt:lpstr>
      <vt:lpstr>Scenario 3: Neural Network Using Grid Search </vt:lpstr>
      <vt:lpstr>PowerPoint Presentation</vt:lpstr>
      <vt:lpstr>Conclusions and Recommendations</vt:lpstr>
      <vt:lpstr>APPENDIX</vt:lpstr>
      <vt:lpstr>Slide Header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John Buczkowski</dc:creator>
  <cp:lastModifiedBy>John Buczkowski</cp:lastModifiedBy>
  <cp:revision>100</cp:revision>
  <dcterms:modified xsi:type="dcterms:W3CDTF">2025-12-13T08:02:01Z</dcterms:modified>
</cp:coreProperties>
</file>