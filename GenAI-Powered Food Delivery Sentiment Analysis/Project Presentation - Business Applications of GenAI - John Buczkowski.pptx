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 id="2147483681" r:id="rId3"/>
  </p:sldMasterIdLst>
  <p:notesMasterIdLst>
    <p:notesMasterId r:id="rId34"/>
  </p:notesMasterIdLst>
  <p:sldIdLst>
    <p:sldId id="256" r:id="rId4"/>
    <p:sldId id="257" r:id="rId5"/>
    <p:sldId id="258" r:id="rId6"/>
    <p:sldId id="299" r:id="rId7"/>
    <p:sldId id="300" r:id="rId8"/>
    <p:sldId id="286" r:id="rId9"/>
    <p:sldId id="301" r:id="rId10"/>
    <p:sldId id="287" r:id="rId11"/>
    <p:sldId id="303" r:id="rId12"/>
    <p:sldId id="304" r:id="rId13"/>
    <p:sldId id="267" r:id="rId14"/>
    <p:sldId id="305" r:id="rId15"/>
    <p:sldId id="302" r:id="rId16"/>
    <p:sldId id="260" r:id="rId17"/>
    <p:sldId id="293" r:id="rId18"/>
    <p:sldId id="290" r:id="rId19"/>
    <p:sldId id="294" r:id="rId20"/>
    <p:sldId id="291" r:id="rId21"/>
    <p:sldId id="295" r:id="rId22"/>
    <p:sldId id="292" r:id="rId23"/>
    <p:sldId id="296" r:id="rId24"/>
    <p:sldId id="261" r:id="rId25"/>
    <p:sldId id="297" r:id="rId26"/>
    <p:sldId id="298" r:id="rId27"/>
    <p:sldId id="289" r:id="rId28"/>
    <p:sldId id="262" r:id="rId29"/>
    <p:sldId id="263" r:id="rId30"/>
    <p:sldId id="264" r:id="rId31"/>
    <p:sldId id="265" r:id="rId32"/>
    <p:sldId id="266" r:id="rId33"/>
  </p:sldIdLst>
  <p:sldSz cx="9144000" cy="5143500" type="screen16x9"/>
  <p:notesSz cx="6858000" cy="9144000"/>
  <p:embeddedFontLst>
    <p:embeddedFont>
      <p:font typeface="Century Gothic" panose="020B0502020202020204" pitchFamily="34" charset="0"/>
      <p:regular r:id="rId35"/>
      <p:bold r:id="rId36"/>
      <p:italic r:id="rId37"/>
      <p:boldItalic r:id="rId38"/>
    </p:embeddedFont>
    <p:embeddedFont>
      <p:font typeface="Nunito" pitchFamily="2" charset="0"/>
      <p:regular r:id="rId39"/>
      <p:bold r:id="rId40"/>
      <p:italic r:id="rId41"/>
      <p:boldItalic r:id="rId42"/>
    </p:embeddedFont>
    <p:embeddedFont>
      <p:font typeface="Nunito ExtraBold" pitchFamily="2" charset="0"/>
      <p:bold r:id="rId43"/>
      <p:boldItalic r:id="rId44"/>
    </p:embeddedFont>
    <p:embeddedFont>
      <p:font typeface="Nunito SemiBold" pitchFamily="2" charset="0"/>
      <p:regular r:id="rId45"/>
      <p:bold r:id="rId46"/>
      <p:italic r:id="rId47"/>
      <p:boldItalic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1B319B6-1B31-4366-9C82-306C2A513EA6}">
  <a:tblStyle styleId="{01B319B6-1B31-4366-9C82-306C2A513EA6}"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804" y="10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font" Target="fonts/font5.fntdata"/><Relationship Id="rId21" Type="http://schemas.openxmlformats.org/officeDocument/2006/relationships/slide" Target="slides/slide18.xml"/><Relationship Id="rId34" Type="http://schemas.openxmlformats.org/officeDocument/2006/relationships/notesMaster" Target="notesMasters/notesMaster1.xml"/><Relationship Id="rId42" Type="http://schemas.openxmlformats.org/officeDocument/2006/relationships/font" Target="fonts/font8.fntdata"/><Relationship Id="rId47" Type="http://schemas.openxmlformats.org/officeDocument/2006/relationships/font" Target="fonts/font13.fntdata"/><Relationship Id="rId50"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font" Target="fonts/font2.fntdata"/><Relationship Id="rId49" Type="http://schemas.openxmlformats.org/officeDocument/2006/relationships/presProps" Target="pres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font" Target="fonts/font10.fntdata"/><Relationship Id="rId52"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font" Target="fonts/font14.fntdata"/><Relationship Id="rId8" Type="http://schemas.openxmlformats.org/officeDocument/2006/relationships/slide" Target="slides/slide5.xml"/><Relationship Id="rId51"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font" Target="fonts/font4.fntdata"/><Relationship Id="rId46" Type="http://schemas.openxmlformats.org/officeDocument/2006/relationships/font" Target="fonts/font12.fntdata"/><Relationship Id="rId20" Type="http://schemas.openxmlformats.org/officeDocument/2006/relationships/slide" Target="slides/slide17.xml"/><Relationship Id="rId41"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cd30dbf4aa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8" name="Google Shape;148;g2cd30dbf4aa_0_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cd30dbf4aa_0_2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2cd30dbf4aa_0_2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2cd30dbf4aa_0_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391F1B0F-C79A-D441-F238-734BDE62F56C}"/>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182F6093-C7FC-B49C-25E5-C299C6F1BB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12FEE23A-6879-A275-78A5-153CCDEED1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673333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4E3702E5-802A-E303-0633-BA5961F795E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09149CE2-6FB5-A7C9-2885-6F4ED7D0BF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86AD6920-41CA-B0D1-AA33-ED839FCEE0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654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9EEDC441-E887-6078-F500-23C752F2F2F0}"/>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7249EADF-1C41-AC1D-36B5-DF94AC96EF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7E4DAE81-FD50-B50F-9074-6973CD8D96B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4881983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23E6E1BE-294C-EB53-FBBD-A03A26598780}"/>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DB487623-5569-DE3E-5F80-A25259DA13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49966BE5-8A02-4288-F542-BA962C455BF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26266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7726BCA9-B956-D9AC-4210-D263F26C66D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A4236E8E-BAEF-6FA4-0BC6-E49782CD78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F0493C87-025F-0197-CF68-4FBED7B726B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349272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cd30dbf4aa_0_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35BD528E-CF3E-A594-77CA-0CCA52D0946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71ED37C7-28F3-DF3E-DE5D-B6F860BF94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8FAFB0F-BCFC-9124-9848-487B1D27995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0089061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A339D07-5667-489B-3DEF-A947E01EE421}"/>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76D8CD84-A2C7-1E5C-AD97-5B1F2B6A19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BB12DBA-E390-9FBA-E079-4181EE389BC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869732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F6ED8C84-08DC-550F-E5E0-87B2DB2C670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091C032-081C-7C17-42B7-6F9C4627981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31670564-23E2-CC60-B96E-3C18542C9EF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4667913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9A3AAF2-8064-A56D-30F2-7B0D42887A0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17FC5D-3044-5F99-0618-C751FABC9E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3C006A3-4928-DAEE-6EA3-8948BF23B2A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240445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35F41C2-9450-E84D-7EB2-DEFD531056A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B2943B6-B694-A23D-F250-29662202D3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70A5515-4277-EC77-EC28-C4C1C4DF985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136181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B412795-2710-DB65-493A-1B6BBA5BA33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1B4A3CF3-6F8A-DFFB-4AE1-2F12FE30F1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1CD3BDB0-54C3-6C9E-1096-F868539A00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80309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D009F5F1-6DE5-6868-4EC5-107181193A4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CEA99C4-0F8D-B51A-1E1E-9095BD71B7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2685A39-797A-86AE-6338-BB3F475319C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769068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cd30dbf4aa_0_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058712AA-88CC-004A-4227-82B8059D66F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993A8EE9-A4F1-FBBE-1388-931CF98495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FD70C20E-3785-1672-D342-FF33AFC133F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761305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9257497F-A233-DDDD-06F5-7FEA4946FDEF}"/>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E03CFE37-F3E6-3594-70DF-170B659150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EDB84BDC-E3E0-AF58-BBBD-5EB302ED25C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0753043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235A7D3A-D1F5-C628-FD67-5451F58ABEC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58E23625-B3DB-65F6-0F3E-605087E72D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C7D631C7-B29A-8D6F-FE99-376500D35E7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239262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cd30dbf4aa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2cd30dbf4aa_0_2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cd30dbf4aa_0_2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g2cd30dbf4aa_0_2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cd30dbf4aa_0_2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2cd30dbf4aa_0_2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g2cd30dbf4aa_0_2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cd30dbf4aa_0_30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0" name="Google Shape;210;g2cd30dbf4aa_0_3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g2cd30dbf4aa_0_30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 sz="1200" b="0" i="0" u="none" strike="noStrike" cap="none">
                <a:solidFill>
                  <a:schemeClr val="dk1"/>
                </a:solidFill>
                <a:latin typeface="Calibri"/>
                <a:ea typeface="Calibri"/>
                <a:cs typeface="Calibri"/>
                <a:sym typeface="Calibri"/>
              </a:rPr>
              <a:t>30</a:t>
            </a:fld>
            <a:endParaRPr sz="1200" b="0" i="0" u="none" strike="noStrike" cap="none">
              <a:solidFill>
                <a:schemeClr val="dk1"/>
              </a:solidFill>
              <a:latin typeface="Calibri"/>
              <a:ea typeface="Calibri"/>
              <a:cs typeface="Calibri"/>
              <a:sym typeface="Calibri"/>
            </a:endParaRPr>
          </a:p>
        </p:txBody>
      </p:sp>
      <p:sp>
        <p:nvSpPr>
          <p:cNvPr id="212" name="Google Shape;212;g2cd30dbf4aa_0_303: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9"/>
        <p:cNvGrpSpPr/>
        <p:nvPr/>
      </p:nvGrpSpPr>
      <p:grpSpPr>
        <a:xfrm>
          <a:off x="0" y="0"/>
          <a:ext cx="0" cy="0"/>
          <a:chOff x="0" y="0"/>
          <a:chExt cx="0" cy="0"/>
        </a:xfrm>
      </p:grpSpPr>
      <p:sp>
        <p:nvSpPr>
          <p:cNvPr id="60" name="Google Shape;60;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1" name="Google Shape;61;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64" name="Google Shape;64;p1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6"/>
        <p:cNvGrpSpPr/>
        <p:nvPr/>
      </p:nvGrpSpPr>
      <p:grpSpPr>
        <a:xfrm>
          <a:off x="0" y="0"/>
          <a:ext cx="0" cy="0"/>
          <a:chOff x="0" y="0"/>
          <a:chExt cx="0" cy="0"/>
        </a:xfrm>
      </p:grpSpPr>
      <p:sp>
        <p:nvSpPr>
          <p:cNvPr id="67" name="Google Shape;67;p1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68" name="Google Shape;68;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71" name="Google Shape;71;p17"/>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2" name="Google Shape;72;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75" name="Google Shape;75;p18"/>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6" name="Google Shape;76;p18"/>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7" name="Google Shape;77;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8"/>
        <p:cNvGrpSpPr/>
        <p:nvPr/>
      </p:nvGrpSpPr>
      <p:grpSpPr>
        <a:xfrm>
          <a:off x="0" y="0"/>
          <a:ext cx="0" cy="0"/>
          <a:chOff x="0" y="0"/>
          <a:chExt cx="0" cy="0"/>
        </a:xfrm>
      </p:grpSpPr>
      <p:sp>
        <p:nvSpPr>
          <p:cNvPr id="79" name="Google Shape;79;p1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80" name="Google Shape;80;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1"/>
        <p:cNvGrpSpPr/>
        <p:nvPr/>
      </p:nvGrpSpPr>
      <p:grpSpPr>
        <a:xfrm>
          <a:off x="0" y="0"/>
          <a:ext cx="0" cy="0"/>
          <a:chOff x="0" y="0"/>
          <a:chExt cx="0" cy="0"/>
        </a:xfrm>
      </p:grpSpPr>
      <p:sp>
        <p:nvSpPr>
          <p:cNvPr id="82" name="Google Shape;82;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83" name="Google Shape;83;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4"/>
        <p:cNvGrpSpPr/>
        <p:nvPr/>
      </p:nvGrpSpPr>
      <p:grpSpPr>
        <a:xfrm>
          <a:off x="0" y="0"/>
          <a:ext cx="0" cy="0"/>
          <a:chOff x="0" y="0"/>
          <a:chExt cx="0" cy="0"/>
        </a:xfrm>
      </p:grpSpPr>
      <p:sp>
        <p:nvSpPr>
          <p:cNvPr id="85" name="Google Shape;85;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87" name="Google Shape;87;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8" name="Google Shape;88;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89" name="Google Shape;89;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0"/>
        <p:cNvGrpSpPr/>
        <p:nvPr/>
      </p:nvGrpSpPr>
      <p:grpSpPr>
        <a:xfrm>
          <a:off x="0" y="0"/>
          <a:ext cx="0" cy="0"/>
          <a:chOff x="0" y="0"/>
          <a:chExt cx="0" cy="0"/>
        </a:xfrm>
      </p:grpSpPr>
      <p:sp>
        <p:nvSpPr>
          <p:cNvPr id="91" name="Google Shape;91;p2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2"/>
        <p:cNvGrpSpPr/>
        <p:nvPr/>
      </p:nvGrpSpPr>
      <p:grpSpPr>
        <a:xfrm>
          <a:off x="0" y="0"/>
          <a:ext cx="0" cy="0"/>
          <a:chOff x="0" y="0"/>
          <a:chExt cx="0" cy="0"/>
        </a:xfrm>
      </p:grpSpPr>
      <p:sp>
        <p:nvSpPr>
          <p:cNvPr id="93" name="Google Shape;93;p23"/>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4" name="Google Shape;94;p23"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95" name="Google Shape;95;p23"/>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6" name="Google Shape;96;p23"/>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97" name="Google Shape;97;p23"/>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07"/>
        <p:cNvGrpSpPr/>
        <p:nvPr/>
      </p:nvGrpSpPr>
      <p:grpSpPr>
        <a:xfrm>
          <a:off x="0" y="0"/>
          <a:ext cx="0" cy="0"/>
          <a:chOff x="0" y="0"/>
          <a:chExt cx="0" cy="0"/>
        </a:xfrm>
      </p:grpSpPr>
      <p:sp>
        <p:nvSpPr>
          <p:cNvPr id="108" name="Google Shape;108;p25"/>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09" name="Google Shape;109;p25"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110" name="Google Shape;110;p2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1" name="Google Shape;111;p25"/>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2" name="Google Shape;112;p25"/>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3"/>
        <p:cNvGrpSpPr/>
        <p:nvPr/>
      </p:nvGrpSpPr>
      <p:grpSpPr>
        <a:xfrm>
          <a:off x="0" y="0"/>
          <a:ext cx="0" cy="0"/>
          <a:chOff x="0" y="0"/>
          <a:chExt cx="0" cy="0"/>
        </a:xfrm>
      </p:grpSpPr>
      <p:sp>
        <p:nvSpPr>
          <p:cNvPr id="114" name="Google Shape;114;p26"/>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5" name="Google Shape;115;p26"/>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6"/>
        <p:cNvGrpSpPr/>
        <p:nvPr/>
      </p:nvGrpSpPr>
      <p:grpSpPr>
        <a:xfrm>
          <a:off x="0" y="0"/>
          <a:ext cx="0" cy="0"/>
          <a:chOff x="0" y="0"/>
          <a:chExt cx="0" cy="0"/>
        </a:xfrm>
      </p:grpSpPr>
      <p:sp>
        <p:nvSpPr>
          <p:cNvPr id="117" name="Google Shape;117;p2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18" name="Google Shape;118;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9"/>
        <p:cNvGrpSpPr/>
        <p:nvPr/>
      </p:nvGrpSpPr>
      <p:grpSpPr>
        <a:xfrm>
          <a:off x="0" y="0"/>
          <a:ext cx="0" cy="0"/>
          <a:chOff x="0" y="0"/>
          <a:chExt cx="0" cy="0"/>
        </a:xfrm>
      </p:grpSpPr>
      <p:sp>
        <p:nvSpPr>
          <p:cNvPr id="120" name="Google Shape;120;p2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1" name="Google Shape;121;p28"/>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2" name="Google Shape;122;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3"/>
        <p:cNvGrpSpPr/>
        <p:nvPr/>
      </p:nvGrpSpPr>
      <p:grpSpPr>
        <a:xfrm>
          <a:off x="0" y="0"/>
          <a:ext cx="0" cy="0"/>
          <a:chOff x="0" y="0"/>
          <a:chExt cx="0" cy="0"/>
        </a:xfrm>
      </p:grpSpPr>
      <p:sp>
        <p:nvSpPr>
          <p:cNvPr id="124" name="Google Shape;124;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125" name="Google Shape;125;p29"/>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6" name="Google Shape;126;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9" name="Google Shape;129;p30"/>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0" name="Google Shape;130;p30"/>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1" name="Google Shape;131;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2"/>
        <p:cNvGrpSpPr/>
        <p:nvPr/>
      </p:nvGrpSpPr>
      <p:grpSpPr>
        <a:xfrm>
          <a:off x="0" y="0"/>
          <a:ext cx="0" cy="0"/>
          <a:chOff x="0" y="0"/>
          <a:chExt cx="0" cy="0"/>
        </a:xfrm>
      </p:grpSpPr>
      <p:sp>
        <p:nvSpPr>
          <p:cNvPr id="133" name="Google Shape;133;p3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34" name="Google Shape;134;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5"/>
        <p:cNvGrpSpPr/>
        <p:nvPr/>
      </p:nvGrpSpPr>
      <p:grpSpPr>
        <a:xfrm>
          <a:off x="0" y="0"/>
          <a:ext cx="0" cy="0"/>
          <a:chOff x="0" y="0"/>
          <a:chExt cx="0" cy="0"/>
        </a:xfrm>
      </p:grpSpPr>
      <p:sp>
        <p:nvSpPr>
          <p:cNvPr id="136" name="Google Shape;136;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137" name="Google Shape;137;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8"/>
        <p:cNvGrpSpPr/>
        <p:nvPr/>
      </p:nvGrpSpPr>
      <p:grpSpPr>
        <a:xfrm>
          <a:off x="0" y="0"/>
          <a:ext cx="0" cy="0"/>
          <a:chOff x="0" y="0"/>
          <a:chExt cx="0" cy="0"/>
        </a:xfrm>
      </p:grpSpPr>
      <p:sp>
        <p:nvSpPr>
          <p:cNvPr id="139" name="Google Shape;139;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141" name="Google Shape;141;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42" name="Google Shape;142;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143" name="Google Shape;143;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4"/>
        <p:cNvGrpSpPr/>
        <p:nvPr/>
      </p:nvGrpSpPr>
      <p:grpSpPr>
        <a:xfrm>
          <a:off x="0" y="0"/>
          <a:ext cx="0" cy="0"/>
          <a:chOff x="0" y="0"/>
          <a:chExt cx="0" cy="0"/>
        </a:xfrm>
      </p:grpSpPr>
      <p:sp>
        <p:nvSpPr>
          <p:cNvPr id="145" name="Google Shape;145;p3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image" Target="../media/image1.pn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theme" Target="../theme/theme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image" Target="../media/image1.png"/><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theme" Target="../theme/theme3.xml"/><Relationship Id="rId5" Type="http://schemas.openxmlformats.org/officeDocument/2006/relationships/slideLayout" Target="../slideLayouts/slideLayout26.xml"/><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2" name="Google Shape;52;p1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3" name="Google Shape;53;p1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4" name="Google Shape;54;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55" name="Google Shape;55;p13"/>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6" name="Google Shape;56;p13"/>
          <p:cNvGrpSpPr/>
          <p:nvPr/>
        </p:nvGrpSpPr>
        <p:grpSpPr>
          <a:xfrm>
            <a:off x="6593" y="10"/>
            <a:ext cx="175500" cy="709221"/>
            <a:chOff x="6593" y="10"/>
            <a:chExt cx="175500" cy="709221"/>
          </a:xfrm>
        </p:grpSpPr>
        <p:sp>
          <p:nvSpPr>
            <p:cNvPr id="57" name="Google Shape;57;p1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8"/>
        <p:cNvGrpSpPr/>
        <p:nvPr/>
      </p:nvGrpSpPr>
      <p:grpSpPr>
        <a:xfrm>
          <a:off x="0" y="0"/>
          <a:ext cx="0" cy="0"/>
          <a:chOff x="0" y="0"/>
          <a:chExt cx="0" cy="0"/>
        </a:xfrm>
      </p:grpSpPr>
      <p:sp>
        <p:nvSpPr>
          <p:cNvPr id="99" name="Google Shape;99;p24"/>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0" name="Google Shape;100;p24"/>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1" name="Google Shape;101;p24"/>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2" name="Google Shape;102;p2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03" name="Google Shape;103;p24"/>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104" name="Google Shape;104;p24"/>
          <p:cNvGrpSpPr/>
          <p:nvPr/>
        </p:nvGrpSpPr>
        <p:grpSpPr>
          <a:xfrm>
            <a:off x="6593" y="10"/>
            <a:ext cx="175500" cy="709221"/>
            <a:chOff x="6593" y="10"/>
            <a:chExt cx="175500" cy="709221"/>
          </a:xfrm>
        </p:grpSpPr>
        <p:sp>
          <p:nvSpPr>
            <p:cNvPr id="105" name="Google Shape;105;p24"/>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24"/>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2" name="Google Shape;152;p35"/>
          <p:cNvSpPr txBox="1">
            <a:spLocks noGrp="1"/>
          </p:cNvSpPr>
          <p:nvPr>
            <p:ph type="ctrTitle"/>
          </p:nvPr>
        </p:nvSpPr>
        <p:spPr>
          <a:xfrm>
            <a:off x="1153000" y="2429300"/>
            <a:ext cx="6827700" cy="66123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1600" b="0" dirty="0">
                <a:solidFill>
                  <a:schemeClr val="lt2"/>
                </a:solidFill>
                <a:latin typeface="Century Gothic"/>
                <a:ea typeface="Century Gothic"/>
                <a:cs typeface="Century Gothic"/>
                <a:sym typeface="Century Gothic"/>
              </a:rPr>
              <a:t>John Buczkowski</a:t>
            </a:r>
            <a:br>
              <a:rPr lang="en" sz="1600" b="0" dirty="0">
                <a:solidFill>
                  <a:schemeClr val="lt2"/>
                </a:solidFill>
                <a:latin typeface="Century Gothic"/>
                <a:ea typeface="Century Gothic"/>
                <a:cs typeface="Century Gothic"/>
                <a:sym typeface="Century Gothic"/>
              </a:rPr>
            </a:br>
            <a:r>
              <a:rPr lang="en" sz="1600" b="0" dirty="0">
                <a:solidFill>
                  <a:schemeClr val="lt2"/>
                </a:solidFill>
                <a:latin typeface="Century Gothic"/>
                <a:ea typeface="Century Gothic"/>
                <a:cs typeface="Century Gothic"/>
                <a:sym typeface="Century Gothic"/>
              </a:rPr>
              <a:t>December 29</a:t>
            </a:r>
            <a:r>
              <a:rPr lang="en" sz="1600" b="0" baseline="30000" dirty="0">
                <a:solidFill>
                  <a:schemeClr val="lt2"/>
                </a:solidFill>
                <a:latin typeface="Century Gothic"/>
                <a:ea typeface="Century Gothic"/>
                <a:cs typeface="Century Gothic"/>
                <a:sym typeface="Century Gothic"/>
              </a:rPr>
              <a:t>th</a:t>
            </a:r>
            <a:r>
              <a:rPr lang="en" sz="1600" b="0" dirty="0">
                <a:solidFill>
                  <a:schemeClr val="lt2"/>
                </a:solidFill>
                <a:latin typeface="Century Gothic"/>
                <a:ea typeface="Century Gothic"/>
                <a:cs typeface="Century Gothic"/>
                <a:sym typeface="Century Gothic"/>
              </a:rPr>
              <a:t>, 2025</a:t>
            </a:r>
            <a:endParaRPr sz="1600" b="0" dirty="0">
              <a:solidFill>
                <a:schemeClr val="lt2"/>
              </a:solidFill>
              <a:latin typeface="Century Gothic"/>
              <a:ea typeface="Century Gothic"/>
              <a:cs typeface="Century Gothic"/>
              <a:sym typeface="Century Gothic"/>
            </a:endParaRPr>
          </a:p>
        </p:txBody>
      </p:sp>
      <p:sp>
        <p:nvSpPr>
          <p:cNvPr id="8" name="Google Shape;153;p34">
            <a:extLst>
              <a:ext uri="{FF2B5EF4-FFF2-40B4-BE49-F238E27FC236}">
                <a16:creationId xmlns:a16="http://schemas.microsoft.com/office/drawing/2014/main" id="{790C202E-96BB-6003-159A-DC7E9F6C920D}"/>
              </a:ext>
            </a:extLst>
          </p:cNvPr>
          <p:cNvSpPr txBox="1">
            <a:spLocks/>
          </p:cNvSpPr>
          <p:nvPr/>
        </p:nvSpPr>
        <p:spPr>
          <a:xfrm>
            <a:off x="645250" y="1091600"/>
            <a:ext cx="7843200" cy="1337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E39A9"/>
              </a:buClr>
              <a:buSzPts val="4800"/>
              <a:buFont typeface="Nunito"/>
              <a:buNone/>
              <a:defRPr sz="4800" b="1" i="0" u="none" strike="noStrike" cap="none">
                <a:solidFill>
                  <a:srgbClr val="0E39A9"/>
                </a:solidFill>
                <a:latin typeface="Nunito"/>
                <a:ea typeface="Nunito"/>
                <a:cs typeface="Nunito"/>
                <a:sym typeface="Nunito"/>
              </a:defRPr>
            </a:lvl1pPr>
            <a:lvl2pPr marR="0" lvl="1"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2pPr>
            <a:lvl3pPr marR="0" lvl="2"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3pPr>
            <a:lvl4pPr marR="0" lvl="3"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4pPr>
            <a:lvl5pPr marR="0" lvl="4"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5pPr>
            <a:lvl6pPr marR="0" lvl="5"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6pPr>
            <a:lvl7pPr marR="0" lvl="6"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7pPr>
            <a:lvl8pPr marR="0" lvl="7"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8pPr>
            <a:lvl9pPr marR="0" lvl="8"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9pPr>
          </a:lstStyle>
          <a:p>
            <a:r>
              <a:rPr lang="en-US" sz="3300" dirty="0">
                <a:latin typeface="Century Gothic"/>
                <a:ea typeface="Century Gothic"/>
                <a:cs typeface="Century Gothic"/>
                <a:sym typeface="Century Gothic"/>
              </a:rPr>
              <a:t>Food Delivery Sentiment Analysis</a:t>
            </a:r>
          </a:p>
          <a:p>
            <a:r>
              <a:rPr lang="en-US" sz="3300" b="0" dirty="0">
                <a:latin typeface="Century Gothic"/>
                <a:ea typeface="Century Gothic"/>
                <a:cs typeface="Century Gothic"/>
                <a:sym typeface="Century Gothic"/>
              </a:rPr>
              <a:t>Generative-AI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8" name="Google Shape;158;p36"/>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Business Context, Problem Overview and Solution Approach</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Exploring Different Prompting Techniques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Prompts and the structure of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Output from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Observations/Insights and conclusions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Appendix</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37"/>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p:cNvSpPr txBox="1">
            <a:spLocks noGrp="1"/>
          </p:cNvSpPr>
          <p:nvPr>
            <p:ph type="body" idx="1"/>
          </p:nvPr>
        </p:nvSpPr>
        <p:spPr>
          <a:xfrm>
            <a:off x="257100" y="906141"/>
            <a:ext cx="8629800" cy="3810238"/>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Background:</a:t>
            </a:r>
          </a:p>
          <a:p>
            <a:pPr marL="139700" indent="0">
              <a:spcBef>
                <a:spcPts val="1000"/>
              </a:spcBef>
              <a:buClr>
                <a:schemeClr val="dk1"/>
              </a:buClr>
              <a:buSzPts val="1400"/>
              <a:buNone/>
            </a:pPr>
            <a:r>
              <a:rPr lang="en-US" sz="1400" dirty="0"/>
              <a:t>In the food delivery industry, customer feedback drives service quality and brand loyalty. Companies like Uber Eats, DoorDash, and Grubhub rely on reviews to improve operational efficiency and customer satisfaction. With the high volume of reviews posted daily across multiple cities, manual analysis isn't feasible. Reviews in the form of unstructured text contain complaints, praise, and personal experience feedback. They require automated systems that can classify sentiment consistently and without bias.</a:t>
            </a:r>
            <a:endParaRPr lang="en-US" sz="1400" b="1" dirty="0"/>
          </a:p>
          <a:p>
            <a:pPr marL="139700" indent="0">
              <a:spcBef>
                <a:spcPts val="1000"/>
              </a:spcBef>
              <a:buClr>
                <a:schemeClr val="dk1"/>
              </a:buClr>
              <a:buSzPts val="1400"/>
              <a:buNone/>
            </a:pPr>
            <a:endParaRPr lang="en-US" sz="800" b="1" dirty="0"/>
          </a:p>
          <a:p>
            <a:pPr marL="139700" indent="0">
              <a:spcBef>
                <a:spcPts val="1000"/>
              </a:spcBef>
              <a:buClr>
                <a:schemeClr val="dk1"/>
              </a:buClr>
              <a:buSzPts val="1400"/>
              <a:buNone/>
            </a:pPr>
            <a:r>
              <a:rPr lang="en-US" sz="1400" b="1" dirty="0"/>
              <a:t>Goal:</a:t>
            </a:r>
          </a:p>
          <a:p>
            <a:pPr marL="139700" indent="0">
              <a:spcBef>
                <a:spcPts val="1000"/>
              </a:spcBef>
              <a:buClr>
                <a:schemeClr val="dk1"/>
              </a:buClr>
              <a:buSzPts val="1400"/>
              <a:buNone/>
            </a:pPr>
            <a:r>
              <a:rPr lang="en-US" sz="1400" dirty="0"/>
              <a:t>Automate sentiment classification of customer feedback for a food delivery platform using Generative AI and Prompt Engineering. Process customer reviews into Positive, Negative, or Neutral categories while ensuring factual consistency and interpretability. Map outputs with relevant tags (Delivery Time, Food Quality, Price, Packaging, Overall Experience) and suggested business actions.</a:t>
            </a:r>
            <a:endParaRPr lang="en-US" sz="14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62A5DBE9-F857-DD8E-36EC-64D53DA15BDC}"/>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6866C43A-EF1B-8C0D-D687-FDA774656DBE}"/>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EB90E3D2-F4B4-59EF-0837-010027F68B0A}"/>
              </a:ext>
            </a:extLst>
          </p:cNvPr>
          <p:cNvSpPr txBox="1">
            <a:spLocks noGrp="1"/>
          </p:cNvSpPr>
          <p:nvPr>
            <p:ph type="body" idx="1"/>
          </p:nvPr>
        </p:nvSpPr>
        <p:spPr>
          <a:xfrm>
            <a:off x="257099" y="816763"/>
            <a:ext cx="8797523" cy="4140247"/>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Objectives:</a:t>
            </a:r>
          </a:p>
          <a:p>
            <a:pPr marL="482600" indent="-342900">
              <a:spcBef>
                <a:spcPts val="1000"/>
              </a:spcBef>
              <a:buClr>
                <a:schemeClr val="dk1"/>
              </a:buClr>
              <a:buSzPts val="1400"/>
              <a:buFont typeface="+mj-lt"/>
              <a:buAutoNum type="arabicPeriod"/>
            </a:pPr>
            <a:r>
              <a:rPr lang="en-US" sz="1400" dirty="0"/>
              <a:t>Design structured prompts enabling an LLM to perform sentiment classification on customer feedback</a:t>
            </a:r>
          </a:p>
          <a:p>
            <a:pPr marL="482600" indent="-342900">
              <a:spcBef>
                <a:spcPts val="1000"/>
              </a:spcBef>
              <a:buClr>
                <a:schemeClr val="dk1"/>
              </a:buClr>
              <a:buSzPts val="1400"/>
              <a:buFont typeface="+mj-lt"/>
              <a:buAutoNum type="arabicPeriod"/>
            </a:pPr>
            <a:r>
              <a:rPr lang="en-US" sz="1400" dirty="0"/>
              <a:t>Implement four (4) prompting strategies:</a:t>
            </a:r>
          </a:p>
          <a:p>
            <a:pPr marL="939800" lvl="1" indent="-342900">
              <a:spcBef>
                <a:spcPts val="400"/>
              </a:spcBef>
              <a:buClr>
                <a:schemeClr val="dk1"/>
              </a:buClr>
              <a:buSzPts val="1400"/>
              <a:buFont typeface="Wingdings" panose="05000000000000000000" pitchFamily="2" charset="2"/>
              <a:buChar char="§"/>
            </a:pPr>
            <a:r>
              <a:rPr lang="en-US" sz="1200" dirty="0"/>
              <a:t>Zero-Shot</a:t>
            </a:r>
          </a:p>
          <a:p>
            <a:pPr marL="939800" lvl="1" indent="-342900">
              <a:spcBef>
                <a:spcPts val="400"/>
              </a:spcBef>
              <a:buClr>
                <a:schemeClr val="dk1"/>
              </a:buClr>
              <a:buSzPts val="1400"/>
              <a:buFont typeface="Wingdings" panose="05000000000000000000" pitchFamily="2" charset="2"/>
              <a:buChar char="§"/>
            </a:pPr>
            <a:r>
              <a:rPr lang="en-US" sz="1200" dirty="0"/>
              <a:t>Few-Shot</a:t>
            </a:r>
          </a:p>
          <a:p>
            <a:pPr marL="939800" lvl="1" indent="-342900">
              <a:spcBef>
                <a:spcPts val="400"/>
              </a:spcBef>
              <a:buClr>
                <a:schemeClr val="dk1"/>
              </a:buClr>
              <a:buSzPts val="1400"/>
              <a:buFont typeface="Wingdings" panose="05000000000000000000" pitchFamily="2" charset="2"/>
              <a:buChar char="§"/>
            </a:pPr>
            <a:r>
              <a:rPr lang="en-US" sz="1200" dirty="0"/>
              <a:t>Zero-Shot Chain of Thought (</a:t>
            </a:r>
            <a:r>
              <a:rPr lang="en-US" sz="1200" dirty="0" err="1"/>
              <a:t>CoT</a:t>
            </a:r>
            <a:r>
              <a:rPr lang="en-US" sz="1200" dirty="0"/>
              <a:t>)</a:t>
            </a:r>
          </a:p>
          <a:p>
            <a:pPr marL="939800" lvl="1" indent="-342900">
              <a:spcBef>
                <a:spcPts val="400"/>
              </a:spcBef>
              <a:buClr>
                <a:schemeClr val="dk1"/>
              </a:buClr>
              <a:buSzPts val="1400"/>
              <a:buFont typeface="Wingdings" panose="05000000000000000000" pitchFamily="2" charset="2"/>
              <a:buChar char="§"/>
            </a:pPr>
            <a:r>
              <a:rPr lang="en-US" sz="1200" dirty="0"/>
              <a:t>Few-Shot </a:t>
            </a:r>
            <a:r>
              <a:rPr lang="en-US" sz="1200" dirty="0" err="1"/>
              <a:t>CoT</a:t>
            </a:r>
            <a:endParaRPr lang="en-US" sz="1200" dirty="0"/>
          </a:p>
          <a:p>
            <a:pPr marL="482600" indent="-342900">
              <a:spcBef>
                <a:spcPts val="1000"/>
              </a:spcBef>
              <a:buClr>
                <a:schemeClr val="dk1"/>
              </a:buClr>
              <a:buSzPts val="1400"/>
              <a:buFont typeface="+mj-lt"/>
              <a:buAutoNum type="arabicPeriod"/>
            </a:pPr>
            <a:r>
              <a:rPr lang="en-US" sz="1400" dirty="0"/>
              <a:t>Compare prompting strategies in terms of accuracy, reasoning and contextual understanding</a:t>
            </a:r>
          </a:p>
          <a:p>
            <a:pPr marL="482600" indent="-342900">
              <a:spcBef>
                <a:spcPts val="1000"/>
              </a:spcBef>
              <a:buClr>
                <a:schemeClr val="dk1"/>
              </a:buClr>
              <a:buSzPts val="1400"/>
              <a:buFont typeface="+mj-lt"/>
              <a:buAutoNum type="arabicPeriod"/>
            </a:pPr>
            <a:r>
              <a:rPr lang="en-US" sz="1400" dirty="0"/>
              <a:t>Determine best performing strategy</a:t>
            </a:r>
          </a:p>
          <a:p>
            <a:pPr marL="482600" indent="-342900">
              <a:spcBef>
                <a:spcPts val="1000"/>
              </a:spcBef>
              <a:buClr>
                <a:schemeClr val="dk1"/>
              </a:buClr>
              <a:buSzPts val="1400"/>
              <a:buFont typeface="+mj-lt"/>
              <a:buAutoNum type="arabicPeriod"/>
            </a:pPr>
            <a:r>
              <a:rPr lang="en-US" sz="1400" dirty="0"/>
              <a:t>Generate suggested actions to guide business response, such as flagging delivery issues for operations or highlighting positive reviews for marketing.</a:t>
            </a:r>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6833971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B3C125FB-DB05-4491-4CE5-AA77544880A9}"/>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3638DAF8-7CC7-18B9-302D-B716665A4DA9}"/>
              </a:ext>
            </a:extLst>
          </p:cNvPr>
          <p:cNvSpPr txBox="1">
            <a:spLocks noGrp="1"/>
          </p:cNvSpPr>
          <p:nvPr>
            <p:ph type="title"/>
          </p:nvPr>
        </p:nvSpPr>
        <p:spPr>
          <a:xfrm>
            <a:off x="202550" y="11739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Definitions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8F69A50E-488D-6E8A-4D24-0BB329311C03}"/>
              </a:ext>
            </a:extLst>
          </p:cNvPr>
          <p:cNvSpPr txBox="1">
            <a:spLocks noGrp="1"/>
          </p:cNvSpPr>
          <p:nvPr>
            <p:ph type="body" idx="1"/>
          </p:nvPr>
        </p:nvSpPr>
        <p:spPr>
          <a:xfrm>
            <a:off x="202550" y="522844"/>
            <a:ext cx="8797523" cy="4386039"/>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Zero-Shot Prompt:</a:t>
            </a:r>
          </a:p>
          <a:p>
            <a:pPr marL="425450" indent="-285750">
              <a:spcBef>
                <a:spcPts val="400"/>
              </a:spcBef>
              <a:buClr>
                <a:schemeClr val="dk1"/>
              </a:buClr>
              <a:buSzPts val="1400"/>
            </a:pPr>
            <a:r>
              <a:rPr lang="en-US" sz="1400" dirty="0"/>
              <a:t>Direct instructions with no examples. Model relies on its training to complete the task.</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Few-Shot Prompt:</a:t>
            </a:r>
          </a:p>
          <a:p>
            <a:pPr marL="425450" indent="-285750">
              <a:spcBef>
                <a:spcPts val="400"/>
              </a:spcBef>
              <a:buClr>
                <a:schemeClr val="dk1"/>
              </a:buClr>
              <a:buSzPts val="1400"/>
            </a:pPr>
            <a:r>
              <a:rPr lang="en-US" sz="1400" dirty="0"/>
              <a:t>Instructions with 3-5 labeled examples demonstrating the desired input → output pattern.</a:t>
            </a:r>
          </a:p>
          <a:p>
            <a:pPr marL="139700" indent="0">
              <a:spcBef>
                <a:spcPts val="400"/>
              </a:spcBef>
              <a:buClr>
                <a:schemeClr val="dk1"/>
              </a:buClr>
              <a:buSzPts val="1400"/>
              <a:buNone/>
            </a:pPr>
            <a:endParaRPr lang="en-US" sz="600" b="1" dirty="0"/>
          </a:p>
          <a:p>
            <a:pPr marL="139700" indent="0">
              <a:spcBef>
                <a:spcPts val="400"/>
              </a:spcBef>
              <a:buClr>
                <a:schemeClr val="dk1"/>
              </a:buClr>
              <a:buSzPts val="1400"/>
              <a:buNone/>
            </a:pPr>
            <a:r>
              <a:rPr lang="en-US" sz="1400" b="1" dirty="0"/>
              <a:t>Zero-Shot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include reasoning steps but no examples. The model reasons through the problem step-by-step before producing output.</a:t>
            </a:r>
          </a:p>
          <a:p>
            <a:pPr marL="139700" indent="0">
              <a:buClr>
                <a:schemeClr val="dk1"/>
              </a:buClr>
              <a:buSzPts val="1400"/>
              <a:buNone/>
            </a:pPr>
            <a:endParaRPr lang="en-US" sz="600" b="1" dirty="0"/>
          </a:p>
          <a:p>
            <a:pPr marL="139700" indent="0">
              <a:spcBef>
                <a:spcPts val="400"/>
              </a:spcBef>
              <a:buClr>
                <a:schemeClr val="dk1"/>
              </a:buClr>
              <a:buSzPts val="1400"/>
              <a:buNone/>
            </a:pPr>
            <a:r>
              <a:rPr lang="en-US" sz="1400" b="1" dirty="0"/>
              <a:t>Few-Shot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along examples that show both reasoning and output. Model learns the process through the provided examples.</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Ground Truth:</a:t>
            </a:r>
          </a:p>
          <a:p>
            <a:pPr marL="425450" indent="-285750">
              <a:spcBef>
                <a:spcPts val="400"/>
              </a:spcBef>
              <a:buClr>
                <a:schemeClr val="dk1"/>
              </a:buClr>
              <a:buSzPts val="1400"/>
            </a:pPr>
            <a:r>
              <a:rPr lang="en-US" sz="1400" dirty="0"/>
              <a:t>A subset of manually classified reviews (25-36) to serve as the benchmark to measure prompt accuracy.</a:t>
            </a:r>
            <a:endParaRPr lang="en-US" sz="1400" b="1" dirty="0"/>
          </a:p>
          <a:p>
            <a:pPr marL="139700" indent="0">
              <a:spcBef>
                <a:spcPts val="1000"/>
              </a:spcBef>
              <a:buClr>
                <a:schemeClr val="dk1"/>
              </a:buClr>
              <a:buSzPts val="1400"/>
              <a:buNone/>
            </a:pPr>
            <a:endParaRPr lang="en-US" sz="1400" b="1" dirty="0"/>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330126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656848"/>
            <a:ext cx="8629800" cy="4155784"/>
          </a:xfrm>
        </p:spPr>
        <p:txBody>
          <a:bodyPr/>
          <a:lstStyle/>
          <a:p>
            <a:pPr marL="133350" indent="0">
              <a:buNone/>
            </a:pPr>
            <a:r>
              <a:rPr lang="en-US" b="1" dirty="0"/>
              <a:t>1. Exploratory Data Analysis (EDA)</a:t>
            </a:r>
            <a:endParaRPr lang="en-US" dirty="0"/>
          </a:p>
          <a:p>
            <a:pPr lvl="1">
              <a:spcBef>
                <a:spcPts val="400"/>
              </a:spcBef>
            </a:pPr>
            <a:r>
              <a:rPr lang="en-US" dirty="0"/>
              <a:t>Understand dataset structure and review content</a:t>
            </a:r>
          </a:p>
          <a:p>
            <a:pPr marL="133350" indent="0">
              <a:spcBef>
                <a:spcPts val="600"/>
              </a:spcBef>
              <a:buNone/>
            </a:pPr>
            <a:r>
              <a:rPr lang="en-US" b="1" dirty="0"/>
              <a:t>2. Create Ground Truth</a:t>
            </a:r>
            <a:endParaRPr lang="en-US" dirty="0"/>
          </a:p>
          <a:p>
            <a:pPr lvl="1">
              <a:spcBef>
                <a:spcPts val="400"/>
              </a:spcBef>
            </a:pPr>
            <a:r>
              <a:rPr lang="en-US" dirty="0"/>
              <a:t>Manually classify 25-36 reviews as benchmark for accuracy measurement</a:t>
            </a:r>
          </a:p>
          <a:p>
            <a:pPr marL="133350" indent="0">
              <a:spcBef>
                <a:spcPts val="600"/>
              </a:spcBef>
              <a:buNone/>
            </a:pPr>
            <a:r>
              <a:rPr lang="en-US" b="1" dirty="0"/>
              <a:t>3. Develop Prompt Templates</a:t>
            </a:r>
            <a:endParaRPr lang="en-US" dirty="0"/>
          </a:p>
          <a:p>
            <a:pPr lvl="1">
              <a:spcBef>
                <a:spcPts val="400"/>
              </a:spcBef>
            </a:pPr>
            <a:r>
              <a:rPr lang="en-US" dirty="0"/>
              <a:t>Zero-Shot</a:t>
            </a:r>
          </a:p>
          <a:p>
            <a:pPr lvl="1">
              <a:spcBef>
                <a:spcPts val="400"/>
              </a:spcBef>
            </a:pPr>
            <a:r>
              <a:rPr lang="en-US" dirty="0"/>
              <a:t>Few-Shot</a:t>
            </a:r>
          </a:p>
          <a:p>
            <a:pPr lvl="1">
              <a:spcBef>
                <a:spcPts val="400"/>
              </a:spcBef>
            </a:pPr>
            <a:r>
              <a:rPr lang="en-US" dirty="0"/>
              <a:t>Zero-Shot </a:t>
            </a:r>
            <a:r>
              <a:rPr lang="en-US" dirty="0" err="1"/>
              <a:t>CoT</a:t>
            </a:r>
            <a:endParaRPr lang="en-US" dirty="0"/>
          </a:p>
          <a:p>
            <a:pPr lvl="1">
              <a:spcBef>
                <a:spcPts val="400"/>
              </a:spcBef>
            </a:pPr>
            <a:r>
              <a:rPr lang="en-US" dirty="0"/>
              <a:t>Few-Shot </a:t>
            </a:r>
            <a:r>
              <a:rPr lang="en-US" dirty="0" err="1"/>
              <a:t>CoT</a:t>
            </a:r>
            <a:endParaRPr lang="en-US" dirty="0"/>
          </a:p>
          <a:p>
            <a:pPr marL="133350" indent="0">
              <a:spcBef>
                <a:spcPts val="600"/>
              </a:spcBef>
              <a:buNone/>
            </a:pPr>
            <a:r>
              <a:rPr lang="en-US" b="1" dirty="0"/>
              <a:t>4. Tune Each Prompt Type</a:t>
            </a:r>
            <a:endParaRPr lang="en-US" dirty="0"/>
          </a:p>
          <a:p>
            <a:pPr lvl="1">
              <a:spcBef>
                <a:spcPts val="400"/>
              </a:spcBef>
            </a:pPr>
            <a:r>
              <a:rPr lang="en-US" dirty="0"/>
              <a:t>Test variations (temperature, examples, reasoning detail)</a:t>
            </a:r>
          </a:p>
          <a:p>
            <a:pPr lvl="1">
              <a:spcBef>
                <a:spcPts val="400"/>
              </a:spcBef>
            </a:pPr>
            <a:r>
              <a:rPr lang="en-US" dirty="0"/>
              <a:t>Compare results against Ground Truth</a:t>
            </a:r>
          </a:p>
          <a:p>
            <a:pPr lvl="1">
              <a:spcBef>
                <a:spcPts val="400"/>
              </a:spcBef>
            </a:pPr>
            <a:r>
              <a:rPr lang="en-US" dirty="0"/>
              <a:t>Select best-performing version of each type</a:t>
            </a: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39367302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3D18C-CB33-1BF2-4559-72F26729BC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744E69-5ABF-AA6C-F651-880A96CBF330}"/>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7F50D607-7F7C-93F7-D6B4-7CBA4612B151}"/>
              </a:ext>
            </a:extLst>
          </p:cNvPr>
          <p:cNvSpPr>
            <a:spLocks noGrp="1"/>
          </p:cNvSpPr>
          <p:nvPr>
            <p:ph type="body" idx="1"/>
          </p:nvPr>
        </p:nvSpPr>
        <p:spPr>
          <a:xfrm>
            <a:off x="202550" y="721896"/>
            <a:ext cx="8629800" cy="4225012"/>
          </a:xfrm>
        </p:spPr>
        <p:txBody>
          <a:bodyPr/>
          <a:lstStyle/>
          <a:p>
            <a:pPr marL="133350" indent="0">
              <a:spcBef>
                <a:spcPts val="600"/>
              </a:spcBef>
              <a:buNone/>
            </a:pPr>
            <a:r>
              <a:rPr lang="en-US" b="1" dirty="0"/>
              <a:t>5. Compare Across Prompt Types</a:t>
            </a:r>
            <a:endParaRPr lang="en-US" dirty="0"/>
          </a:p>
          <a:p>
            <a:pPr lvl="1">
              <a:spcBef>
                <a:spcPts val="400"/>
              </a:spcBef>
            </a:pPr>
            <a:r>
              <a:rPr lang="en-US" dirty="0"/>
              <a:t>Evaluate all 4 optimized prompts</a:t>
            </a:r>
          </a:p>
          <a:p>
            <a:pPr lvl="1">
              <a:spcBef>
                <a:spcPts val="400"/>
              </a:spcBef>
            </a:pPr>
            <a:r>
              <a:rPr lang="en-US" dirty="0"/>
              <a:t>Identify top 2 performers</a:t>
            </a:r>
          </a:p>
          <a:p>
            <a:pPr marL="133350" indent="0">
              <a:spcBef>
                <a:spcPts val="600"/>
              </a:spcBef>
              <a:buNone/>
            </a:pPr>
            <a:r>
              <a:rPr lang="en-US" b="1" dirty="0"/>
              <a:t>6. Full Dataset Analysis</a:t>
            </a:r>
            <a:endParaRPr lang="en-US" dirty="0"/>
          </a:p>
          <a:p>
            <a:pPr lvl="1">
              <a:spcBef>
                <a:spcPts val="400"/>
              </a:spcBef>
            </a:pPr>
            <a:r>
              <a:rPr lang="en-US" dirty="0"/>
              <a:t>Run top 2 prompts on complete dataset (100 reviews)</a:t>
            </a:r>
          </a:p>
          <a:p>
            <a:pPr lvl="1">
              <a:spcBef>
                <a:spcPts val="400"/>
              </a:spcBef>
            </a:pPr>
            <a:r>
              <a:rPr lang="en-US" dirty="0"/>
              <a:t>Analyze sentiment distribution, tag frequency</a:t>
            </a:r>
          </a:p>
          <a:p>
            <a:pPr marL="133350" indent="0">
              <a:spcBef>
                <a:spcPts val="600"/>
              </a:spcBef>
              <a:buNone/>
            </a:pPr>
            <a:r>
              <a:rPr lang="en-US" b="1" dirty="0"/>
              <a:t>7. Business Insights</a:t>
            </a:r>
            <a:endParaRPr lang="en-US" dirty="0"/>
          </a:p>
          <a:p>
            <a:pPr lvl="1">
              <a:spcBef>
                <a:spcPts val="400"/>
              </a:spcBef>
            </a:pPr>
            <a:r>
              <a:rPr lang="en-US" dirty="0"/>
              <a:t>Sentiment by City</a:t>
            </a:r>
          </a:p>
          <a:p>
            <a:pPr lvl="1">
              <a:spcBef>
                <a:spcPts val="400"/>
              </a:spcBef>
            </a:pPr>
            <a:r>
              <a:rPr lang="en-US" dirty="0"/>
              <a:t>Delivery Time patterns by sentiment</a:t>
            </a:r>
          </a:p>
          <a:p>
            <a:pPr lvl="1">
              <a:spcBef>
                <a:spcPts val="400"/>
              </a:spcBef>
            </a:pPr>
            <a:r>
              <a:rPr lang="en-US" dirty="0"/>
              <a:t>Additional cross-analysis</a:t>
            </a:r>
          </a:p>
          <a:p>
            <a:pPr marL="133350" indent="0">
              <a:spcBef>
                <a:spcPts val="600"/>
              </a:spcBef>
              <a:buNone/>
            </a:pPr>
            <a:r>
              <a:rPr lang="en-US" b="1" dirty="0"/>
              <a:t>8. Conclusions &amp; Recommendations</a:t>
            </a:r>
            <a:endParaRPr lang="en-US" dirty="0"/>
          </a:p>
          <a:p>
            <a:pPr lvl="1">
              <a:spcBef>
                <a:spcPts val="400"/>
              </a:spcBef>
            </a:pPr>
            <a:r>
              <a:rPr lang="en-US" dirty="0"/>
              <a:t>Summary of findings</a:t>
            </a:r>
          </a:p>
          <a:p>
            <a:pPr lvl="1">
              <a:spcBef>
                <a:spcPts val="400"/>
              </a:spcBef>
            </a:pPr>
            <a:r>
              <a:rPr lang="en-US" dirty="0"/>
              <a:t>Suggested business actions</a:t>
            </a:r>
          </a:p>
          <a:p>
            <a:pPr marL="133350" indent="0">
              <a:buNone/>
            </a:pPr>
            <a:endParaRPr lang="en-US" b="1" dirty="0"/>
          </a:p>
          <a:p>
            <a:pPr marL="133350" indent="0">
              <a:buNone/>
            </a:pP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B7BB8B30-1FF6-037F-DB06-968448EA4B6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2406516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Expected Outcomes</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579443"/>
            <a:ext cx="8629800" cy="4367464"/>
          </a:xfrm>
        </p:spPr>
        <p:txBody>
          <a:bodyPr/>
          <a:lstStyle/>
          <a:p>
            <a:pPr marL="133350" indent="0">
              <a:buNone/>
            </a:pPr>
            <a:r>
              <a:rPr lang="en-US" b="1" dirty="0"/>
              <a:t>Prompt Engineering:</a:t>
            </a:r>
            <a:endParaRPr lang="en-US" dirty="0"/>
          </a:p>
          <a:p>
            <a:pPr lvl="1">
              <a:spcBef>
                <a:spcPts val="200"/>
              </a:spcBef>
            </a:pPr>
            <a:r>
              <a:rPr lang="en-US" dirty="0"/>
              <a:t>Develop optimized prompts for sentiment classification using Zero-Shot, Few-Shot, and </a:t>
            </a:r>
            <a:r>
              <a:rPr lang="en-US" dirty="0" err="1"/>
              <a:t>CoT</a:t>
            </a:r>
            <a:endParaRPr lang="en-US" dirty="0"/>
          </a:p>
          <a:p>
            <a:pPr lvl="1">
              <a:spcBef>
                <a:spcPts val="200"/>
              </a:spcBef>
            </a:pPr>
            <a:r>
              <a:rPr lang="en-US" dirty="0"/>
              <a:t>Identify the best-performing prompt type through accuracy comparison</a:t>
            </a:r>
          </a:p>
          <a:p>
            <a:pPr lvl="1">
              <a:spcBef>
                <a:spcPts val="200"/>
              </a:spcBef>
            </a:pPr>
            <a:r>
              <a:rPr lang="en-US" dirty="0"/>
              <a:t>Create reusable prompt templates for future analysis</a:t>
            </a:r>
          </a:p>
          <a:p>
            <a:pPr marL="133350" indent="0">
              <a:spcBef>
                <a:spcPts val="400"/>
              </a:spcBef>
              <a:buNone/>
            </a:pPr>
            <a:r>
              <a:rPr lang="en-US" b="1" dirty="0"/>
              <a:t>Sentiment Insights:</a:t>
            </a:r>
            <a:endParaRPr lang="en-US" dirty="0"/>
          </a:p>
          <a:p>
            <a:pPr lvl="1">
              <a:spcBef>
                <a:spcPts val="200"/>
              </a:spcBef>
            </a:pPr>
            <a:r>
              <a:rPr lang="en-US" dirty="0"/>
              <a:t>Classify customer reviews into </a:t>
            </a:r>
            <a:r>
              <a:rPr lang="en-US" b="1" dirty="0"/>
              <a:t>Positive</a:t>
            </a:r>
            <a:r>
              <a:rPr lang="en-US" dirty="0"/>
              <a:t>, </a:t>
            </a:r>
            <a:r>
              <a:rPr lang="en-US" b="1" dirty="0"/>
              <a:t>Negative</a:t>
            </a:r>
            <a:r>
              <a:rPr lang="en-US" dirty="0"/>
              <a:t>, and </a:t>
            </a:r>
            <a:r>
              <a:rPr lang="en-US" b="1" dirty="0"/>
              <a:t>Neutral</a:t>
            </a:r>
            <a:r>
              <a:rPr lang="en-US" dirty="0"/>
              <a:t> categories</a:t>
            </a:r>
          </a:p>
          <a:p>
            <a:pPr lvl="1">
              <a:spcBef>
                <a:spcPts val="200"/>
              </a:spcBef>
            </a:pPr>
            <a:r>
              <a:rPr lang="en-US" dirty="0"/>
              <a:t>Identify common themes driving negative feedback (</a:t>
            </a:r>
            <a:r>
              <a:rPr lang="en-US" b="1" dirty="0"/>
              <a:t>delivery</a:t>
            </a:r>
            <a:r>
              <a:rPr lang="en-US" dirty="0"/>
              <a:t> </a:t>
            </a:r>
            <a:r>
              <a:rPr lang="en-US" b="1" dirty="0"/>
              <a:t>delays</a:t>
            </a:r>
            <a:r>
              <a:rPr lang="en-US" dirty="0"/>
              <a:t>, </a:t>
            </a:r>
            <a:r>
              <a:rPr lang="en-US" b="1" dirty="0"/>
              <a:t>food</a:t>
            </a:r>
            <a:r>
              <a:rPr lang="en-US" dirty="0"/>
              <a:t> </a:t>
            </a:r>
            <a:r>
              <a:rPr lang="en-US" b="1" dirty="0"/>
              <a:t>quality</a:t>
            </a:r>
            <a:r>
              <a:rPr lang="en-US" dirty="0"/>
              <a:t>, </a:t>
            </a:r>
            <a:r>
              <a:rPr lang="en-US" b="1" dirty="0"/>
              <a:t>pricing</a:t>
            </a:r>
            <a:r>
              <a:rPr lang="en-US" dirty="0"/>
              <a:t>)</a:t>
            </a:r>
          </a:p>
          <a:p>
            <a:pPr lvl="1">
              <a:spcBef>
                <a:spcPts val="200"/>
              </a:spcBef>
            </a:pPr>
            <a:r>
              <a:rPr lang="en-US" dirty="0"/>
              <a:t>Map sentiment patterns across cities and delivery times</a:t>
            </a:r>
          </a:p>
          <a:p>
            <a:pPr marL="133350" indent="0">
              <a:spcBef>
                <a:spcPts val="400"/>
              </a:spcBef>
              <a:buNone/>
            </a:pPr>
            <a:r>
              <a:rPr lang="en-US" b="1" dirty="0"/>
              <a:t>Process Improvement:</a:t>
            </a:r>
            <a:endParaRPr lang="en-US" dirty="0"/>
          </a:p>
          <a:p>
            <a:pPr lvl="1">
              <a:spcBef>
                <a:spcPts val="200"/>
              </a:spcBef>
            </a:pPr>
            <a:r>
              <a:rPr lang="en-US" dirty="0"/>
              <a:t>Reduce manual effort in reviewing customer feedback</a:t>
            </a:r>
          </a:p>
          <a:p>
            <a:pPr lvl="1">
              <a:spcBef>
                <a:spcPts val="200"/>
              </a:spcBef>
            </a:pPr>
            <a:r>
              <a:rPr lang="en-US" dirty="0"/>
              <a:t>Ensure consistent and unbiased sentiment classification</a:t>
            </a:r>
          </a:p>
          <a:p>
            <a:pPr lvl="1">
              <a:spcBef>
                <a:spcPts val="200"/>
              </a:spcBef>
            </a:pPr>
            <a:r>
              <a:rPr lang="en-US" dirty="0"/>
              <a:t>Enable faster identification of issues requiring business attention</a:t>
            </a:r>
          </a:p>
          <a:p>
            <a:pPr marL="133350" indent="0">
              <a:spcBef>
                <a:spcPts val="200"/>
              </a:spcBef>
              <a:buNone/>
            </a:pPr>
            <a:r>
              <a:rPr lang="en-US" b="1" dirty="0"/>
              <a:t>Increase Business Value:</a:t>
            </a:r>
            <a:endParaRPr lang="en-US" dirty="0"/>
          </a:p>
          <a:p>
            <a:pPr lvl="1">
              <a:spcBef>
                <a:spcPts val="200"/>
              </a:spcBef>
            </a:pPr>
            <a:r>
              <a:rPr lang="en-US" dirty="0"/>
              <a:t>Generate actionable insights to relevant teams (operations, marketing, quality)</a:t>
            </a:r>
          </a:p>
          <a:p>
            <a:pPr lvl="1">
              <a:spcBef>
                <a:spcPts val="200"/>
              </a:spcBef>
            </a:pPr>
            <a:r>
              <a:rPr lang="en-US" dirty="0"/>
              <a:t>Prioritize high-impact issues based on sentiment frequency and severity</a:t>
            </a:r>
          </a:p>
          <a:p>
            <a:pPr lvl="1">
              <a:spcBef>
                <a:spcPts val="400"/>
              </a:spcBef>
            </a:pPr>
            <a:r>
              <a:rPr lang="en-US" dirty="0"/>
              <a:t>Increase scalability (process more reviews) while keeping costs low</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321663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59777" y="3233319"/>
            <a:ext cx="8629800" cy="164708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Data Shape </a:t>
            </a:r>
            <a:r>
              <a:rPr lang="en-US" sz="1100" dirty="0">
                <a:solidFill>
                  <a:schemeClr val="dk1"/>
                </a:solidFill>
                <a:latin typeface="Century Gothic"/>
                <a:ea typeface="Century Gothic"/>
                <a:cs typeface="Century Gothic"/>
                <a:sym typeface="Century Gothic"/>
              </a:rPr>
              <a:t>— 4 columns, 100 rows of data</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no missing values, imputation is not required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err="1">
                <a:solidFill>
                  <a:schemeClr val="dk1"/>
                </a:solidFill>
                <a:latin typeface="Century Gothic"/>
                <a:ea typeface="Century Gothic"/>
                <a:cs typeface="Century Gothic"/>
                <a:sym typeface="Century Gothic"/>
              </a:rPr>
              <a:t>Delivery_Times</a:t>
            </a:r>
            <a:r>
              <a:rPr lang="en-US" sz="1100" b="1" dirty="0">
                <a:solidFill>
                  <a:schemeClr val="dk1"/>
                </a:solidFill>
                <a:latin typeface="Century Gothic"/>
                <a:ea typeface="Century Gothic"/>
                <a:cs typeface="Century Gothic"/>
                <a:sym typeface="Century Gothic"/>
              </a:rPr>
              <a:t> </a:t>
            </a:r>
            <a:r>
              <a:rPr lang="en-US" sz="1100" dirty="0">
                <a:solidFill>
                  <a:schemeClr val="dk1"/>
                </a:solidFill>
                <a:latin typeface="Century Gothic"/>
                <a:ea typeface="Century Gothic"/>
                <a:cs typeface="Century Gothic"/>
                <a:sym typeface="Century Gothic"/>
              </a:rPr>
              <a:t>range from </a:t>
            </a:r>
            <a:r>
              <a:rPr lang="en-US" sz="1100" b="1" dirty="0">
                <a:solidFill>
                  <a:schemeClr val="dk1"/>
                </a:solidFill>
                <a:latin typeface="Century Gothic"/>
                <a:ea typeface="Century Gothic"/>
                <a:cs typeface="Century Gothic"/>
                <a:sym typeface="Century Gothic"/>
              </a:rPr>
              <a:t>22 </a:t>
            </a:r>
            <a:r>
              <a:rPr lang="en-US" sz="1100" b="1" dirty="0"/>
              <a:t>→ 98</a:t>
            </a:r>
            <a:r>
              <a:rPr lang="en-US" sz="1100" dirty="0"/>
              <a:t> minutes, with a mean of </a:t>
            </a:r>
            <a:r>
              <a:rPr lang="en-US" sz="1100" b="1" dirty="0"/>
              <a:t>≈ 49</a:t>
            </a:r>
            <a:r>
              <a:rPr lang="en-US" sz="1100" dirty="0"/>
              <a:t> minutes</a:t>
            </a:r>
            <a:endParaRPr lang="en-US" sz="11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There do not appear to be any outliers</a:t>
            </a: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a:p>
        </p:txBody>
      </p:sp>
      <p:pic>
        <p:nvPicPr>
          <p:cNvPr id="5" name="Picture 4">
            <a:extLst>
              <a:ext uri="{FF2B5EF4-FFF2-40B4-BE49-F238E27FC236}">
                <a16:creationId xmlns:a16="http://schemas.microsoft.com/office/drawing/2014/main" id="{6FE395B2-C708-472F-003E-07580DB8B803}"/>
              </a:ext>
            </a:extLst>
          </p:cNvPr>
          <p:cNvPicPr>
            <a:picLocks noChangeAspect="1"/>
          </p:cNvPicPr>
          <p:nvPr/>
        </p:nvPicPr>
        <p:blipFill>
          <a:blip r:embed="rId3"/>
          <a:stretch>
            <a:fillRect/>
          </a:stretch>
        </p:blipFill>
        <p:spPr>
          <a:xfrm>
            <a:off x="339152" y="771424"/>
            <a:ext cx="8520601" cy="1046277"/>
          </a:xfrm>
          <a:prstGeom prst="rect">
            <a:avLst/>
          </a:prstGeom>
        </p:spPr>
      </p:pic>
      <p:pic>
        <p:nvPicPr>
          <p:cNvPr id="7" name="Picture 6">
            <a:extLst>
              <a:ext uri="{FF2B5EF4-FFF2-40B4-BE49-F238E27FC236}">
                <a16:creationId xmlns:a16="http://schemas.microsoft.com/office/drawing/2014/main" id="{831AB17F-A32F-25E9-1FB6-0BC97694828F}"/>
              </a:ext>
            </a:extLst>
          </p:cNvPr>
          <p:cNvPicPr>
            <a:picLocks noChangeAspect="1"/>
          </p:cNvPicPr>
          <p:nvPr/>
        </p:nvPicPr>
        <p:blipFill>
          <a:blip r:embed="rId4"/>
          <a:stretch>
            <a:fillRect/>
          </a:stretch>
        </p:blipFill>
        <p:spPr>
          <a:xfrm>
            <a:off x="359777" y="1974599"/>
            <a:ext cx="3277388" cy="1194302"/>
          </a:xfrm>
          <a:prstGeom prst="rect">
            <a:avLst/>
          </a:prstGeom>
        </p:spPr>
      </p:pic>
      <p:pic>
        <p:nvPicPr>
          <p:cNvPr id="11" name="Picture 10">
            <a:extLst>
              <a:ext uri="{FF2B5EF4-FFF2-40B4-BE49-F238E27FC236}">
                <a16:creationId xmlns:a16="http://schemas.microsoft.com/office/drawing/2014/main" id="{375A91B1-5549-02A6-3238-4F7FC39A712F}"/>
              </a:ext>
            </a:extLst>
          </p:cNvPr>
          <p:cNvPicPr>
            <a:picLocks noChangeAspect="1"/>
          </p:cNvPicPr>
          <p:nvPr/>
        </p:nvPicPr>
        <p:blipFill>
          <a:blip r:embed="rId5"/>
          <a:stretch>
            <a:fillRect/>
          </a:stretch>
        </p:blipFill>
        <p:spPr>
          <a:xfrm>
            <a:off x="4815871" y="1995393"/>
            <a:ext cx="2941471" cy="591463"/>
          </a:xfrm>
          <a:prstGeom prst="rect">
            <a:avLst/>
          </a:prstGeom>
        </p:spPr>
      </p:pic>
      <p:pic>
        <p:nvPicPr>
          <p:cNvPr id="13" name="Picture 12">
            <a:extLst>
              <a:ext uri="{FF2B5EF4-FFF2-40B4-BE49-F238E27FC236}">
                <a16:creationId xmlns:a16="http://schemas.microsoft.com/office/drawing/2014/main" id="{0D0EDA72-A858-892C-A9D8-50C9E370532F}"/>
              </a:ext>
            </a:extLst>
          </p:cNvPr>
          <p:cNvPicPr>
            <a:picLocks noChangeAspect="1"/>
          </p:cNvPicPr>
          <p:nvPr/>
        </p:nvPicPr>
        <p:blipFill>
          <a:blip r:embed="rId6"/>
          <a:stretch>
            <a:fillRect/>
          </a:stretch>
        </p:blipFill>
        <p:spPr>
          <a:xfrm>
            <a:off x="4047498" y="2676231"/>
            <a:ext cx="4478218" cy="5914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a:p>
        </p:txBody>
      </p:sp>
      <p:pic>
        <p:nvPicPr>
          <p:cNvPr id="7" name="Picture 6">
            <a:extLst>
              <a:ext uri="{FF2B5EF4-FFF2-40B4-BE49-F238E27FC236}">
                <a16:creationId xmlns:a16="http://schemas.microsoft.com/office/drawing/2014/main" id="{8970859E-DC9B-C65D-C5FC-18E39CFEDE67}"/>
              </a:ext>
            </a:extLst>
          </p:cNvPr>
          <p:cNvPicPr>
            <a:picLocks noChangeAspect="1"/>
          </p:cNvPicPr>
          <p:nvPr/>
        </p:nvPicPr>
        <p:blipFill>
          <a:blip r:embed="rId3"/>
          <a:stretch>
            <a:fillRect/>
          </a:stretch>
        </p:blipFill>
        <p:spPr>
          <a:xfrm>
            <a:off x="605016" y="880488"/>
            <a:ext cx="7693335" cy="3283636"/>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E4839317-0214-7D57-A6D8-624516C57989}"/>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9CBB8115-3BD4-2DCB-5D12-07B358C07EAF}"/>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8D15651F-7758-630E-7A60-49F0B4B515D2}"/>
              </a:ext>
            </a:extLst>
          </p:cNvPr>
          <p:cNvSpPr txBox="1">
            <a:spLocks noGrp="1"/>
          </p:cNvSpPr>
          <p:nvPr>
            <p:ph type="body" idx="1"/>
          </p:nvPr>
        </p:nvSpPr>
        <p:spPr>
          <a:xfrm>
            <a:off x="202550" y="988643"/>
            <a:ext cx="8629800" cy="3631483"/>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Ground Truth Summary:</a:t>
            </a:r>
          </a:p>
          <a:p>
            <a:pPr marL="139700" indent="0">
              <a:spcBef>
                <a:spcPts val="400"/>
              </a:spcBef>
              <a:buClr>
                <a:schemeClr val="dk1"/>
              </a:buClr>
              <a:buSzPts val="1400"/>
              <a:buNone/>
            </a:pPr>
            <a:endParaRPr lang="en-US" sz="700" b="1" dirty="0"/>
          </a:p>
          <a:p>
            <a:pPr marL="133350" indent="0">
              <a:buNone/>
            </a:pPr>
            <a:r>
              <a:rPr lang="en-US" sz="1400" b="1" dirty="0"/>
              <a:t>Ground Truth</a:t>
            </a:r>
            <a:r>
              <a:rPr lang="en-US" sz="1400" dirty="0"/>
              <a:t> (</a:t>
            </a:r>
            <a:r>
              <a:rPr lang="en-US" sz="1400" b="1" dirty="0"/>
              <a:t>GT</a:t>
            </a:r>
            <a:r>
              <a:rPr lang="en-US" sz="1400" dirty="0"/>
              <a:t>) is a subset of the data with manually created verified, correct labels that represent the known right answers. It is used as a benchmark to measure how well the prompts perform. Without it, accuracy, precision, recall, or F1-scores cannot be calculated. It should be recognized that since it was created manually, it is subject to human biases.</a:t>
            </a:r>
          </a:p>
          <a:p>
            <a:pPr marL="133350" indent="0">
              <a:buNone/>
            </a:pPr>
            <a:endParaRPr lang="en-US" sz="1400" dirty="0"/>
          </a:p>
          <a:p>
            <a:pPr marL="133350" indent="0">
              <a:buNone/>
            </a:pPr>
            <a:r>
              <a:rPr lang="en-US" sz="1400" dirty="0"/>
              <a:t>To create the </a:t>
            </a:r>
            <a:r>
              <a:rPr lang="en-US" sz="1400" b="1" dirty="0"/>
              <a:t>GT</a:t>
            </a:r>
            <a:r>
              <a:rPr lang="en-US" sz="1400" dirty="0"/>
              <a:t>, 36 reviews were selected from the dataset. Each one was examined, then manually classified as </a:t>
            </a:r>
            <a:r>
              <a:rPr lang="en-US" sz="1400" b="1" dirty="0"/>
              <a:t>Positive</a:t>
            </a:r>
            <a:r>
              <a:rPr lang="en-US" sz="1400" dirty="0"/>
              <a:t>, </a:t>
            </a:r>
            <a:r>
              <a:rPr lang="en-US" sz="1400" b="1" dirty="0"/>
              <a:t>Negative</a:t>
            </a:r>
            <a:r>
              <a:rPr lang="en-US" sz="1400" dirty="0"/>
              <a:t>, or </a:t>
            </a:r>
            <a:r>
              <a:rPr lang="en-US" sz="1400" b="1" dirty="0"/>
              <a:t>Neutral</a:t>
            </a:r>
            <a:r>
              <a:rPr lang="en-US" sz="1400" dirty="0"/>
              <a:t>, and assigned appropriate tags This was saved as the reference dataset. This step must be completed before running any prompts to prevent bias.</a:t>
            </a:r>
          </a:p>
          <a:p>
            <a:pPr marL="133350" indent="0">
              <a:buNone/>
            </a:pPr>
            <a:endParaRPr lang="en-US" sz="1400" dirty="0"/>
          </a:p>
          <a:p>
            <a:pPr marL="133350" indent="0">
              <a:buNone/>
            </a:pPr>
            <a:r>
              <a:rPr lang="en-US" sz="1400" dirty="0"/>
              <a:t>To use, each prompt variation was run on the raw version of the rows in the GT.  The models’ raw data output was compared against the </a:t>
            </a:r>
            <a:r>
              <a:rPr lang="en-US" sz="1400" b="1" dirty="0"/>
              <a:t>GT. </a:t>
            </a:r>
            <a:r>
              <a:rPr lang="en-US" sz="1400" dirty="0"/>
              <a:t>This technique was used to select the best performer of each prompt type.</a:t>
            </a:r>
          </a:p>
          <a:p>
            <a:pPr marL="133350" indent="0">
              <a:buNone/>
            </a:pPr>
            <a:endParaRPr lang="en-US" sz="700" dirty="0"/>
          </a:p>
        </p:txBody>
      </p:sp>
    </p:spTree>
    <p:extLst>
      <p:ext uri="{BB962C8B-B14F-4D97-AF65-F5344CB8AC3E}">
        <p14:creationId xmlns:p14="http://schemas.microsoft.com/office/powerpoint/2010/main" val="29635307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A69A9308-F83F-3C84-FE51-72CE48D33AE0}"/>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FBDDFD1-6ED2-1F69-CFD1-9C123D54F116}"/>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B3ECEC4E-5829-ECD5-8895-6CE8D260BABC}"/>
              </a:ext>
            </a:extLst>
          </p:cNvPr>
          <p:cNvSpPr txBox="1">
            <a:spLocks noGrp="1"/>
          </p:cNvSpPr>
          <p:nvPr>
            <p:ph type="body" idx="1"/>
          </p:nvPr>
        </p:nvSpPr>
        <p:spPr>
          <a:xfrm>
            <a:off x="257100" y="961142"/>
            <a:ext cx="8629800" cy="3631483"/>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Ground Truth Summary:</a:t>
            </a:r>
          </a:p>
          <a:p>
            <a:pPr marL="139700" indent="0">
              <a:spcBef>
                <a:spcPts val="400"/>
              </a:spcBef>
              <a:buClr>
                <a:schemeClr val="dk1"/>
              </a:buClr>
              <a:buSzPts val="1400"/>
              <a:buNone/>
            </a:pPr>
            <a:endParaRPr lang="en-US" sz="700" b="1" dirty="0"/>
          </a:p>
          <a:p>
            <a:pPr marL="133350" indent="0">
              <a:buNone/>
            </a:pPr>
            <a:r>
              <a:rPr lang="en-US" sz="1400" b="1" dirty="0"/>
              <a:t>Ground Truth</a:t>
            </a:r>
            <a:r>
              <a:rPr lang="en-US" sz="1400" dirty="0"/>
              <a:t> (</a:t>
            </a:r>
            <a:r>
              <a:rPr lang="en-US" sz="1400" b="1" dirty="0"/>
              <a:t>GT</a:t>
            </a:r>
            <a:r>
              <a:rPr lang="en-US" sz="1400" dirty="0"/>
              <a:t>) is a subset of the data with manually created verified, correct labels that represent the known right answers. It is used as a benchmark to measure how well the prompts perform. Without it, accuracy, precision, recall, or F1-scores cannot be calculated. It should be recognized that since it was created manually, it is subject to human biases.</a:t>
            </a:r>
          </a:p>
          <a:p>
            <a:pPr marL="133350" indent="0">
              <a:buNone/>
            </a:pPr>
            <a:endParaRPr lang="en-US" sz="1400" dirty="0"/>
          </a:p>
          <a:p>
            <a:pPr marL="133350" indent="0">
              <a:buNone/>
            </a:pPr>
            <a:r>
              <a:rPr lang="en-US" sz="1400" dirty="0"/>
              <a:t>To create the </a:t>
            </a:r>
            <a:r>
              <a:rPr lang="en-US" sz="1400" b="1" dirty="0"/>
              <a:t>GT</a:t>
            </a:r>
            <a:r>
              <a:rPr lang="en-US" sz="1400" dirty="0"/>
              <a:t>, 36 reviews were selected from the dataset. Each one was examined, then manually classified as </a:t>
            </a:r>
            <a:r>
              <a:rPr lang="en-US" sz="1400" b="1" dirty="0"/>
              <a:t>Positive</a:t>
            </a:r>
            <a:r>
              <a:rPr lang="en-US" sz="1400" dirty="0"/>
              <a:t>, </a:t>
            </a:r>
            <a:r>
              <a:rPr lang="en-US" sz="1400" b="1" dirty="0"/>
              <a:t>Negative</a:t>
            </a:r>
            <a:r>
              <a:rPr lang="en-US" sz="1400" dirty="0"/>
              <a:t>, or </a:t>
            </a:r>
            <a:r>
              <a:rPr lang="en-US" sz="1400" b="1" dirty="0"/>
              <a:t>Neutral</a:t>
            </a:r>
            <a:r>
              <a:rPr lang="en-US" sz="1400" dirty="0"/>
              <a:t>, and assigned appropriate tags This was saved as the reference dataset. This step must be completed before running any prompts to prevent bias.</a:t>
            </a:r>
          </a:p>
          <a:p>
            <a:pPr marL="133350" indent="0">
              <a:buNone/>
            </a:pPr>
            <a:endParaRPr lang="en-US" sz="1400" dirty="0"/>
          </a:p>
          <a:p>
            <a:pPr marL="133350" indent="0">
              <a:buNone/>
            </a:pPr>
            <a:r>
              <a:rPr lang="en-US" sz="1400" dirty="0"/>
              <a:t>To use, each prompt variation was run on the raw version of the rows in the GT.  The models’ raw data output was compared against the </a:t>
            </a:r>
            <a:r>
              <a:rPr lang="en-US" sz="1400" b="1" dirty="0"/>
              <a:t>GT. </a:t>
            </a:r>
            <a:r>
              <a:rPr lang="en-US" sz="1400" dirty="0"/>
              <a:t>This technique was used to select the best performer of each prompt type.</a:t>
            </a:r>
          </a:p>
          <a:p>
            <a:pPr marL="133350" indent="0">
              <a:buNone/>
            </a:pPr>
            <a:endParaRPr lang="en-US" sz="700" dirty="0"/>
          </a:p>
        </p:txBody>
      </p:sp>
    </p:spTree>
    <p:extLst>
      <p:ext uri="{BB962C8B-B14F-4D97-AF65-F5344CB8AC3E}">
        <p14:creationId xmlns:p14="http://schemas.microsoft.com/office/powerpoint/2010/main" val="1909205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204B4CD5-6D67-ECFC-CCD5-B7CF606190D6}"/>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9DA9743-6F00-3737-B990-922F3200B3F0}"/>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pic>
        <p:nvPicPr>
          <p:cNvPr id="5" name="Picture 4">
            <a:extLst>
              <a:ext uri="{FF2B5EF4-FFF2-40B4-BE49-F238E27FC236}">
                <a16:creationId xmlns:a16="http://schemas.microsoft.com/office/drawing/2014/main" id="{C0A68AB8-6C35-D7F6-7AAC-0F57B471F0F5}"/>
              </a:ext>
            </a:extLst>
          </p:cNvPr>
          <p:cNvPicPr>
            <a:picLocks noChangeAspect="1"/>
          </p:cNvPicPr>
          <p:nvPr/>
        </p:nvPicPr>
        <p:blipFill>
          <a:blip r:embed="rId3"/>
          <a:stretch>
            <a:fillRect/>
          </a:stretch>
        </p:blipFill>
        <p:spPr>
          <a:xfrm>
            <a:off x="721430" y="811273"/>
            <a:ext cx="7563172" cy="3958637"/>
          </a:xfrm>
          <a:prstGeom prst="rect">
            <a:avLst/>
          </a:prstGeom>
        </p:spPr>
      </p:pic>
    </p:spTree>
    <p:extLst>
      <p:ext uri="{BB962C8B-B14F-4D97-AF65-F5344CB8AC3E}">
        <p14:creationId xmlns:p14="http://schemas.microsoft.com/office/powerpoint/2010/main" val="3153295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39"/>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Zero-Shot Prompt</a:t>
            </a:r>
            <a:endParaRPr dirty="0">
              <a:solidFill>
                <a:schemeClr val="lt2"/>
              </a:solidFill>
              <a:latin typeface="Century Gothic"/>
              <a:ea typeface="Century Gothic"/>
              <a:cs typeface="Century Gothic"/>
              <a:sym typeface="Century Gothic"/>
            </a:endParaRPr>
          </a:p>
        </p:txBody>
      </p:sp>
      <p:sp>
        <p:nvSpPr>
          <p:cNvPr id="176" name="Google Shape;176;p39"/>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4E24288-D407-BEA9-C3E8-CC3E496CCE7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C0CADF5-6926-EFB5-030E-46F9B6B9FA6D}"/>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C2EBD759-08F0-0509-4D87-5CAD1768B15E}"/>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4017075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5EF139BA-A270-932B-5EF4-E97E8CD415E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B410E53B-3B4E-6EC9-2FCC-1CDBEACE83D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B17897DC-3AEF-0FA4-A970-B89A7B6B41B2}"/>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699338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7C46B6B-D3FC-2F97-A8B0-76E73B93B17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583032B-0337-55EC-ABBF-E1224211B5A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7F471343-E834-D3B0-2280-7767312BBB1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746316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A75C341-2291-42C0-DE61-55817F115B4E}"/>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10FFE483-5FCE-AB20-DA7F-45AD5475F0F1}"/>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Chain of Thought (CoT) Prompt – Zero-Shot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C502FD56-E56A-D5BB-3797-1E9B6B605CDD}"/>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18026279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6BA10A97-31E3-619E-AC9B-91188001BE5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EEC753D-53CE-C38C-61A0-CC99DB74C408}"/>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Zero-Shot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6BBE67A-4404-F837-B25A-A4502B362BC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6119676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912A800-D97D-3305-C5B3-F2F450F222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0AD01F67-918D-19AD-50D9-3265E12DBEF2}"/>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0916A42-7F47-9EFA-4B19-C24D95B2519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8658243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DD1CA60B-D472-A2EA-ADC3-0FD0D22DF7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F1F36B5-19E5-CA80-5A7F-72103099A795}"/>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81C781D4-0044-3464-B3D3-2ED6A753126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6503958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4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Testing Results Comparison Analysis</a:t>
            </a:r>
            <a:endParaRPr dirty="0">
              <a:solidFill>
                <a:schemeClr val="lt2"/>
              </a:solidFill>
              <a:latin typeface="Century Gothic"/>
              <a:ea typeface="Century Gothic"/>
              <a:cs typeface="Century Gothic"/>
              <a:sym typeface="Century Gothic"/>
            </a:endParaRPr>
          </a:p>
        </p:txBody>
      </p:sp>
      <p:sp>
        <p:nvSpPr>
          <p:cNvPr id="182" name="Google Shape;182;p40"/>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B1BDCEA3-319E-203F-0792-93DA08114F5A}"/>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19803881-D807-14DD-D17B-DBCE722295CF}"/>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Best Performing Models</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D6B2DC45-4894-AFCE-4A4C-729A0DE9A42D}"/>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4F35F4F7-4719-AEC0-FD2C-D58CCA7E6ECA}"/>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3636244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71B6E868-FBB6-A003-0601-74D06F71DA71}"/>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6822A9A0-3D5C-0DAE-8723-EC04E8ADA586}"/>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Classification Results of Full Dataset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C7A3DAA6-0994-2CC5-5118-97A54BDFE025}"/>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F649C90F-DC2B-4473-2DB4-8C8148FE85CD}"/>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8835281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C033B36F-314C-5C4D-411D-9355CCEC139C}"/>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AFD471D7-661B-6372-D2C7-CDF0221650B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Output from the Prompt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33D16129-D9DE-5DD7-F9D7-90B7F78D280F}"/>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B9D687A5-10CF-5CB1-AAA1-5C5F11B2A9BF}"/>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21699734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1"/>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Observations/Insights and conclusions</a:t>
            </a:r>
            <a:endParaRPr>
              <a:solidFill>
                <a:schemeClr val="lt2"/>
              </a:solidFill>
              <a:latin typeface="Century Gothic"/>
              <a:ea typeface="Century Gothic"/>
              <a:cs typeface="Century Gothic"/>
              <a:sym typeface="Century Gothic"/>
            </a:endParaRPr>
          </a:p>
        </p:txBody>
      </p:sp>
      <p:sp>
        <p:nvSpPr>
          <p:cNvPr id="189" name="Google Shape;189;p41"/>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observations, insights and conclusions from this exercise</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your recommendations for a business looking to adopt a solution such as this</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dirty="0">
              <a:solidFill>
                <a:schemeClr val="dk1"/>
              </a:solidFill>
              <a:latin typeface="Century Gothic"/>
              <a:ea typeface="Century Gothic"/>
              <a:cs typeface="Century Gothic"/>
              <a:sym typeface="Century Gothic"/>
            </a:endParaRPr>
          </a:p>
        </p:txBody>
      </p:sp>
      <p:sp>
        <p:nvSpPr>
          <p:cNvPr id="190" name="Google Shape;190;p41"/>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42"/>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4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Dataset overview</a:t>
            </a:r>
            <a:endParaRPr>
              <a:solidFill>
                <a:schemeClr val="lt2"/>
              </a:solidFill>
              <a:latin typeface="Century Gothic"/>
              <a:ea typeface="Century Gothic"/>
              <a:cs typeface="Century Gothic"/>
              <a:sym typeface="Century Gothic"/>
            </a:endParaRPr>
          </a:p>
        </p:txBody>
      </p:sp>
      <p:sp>
        <p:nvSpPr>
          <p:cNvPr id="201" name="Google Shape;201;p4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rgbClr val="000000"/>
              </a:buClr>
              <a:buSzPts val="1400"/>
              <a:buFont typeface="Century Gothic"/>
              <a:buChar char="●"/>
            </a:pPr>
            <a:r>
              <a:rPr lang="en" sz="1400">
                <a:solidFill>
                  <a:schemeClr val="dk1"/>
                </a:solidFill>
                <a:latin typeface="Century Gothic"/>
                <a:ea typeface="Century Gothic"/>
                <a:cs typeface="Century Gothic"/>
                <a:sym typeface="Century Gothic"/>
              </a:rPr>
              <a:t>Please mention the dataset overview</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4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07" name="Google Shape;207;p4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4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15" name="Google Shape;215;p4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
              <a:t>30</a:t>
            </a:fld>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2661</TotalTime>
  <Words>1537</Words>
  <Application>Microsoft Office PowerPoint</Application>
  <PresentationFormat>On-screen Show (16:9)</PresentationFormat>
  <Paragraphs>198</Paragraphs>
  <Slides>30</Slides>
  <Notes>27</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30</vt:i4>
      </vt:variant>
    </vt:vector>
  </HeadingPairs>
  <TitlesOfParts>
    <vt:vector size="40" baseType="lpstr">
      <vt:lpstr>Wingdings</vt:lpstr>
      <vt:lpstr>Century Gothic</vt:lpstr>
      <vt:lpstr>Nunito SemiBold</vt:lpstr>
      <vt:lpstr>Nunito</vt:lpstr>
      <vt:lpstr>Calibri</vt:lpstr>
      <vt:lpstr>Arial</vt:lpstr>
      <vt:lpstr>Nunito ExtraBold</vt:lpstr>
      <vt:lpstr>Simple Light</vt:lpstr>
      <vt:lpstr>Just Logo</vt:lpstr>
      <vt:lpstr>Just Logo</vt:lpstr>
      <vt:lpstr>John Buczkowski December 29th, 2025</vt:lpstr>
      <vt:lpstr>Contents / Agenda</vt:lpstr>
      <vt:lpstr>Project Goals And Objectives</vt:lpstr>
      <vt:lpstr>Project Goals And Objectives</vt:lpstr>
      <vt:lpstr>Definitions</vt:lpstr>
      <vt:lpstr>Solution Approach </vt:lpstr>
      <vt:lpstr>Solution Approach </vt:lpstr>
      <vt:lpstr>Expected Outcomes </vt:lpstr>
      <vt:lpstr>PowerPoint Presentation</vt:lpstr>
      <vt:lpstr>PowerPoint Presentation</vt:lpstr>
      <vt:lpstr>Ground Truth Dataset</vt:lpstr>
      <vt:lpstr>Ground Truth Dataset</vt:lpstr>
      <vt:lpstr>Ground Truth Dataset</vt:lpstr>
      <vt:lpstr>Zero-Shot Prompt</vt:lpstr>
      <vt:lpstr>Zero-Shot Prompt Results</vt:lpstr>
      <vt:lpstr>Few-Shot Prompt</vt:lpstr>
      <vt:lpstr>Few-Shot Prompt Results</vt:lpstr>
      <vt:lpstr>Chain of Thought (CoT) Prompt – Zero-Shot</vt:lpstr>
      <vt:lpstr>CoT Prompt – Zero-Shot - Results</vt:lpstr>
      <vt:lpstr>CoT Prompt – Few-Shot</vt:lpstr>
      <vt:lpstr>CoT Prompt – Few-Shot - Results</vt:lpstr>
      <vt:lpstr>Ground Truth Testing Results Comparison Analysis</vt:lpstr>
      <vt:lpstr>Best Performing Models</vt:lpstr>
      <vt:lpstr>Classification Results of Full Dataset</vt:lpstr>
      <vt:lpstr>Output from the Prompt</vt:lpstr>
      <vt:lpstr>Observations/Insights and conclusions</vt:lpstr>
      <vt:lpstr>APPENDIX</vt:lpstr>
      <vt:lpstr>Dataset overview</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52</cp:revision>
  <dcterms:modified xsi:type="dcterms:W3CDTF">2026-01-01T03:10:41Z</dcterms:modified>
</cp:coreProperties>
</file>