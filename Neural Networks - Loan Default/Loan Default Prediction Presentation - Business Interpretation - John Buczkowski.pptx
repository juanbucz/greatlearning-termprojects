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 id="2147483680" r:id="rId3"/>
  </p:sldMasterIdLst>
  <p:notesMasterIdLst>
    <p:notesMasterId r:id="rId53"/>
  </p:notesMasterIdLst>
  <p:sldIdLst>
    <p:sldId id="256" r:id="rId4"/>
    <p:sldId id="257" r:id="rId5"/>
    <p:sldId id="258" r:id="rId6"/>
    <p:sldId id="259" r:id="rId7"/>
    <p:sldId id="278" r:id="rId8"/>
    <p:sldId id="288" r:id="rId9"/>
    <p:sldId id="289" r:id="rId10"/>
    <p:sldId id="290" r:id="rId11"/>
    <p:sldId id="286" r:id="rId12"/>
    <p:sldId id="291" r:id="rId13"/>
    <p:sldId id="287" r:id="rId14"/>
    <p:sldId id="262" r:id="rId15"/>
    <p:sldId id="293" r:id="rId16"/>
    <p:sldId id="294" r:id="rId17"/>
    <p:sldId id="295" r:id="rId18"/>
    <p:sldId id="296" r:id="rId19"/>
    <p:sldId id="297" r:id="rId20"/>
    <p:sldId id="298" r:id="rId21"/>
    <p:sldId id="299" r:id="rId22"/>
    <p:sldId id="300" r:id="rId23"/>
    <p:sldId id="301" r:id="rId24"/>
    <p:sldId id="303" r:id="rId25"/>
    <p:sldId id="304" r:id="rId26"/>
    <p:sldId id="305" r:id="rId27"/>
    <p:sldId id="306" r:id="rId28"/>
    <p:sldId id="307" r:id="rId29"/>
    <p:sldId id="308" r:id="rId30"/>
    <p:sldId id="309" r:id="rId31"/>
    <p:sldId id="310" r:id="rId32"/>
    <p:sldId id="312" r:id="rId33"/>
    <p:sldId id="313" r:id="rId34"/>
    <p:sldId id="314" r:id="rId35"/>
    <p:sldId id="315" r:id="rId36"/>
    <p:sldId id="311"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Lst>
  <p:sldSz cx="9144000" cy="5143500" type="screen16x9"/>
  <p:notesSz cx="6858000" cy="9144000"/>
  <p:embeddedFontLst>
    <p:embeddedFont>
      <p:font typeface="Century Gothic" panose="020B0502020202020204" pitchFamily="34" charset="0"/>
      <p:regular r:id="rId54"/>
      <p:bold r:id="rId55"/>
      <p:italic r:id="rId56"/>
      <p:boldItalic r:id="rId57"/>
    </p:embeddedFont>
    <p:embeddedFont>
      <p:font typeface="Nunito" pitchFamily="2" charset="0"/>
      <p:regular r:id="rId58"/>
      <p:bold r:id="rId59"/>
      <p:italic r:id="rId60"/>
      <p:boldItalic r:id="rId61"/>
    </p:embeddedFont>
    <p:embeddedFont>
      <p:font typeface="Nunito ExtraBold" pitchFamily="2" charset="0"/>
      <p:bold r:id="rId62"/>
      <p:boldItalic r:id="rId63"/>
    </p:embeddedFont>
    <p:embeddedFont>
      <p:font typeface="Nunito SemiBold" pitchFamily="2" charset="0"/>
      <p:regular r:id="rId64"/>
      <p:bold r:id="rId65"/>
      <p:italic r:id="rId66"/>
      <p:boldItalic r:id="rId6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CFC87C6-1A0B-40AD-94C4-E44D0AB50E7B}">
  <a:tblStyle styleId="{4CFC87C6-1A0B-40AD-94C4-E44D0AB50E7B}"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 styleId="{36976CF4-DB81-4460-9A5E-51383ADFE053}" styleName="Table_1">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EEF"/>
          </a:solidFill>
        </a:fill>
      </a:tcStyle>
    </a:wholeTbl>
    <a:band1H>
      <a:tcTxStyle b="off" i="off"/>
      <a:tcStyle>
        <a:tcBdr/>
        <a:fill>
          <a:solidFill>
            <a:srgbClr val="D5DBDE"/>
          </a:solidFill>
        </a:fill>
      </a:tcStyle>
    </a:band1H>
    <a:band2H>
      <a:tcTxStyle b="off" i="off"/>
      <a:tcStyle>
        <a:tcBdr/>
      </a:tcStyle>
    </a:band2H>
    <a:band1V>
      <a:tcTxStyle b="off" i="off"/>
      <a:tcStyle>
        <a:tcBdr/>
        <a:fill>
          <a:solidFill>
            <a:srgbClr val="D5DBDE"/>
          </a:solidFill>
        </a:fill>
      </a:tcStyle>
    </a:band1V>
    <a:band2V>
      <a:tcTxStyle b="off" i="off"/>
      <a:tcStyle>
        <a:tcBdr/>
      </a:tcStyle>
    </a:band2V>
    <a:lastCol>
      <a:tcTxStyle b="on" i="off">
        <a:font>
          <a:latin typeface="Arial"/>
          <a:ea typeface="Arial"/>
          <a:cs typeface="Arial"/>
        </a:font>
        <a:schemeClr val="lt1"/>
      </a:tcTxStyle>
      <a:tcStyle>
        <a:tcBdr/>
        <a:fill>
          <a:solidFill>
            <a:schemeClr val="accent3"/>
          </a:solidFill>
        </a:fill>
      </a:tcStyle>
    </a:lastCol>
    <a:firstCol>
      <a:tcTxStyle b="on" i="off">
        <a:font>
          <a:latin typeface="Arial"/>
          <a:ea typeface="Arial"/>
          <a:cs typeface="Arial"/>
        </a:font>
        <a:schemeClr val="lt1"/>
      </a:tcTxStyle>
      <a:tcStyle>
        <a:tcBdr/>
        <a:fill>
          <a:solidFill>
            <a:schemeClr val="accent3"/>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3"/>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3"/>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5" d="100"/>
          <a:sy n="135" d="100"/>
        </p:scale>
        <p:origin x="222" y="11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font" Target="fonts/font10.fntdata"/><Relationship Id="rId68" Type="http://schemas.openxmlformats.org/officeDocument/2006/relationships/presProps" Target="presProps.xml"/><Relationship Id="rId7" Type="http://schemas.openxmlformats.org/officeDocument/2006/relationships/slide" Target="slides/slide4.xml"/><Relationship Id="rId71"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notesMaster" Target="notesMasters/notesMaster1.xml"/><Relationship Id="rId58" Type="http://schemas.openxmlformats.org/officeDocument/2006/relationships/font" Target="fonts/font5.fntdata"/><Relationship Id="rId66" Type="http://schemas.openxmlformats.org/officeDocument/2006/relationships/font" Target="fonts/font13.fntdata"/><Relationship Id="rId5" Type="http://schemas.openxmlformats.org/officeDocument/2006/relationships/slide" Target="slides/slide2.xml"/><Relationship Id="rId61" Type="http://schemas.openxmlformats.org/officeDocument/2006/relationships/font" Target="fonts/font8.fntdata"/><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font" Target="fonts/font3.fntdata"/><Relationship Id="rId64" Type="http://schemas.openxmlformats.org/officeDocument/2006/relationships/font" Target="fonts/font11.fntdata"/><Relationship Id="rId69"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font" Target="fonts/font6.fntdata"/><Relationship Id="rId67" Type="http://schemas.openxmlformats.org/officeDocument/2006/relationships/font" Target="fonts/font14.fntdata"/><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font" Target="fonts/font1.fntdata"/><Relationship Id="rId62" Type="http://schemas.openxmlformats.org/officeDocument/2006/relationships/font" Target="fonts/font9.fntdata"/><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font" Target="fonts/font4.fnt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font" Target="fonts/font7.fntdata"/><Relationship Id="rId65" Type="http://schemas.openxmlformats.org/officeDocument/2006/relationships/font" Target="fonts/font12.fntdata"/><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3:notes"/>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732649BE-75EE-08D1-4487-F972587A41AD}"/>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8DA364A2-CEA1-8ED1-1DE3-8E290891E237}"/>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3AD541C3-BBE0-74CC-7A05-0F4A8711A0B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142879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44527584-FDA4-3E5C-069A-7614770AB153}"/>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ED7AD44A-83AA-D185-CA3E-B29CE2F6F088}"/>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7027A506-9288-6817-0FB4-DF865D79BC8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31408719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2C3A470F-7C49-66B7-70A9-76C42CBB05E4}"/>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7BF72678-B86D-1E88-54E0-ED1474DEC03C}"/>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6B2D960A-8536-1915-584A-175EAF2CBE72}"/>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8940086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9634B0-CE6E-C201-D6E4-330E83608EB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081FB99-D061-F218-4432-12A50FECA9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9DA6073-53F8-2B50-0D4C-6382AB695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575933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5BF3E70-71EB-F971-5579-502BC97D88F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534FE61C-1CA5-19B0-0C32-64BCEE27AF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10C5176-E6A3-EB4D-0322-C9B128C5015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02703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204D93A-0F44-8782-B0C3-3D6E8692929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3E632DD-3771-FB9F-F52D-16702885B5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D05E878-9279-64EC-3588-12CDDA41897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9457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1F071F-9B23-A49E-68A0-7739CC478F4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EF7C748-23D4-EBF7-4FC6-6FDE29B174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16BC03EC-24DD-2A2E-3F06-7E875D34BFE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17378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BBD698A-125A-0F38-CAC2-57859E6AEB6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DCE9567-1275-3B4D-9072-2EE82C5E51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E69023D-4F50-1779-94C0-4117A847205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200630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7F34E7-61D8-906F-98D5-79BDB8F80FD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3541067-907C-3E7C-7F0A-837501EDB2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2568569-8231-697D-0923-42077E2421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161477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E2B0473F-9D89-D2D2-8360-DF9F7F9ABB1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0FA57F0-F0FA-6FE1-1F42-1FAD316C40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281FD06-90D2-09F9-565A-B24B437AF6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616117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645B68E-3C12-DA26-451E-04625BA53438}"/>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D586A12-176E-FB86-F9ED-FE2B8DB804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E28A44-595C-9EC9-68BD-7EE6559C170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42103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4F6DEAA-1F9F-0EDD-DDB9-B8E9EA6BA09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82B398E-F771-6DAA-A77C-7A6039296D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DA6A994-6F38-282E-C0A0-4A838F02F69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200812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3E42EEF-2238-2A6A-32F6-ACD05D44390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44B5C24-85BB-DC3A-4C52-D86A061674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8CB5A3-26D0-108A-4E96-17CE0AA5200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023069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6A391D-E888-4EC9-9944-6E9B1A279B2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C3337DA-447A-CE03-15BF-72EFE7C325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D560A0E4-29F0-E4EE-3346-3575DECB56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722871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300546BD-351A-315A-41C6-A79C65316F9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A99C8879-C341-2A15-1C40-5E7372766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C448E87-B441-2293-2F66-CF3ED1390F6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74642531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612E64B-9B16-0FCE-D259-090D4C60318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78C1A23-0DD6-697F-D97D-DFD9E7D5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44832D2-C050-11A8-88CF-9B4DA70A0E6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478148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E778F29-A810-1218-2CD5-5665A550A6C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E5F8F381-2F76-CE90-ABCF-F6BBBE6D95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4B34A52-7D57-13C0-8EDA-BCF0E127E5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5619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C5792405-6B33-3B19-577D-3E1DD4014F7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8D43D4D-4799-8584-9EC1-0C6CB07E3B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4D73330-451B-429A-F671-186ACFD7C4E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336634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E53B766-6AD7-ED88-A232-A626406D6111}"/>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396AA9D-E07E-40A3-B358-381B946395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60B05D1-258B-E237-934E-58741938EE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49493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9238B51-5C21-821C-A4E6-883F388C130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FF093A9-7B85-246B-3EA0-F6925BFB97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587EF50-AF5C-BF27-2133-25137F46A3D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25905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02F28B7-5585-7C32-5EA0-EEE90FD6BB7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B0D57C0E-BCBB-321D-84AD-21BF4D863A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DF2B3DB-DB61-5586-F79F-6F1FF47DB2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220368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019F31-3A3F-CA5A-97DC-FE5C299A2DC9}"/>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4918353-388F-15E2-76A4-88013BB3F2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62EDEA7-58BF-B85B-140D-53998B425F4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75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AB4762A-8ACD-10AA-0119-01EDA279E7E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B616732-9D22-BC13-BEC1-5C441760C0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6486467-9044-DCAA-2E63-2093ADF3C32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0506411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0A94EF6-68E0-296F-6302-68C505BA433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6E212AD2-C6EE-ABED-8069-49FDC9031D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E11D55A-162C-7F98-62D8-421C5CA6BA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9599562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5" name="Google Shape;215;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85ad5efe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5" name="Google Shape;275;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 name="Google Shape;276;p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49</a:t>
            </a:fld>
            <a:endParaRPr sz="1200" b="0" i="0" u="none" strike="noStrike" cap="none">
              <a:solidFill>
                <a:schemeClr val="dk1"/>
              </a:solidFill>
              <a:latin typeface="Calibri"/>
              <a:ea typeface="Calibri"/>
              <a:cs typeface="Calibri"/>
              <a:sym typeface="Calibri"/>
            </a:endParaRPr>
          </a:p>
        </p:txBody>
      </p:sp>
      <p:sp>
        <p:nvSpPr>
          <p:cNvPr id="277" name="Google Shape;277;p27: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6" name="Google Shape;16;p2"/>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 name="Google Shape;19;p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0" name="Google Shape;20;p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3" name="Google Shape;23;p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6" name="Google Shape;26;p5"/>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7" name="Google Shape;27;p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0" name="Google Shape;30;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1" name="Google Shape;31;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2" name="Google Shape;32;p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5" name="Google Shape;35;p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44" name="Google Shape;44;p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1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47"/>
        <p:cNvGrpSpPr/>
        <p:nvPr/>
      </p:nvGrpSpPr>
      <p:grpSpPr>
        <a:xfrm>
          <a:off x="0" y="0"/>
          <a:ext cx="0" cy="0"/>
          <a:chOff x="0" y="0"/>
          <a:chExt cx="0" cy="0"/>
        </a:xfrm>
      </p:grpSpPr>
      <p:sp>
        <p:nvSpPr>
          <p:cNvPr id="48" name="Google Shape;48;p11"/>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 name="Google Shape;49;p11"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50" name="Google Shape;50;p11"/>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51" name="Google Shape;51;p11"/>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52" name="Google Shape;52;p11"/>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4" name="Google Shape;64;p1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8" name="Google Shape;68;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9"/>
        <p:cNvGrpSpPr/>
        <p:nvPr/>
      </p:nvGrpSpPr>
      <p:grpSpPr>
        <a:xfrm>
          <a:off x="0" y="0"/>
          <a:ext cx="0" cy="0"/>
          <a:chOff x="0" y="0"/>
          <a:chExt cx="0" cy="0"/>
        </a:xfrm>
      </p:grpSpPr>
      <p:sp>
        <p:nvSpPr>
          <p:cNvPr id="70" name="Google Shape;70;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71" name="Google Shape;71;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74" name="Google Shape;74;p16"/>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5" name="Google Shape;75;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6"/>
        <p:cNvGrpSpPr/>
        <p:nvPr/>
      </p:nvGrpSpPr>
      <p:grpSpPr>
        <a:xfrm>
          <a:off x="0" y="0"/>
          <a:ext cx="0" cy="0"/>
          <a:chOff x="0" y="0"/>
          <a:chExt cx="0" cy="0"/>
        </a:xfrm>
      </p:grpSpPr>
      <p:sp>
        <p:nvSpPr>
          <p:cNvPr id="77" name="Google Shape;77;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78" name="Google Shape;78;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79" name="Google Shape;79;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0" name="Google Shape;80;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1"/>
        <p:cNvGrpSpPr/>
        <p:nvPr/>
      </p:nvGrpSpPr>
      <p:grpSpPr>
        <a:xfrm>
          <a:off x="0" y="0"/>
          <a:ext cx="0" cy="0"/>
          <a:chOff x="0" y="0"/>
          <a:chExt cx="0" cy="0"/>
        </a:xfrm>
      </p:grpSpPr>
      <p:sp>
        <p:nvSpPr>
          <p:cNvPr id="82" name="Google Shape;82;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83" name="Google Shape;83;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4"/>
        <p:cNvGrpSpPr/>
        <p:nvPr/>
      </p:nvGrpSpPr>
      <p:grpSpPr>
        <a:xfrm>
          <a:off x="0" y="0"/>
          <a:ext cx="0" cy="0"/>
          <a:chOff x="0" y="0"/>
          <a:chExt cx="0" cy="0"/>
        </a:xfrm>
      </p:grpSpPr>
      <p:sp>
        <p:nvSpPr>
          <p:cNvPr id="85" name="Google Shape;85;p1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6" name="Google Shape;86;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7"/>
        <p:cNvGrpSpPr/>
        <p:nvPr/>
      </p:nvGrpSpPr>
      <p:grpSpPr>
        <a:xfrm>
          <a:off x="0" y="0"/>
          <a:ext cx="0" cy="0"/>
          <a:chOff x="0" y="0"/>
          <a:chExt cx="0" cy="0"/>
        </a:xfrm>
      </p:grpSpPr>
      <p:sp>
        <p:nvSpPr>
          <p:cNvPr id="88" name="Google Shape;88;p2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2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0" name="Google Shape;90;p2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1" name="Google Shape;91;p2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92" name="Google Shape;92;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5"/>
        <p:cNvGrpSpPr/>
        <p:nvPr/>
      </p:nvGrpSpPr>
      <p:grpSpPr>
        <a:xfrm>
          <a:off x="0" y="0"/>
          <a:ext cx="0" cy="0"/>
          <a:chOff x="0" y="0"/>
          <a:chExt cx="0" cy="0"/>
        </a:xfrm>
      </p:grpSpPr>
      <p:sp>
        <p:nvSpPr>
          <p:cNvPr id="96" name="Google Shape;96;p22"/>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7" name="Google Shape;97;p22" descr="A close up of a logo&#10;&#10;Description automatically generated"/>
          <p:cNvPicPr preferRelativeResize="0"/>
          <p:nvPr/>
        </p:nvPicPr>
        <p:blipFill rotWithShape="1">
          <a:blip r:embed="rId2">
            <a:alphaModFix/>
          </a:blip>
          <a:srcRect l="42816" t="18360" r="37293" b="19147"/>
          <a:stretch/>
        </p:blipFill>
        <p:spPr>
          <a:xfrm>
            <a:off x="6052536" y="514443"/>
            <a:ext cx="2095112" cy="3703320"/>
          </a:xfrm>
          <a:prstGeom prst="rect">
            <a:avLst/>
          </a:prstGeom>
          <a:noFill/>
          <a:ln>
            <a:noFill/>
          </a:ln>
        </p:spPr>
      </p:pic>
      <p:sp>
        <p:nvSpPr>
          <p:cNvPr id="98" name="Google Shape;98;p22"/>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9" name="Google Shape;99;p22"/>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00" name="Google Shape;100;p22"/>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10"/>
        <p:cNvGrpSpPr/>
        <p:nvPr/>
      </p:nvGrpSpPr>
      <p:grpSpPr>
        <a:xfrm>
          <a:off x="0" y="0"/>
          <a:ext cx="0" cy="0"/>
          <a:chOff x="0" y="0"/>
          <a:chExt cx="0" cy="0"/>
        </a:xfrm>
      </p:grpSpPr>
      <p:sp>
        <p:nvSpPr>
          <p:cNvPr id="111" name="Google Shape;111;p24"/>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12" name="Google Shape;112;p24"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113" name="Google Shape;113;p24"/>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4" name="Google Shape;114;p24"/>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5" name="Google Shape;115;p24"/>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6"/>
        <p:cNvGrpSpPr/>
        <p:nvPr/>
      </p:nvGrpSpPr>
      <p:grpSpPr>
        <a:xfrm>
          <a:off x="0" y="0"/>
          <a:ext cx="0" cy="0"/>
          <a:chOff x="0" y="0"/>
          <a:chExt cx="0" cy="0"/>
        </a:xfrm>
      </p:grpSpPr>
      <p:sp>
        <p:nvSpPr>
          <p:cNvPr id="117" name="Google Shape;117;p25"/>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8" name="Google Shape;118;p25"/>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9"/>
        <p:cNvGrpSpPr/>
        <p:nvPr/>
      </p:nvGrpSpPr>
      <p:grpSpPr>
        <a:xfrm>
          <a:off x="0" y="0"/>
          <a:ext cx="0" cy="0"/>
          <a:chOff x="0" y="0"/>
          <a:chExt cx="0" cy="0"/>
        </a:xfrm>
      </p:grpSpPr>
      <p:sp>
        <p:nvSpPr>
          <p:cNvPr id="120" name="Google Shape;120;p2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21" name="Google Shape;121;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2"/>
        <p:cNvGrpSpPr/>
        <p:nvPr/>
      </p:nvGrpSpPr>
      <p:grpSpPr>
        <a:xfrm>
          <a:off x="0" y="0"/>
          <a:ext cx="0" cy="0"/>
          <a:chOff x="0" y="0"/>
          <a:chExt cx="0" cy="0"/>
        </a:xfrm>
      </p:grpSpPr>
      <p:sp>
        <p:nvSpPr>
          <p:cNvPr id="123" name="Google Shape;123;p2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24" name="Google Shape;124;p2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5" name="Google Shape;125;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6"/>
        <p:cNvGrpSpPr/>
        <p:nvPr/>
      </p:nvGrpSpPr>
      <p:grpSpPr>
        <a:xfrm>
          <a:off x="0" y="0"/>
          <a:ext cx="0" cy="0"/>
          <a:chOff x="0" y="0"/>
          <a:chExt cx="0" cy="0"/>
        </a:xfrm>
      </p:grpSpPr>
      <p:sp>
        <p:nvSpPr>
          <p:cNvPr id="127" name="Google Shape;127;p2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128" name="Google Shape;128;p28"/>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9" name="Google Shape;129;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0"/>
        <p:cNvGrpSpPr/>
        <p:nvPr/>
      </p:nvGrpSpPr>
      <p:grpSpPr>
        <a:xfrm>
          <a:off x="0" y="0"/>
          <a:ext cx="0" cy="0"/>
          <a:chOff x="0" y="0"/>
          <a:chExt cx="0" cy="0"/>
        </a:xfrm>
      </p:grpSpPr>
      <p:sp>
        <p:nvSpPr>
          <p:cNvPr id="131" name="Google Shape;131;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2" name="Google Shape;132;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3" name="Google Shape;133;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4" name="Google Shape;134;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5"/>
        <p:cNvGrpSpPr/>
        <p:nvPr/>
      </p:nvGrpSpPr>
      <p:grpSpPr>
        <a:xfrm>
          <a:off x="0" y="0"/>
          <a:ext cx="0" cy="0"/>
          <a:chOff x="0" y="0"/>
          <a:chExt cx="0" cy="0"/>
        </a:xfrm>
      </p:grpSpPr>
      <p:sp>
        <p:nvSpPr>
          <p:cNvPr id="136" name="Google Shape;136;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7" name="Google Shape;137;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8"/>
        <p:cNvGrpSpPr/>
        <p:nvPr/>
      </p:nvGrpSpPr>
      <p:grpSpPr>
        <a:xfrm>
          <a:off x="0" y="0"/>
          <a:ext cx="0" cy="0"/>
          <a:chOff x="0" y="0"/>
          <a:chExt cx="0" cy="0"/>
        </a:xfrm>
      </p:grpSpPr>
      <p:sp>
        <p:nvSpPr>
          <p:cNvPr id="139" name="Google Shape;139;p3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40" name="Google Shape;140;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1"/>
        <p:cNvGrpSpPr/>
        <p:nvPr/>
      </p:nvGrpSpPr>
      <p:grpSpPr>
        <a:xfrm>
          <a:off x="0" y="0"/>
          <a:ext cx="0" cy="0"/>
          <a:chOff x="0" y="0"/>
          <a:chExt cx="0" cy="0"/>
        </a:xfrm>
      </p:grpSpPr>
      <p:sp>
        <p:nvSpPr>
          <p:cNvPr id="142" name="Google Shape;142;p3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3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44" name="Google Shape;144;p3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45" name="Google Shape;145;p3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146" name="Google Shape;146;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7"/>
        <p:cNvGrpSpPr/>
        <p:nvPr/>
      </p:nvGrpSpPr>
      <p:grpSpPr>
        <a:xfrm>
          <a:off x="0" y="0"/>
          <a:ext cx="0" cy="0"/>
          <a:chOff x="0" y="0"/>
          <a:chExt cx="0" cy="0"/>
        </a:xfrm>
      </p:grpSpPr>
      <p:sp>
        <p:nvSpPr>
          <p:cNvPr id="148" name="Google Shape;148;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1.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image" Target="../media/image1.png"/><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theme" Target="../theme/theme3.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 name="Google Shape;10;p1"/>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1" name="Google Shape;11;p1"/>
          <p:cNvGrpSpPr/>
          <p:nvPr/>
        </p:nvGrpSpPr>
        <p:grpSpPr>
          <a:xfrm>
            <a:off x="6593" y="10"/>
            <a:ext cx="175500" cy="709221"/>
            <a:chOff x="6593" y="10"/>
            <a:chExt cx="175500" cy="709221"/>
          </a:xfrm>
        </p:grpSpPr>
        <p:sp>
          <p:nvSpPr>
            <p:cNvPr id="12" name="Google Shape;12;p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3"/>
        <p:cNvGrpSpPr/>
        <p:nvPr/>
      </p:nvGrpSpPr>
      <p:grpSpPr>
        <a:xfrm>
          <a:off x="0" y="0"/>
          <a:ext cx="0" cy="0"/>
          <a:chOff x="0" y="0"/>
          <a:chExt cx="0" cy="0"/>
        </a:xfrm>
      </p:grpSpPr>
      <p:sp>
        <p:nvSpPr>
          <p:cNvPr id="54" name="Google Shape;54;p1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5" name="Google Shape;55;p12"/>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6" name="Google Shape;56;p12"/>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7" name="Google Shape;57;p1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58" name="Google Shape;58;p12"/>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9" name="Google Shape;59;p12"/>
          <p:cNvGrpSpPr/>
          <p:nvPr/>
        </p:nvGrpSpPr>
        <p:grpSpPr>
          <a:xfrm>
            <a:off x="6593" y="10"/>
            <a:ext cx="175500" cy="709221"/>
            <a:chOff x="6593" y="10"/>
            <a:chExt cx="175500" cy="709221"/>
          </a:xfrm>
        </p:grpSpPr>
        <p:sp>
          <p:nvSpPr>
            <p:cNvPr id="60" name="Google Shape;60;p12"/>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12"/>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3" name="Google Shape;103;p2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4" name="Google Shape;104;p2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5" name="Google Shape;105;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6" name="Google Shape;106;p23"/>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07" name="Google Shape;107;p23"/>
          <p:cNvGrpSpPr/>
          <p:nvPr/>
        </p:nvGrpSpPr>
        <p:grpSpPr>
          <a:xfrm>
            <a:off x="6593" y="10"/>
            <a:ext cx="175500" cy="709221"/>
            <a:chOff x="6593" y="10"/>
            <a:chExt cx="175500" cy="709221"/>
          </a:xfrm>
        </p:grpSpPr>
        <p:sp>
          <p:nvSpPr>
            <p:cNvPr id="108" name="Google Shape;108;p2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34"/>
          <p:cNvSpPr txBox="1">
            <a:spLocks noGrp="1"/>
          </p:cNvSpPr>
          <p:nvPr>
            <p:ph type="ctrTitle"/>
          </p:nvPr>
        </p:nvSpPr>
        <p:spPr>
          <a:xfrm>
            <a:off x="650400" y="1902900"/>
            <a:ext cx="7843200" cy="1337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dirty="0">
                <a:latin typeface="Century Gothic"/>
                <a:ea typeface="Century Gothic"/>
                <a:cs typeface="Century Gothic"/>
                <a:sym typeface="Century Gothic"/>
              </a:rPr>
              <a:t>Home Loan Defaults</a:t>
            </a:r>
            <a:endParaRPr sz="3300" dirty="0">
              <a:latin typeface="Century Gothic"/>
              <a:ea typeface="Century Gothic"/>
              <a:cs typeface="Century Gothic"/>
              <a:sym typeface="Century Gothic"/>
            </a:endParaRPr>
          </a:p>
          <a:p>
            <a:pPr marL="0" lvl="0" indent="0" algn="l" rtl="0">
              <a:lnSpc>
                <a:spcPct val="100000"/>
              </a:lnSpc>
              <a:spcBef>
                <a:spcPts val="0"/>
              </a:spcBef>
              <a:spcAft>
                <a:spcPts val="0"/>
              </a:spcAft>
              <a:buSzPts val="4800"/>
              <a:buNone/>
            </a:pPr>
            <a:r>
              <a:rPr lang="en-US" sz="3300" b="0" dirty="0">
                <a:latin typeface="Century Gothic"/>
                <a:ea typeface="Century Gothic"/>
                <a:cs typeface="Century Gothic"/>
                <a:sym typeface="Century Gothic"/>
              </a:rPr>
              <a:t>Prediction Methods - Neural Networks</a:t>
            </a:r>
            <a:endParaRPr sz="3300" b="0" dirty="0">
              <a:latin typeface="Century Gothic"/>
              <a:ea typeface="Century Gothic"/>
              <a:cs typeface="Century Gothic"/>
              <a:sym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9" name="Google Shape;159;p3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Business Problem Overview &amp; Solution Approach</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Dictionary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Exploratory Data Analysis (EDA) Results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Preprocessing</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Model Performance Summary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Best Model Selection</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Conclusions &amp; Recommendations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Appendix / Screenshots</a:t>
            </a:r>
            <a:endParaRPr dirty="0"/>
          </a:p>
        </p:txBody>
      </p:sp>
      <p:sp>
        <p:nvSpPr>
          <p:cNvPr id="2" name="Slide Number Placeholder 1">
            <a:extLst>
              <a:ext uri="{FF2B5EF4-FFF2-40B4-BE49-F238E27FC236}">
                <a16:creationId xmlns:a16="http://schemas.microsoft.com/office/drawing/2014/main" id="{E415734C-7719-3903-04B0-D52F93F53B0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65" name="Google Shape;165;p36"/>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000"/>
              </a:spcBef>
              <a:spcAft>
                <a:spcPts val="0"/>
              </a:spcAft>
              <a:buSzPts val="1500"/>
              <a:buNone/>
            </a:pPr>
            <a:r>
              <a:rPr lang="en-US" sz="1200">
                <a:solidFill>
                  <a:schemeClr val="dk1"/>
                </a:solidFill>
                <a:latin typeface="Century Gothic"/>
                <a:ea typeface="Century Gothic"/>
                <a:cs typeface="Century Gothic"/>
                <a:sym typeface="Century Gothic"/>
              </a:rPr>
              <a:t>The data contains different attributes of customers’ loan and credit details. The detailed data dictionary is given below:</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BAD: Whether the client defaulted on the loan (0 = No, 1 = Yes)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LOAN: Amount of loan approved</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MORTDUE: Amount due on the existing mortgage</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VALUE: Current value of the property</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REASON: Reason for the loan request (HomeImp = Home Improvement, DebtCon = Debt Consolidation)</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JOB: Type of job the applicant has (e.g., Manager, Self-employed)</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YOJ: Years at present job</a:t>
            </a:r>
            <a:endParaRPr/>
          </a:p>
          <a:p>
            <a:pPr marL="457200" lvl="0" indent="0" algn="l" rtl="0">
              <a:lnSpc>
                <a:spcPct val="150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50000"/>
              </a:lnSpc>
              <a:spcBef>
                <a:spcPts val="1000"/>
              </a:spcBef>
              <a:spcAft>
                <a:spcPts val="0"/>
              </a:spcAft>
              <a:buSzPts val="1500"/>
              <a:buNone/>
            </a:pPr>
            <a:endParaRPr sz="1200">
              <a:solidFill>
                <a:schemeClr val="dk1"/>
              </a:solidFill>
              <a:latin typeface="Century Gothic"/>
              <a:ea typeface="Century Gothic"/>
              <a:cs typeface="Century Gothic"/>
              <a:sym typeface="Century Gothic"/>
            </a:endParaRPr>
          </a:p>
          <a:p>
            <a:pPr marL="457200" lvl="0" indent="0" algn="l" rtl="0">
              <a:lnSpc>
                <a:spcPct val="150000"/>
              </a:lnSpc>
              <a:spcBef>
                <a:spcPts val="1000"/>
              </a:spcBef>
              <a:spcAft>
                <a:spcPts val="1000"/>
              </a:spcAft>
              <a:buSzPts val="1500"/>
              <a:buNone/>
            </a:pPr>
            <a:endParaRPr sz="12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0F3270F-F59E-CE2A-6CB2-BFABCD8F254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71" name="Google Shape;171;p37"/>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457200" lvl="0" indent="-228600" algn="l" rtl="0">
              <a:lnSpc>
                <a:spcPct val="150000"/>
              </a:lnSpc>
              <a:spcBef>
                <a:spcPts val="1000"/>
              </a:spcBef>
              <a:spcAft>
                <a:spcPts val="0"/>
              </a:spcAft>
              <a:buClr>
                <a:schemeClr val="dk1"/>
              </a:buClr>
              <a:buSzPts val="1200"/>
              <a:buFont typeface="Century Gothic"/>
              <a:buNone/>
            </a:pPr>
            <a:endParaRPr sz="1200">
              <a:solidFill>
                <a:schemeClr val="dk1"/>
              </a:solidFill>
              <a:latin typeface="Century Gothic"/>
              <a:ea typeface="Century Gothic"/>
              <a:cs typeface="Century Gothic"/>
              <a:sym typeface="Century Gothic"/>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DEROG: Number of major derogatory reports (serious delinquency/late payments)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DELINQ: Number of delinquent credit lines (past due payments)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CLAGE: Age of the oldest credit line in months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NINQ: Number of recent credit inquiries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CLNO: Number of existing credit lines</a:t>
            </a:r>
            <a:endParaRPr/>
          </a:p>
          <a:p>
            <a:pPr marL="457200" lvl="0" indent="-304800" algn="l" rtl="0">
              <a:lnSpc>
                <a:spcPct val="150000"/>
              </a:lnSpc>
              <a:spcBef>
                <a:spcPts val="1000"/>
              </a:spcBef>
              <a:spcAft>
                <a:spcPts val="0"/>
              </a:spcAft>
              <a:buClr>
                <a:schemeClr val="dk1"/>
              </a:buClr>
              <a:buSzPts val="1200"/>
              <a:buFont typeface="Century Gothic"/>
              <a:buChar char="●"/>
            </a:pPr>
            <a:r>
              <a:rPr lang="en-US" sz="1200">
                <a:solidFill>
                  <a:schemeClr val="dk1"/>
                </a:solidFill>
                <a:latin typeface="Century Gothic"/>
                <a:ea typeface="Century Gothic"/>
                <a:cs typeface="Century Gothic"/>
                <a:sym typeface="Century Gothic"/>
              </a:rPr>
              <a:t>DEBTINC: Debt-to-income ratio (all monthly debt payments divided by gross monthly income)</a:t>
            </a:r>
            <a:endParaRPr/>
          </a:p>
          <a:p>
            <a:pPr marL="914400" lvl="0" indent="-228600" algn="l" rtl="0">
              <a:lnSpc>
                <a:spcPct val="115000"/>
              </a:lnSpc>
              <a:spcBef>
                <a:spcPts val="1000"/>
              </a:spcBef>
              <a:spcAft>
                <a:spcPts val="0"/>
              </a:spcAft>
              <a:buClr>
                <a:srgbClr val="2D3B45"/>
              </a:buClr>
              <a:buSzPts val="1200"/>
              <a:buFont typeface="Century Gothic"/>
              <a:buNone/>
            </a:pPr>
            <a:endParaRPr sz="12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C5786F4-E255-FBF4-D23D-7D139A55AF1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p:cNvSpPr txBox="1">
            <a:spLocks noGrp="1"/>
          </p:cNvSpPr>
          <p:nvPr>
            <p:ph type="body" idx="1"/>
          </p:nvPr>
        </p:nvSpPr>
        <p:spPr>
          <a:xfrm>
            <a:off x="202550" y="861975"/>
            <a:ext cx="8629800" cy="3493747"/>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Consumer Home Loans </a:t>
            </a:r>
            <a:r>
              <a:rPr lang="en-US" dirty="0"/>
              <a:t>represent a substantial percentage of retail bank profits. Loan defaults (NPA – bad loans) can put those profits at risk. It is in a banks best interest to thoroughly vet perspective loan applicants to minimize loan default occurrences.</a:t>
            </a:r>
          </a:p>
          <a:p>
            <a:pPr marL="139700" indent="0">
              <a:spcBef>
                <a:spcPts val="1000"/>
              </a:spcBef>
              <a:buClr>
                <a:schemeClr val="dk1"/>
              </a:buClr>
              <a:buSzPts val="1400"/>
              <a:buNone/>
            </a:pPr>
            <a:endParaRPr lang="en-US" dirty="0"/>
          </a:p>
          <a:p>
            <a:pPr marL="139700" indent="0">
              <a:spcBef>
                <a:spcPts val="1000"/>
              </a:spcBef>
              <a:buClr>
                <a:schemeClr val="dk1"/>
              </a:buClr>
              <a:buSzPts val="1400"/>
              <a:buNone/>
            </a:pPr>
            <a:r>
              <a:rPr lang="en-US" b="1" dirty="0"/>
              <a:t>Loan Underwriting</a:t>
            </a:r>
            <a:r>
              <a:rPr lang="en-US" dirty="0"/>
              <a:t> is a multi-phase process involving:</a:t>
            </a:r>
          </a:p>
          <a:p>
            <a:pPr marL="139700" indent="0">
              <a:spcBef>
                <a:spcPts val="1000"/>
              </a:spcBef>
              <a:buClr>
                <a:schemeClr val="dk1"/>
              </a:buClr>
              <a:buSzPts val="1400"/>
              <a:buNone/>
            </a:pPr>
            <a:endParaRPr lang="en-US" sz="800" dirty="0"/>
          </a:p>
          <a:p>
            <a:pPr lvl="0"/>
            <a:r>
              <a:rPr lang="en-US" b="1" dirty="0"/>
              <a:t>Credit Analysis/Assessment </a:t>
            </a:r>
            <a:r>
              <a:rPr lang="en-US" dirty="0"/>
              <a:t>– credit scores, history, existing debt, </a:t>
            </a:r>
            <a:r>
              <a:rPr lang="en-US" b="1" dirty="0"/>
              <a:t>DTI</a:t>
            </a:r>
            <a:r>
              <a:rPr lang="en-US" dirty="0"/>
              <a:t> ratio</a:t>
            </a:r>
          </a:p>
          <a:p>
            <a:pPr lvl="0"/>
            <a:r>
              <a:rPr lang="en-US" b="1" dirty="0"/>
              <a:t>Employment/Income Verification </a:t>
            </a:r>
            <a:r>
              <a:rPr lang="en-US" dirty="0"/>
              <a:t> employment status/history, income confirmation</a:t>
            </a:r>
          </a:p>
          <a:p>
            <a:pPr lvl="0"/>
            <a:r>
              <a:rPr lang="en-US" b="1" dirty="0"/>
              <a:t>Asset Assessment </a:t>
            </a:r>
            <a:r>
              <a:rPr lang="en-US" dirty="0"/>
              <a:t>– verification of down payment, investments, properties, liquid assets</a:t>
            </a:r>
          </a:p>
          <a:p>
            <a:pPr lvl="0"/>
            <a:r>
              <a:rPr lang="en-US" b="1" dirty="0"/>
              <a:t>Collateral Evaluation </a:t>
            </a:r>
            <a:r>
              <a:rPr lang="en-US" dirty="0"/>
              <a:t>– property appraisal, loan-to-value (</a:t>
            </a:r>
            <a:r>
              <a:rPr lang="en-US" b="1" dirty="0"/>
              <a:t>LTV</a:t>
            </a:r>
            <a:r>
              <a:rPr lang="en-US" dirty="0"/>
              <a:t>) ratio, title search</a:t>
            </a:r>
          </a:p>
          <a:p>
            <a:pPr lvl="0"/>
            <a:r>
              <a:rPr lang="en-US" b="1" dirty="0"/>
              <a:t>Risk Assessment </a:t>
            </a:r>
            <a:r>
              <a:rPr lang="en-US" dirty="0"/>
              <a:t>– borrower profile, red flags, risk rating</a:t>
            </a:r>
            <a:endParaRPr lang="en-US" b="1" dirty="0"/>
          </a:p>
        </p:txBody>
      </p:sp>
      <p:sp>
        <p:nvSpPr>
          <p:cNvPr id="2" name="Slide Number Placeholder 1">
            <a:extLst>
              <a:ext uri="{FF2B5EF4-FFF2-40B4-BE49-F238E27FC236}">
                <a16:creationId xmlns:a16="http://schemas.microsoft.com/office/drawing/2014/main" id="{0DF09D0F-AACB-5458-AB21-712F38BFE07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206B1578-1E42-D453-7DDF-AD99B1146A84}"/>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E7D40A21-58AC-7DE5-EE83-505441120458}"/>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962EE95E-91F1-7D98-E406-B6C0C567B22D}"/>
              </a:ext>
            </a:extLst>
          </p:cNvPr>
          <p:cNvSpPr txBox="1">
            <a:spLocks noGrp="1"/>
          </p:cNvSpPr>
          <p:nvPr>
            <p:ph type="body" idx="1"/>
          </p:nvPr>
        </p:nvSpPr>
        <p:spPr>
          <a:xfrm>
            <a:off x="130629" y="861975"/>
            <a:ext cx="8937743" cy="3870773"/>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Verification Process </a:t>
            </a:r>
            <a:r>
              <a:rPr lang="en-US" dirty="0"/>
              <a:t>the existing process is a manual one with a lot of hands-on human interactions.</a:t>
            </a:r>
          </a:p>
          <a:p>
            <a:pPr marL="139700" indent="0">
              <a:spcBef>
                <a:spcPts val="400"/>
              </a:spcBef>
              <a:buClr>
                <a:schemeClr val="dk1"/>
              </a:buClr>
              <a:buSzPts val="1400"/>
              <a:buNone/>
            </a:pPr>
            <a:endParaRPr lang="en-US" dirty="0"/>
          </a:p>
          <a:p>
            <a:pPr marL="139700" indent="0">
              <a:spcBef>
                <a:spcPts val="400"/>
              </a:spcBef>
              <a:buClr>
                <a:schemeClr val="dk1"/>
              </a:buClr>
              <a:buSzPts val="1400"/>
              <a:buNone/>
            </a:pPr>
            <a:r>
              <a:rPr lang="en-US" b="1" dirty="0"/>
              <a:t>The current process is characterized by</a:t>
            </a:r>
            <a:r>
              <a:rPr lang="en-US" dirty="0"/>
              <a:t>:</a:t>
            </a:r>
          </a:p>
          <a:p>
            <a:pPr marL="139700" indent="0">
              <a:buClr>
                <a:schemeClr val="dk1"/>
              </a:buClr>
              <a:buSzPts val="1400"/>
              <a:buNone/>
            </a:pPr>
            <a:endParaRPr lang="en-US" sz="800" dirty="0"/>
          </a:p>
          <a:p>
            <a:pPr marL="1828800"/>
            <a:r>
              <a:rPr lang="en-US" dirty="0"/>
              <a:t>Human-dependent</a:t>
            </a:r>
          </a:p>
          <a:p>
            <a:pPr marL="1828800"/>
            <a:r>
              <a:rPr lang="en-US" dirty="0"/>
              <a:t>Labor/Resource-intensive</a:t>
            </a:r>
          </a:p>
          <a:p>
            <a:pPr marL="1828800"/>
            <a:r>
              <a:rPr lang="en-US" dirty="0"/>
              <a:t>Time-consuming</a:t>
            </a:r>
          </a:p>
          <a:p>
            <a:pPr marL="1828800"/>
            <a:r>
              <a:rPr lang="en-US" dirty="0"/>
              <a:t>Manual / manually-driven</a:t>
            </a:r>
          </a:p>
          <a:p>
            <a:pPr marL="1828800"/>
            <a:r>
              <a:rPr lang="en-US" dirty="0"/>
              <a:t>Paper-heavy / document-heavy</a:t>
            </a:r>
          </a:p>
          <a:p>
            <a:pPr marL="1828800"/>
            <a:r>
              <a:rPr lang="en-US" dirty="0"/>
              <a:t>Prone to human error / inconsistency</a:t>
            </a:r>
          </a:p>
          <a:p>
            <a:pPr marL="1828800"/>
            <a:r>
              <a:rPr lang="en-US" dirty="0"/>
              <a:t>Subjective (underwriter discretion varies)</a:t>
            </a:r>
          </a:p>
          <a:p>
            <a:pPr marL="1828800"/>
            <a:r>
              <a:rPr lang="en-US" dirty="0"/>
              <a:t>Difficult to scale</a:t>
            </a:r>
          </a:p>
          <a:p>
            <a:pPr marL="139700" indent="0">
              <a:spcBef>
                <a:spcPts val="1000"/>
              </a:spcBef>
              <a:buClr>
                <a:schemeClr val="dk1"/>
              </a:buClr>
              <a:buSzPts val="1400"/>
              <a:buNone/>
            </a:pPr>
            <a:endParaRPr lang="en-US" dirty="0"/>
          </a:p>
        </p:txBody>
      </p:sp>
      <p:sp>
        <p:nvSpPr>
          <p:cNvPr id="2" name="Slide Number Placeholder 1">
            <a:extLst>
              <a:ext uri="{FF2B5EF4-FFF2-40B4-BE49-F238E27FC236}">
                <a16:creationId xmlns:a16="http://schemas.microsoft.com/office/drawing/2014/main" id="{253E95BD-33FE-E1F8-C1D9-070231F08F3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1351955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DA221B20-1490-613B-62EA-FE5D03B6DA99}"/>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C1DD4B4D-FE57-F030-4673-C201A6B6B083}"/>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834345AC-92B5-3448-0476-381F34CFE640}"/>
              </a:ext>
            </a:extLst>
          </p:cNvPr>
          <p:cNvSpPr txBox="1">
            <a:spLocks noGrp="1"/>
          </p:cNvSpPr>
          <p:nvPr>
            <p:ph type="body" idx="1"/>
          </p:nvPr>
        </p:nvSpPr>
        <p:spPr>
          <a:xfrm>
            <a:off x="202550" y="861975"/>
            <a:ext cx="8629800" cy="3109026"/>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Limitations of the current approach include:</a:t>
            </a:r>
            <a:endParaRPr lang="en-US" dirty="0"/>
          </a:p>
          <a:p>
            <a:pPr marL="139700" indent="0">
              <a:buClr>
                <a:schemeClr val="dk1"/>
              </a:buClr>
              <a:buSzPts val="1400"/>
              <a:buNone/>
            </a:pPr>
            <a:endParaRPr lang="en-US" sz="800" dirty="0"/>
          </a:p>
          <a:p>
            <a:pPr marL="1828800"/>
            <a:r>
              <a:rPr lang="en-US" dirty="0"/>
              <a:t>Effort-intensive</a:t>
            </a:r>
          </a:p>
          <a:p>
            <a:pPr marL="1828800"/>
            <a:r>
              <a:rPr lang="en-US" dirty="0"/>
              <a:t>Clerical errors</a:t>
            </a:r>
          </a:p>
          <a:p>
            <a:pPr marL="1828800"/>
            <a:r>
              <a:rPr lang="en-US" dirty="0"/>
              <a:t>Data/document errors</a:t>
            </a:r>
          </a:p>
          <a:p>
            <a:pPr marL="1828800"/>
            <a:r>
              <a:rPr lang="en-US" dirty="0"/>
              <a:t>Prone to errors in judgment</a:t>
            </a:r>
          </a:p>
          <a:p>
            <a:pPr marL="1828800"/>
            <a:r>
              <a:rPr lang="en-US" dirty="0"/>
              <a:t>Prone to incorrect approvals</a:t>
            </a:r>
          </a:p>
          <a:p>
            <a:pPr marL="1828800"/>
            <a:r>
              <a:rPr lang="en-US" dirty="0"/>
              <a:t>Susceptible to human error</a:t>
            </a:r>
          </a:p>
          <a:p>
            <a:pPr marL="1828800"/>
            <a:r>
              <a:rPr lang="en-US" dirty="0"/>
              <a:t>Vulnerable to bias</a:t>
            </a:r>
          </a:p>
          <a:p>
            <a:pPr marL="1828800"/>
            <a:r>
              <a:rPr lang="en-US" dirty="0"/>
              <a:t>Documentation/reasoning </a:t>
            </a:r>
            <a:r>
              <a:rPr lang="en-US" dirty="0" err="1"/>
              <a:t>concistency</a:t>
            </a:r>
            <a:endParaRPr lang="en-US" dirty="0"/>
          </a:p>
          <a:p>
            <a:pPr marL="1828800"/>
            <a:r>
              <a:rPr lang="en-US" dirty="0"/>
              <a:t>Bottlenecks, long turn around times – reduces potential for scalability</a:t>
            </a:r>
          </a:p>
        </p:txBody>
      </p:sp>
      <p:sp>
        <p:nvSpPr>
          <p:cNvPr id="2" name="Slide Number Placeholder 1">
            <a:extLst>
              <a:ext uri="{FF2B5EF4-FFF2-40B4-BE49-F238E27FC236}">
                <a16:creationId xmlns:a16="http://schemas.microsoft.com/office/drawing/2014/main" id="{C3D6EB1F-6B0F-7B79-D30E-A14BC830ACD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390733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75044022-5328-9FB3-9205-A15285C1DE3C}"/>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297F4B31-4A9A-EC8B-D0CE-866C28F030AF}"/>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275A489B-81A7-0307-8137-F9750F0A0884}"/>
              </a:ext>
            </a:extLst>
          </p:cNvPr>
          <p:cNvSpPr txBox="1">
            <a:spLocks noGrp="1"/>
          </p:cNvSpPr>
          <p:nvPr>
            <p:ph type="body" idx="1"/>
          </p:nvPr>
        </p:nvSpPr>
        <p:spPr>
          <a:xfrm>
            <a:off x="202550" y="861975"/>
            <a:ext cx="8629800" cy="3965414"/>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Goal:</a:t>
            </a:r>
          </a:p>
          <a:p>
            <a:pPr marL="139700" indent="0">
              <a:spcBef>
                <a:spcPts val="400"/>
              </a:spcBef>
              <a:buClr>
                <a:schemeClr val="dk1"/>
              </a:buClr>
              <a:buSzPts val="1400"/>
              <a:buNone/>
            </a:pPr>
            <a:endParaRPr lang="en-US" sz="800" b="1" dirty="0"/>
          </a:p>
          <a:p>
            <a:pPr marL="133350" indent="0">
              <a:buNone/>
            </a:pPr>
            <a:r>
              <a:rPr lang="en-US" dirty="0"/>
              <a:t>A bank's consumer credit department seeks to streamline the decision-making process for home equity lines of credit. In compliance with the Equal Credit Opportunity Act (ECOA), the department requires an empirically derived and statistically sound credit scoring model.</a:t>
            </a:r>
          </a:p>
          <a:p>
            <a:pPr marL="133350" indent="0">
              <a:buNone/>
            </a:pPr>
            <a:endParaRPr lang="en-US" sz="800" dirty="0"/>
          </a:p>
          <a:p>
            <a:pPr marL="133350" indent="0">
              <a:buNone/>
            </a:pPr>
            <a:r>
              <a:rPr lang="en-US" dirty="0"/>
              <a:t>The model will be developed using data collected through the existing loan underwriting process from recent applicants who were granted credit. The model needs to be interpretable to provide reasonings for loan acceptances/rejections.</a:t>
            </a:r>
          </a:p>
          <a:p>
            <a:pPr marL="133350" indent="0">
              <a:buNone/>
            </a:pPr>
            <a:endParaRPr lang="en-US" sz="800" dirty="0"/>
          </a:p>
          <a:p>
            <a:pPr marL="139700" indent="0">
              <a:spcBef>
                <a:spcPts val="1000"/>
              </a:spcBef>
              <a:buClr>
                <a:schemeClr val="dk1"/>
              </a:buClr>
              <a:buSzPts val="1400"/>
              <a:buNone/>
            </a:pPr>
            <a:r>
              <a:rPr lang="en-US" b="1" dirty="0"/>
              <a:t>Objective:</a:t>
            </a:r>
          </a:p>
          <a:p>
            <a:pPr marL="139700" indent="0">
              <a:spcBef>
                <a:spcPts val="1000"/>
              </a:spcBef>
              <a:buClr>
                <a:schemeClr val="dk1"/>
              </a:buClr>
              <a:buSzPts val="1400"/>
              <a:buNone/>
            </a:pPr>
            <a:r>
              <a:rPr lang="en-US" dirty="0"/>
              <a:t>Build a classification model using an Artificial Neural Network (ANN) to predict clients who are likely to default on  loans. The model should provide recommendations on the key features to consider during loan approval.</a:t>
            </a:r>
          </a:p>
        </p:txBody>
      </p:sp>
      <p:sp>
        <p:nvSpPr>
          <p:cNvPr id="2" name="Slide Number Placeholder 1">
            <a:extLst>
              <a:ext uri="{FF2B5EF4-FFF2-40B4-BE49-F238E27FC236}">
                <a16:creationId xmlns:a16="http://schemas.microsoft.com/office/drawing/2014/main" id="{ED837053-9176-CEC0-592B-0876C4E078B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1035572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p:txBody>
          <a:bodyPr/>
          <a:lstStyle/>
          <a:p>
            <a:pPr marL="133350" indent="0">
              <a:buNone/>
            </a:pPr>
            <a:r>
              <a:rPr lang="en-US" b="1" dirty="0"/>
              <a:t>1. Exploratory Data Analysis (EDA)</a:t>
            </a:r>
            <a:endParaRPr lang="en-US" dirty="0"/>
          </a:p>
          <a:p>
            <a:pPr lvl="0"/>
            <a:r>
              <a:rPr lang="en-US" sz="1400" dirty="0"/>
              <a:t>Perform general </a:t>
            </a:r>
            <a:r>
              <a:rPr lang="en-US" sz="1400" b="1" dirty="0"/>
              <a:t>Exploratory Data Analysis</a:t>
            </a:r>
            <a:r>
              <a:rPr lang="en-US" sz="1400" dirty="0"/>
              <a:t> (</a:t>
            </a:r>
            <a:r>
              <a:rPr lang="en-US" sz="1400" b="1" dirty="0"/>
              <a:t>EDA</a:t>
            </a:r>
            <a:r>
              <a:rPr lang="en-US" sz="1400" dirty="0"/>
              <a:t>) </a:t>
            </a:r>
          </a:p>
          <a:p>
            <a:pPr lvl="0"/>
            <a:r>
              <a:rPr lang="en-US" sz="1400" dirty="0"/>
              <a:t>Perform supplementary </a:t>
            </a:r>
            <a:r>
              <a:rPr lang="en-US" sz="1400" b="1" dirty="0"/>
              <a:t>EDA </a:t>
            </a:r>
            <a:r>
              <a:rPr lang="en-US" sz="1400" dirty="0"/>
              <a:t>on charts rendered through Rapid Miner</a:t>
            </a:r>
            <a:r>
              <a:rPr lang="en-US" sz="1200" dirty="0"/>
              <a:t>.</a:t>
            </a:r>
          </a:p>
          <a:p>
            <a:endParaRPr lang="en-US" sz="1000" b="1" dirty="0"/>
          </a:p>
          <a:p>
            <a:pPr marL="133350" indent="0">
              <a:buNone/>
            </a:pPr>
            <a:r>
              <a:rPr lang="en-US" b="1" dirty="0"/>
              <a:t>2. Perform Follow up EDA after Feature Engineering </a:t>
            </a:r>
            <a:endParaRPr lang="en-US" dirty="0"/>
          </a:p>
          <a:p>
            <a:pPr marL="133350" indent="0">
              <a:buNone/>
            </a:pPr>
            <a:r>
              <a:rPr lang="en-US" sz="1300" dirty="0"/>
              <a:t>Assuming that </a:t>
            </a:r>
            <a:r>
              <a:rPr lang="en-US" sz="1300" b="1" dirty="0"/>
              <a:t>Feature Engineering</a:t>
            </a:r>
            <a:r>
              <a:rPr lang="en-US" sz="1300" dirty="0"/>
              <a:t> was provided for the project:</a:t>
            </a:r>
          </a:p>
          <a:p>
            <a:pPr lvl="0"/>
            <a:r>
              <a:rPr lang="en-US" sz="1400" dirty="0"/>
              <a:t>Repeat EDA and supplementary EDA analysis of preprocessed (normalized) data</a:t>
            </a:r>
          </a:p>
          <a:p>
            <a:pPr lvl="0"/>
            <a:endParaRPr lang="en-US" sz="1000" dirty="0"/>
          </a:p>
          <a:p>
            <a:pPr marL="133350" indent="0">
              <a:buNone/>
            </a:pPr>
            <a:r>
              <a:rPr lang="en-US" b="1" dirty="0"/>
              <a:t>3. Basic Neural Network (NN) Analysis</a:t>
            </a:r>
            <a:endParaRPr lang="en-US" dirty="0"/>
          </a:p>
          <a:p>
            <a:pPr lvl="0"/>
            <a:r>
              <a:rPr lang="en-US" sz="1400" dirty="0"/>
              <a:t>Analyze initial Model performance results</a:t>
            </a:r>
          </a:p>
          <a:p>
            <a:pPr lvl="0"/>
            <a:endParaRPr lang="en-US" sz="1200" b="1" dirty="0"/>
          </a:p>
          <a:p>
            <a:pPr marL="133350" indent="0">
              <a:buNone/>
            </a:pPr>
            <a:r>
              <a:rPr lang="en-US" b="1" dirty="0"/>
              <a:t>4. Neural Network with Parameter Tuning</a:t>
            </a:r>
          </a:p>
          <a:p>
            <a:pPr marL="133350" indent="0">
              <a:buNone/>
            </a:pPr>
            <a:r>
              <a:rPr lang="en-US" sz="1300" b="1" dirty="0"/>
              <a:t>Hand Tune</a:t>
            </a:r>
            <a:r>
              <a:rPr lang="en-US" sz="1300" dirty="0"/>
              <a:t> selected NN parameters and rerun the model (iteratively)</a:t>
            </a:r>
          </a:p>
          <a:p>
            <a:pPr lvl="0"/>
            <a:r>
              <a:rPr lang="en-US" sz="1400" dirty="0"/>
              <a:t>Comment on parameter tuned NN Model performance</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9</a:t>
            </a:fld>
            <a:endParaRPr lang="en"/>
          </a:p>
        </p:txBody>
      </p:sp>
    </p:spTree>
    <p:extLst>
      <p:ext uri="{BB962C8B-B14F-4D97-AF65-F5344CB8AC3E}">
        <p14:creationId xmlns:p14="http://schemas.microsoft.com/office/powerpoint/2010/main" val="3936730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081A1-0986-4C76-ADA6-06B7FAA817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76ACB7-ACCC-D328-557C-33FF6B613013}"/>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08581D07-B79C-D9A4-8AEE-602465399B57}"/>
              </a:ext>
            </a:extLst>
          </p:cNvPr>
          <p:cNvSpPr>
            <a:spLocks noGrp="1"/>
          </p:cNvSpPr>
          <p:nvPr>
            <p:ph type="body" idx="1"/>
          </p:nvPr>
        </p:nvSpPr>
        <p:spPr>
          <a:xfrm>
            <a:off x="55002" y="861975"/>
            <a:ext cx="9033996" cy="3706800"/>
          </a:xfrm>
        </p:spPr>
        <p:txBody>
          <a:bodyPr/>
          <a:lstStyle/>
          <a:p>
            <a:pPr marL="133350" indent="0">
              <a:buNone/>
            </a:pPr>
            <a:r>
              <a:rPr lang="en-US" b="1" dirty="0"/>
              <a:t>5. Neural Network Tuned Using Grid Search</a:t>
            </a:r>
          </a:p>
          <a:p>
            <a:pPr marL="133350" indent="0">
              <a:buNone/>
            </a:pPr>
            <a:r>
              <a:rPr lang="en-US" sz="1400" b="1" dirty="0" err="1"/>
              <a:t>GridSearchCV</a:t>
            </a:r>
            <a:r>
              <a:rPr lang="en-US" sz="1400" dirty="0"/>
              <a:t> Evaluates all combinations of hyperparameters to find the best-performing configuration</a:t>
            </a:r>
            <a:endParaRPr lang="en-US" sz="1300" dirty="0"/>
          </a:p>
          <a:p>
            <a:pPr lvl="0"/>
            <a:r>
              <a:rPr lang="en-US" sz="1600" dirty="0"/>
              <a:t>Analyze hyperparameter tuned </a:t>
            </a:r>
            <a:r>
              <a:rPr lang="en-US" sz="1600" b="1" dirty="0"/>
              <a:t>NN Model </a:t>
            </a:r>
            <a:r>
              <a:rPr lang="en-US" sz="1600" dirty="0"/>
              <a:t>performance.</a:t>
            </a:r>
          </a:p>
          <a:p>
            <a:endParaRPr lang="en-US" sz="1100" b="1" dirty="0"/>
          </a:p>
          <a:p>
            <a:pPr marL="133350" indent="0">
              <a:buNone/>
            </a:pPr>
            <a:r>
              <a:rPr lang="en-US" b="1" dirty="0"/>
              <a:t>6. Model Performance Summary</a:t>
            </a:r>
            <a:endParaRPr lang="en-US" dirty="0"/>
          </a:p>
          <a:p>
            <a:pPr lvl="0"/>
            <a:r>
              <a:rPr lang="en-US" sz="1600" dirty="0"/>
              <a:t>Compare NN, parameter and hyperparameter tuned Model results</a:t>
            </a:r>
          </a:p>
          <a:p>
            <a:pPr lvl="0"/>
            <a:endParaRPr lang="en-US" sz="1100" dirty="0"/>
          </a:p>
          <a:p>
            <a:pPr marL="133350" indent="0">
              <a:buNone/>
            </a:pPr>
            <a:r>
              <a:rPr lang="en-US" b="1" dirty="0"/>
              <a:t>7. Conclusions and Recommendations</a:t>
            </a:r>
            <a:endParaRPr lang="en-US" dirty="0"/>
          </a:p>
          <a:p>
            <a:pPr lvl="0"/>
            <a:r>
              <a:rPr lang="en-US" sz="1600" dirty="0"/>
              <a:t>Final observations, insights and recommendations</a:t>
            </a:r>
          </a:p>
          <a:p>
            <a:pPr marL="133350" indent="0">
              <a:buNone/>
            </a:pPr>
            <a:endParaRPr lang="en-US" dirty="0"/>
          </a:p>
        </p:txBody>
      </p:sp>
      <p:sp>
        <p:nvSpPr>
          <p:cNvPr id="4" name="Slide Number Placeholder 3">
            <a:extLst>
              <a:ext uri="{FF2B5EF4-FFF2-40B4-BE49-F238E27FC236}">
                <a16:creationId xmlns:a16="http://schemas.microsoft.com/office/drawing/2014/main" id="{D4870981-BF32-22A2-045C-988017529D1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10</a:t>
            </a:fld>
            <a:endParaRPr lang="en"/>
          </a:p>
        </p:txBody>
      </p:sp>
    </p:spTree>
    <p:extLst>
      <p:ext uri="{BB962C8B-B14F-4D97-AF65-F5344CB8AC3E}">
        <p14:creationId xmlns:p14="http://schemas.microsoft.com/office/powerpoint/2010/main" val="260648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037BA-0C0B-D6EF-DEB7-071B819312DB}"/>
              </a:ext>
            </a:extLst>
          </p:cNvPr>
          <p:cNvSpPr>
            <a:spLocks noGrp="1"/>
          </p:cNvSpPr>
          <p:nvPr>
            <p:ph type="title"/>
          </p:nvPr>
        </p:nvSpPr>
        <p:spPr>
          <a:xfrm>
            <a:off x="202964" y="63286"/>
            <a:ext cx="8520600" cy="572700"/>
          </a:xfrm>
        </p:spPr>
        <p:txBody>
          <a:bodyPr/>
          <a:lstStyle/>
          <a:p>
            <a:r>
              <a:rPr lang="en-US" dirty="0">
                <a:solidFill>
                  <a:schemeClr val="lt2"/>
                </a:solidFill>
                <a:latin typeface="Century Gothic"/>
                <a:ea typeface="Century Gothic"/>
                <a:cs typeface="Century Gothic"/>
                <a:sym typeface="Century Gothic"/>
              </a:rPr>
              <a:t>Expected Outcomes</a:t>
            </a:r>
            <a:endParaRPr lang="en-US" dirty="0"/>
          </a:p>
        </p:txBody>
      </p:sp>
      <p:sp>
        <p:nvSpPr>
          <p:cNvPr id="3" name="Text Placeholder 2">
            <a:extLst>
              <a:ext uri="{FF2B5EF4-FFF2-40B4-BE49-F238E27FC236}">
                <a16:creationId xmlns:a16="http://schemas.microsoft.com/office/drawing/2014/main" id="{6612A709-F407-4469-B44F-89D09010BA6B}"/>
              </a:ext>
            </a:extLst>
          </p:cNvPr>
          <p:cNvSpPr>
            <a:spLocks noGrp="1"/>
          </p:cNvSpPr>
          <p:nvPr>
            <p:ph type="body" idx="1"/>
          </p:nvPr>
        </p:nvSpPr>
        <p:spPr>
          <a:xfrm>
            <a:off x="202964" y="482009"/>
            <a:ext cx="8629800" cy="4401101"/>
          </a:xfrm>
        </p:spPr>
        <p:txBody>
          <a:bodyPr/>
          <a:lstStyle/>
          <a:p>
            <a:pPr lvl="0"/>
            <a:r>
              <a:rPr lang="en-US" b="1" dirty="0"/>
              <a:t>Model Development</a:t>
            </a:r>
            <a:r>
              <a:rPr lang="en-US" dirty="0"/>
              <a:t>: </a:t>
            </a:r>
          </a:p>
          <a:p>
            <a:pPr lvl="1">
              <a:spcBef>
                <a:spcPts val="400"/>
              </a:spcBef>
            </a:pPr>
            <a:r>
              <a:rPr lang="en-US" dirty="0"/>
              <a:t>Build a highly performant classification model using ANN to predict loan </a:t>
            </a:r>
            <a:r>
              <a:rPr lang="en-US" dirty="0" err="1"/>
              <a:t>efaults</a:t>
            </a:r>
            <a:r>
              <a:rPr lang="en-US" dirty="0"/>
              <a:t>.</a:t>
            </a:r>
          </a:p>
          <a:p>
            <a:pPr lvl="1">
              <a:spcBef>
                <a:spcPts val="400"/>
              </a:spcBef>
            </a:pPr>
            <a:r>
              <a:rPr lang="en-US" dirty="0"/>
              <a:t>Make the model interpretable so approvals/rejections can be easily justifiable</a:t>
            </a:r>
          </a:p>
          <a:p>
            <a:pPr lvl="1">
              <a:spcBef>
                <a:spcPts val="400"/>
              </a:spcBef>
            </a:pPr>
            <a:r>
              <a:rPr lang="en-US" dirty="0"/>
              <a:t>Select optimal model parameters through hyperparameter tuning (</a:t>
            </a:r>
            <a:r>
              <a:rPr lang="en-US" b="1" dirty="0" err="1"/>
              <a:t>GridSearchCV</a:t>
            </a:r>
            <a:r>
              <a:rPr lang="en-US" dirty="0"/>
              <a:t>)</a:t>
            </a:r>
          </a:p>
          <a:p>
            <a:pPr marL="133350" lvl="0" indent="0">
              <a:buNone/>
            </a:pPr>
            <a:endParaRPr lang="en-US" sz="400" dirty="0"/>
          </a:p>
          <a:p>
            <a:pPr lvl="0"/>
            <a:r>
              <a:rPr lang="en-US" b="1" dirty="0"/>
              <a:t>Risk Identification</a:t>
            </a:r>
            <a:r>
              <a:rPr lang="en-US" dirty="0"/>
              <a:t>: </a:t>
            </a:r>
          </a:p>
          <a:p>
            <a:pPr lvl="1">
              <a:spcBef>
                <a:spcPts val="400"/>
              </a:spcBef>
            </a:pPr>
            <a:r>
              <a:rPr lang="en-US" dirty="0"/>
              <a:t>Identify the key features that are the strongest predictors of loan default</a:t>
            </a:r>
          </a:p>
          <a:p>
            <a:pPr lvl="1">
              <a:spcBef>
                <a:spcPts val="400"/>
              </a:spcBef>
            </a:pPr>
            <a:r>
              <a:rPr lang="en-US" dirty="0"/>
              <a:t>Establish acceptable risk thresholds</a:t>
            </a:r>
          </a:p>
          <a:p>
            <a:pPr marL="133350" lvl="0" indent="0">
              <a:buNone/>
            </a:pPr>
            <a:endParaRPr lang="en-US" sz="400" dirty="0"/>
          </a:p>
          <a:p>
            <a:pPr lvl="0"/>
            <a:r>
              <a:rPr lang="en-US" b="1" dirty="0"/>
              <a:t>Process Improvement</a:t>
            </a:r>
            <a:r>
              <a:rPr lang="en-US" dirty="0"/>
              <a:t>: </a:t>
            </a:r>
          </a:p>
          <a:p>
            <a:pPr lvl="1">
              <a:spcBef>
                <a:spcPts val="400"/>
              </a:spcBef>
            </a:pPr>
            <a:r>
              <a:rPr lang="en-US" dirty="0"/>
              <a:t>Minimize human subjectivity and bias in loan decisions</a:t>
            </a:r>
          </a:p>
          <a:p>
            <a:pPr lvl="1">
              <a:spcBef>
                <a:spcPts val="400"/>
              </a:spcBef>
            </a:pPr>
            <a:r>
              <a:rPr lang="en-US" dirty="0"/>
              <a:t>Streamline decision making time by adding automation to the process</a:t>
            </a:r>
          </a:p>
          <a:p>
            <a:pPr lvl="1">
              <a:spcBef>
                <a:spcPts val="400"/>
              </a:spcBef>
            </a:pPr>
            <a:r>
              <a:rPr lang="en-US" dirty="0"/>
              <a:t>Establish standardized assessments for all applicants</a:t>
            </a:r>
          </a:p>
          <a:p>
            <a:pPr marL="133350" lvl="0" indent="0">
              <a:buNone/>
            </a:pPr>
            <a:endParaRPr lang="en-US" sz="400" dirty="0"/>
          </a:p>
          <a:p>
            <a:pPr lvl="0"/>
            <a:r>
              <a:rPr lang="en-US" b="1" dirty="0"/>
              <a:t>Increase Business Value</a:t>
            </a:r>
            <a:r>
              <a:rPr lang="en-US" dirty="0"/>
              <a:t>: </a:t>
            </a:r>
          </a:p>
          <a:p>
            <a:pPr lvl="1">
              <a:spcBef>
                <a:spcPts val="400"/>
              </a:spcBef>
            </a:pPr>
            <a:r>
              <a:rPr lang="en-US" dirty="0"/>
              <a:t>Identify high-risk applicants to minimize loan defaults</a:t>
            </a:r>
          </a:p>
          <a:p>
            <a:pPr lvl="1">
              <a:spcBef>
                <a:spcPts val="400"/>
              </a:spcBef>
            </a:pPr>
            <a:r>
              <a:rPr lang="en-US" dirty="0"/>
              <a:t>Reduce </a:t>
            </a:r>
            <a:r>
              <a:rPr lang="en-US" dirty="0" err="1"/>
              <a:t>labour</a:t>
            </a:r>
            <a:r>
              <a:rPr lang="en-US" dirty="0"/>
              <a:t>/manpower required in the current approval process</a:t>
            </a:r>
          </a:p>
          <a:p>
            <a:pPr lvl="1">
              <a:spcBef>
                <a:spcPts val="400"/>
              </a:spcBef>
            </a:pPr>
            <a:r>
              <a:rPr lang="en-US" dirty="0"/>
              <a:t>Increase scalability (process more loans) while keep costs low</a:t>
            </a:r>
          </a:p>
          <a:p>
            <a:pPr marL="133350" lvl="0" indent="0">
              <a:buNone/>
            </a:pPr>
            <a:endParaRPr lang="en-US" sz="400" dirty="0"/>
          </a:p>
        </p:txBody>
      </p:sp>
      <p:sp>
        <p:nvSpPr>
          <p:cNvPr id="4" name="Slide Number Placeholder 3">
            <a:extLst>
              <a:ext uri="{FF2B5EF4-FFF2-40B4-BE49-F238E27FC236}">
                <a16:creationId xmlns:a16="http://schemas.microsoft.com/office/drawing/2014/main" id="{57847B8F-A3E5-FA4D-B837-D46A815D8ED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11</a:t>
            </a:fld>
            <a:endParaRPr lang="en"/>
          </a:p>
        </p:txBody>
      </p:sp>
    </p:spTree>
    <p:extLst>
      <p:ext uri="{BB962C8B-B14F-4D97-AF65-F5344CB8AC3E}">
        <p14:creationId xmlns:p14="http://schemas.microsoft.com/office/powerpoint/2010/main" val="9138786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39152" y="2860770"/>
            <a:ext cx="8629800" cy="2190313"/>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a lot of missing values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has 4,693 vs 5,960 total records); imputation needed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VALUE</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MORTDUE</a:t>
            </a:r>
            <a:r>
              <a:rPr lang="en-US" sz="1100" dirty="0">
                <a:solidFill>
                  <a:schemeClr val="dk1"/>
                </a:solidFill>
                <a:latin typeface="Century Gothic"/>
                <a:ea typeface="Century Gothic"/>
                <a:cs typeface="Century Gothic"/>
                <a:sym typeface="Century Gothic"/>
              </a:rPr>
              <a:t> have large standard deviations (</a:t>
            </a:r>
            <a:r>
              <a:rPr lang="en-US" sz="1100" b="1" dirty="0">
                <a:solidFill>
                  <a:schemeClr val="dk1"/>
                </a:solidFill>
                <a:latin typeface="Century Gothic"/>
                <a:ea typeface="Century Gothic"/>
                <a:cs typeface="Century Gothic"/>
                <a:sym typeface="Century Gothic"/>
              </a:rPr>
              <a:t>STD</a:t>
            </a:r>
            <a:r>
              <a:rPr lang="en-US" sz="1100" dirty="0">
                <a:solidFill>
                  <a:schemeClr val="dk1"/>
                </a:solidFill>
                <a:latin typeface="Century Gothic"/>
                <a:ea typeface="Century Gothic"/>
                <a:cs typeface="Century Gothic"/>
                <a:sym typeface="Century Gothic"/>
              </a:rPr>
              <a:t>)relative to means</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CLAGE</a:t>
            </a:r>
            <a:r>
              <a:rPr lang="en-US" sz="1100" dirty="0">
                <a:solidFill>
                  <a:schemeClr val="dk1"/>
                </a:solidFill>
                <a:latin typeface="Century Gothic"/>
                <a:ea typeface="Century Gothic"/>
                <a:cs typeface="Century Gothic"/>
                <a:sym typeface="Century Gothic"/>
              </a:rPr>
              <a:t> max of 1,168 months (~97 years),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max of 203% seem extreme</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Skewed distributions</a:t>
            </a:r>
            <a:r>
              <a:rPr lang="en-US" sz="1100" dirty="0">
                <a:solidFill>
                  <a:schemeClr val="dk1"/>
                </a:solidFill>
                <a:latin typeface="Century Gothic"/>
                <a:ea typeface="Century Gothic"/>
                <a:cs typeface="Century Gothic"/>
                <a:sym typeface="Century Gothic"/>
              </a:rPr>
              <a:t> — Several features show large gaps between 75% and max (</a:t>
            </a:r>
            <a:r>
              <a:rPr lang="en-US" sz="1100" b="1" dirty="0">
                <a:solidFill>
                  <a:schemeClr val="dk1"/>
                </a:solidFill>
                <a:latin typeface="Century Gothic"/>
                <a:ea typeface="Century Gothic"/>
                <a:cs typeface="Century Gothic"/>
                <a:sym typeface="Century Gothic"/>
              </a:rPr>
              <a:t>LOAN, VALUE, MORTDUE</a:t>
            </a:r>
            <a:r>
              <a:rPr lang="en-US" sz="1100" dirty="0">
                <a:solidFill>
                  <a:schemeClr val="dk1"/>
                </a:solidFill>
                <a:latin typeface="Century Gothic"/>
                <a:ea typeface="Century Gothic"/>
                <a:cs typeface="Century Gothic"/>
                <a:sym typeface="Century Gothic"/>
              </a:rPr>
              <a:t>)</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Categorical features </a:t>
            </a:r>
            <a:r>
              <a:rPr lang="en-US" sz="1100" dirty="0">
                <a:solidFill>
                  <a:schemeClr val="dk1"/>
                </a:solidFill>
                <a:latin typeface="Century Gothic"/>
                <a:ea typeface="Century Gothic"/>
                <a:cs typeface="Century Gothic"/>
                <a:sym typeface="Century Gothic"/>
              </a:rPr>
              <a:t>— </a:t>
            </a:r>
            <a:r>
              <a:rPr lang="en-US" sz="1100" b="1" dirty="0">
                <a:solidFill>
                  <a:schemeClr val="dk1"/>
                </a:solidFill>
                <a:latin typeface="Century Gothic"/>
                <a:ea typeface="Century Gothic"/>
                <a:cs typeface="Century Gothic"/>
                <a:sym typeface="Century Gothic"/>
              </a:rPr>
              <a:t>REASON</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JOB</a:t>
            </a:r>
            <a:r>
              <a:rPr lang="en-US" sz="1100" dirty="0">
                <a:solidFill>
                  <a:schemeClr val="dk1"/>
                </a:solidFill>
                <a:latin typeface="Century Gothic"/>
                <a:ea typeface="Century Gothic"/>
                <a:cs typeface="Century Gothic"/>
                <a:sym typeface="Century Gothic"/>
              </a:rPr>
              <a:t> will need encoding</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DEBTINC most incomplete</a:t>
            </a:r>
            <a:r>
              <a:rPr lang="en-US" sz="1100" dirty="0">
                <a:solidFill>
                  <a:schemeClr val="dk1"/>
                </a:solidFill>
                <a:latin typeface="Century Gothic"/>
                <a:ea typeface="Century Gothic"/>
                <a:cs typeface="Century Gothic"/>
                <a:sym typeface="Century Gothic"/>
              </a:rPr>
              <a:t> — Only 4,693 records; key feature for loan risk so imputation strategy matters</a:t>
            </a:r>
            <a:endParaRPr sz="11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a:p>
        </p:txBody>
      </p:sp>
      <p:pic>
        <p:nvPicPr>
          <p:cNvPr id="4" name="Picture 3" descr="A table with numbers and text&#10;&#10;AI-generated content may be incorrect.">
            <a:extLst>
              <a:ext uri="{FF2B5EF4-FFF2-40B4-BE49-F238E27FC236}">
                <a16:creationId xmlns:a16="http://schemas.microsoft.com/office/drawing/2014/main" id="{588FAFCB-0529-4A50-A39C-A8C94109A17F}"/>
              </a:ext>
            </a:extLst>
          </p:cNvPr>
          <p:cNvPicPr>
            <a:picLocks noChangeAspect="1"/>
          </p:cNvPicPr>
          <p:nvPr/>
        </p:nvPicPr>
        <p:blipFill>
          <a:blip r:embed="rId3"/>
          <a:stretch>
            <a:fillRect/>
          </a:stretch>
        </p:blipFill>
        <p:spPr>
          <a:xfrm>
            <a:off x="190263" y="555114"/>
            <a:ext cx="8520600" cy="249429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FAA6185-CFFE-36D7-ABB7-C43431A6271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F62257D-ABC8-1356-072D-F743F0B6D2B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AD904EFD-DFC2-DE6F-CA98-CF0217DA166C}"/>
              </a:ext>
            </a:extLst>
          </p:cNvPr>
          <p:cNvSpPr txBox="1">
            <a:spLocks noGrp="1"/>
          </p:cNvSpPr>
          <p:nvPr>
            <p:ph type="body" idx="1"/>
          </p:nvPr>
        </p:nvSpPr>
        <p:spPr>
          <a:xfrm>
            <a:off x="468977" y="3976062"/>
            <a:ext cx="8629800"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Analyze the raw data types and identify any that can be converted for better </a:t>
            </a:r>
            <a:r>
              <a:rPr lang="en-US" sz="1400" dirty="0" err="1"/>
              <a:t>cpu</a:t>
            </a:r>
            <a:r>
              <a:rPr lang="en-US" sz="1400" dirty="0"/>
              <a:t> performance.</a:t>
            </a:r>
            <a:endParaRPr lang="en-US"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829E952-8EBA-DB2F-EE98-873EA8988AA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a:p>
        </p:txBody>
      </p:sp>
      <p:pic>
        <p:nvPicPr>
          <p:cNvPr id="5" name="Picture 4" descr="A table with numbers and text&#10;&#10;AI-generated content may be incorrect.">
            <a:extLst>
              <a:ext uri="{FF2B5EF4-FFF2-40B4-BE49-F238E27FC236}">
                <a16:creationId xmlns:a16="http://schemas.microsoft.com/office/drawing/2014/main" id="{FB83C8DE-B349-DA82-1D59-7A79DB4F2874}"/>
              </a:ext>
            </a:extLst>
          </p:cNvPr>
          <p:cNvPicPr>
            <a:picLocks noChangeAspect="1"/>
          </p:cNvPicPr>
          <p:nvPr/>
        </p:nvPicPr>
        <p:blipFill>
          <a:blip r:embed="rId3"/>
          <a:stretch>
            <a:fillRect/>
          </a:stretch>
        </p:blipFill>
        <p:spPr>
          <a:xfrm>
            <a:off x="751474" y="887120"/>
            <a:ext cx="3343530" cy="2969508"/>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B9075E99-59ED-4761-5416-32E192751CDD}"/>
              </a:ext>
            </a:extLst>
          </p:cNvPr>
          <p:cNvPicPr>
            <a:picLocks noChangeAspect="1"/>
          </p:cNvPicPr>
          <p:nvPr/>
        </p:nvPicPr>
        <p:blipFill>
          <a:blip r:embed="rId4"/>
          <a:stretch>
            <a:fillRect/>
          </a:stretch>
        </p:blipFill>
        <p:spPr>
          <a:xfrm>
            <a:off x="4736153" y="887120"/>
            <a:ext cx="2493481" cy="2969508"/>
          </a:xfrm>
          <a:prstGeom prst="rect">
            <a:avLst/>
          </a:prstGeom>
        </p:spPr>
      </p:pic>
    </p:spTree>
    <p:extLst>
      <p:ext uri="{BB962C8B-B14F-4D97-AF65-F5344CB8AC3E}">
        <p14:creationId xmlns:p14="http://schemas.microsoft.com/office/powerpoint/2010/main" val="37109260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583389CB-990A-39CD-7EEE-9856A255744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8D127EB-5A1A-AC36-F0EF-AE8CD792FCA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3AC34783-53F4-61D8-E516-1A82352E8004}"/>
              </a:ext>
            </a:extLst>
          </p:cNvPr>
          <p:cNvSpPr txBox="1">
            <a:spLocks noGrp="1"/>
          </p:cNvSpPr>
          <p:nvPr>
            <p:ph type="body" idx="1"/>
          </p:nvPr>
        </p:nvSpPr>
        <p:spPr>
          <a:xfrm>
            <a:off x="462953" y="2277682"/>
            <a:ext cx="8369346" cy="205591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Based on the initial observations of the number of missing feature values, it’s important to note the shape of the imported data set. The dataset has </a:t>
            </a:r>
            <a:r>
              <a:rPr lang="en-US" sz="1400" b="1" dirty="0"/>
              <a:t>5960</a:t>
            </a:r>
            <a:r>
              <a:rPr lang="en-US" sz="1400" dirty="0"/>
              <a:t> rows of data. It’s important to keep that fact in mind when examining missing values and exploring imputation techniques.</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The number of missing values calls into question the quality of the dataset and given the required number of imputations, how truly accurate the model performance, predictions and results will be.</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It’s important to truly understand the dataset, especially if it comes from an unknown source.</a:t>
            </a:r>
          </a:p>
        </p:txBody>
      </p:sp>
      <p:sp>
        <p:nvSpPr>
          <p:cNvPr id="2" name="Slide Number Placeholder 1">
            <a:extLst>
              <a:ext uri="{FF2B5EF4-FFF2-40B4-BE49-F238E27FC236}">
                <a16:creationId xmlns:a16="http://schemas.microsoft.com/office/drawing/2014/main" id="{69CE0E9C-E8F6-CCC8-3471-4974CBF7BAE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a:p>
        </p:txBody>
      </p:sp>
      <p:pic>
        <p:nvPicPr>
          <p:cNvPr id="4" name="Picture 3" descr="A blue and white rectangular box with black text&#10;&#10;AI-generated content may be incorrect.">
            <a:extLst>
              <a:ext uri="{FF2B5EF4-FFF2-40B4-BE49-F238E27FC236}">
                <a16:creationId xmlns:a16="http://schemas.microsoft.com/office/drawing/2014/main" id="{05E1F423-9C63-20BD-4788-EA4F29057E86}"/>
              </a:ext>
            </a:extLst>
          </p:cNvPr>
          <p:cNvPicPr>
            <a:picLocks noChangeAspect="1"/>
          </p:cNvPicPr>
          <p:nvPr/>
        </p:nvPicPr>
        <p:blipFill>
          <a:blip r:embed="rId3"/>
          <a:stretch>
            <a:fillRect/>
          </a:stretch>
        </p:blipFill>
        <p:spPr>
          <a:xfrm>
            <a:off x="2874616" y="890193"/>
            <a:ext cx="2762250" cy="1066800"/>
          </a:xfrm>
          <a:prstGeom prst="rect">
            <a:avLst/>
          </a:prstGeom>
        </p:spPr>
      </p:pic>
    </p:spTree>
    <p:extLst>
      <p:ext uri="{BB962C8B-B14F-4D97-AF65-F5344CB8AC3E}">
        <p14:creationId xmlns:p14="http://schemas.microsoft.com/office/powerpoint/2010/main" val="11173652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481D2B7-A349-3BC9-B217-6D58BFADE7C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D54A228-2CBF-2798-D5F8-43587D0E16F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C4ADD3FA-CB61-26D8-F424-9E0C478FBBA4}"/>
              </a:ext>
            </a:extLst>
          </p:cNvPr>
          <p:cNvSpPr txBox="1">
            <a:spLocks noGrp="1"/>
          </p:cNvSpPr>
          <p:nvPr>
            <p:ph type="body" idx="1"/>
          </p:nvPr>
        </p:nvSpPr>
        <p:spPr>
          <a:xfrm>
            <a:off x="620231" y="4090413"/>
            <a:ext cx="8369346"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A break down of the </a:t>
            </a:r>
            <a:r>
              <a:rPr lang="en-US" sz="1400" b="1" dirty="0">
                <a:solidFill>
                  <a:schemeClr val="dk1"/>
                </a:solidFill>
                <a:latin typeface="Nunito" pitchFamily="2" charset="0"/>
                <a:ea typeface="Century Gothic"/>
                <a:cs typeface="Century Gothic"/>
                <a:sym typeface="Century Gothic"/>
              </a:rPr>
              <a:t>Numeric</a:t>
            </a:r>
            <a:r>
              <a:rPr lang="en-US" sz="1400" dirty="0">
                <a:solidFill>
                  <a:schemeClr val="dk1"/>
                </a:solidFill>
                <a:latin typeface="Nunito" pitchFamily="2" charset="0"/>
                <a:ea typeface="Century Gothic"/>
                <a:cs typeface="Century Gothic"/>
                <a:sym typeface="Century Gothic"/>
              </a:rPr>
              <a:t> and </a:t>
            </a:r>
            <a:r>
              <a:rPr lang="en-US" sz="1400" b="1" dirty="0">
                <a:solidFill>
                  <a:schemeClr val="dk1"/>
                </a:solidFill>
                <a:latin typeface="Nunito" pitchFamily="2" charset="0"/>
                <a:ea typeface="Century Gothic"/>
                <a:cs typeface="Century Gothic"/>
                <a:sym typeface="Century Gothic"/>
              </a:rPr>
              <a:t>Categorical</a:t>
            </a:r>
            <a:r>
              <a:rPr lang="en-US" sz="1400" dirty="0">
                <a:solidFill>
                  <a:schemeClr val="dk1"/>
                </a:solidFill>
                <a:latin typeface="Nunito" pitchFamily="2" charset="0"/>
                <a:ea typeface="Century Gothic"/>
                <a:cs typeface="Century Gothic"/>
                <a:sym typeface="Century Gothic"/>
              </a:rPr>
              <a:t> feature missing data counts.</a:t>
            </a:r>
          </a:p>
        </p:txBody>
      </p:sp>
      <p:sp>
        <p:nvSpPr>
          <p:cNvPr id="2" name="Slide Number Placeholder 1">
            <a:extLst>
              <a:ext uri="{FF2B5EF4-FFF2-40B4-BE49-F238E27FC236}">
                <a16:creationId xmlns:a16="http://schemas.microsoft.com/office/drawing/2014/main" id="{5ACDAD94-9171-457D-2A1E-26279FDADFC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a:p>
        </p:txBody>
      </p:sp>
      <p:pic>
        <p:nvPicPr>
          <p:cNvPr id="5" name="Picture 4" descr="A screenshot of a graph&#10;&#10;AI-generated content may be incorrect.">
            <a:extLst>
              <a:ext uri="{FF2B5EF4-FFF2-40B4-BE49-F238E27FC236}">
                <a16:creationId xmlns:a16="http://schemas.microsoft.com/office/drawing/2014/main" id="{C88CA4D9-CC3E-8976-C55F-B4D568472AEE}"/>
              </a:ext>
            </a:extLst>
          </p:cNvPr>
          <p:cNvPicPr>
            <a:picLocks noChangeAspect="1"/>
          </p:cNvPicPr>
          <p:nvPr/>
        </p:nvPicPr>
        <p:blipFill>
          <a:blip r:embed="rId3"/>
          <a:stretch>
            <a:fillRect/>
          </a:stretch>
        </p:blipFill>
        <p:spPr>
          <a:xfrm>
            <a:off x="4854432" y="928042"/>
            <a:ext cx="3650178" cy="1219491"/>
          </a:xfrm>
          <a:prstGeom prst="rect">
            <a:avLst/>
          </a:prstGeom>
        </p:spPr>
      </p:pic>
      <p:pic>
        <p:nvPicPr>
          <p:cNvPr id="7" name="Picture 6" descr="A table with numbers and a missing number&#10;&#10;AI-generated content may be incorrect.">
            <a:extLst>
              <a:ext uri="{FF2B5EF4-FFF2-40B4-BE49-F238E27FC236}">
                <a16:creationId xmlns:a16="http://schemas.microsoft.com/office/drawing/2014/main" id="{28B74B05-DDE5-76D7-8B33-734623A8FDC2}"/>
              </a:ext>
            </a:extLst>
          </p:cNvPr>
          <p:cNvPicPr>
            <a:picLocks noChangeAspect="1"/>
          </p:cNvPicPr>
          <p:nvPr/>
        </p:nvPicPr>
        <p:blipFill>
          <a:blip r:embed="rId4"/>
          <a:stretch>
            <a:fillRect/>
          </a:stretch>
        </p:blipFill>
        <p:spPr>
          <a:xfrm>
            <a:off x="639392" y="879916"/>
            <a:ext cx="3650178" cy="3210497"/>
          </a:xfrm>
          <a:prstGeom prst="rect">
            <a:avLst/>
          </a:prstGeom>
        </p:spPr>
      </p:pic>
    </p:spTree>
    <p:extLst>
      <p:ext uri="{BB962C8B-B14F-4D97-AF65-F5344CB8AC3E}">
        <p14:creationId xmlns:p14="http://schemas.microsoft.com/office/powerpoint/2010/main" val="1359273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CD7EBC3-DA58-0071-7873-B06AE77449C7}"/>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EE449BB-55A7-83E9-7C93-764F49B87BB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26B25A56-C340-CDB3-8689-22711DFCCC68}"/>
              </a:ext>
            </a:extLst>
          </p:cNvPr>
          <p:cNvSpPr txBox="1">
            <a:spLocks noGrp="1"/>
          </p:cNvSpPr>
          <p:nvPr>
            <p:ph type="body" idx="1"/>
          </p:nvPr>
        </p:nvSpPr>
        <p:spPr>
          <a:xfrm>
            <a:off x="337616" y="3916399"/>
            <a:ext cx="8783321" cy="1030508"/>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Summary table of data completeness by showing how many rows have missing values.</a:t>
            </a:r>
          </a:p>
          <a:p>
            <a:pPr marL="0" indent="0" algn="just">
              <a:spcBef>
                <a:spcPts val="400"/>
              </a:spcBef>
              <a:buClr>
                <a:schemeClr val="dk1"/>
              </a:buClr>
              <a:buSzPts val="1400"/>
              <a:buNone/>
            </a:pPr>
            <a:r>
              <a:rPr lang="en-US" sz="1400" dirty="0">
                <a:solidFill>
                  <a:schemeClr val="dk1"/>
                </a:solidFill>
                <a:latin typeface="Nunito" pitchFamily="2" charset="0"/>
                <a:ea typeface="Century Gothic"/>
                <a:cs typeface="Century Gothic"/>
                <a:sym typeface="Century Gothic"/>
              </a:rPr>
              <a:t>A lot of rows of 1 or more missing feature values. Give a data set of </a:t>
            </a:r>
            <a:r>
              <a:rPr lang="en-US" sz="1400" b="1" dirty="0"/>
              <a:t>5960 </a:t>
            </a:r>
            <a:r>
              <a:rPr lang="en-US" sz="1400" dirty="0"/>
              <a:t>rows, only </a:t>
            </a:r>
            <a:r>
              <a:rPr lang="en-US" sz="1400" b="1" dirty="0"/>
              <a:t>3364</a:t>
            </a:r>
            <a:r>
              <a:rPr lang="en-US" sz="1400" dirty="0"/>
              <a:t> rows are feature complete. This once again calls into question the quality of the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8BE8119-BAD0-2D05-B602-0AC6E3FD4BD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a:p>
        </p:txBody>
      </p:sp>
      <p:pic>
        <p:nvPicPr>
          <p:cNvPr id="4" name="Picture 3" descr="A table with numbers and a missing feature&#10;&#10;AI-generated content may be incorrect.">
            <a:extLst>
              <a:ext uri="{FF2B5EF4-FFF2-40B4-BE49-F238E27FC236}">
                <a16:creationId xmlns:a16="http://schemas.microsoft.com/office/drawing/2014/main" id="{E2BAC7F4-A094-A474-AD9A-FB721194EB2A}"/>
              </a:ext>
            </a:extLst>
          </p:cNvPr>
          <p:cNvPicPr>
            <a:picLocks noChangeAspect="1"/>
          </p:cNvPicPr>
          <p:nvPr/>
        </p:nvPicPr>
        <p:blipFill>
          <a:blip r:embed="rId3"/>
          <a:stretch>
            <a:fillRect/>
          </a:stretch>
        </p:blipFill>
        <p:spPr>
          <a:xfrm>
            <a:off x="2583244" y="706698"/>
            <a:ext cx="3212540" cy="3342133"/>
          </a:xfrm>
          <a:prstGeom prst="rect">
            <a:avLst/>
          </a:prstGeom>
        </p:spPr>
      </p:pic>
    </p:spTree>
    <p:extLst>
      <p:ext uri="{BB962C8B-B14F-4D97-AF65-F5344CB8AC3E}">
        <p14:creationId xmlns:p14="http://schemas.microsoft.com/office/powerpoint/2010/main" val="2273604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a:p>
        </p:txBody>
      </p:sp>
      <p:pic>
        <p:nvPicPr>
          <p:cNvPr id="5" name="Picture 4" descr="A table with numbers and letters&#10;&#10;AI-generated content may be incorrect.">
            <a:extLst>
              <a:ext uri="{FF2B5EF4-FFF2-40B4-BE49-F238E27FC236}">
                <a16:creationId xmlns:a16="http://schemas.microsoft.com/office/drawing/2014/main" id="{3091A069-3ABC-DB66-6DB6-5CC597D3E7E7}"/>
              </a:ext>
            </a:extLst>
          </p:cNvPr>
          <p:cNvPicPr>
            <a:picLocks noChangeAspect="1"/>
          </p:cNvPicPr>
          <p:nvPr/>
        </p:nvPicPr>
        <p:blipFill>
          <a:blip r:embed="rId3"/>
          <a:stretch>
            <a:fillRect/>
          </a:stretch>
        </p:blipFill>
        <p:spPr>
          <a:xfrm>
            <a:off x="154466" y="676885"/>
            <a:ext cx="8937744" cy="3702610"/>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508A608-C709-672D-76E5-08A2BA2FED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AC0034B-DA7B-E649-706D-6FA29010BD8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998C4AE4-924F-8813-5D5A-AE2DDFEA99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a:p>
        </p:txBody>
      </p:sp>
      <p:pic>
        <p:nvPicPr>
          <p:cNvPr id="14" name="Picture 13" descr="A group of graphs showing different sizes of data&#10;&#10;AI-generated content may be incorrect.">
            <a:extLst>
              <a:ext uri="{FF2B5EF4-FFF2-40B4-BE49-F238E27FC236}">
                <a16:creationId xmlns:a16="http://schemas.microsoft.com/office/drawing/2014/main" id="{23594621-C020-A049-C758-82BC8B3A4459}"/>
              </a:ext>
            </a:extLst>
          </p:cNvPr>
          <p:cNvPicPr>
            <a:picLocks noChangeAspect="1"/>
          </p:cNvPicPr>
          <p:nvPr/>
        </p:nvPicPr>
        <p:blipFill>
          <a:blip r:embed="rId3"/>
          <a:stretch>
            <a:fillRect/>
          </a:stretch>
        </p:blipFill>
        <p:spPr>
          <a:xfrm>
            <a:off x="955141" y="661576"/>
            <a:ext cx="6937575" cy="4288873"/>
          </a:xfrm>
          <a:prstGeom prst="rect">
            <a:avLst/>
          </a:prstGeom>
        </p:spPr>
      </p:pic>
    </p:spTree>
    <p:extLst>
      <p:ext uri="{BB962C8B-B14F-4D97-AF65-F5344CB8AC3E}">
        <p14:creationId xmlns:p14="http://schemas.microsoft.com/office/powerpoint/2010/main" val="25513313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7801EBCA-1448-6939-1515-55C7FF35FE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20D67E4-D8A4-6954-22CB-F8B469E6849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982982A5-983B-F19B-75FD-546CE3BF23AF}"/>
              </a:ext>
            </a:extLst>
          </p:cNvPr>
          <p:cNvSpPr txBox="1">
            <a:spLocks noGrp="1"/>
          </p:cNvSpPr>
          <p:nvPr>
            <p:ph type="body" idx="1"/>
          </p:nvPr>
        </p:nvSpPr>
        <p:spPr>
          <a:xfrm>
            <a:off x="58709" y="32358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Right-skewed, clustered around $15k, large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Right-skewed, clustered around $70k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Highly Right-skewed</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Most normal distribution, mode=0</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(most values=0)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A5B5804-E992-A86E-A70A-C3372EFE405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a:p>
        </p:txBody>
      </p:sp>
      <p:pic>
        <p:nvPicPr>
          <p:cNvPr id="6" name="Picture 5" descr="A screenshot of a computer&#10;&#10;AI-generated content may be incorrect.">
            <a:extLst>
              <a:ext uri="{FF2B5EF4-FFF2-40B4-BE49-F238E27FC236}">
                <a16:creationId xmlns:a16="http://schemas.microsoft.com/office/drawing/2014/main" id="{47040D35-6A41-D321-A02B-104D344F9E4F}"/>
              </a:ext>
            </a:extLst>
          </p:cNvPr>
          <p:cNvPicPr>
            <a:picLocks noChangeAspect="1"/>
          </p:cNvPicPr>
          <p:nvPr/>
        </p:nvPicPr>
        <p:blipFill>
          <a:blip r:embed="rId3"/>
          <a:stretch>
            <a:fillRect/>
          </a:stretch>
        </p:blipFill>
        <p:spPr>
          <a:xfrm>
            <a:off x="154423" y="555114"/>
            <a:ext cx="8662737" cy="2604081"/>
          </a:xfrm>
          <a:prstGeom prst="rect">
            <a:avLst/>
          </a:prstGeom>
        </p:spPr>
      </p:pic>
      <p:sp>
        <p:nvSpPr>
          <p:cNvPr id="7" name="Google Shape;190;p40">
            <a:extLst>
              <a:ext uri="{FF2B5EF4-FFF2-40B4-BE49-F238E27FC236}">
                <a16:creationId xmlns:a16="http://schemas.microsoft.com/office/drawing/2014/main" id="{1E9FB3D4-0EDE-A761-86A1-81DFF8411D60}"/>
              </a:ext>
            </a:extLst>
          </p:cNvPr>
          <p:cNvSpPr txBox="1">
            <a:spLocks/>
          </p:cNvSpPr>
          <p:nvPr/>
        </p:nvSpPr>
        <p:spPr>
          <a:xfrm>
            <a:off x="4501708" y="3235808"/>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(most values=0)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Relatively symmetric, extreme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Highly Right-skewed, most have 0-2 inquires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Close to normal distribution, but still has right skew</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High kurtosis, extreme outliers</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7949445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5B6F3D8-5F46-BCB2-F006-DC519B3F1F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2B27650-447C-6886-E929-BE65E9D7722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59A2DCD-6436-7874-528C-D5373053264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a:p>
        </p:txBody>
      </p:sp>
      <p:pic>
        <p:nvPicPr>
          <p:cNvPr id="6" name="Picture 5" descr="A group of blue squares&#10;&#10;AI-generated content may be incorrect.">
            <a:extLst>
              <a:ext uri="{FF2B5EF4-FFF2-40B4-BE49-F238E27FC236}">
                <a16:creationId xmlns:a16="http://schemas.microsoft.com/office/drawing/2014/main" id="{5A6C41A6-2C41-BF8F-DD3A-4B20F4A21BDD}"/>
              </a:ext>
            </a:extLst>
          </p:cNvPr>
          <p:cNvPicPr>
            <a:picLocks noChangeAspect="1"/>
          </p:cNvPicPr>
          <p:nvPr/>
        </p:nvPicPr>
        <p:blipFill>
          <a:blip r:embed="rId3"/>
          <a:stretch>
            <a:fillRect/>
          </a:stretch>
        </p:blipFill>
        <p:spPr>
          <a:xfrm>
            <a:off x="411434" y="563770"/>
            <a:ext cx="8321131" cy="2769660"/>
          </a:xfrm>
          <a:prstGeom prst="rect">
            <a:avLst/>
          </a:prstGeom>
        </p:spPr>
      </p:pic>
      <p:sp>
        <p:nvSpPr>
          <p:cNvPr id="17" name="Google Shape;190;p40">
            <a:extLst>
              <a:ext uri="{FF2B5EF4-FFF2-40B4-BE49-F238E27FC236}">
                <a16:creationId xmlns:a16="http://schemas.microsoft.com/office/drawing/2014/main" id="{A195F955-1E6B-F583-C74A-EAB871393921}"/>
              </a:ext>
            </a:extLst>
          </p:cNvPr>
          <p:cNvSpPr txBox="1">
            <a:spLocks noGrp="1"/>
          </p:cNvSpPr>
          <p:nvPr>
            <p:ph type="body" idx="1"/>
          </p:nvPr>
        </p:nvSpPr>
        <p:spPr>
          <a:xfrm>
            <a:off x="58708" y="33444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Wide </a:t>
            </a:r>
            <a:r>
              <a:rPr lang="en-US" sz="1200" b="1" dirty="0">
                <a:solidFill>
                  <a:schemeClr val="dk1"/>
                </a:solidFill>
                <a:latin typeface="Nunito" pitchFamily="2" charset="0"/>
                <a:ea typeface="Century Gothic"/>
                <a:cs typeface="Century Gothic"/>
                <a:sym typeface="Century Gothic"/>
              </a:rPr>
              <a:t>Inter Quartile Range</a:t>
            </a:r>
            <a:r>
              <a:rPr lang="en-US" sz="1200" dirty="0">
                <a:solidFill>
                  <a:schemeClr val="dk1"/>
                </a:solidFill>
                <a:latin typeface="Nunito" pitchFamily="2" charset="0"/>
                <a:ea typeface="Century Gothic"/>
                <a:cs typeface="Century Gothic"/>
                <a:sym typeface="Century Gothic"/>
              </a:rPr>
              <a: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outliers &gt; $40k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$45k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200k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Wideset </a:t>
            </a:r>
            <a:r>
              <a:rPr lang="en-US" sz="1200" b="1" dirty="0"/>
              <a:t>IQR</a:t>
            </a:r>
            <a:r>
              <a:rPr lang="en-US" sz="1200" dirty="0"/>
              <a:t>, still high outliers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Box collapsed at 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18" name="Google Shape;190;p40">
            <a:extLst>
              <a:ext uri="{FF2B5EF4-FFF2-40B4-BE49-F238E27FC236}">
                <a16:creationId xmlns:a16="http://schemas.microsoft.com/office/drawing/2014/main" id="{8991B495-0A1D-924D-1BF8-850344390C24}"/>
              </a:ext>
            </a:extLst>
          </p:cNvPr>
          <p:cNvSpPr txBox="1">
            <a:spLocks/>
          </p:cNvSpPr>
          <p:nvPr/>
        </p:nvSpPr>
        <p:spPr>
          <a:xfrm>
            <a:off x="4572001" y="3333430"/>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Box collapsed at 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fewer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Tight </a:t>
            </a:r>
            <a:r>
              <a:rPr lang="en-US" sz="1200" b="1" dirty="0"/>
              <a:t>IQR, </a:t>
            </a:r>
            <a:r>
              <a:rPr lang="en-US" sz="1200" dirty="0"/>
              <a:t>high outliers</a:t>
            </a:r>
            <a:endParaRPr lang="en-US" sz="1200" b="1"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 outliers exist</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0888942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2F38413-F87B-FFA6-0694-E490DCAB68C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7C7CDD-63F6-5FF0-8253-67E0D7589DE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775E2060-3936-0B42-882C-EAC7DBC78A5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a:p>
        </p:txBody>
      </p:sp>
      <p:pic>
        <p:nvPicPr>
          <p:cNvPr id="7" name="Picture 6" descr="A graph of a bar chart&#10;&#10;AI-generated content may be incorrect.">
            <a:extLst>
              <a:ext uri="{FF2B5EF4-FFF2-40B4-BE49-F238E27FC236}">
                <a16:creationId xmlns:a16="http://schemas.microsoft.com/office/drawing/2014/main" id="{952CFBD5-6C53-8B91-1326-FDABF9CA0963}"/>
              </a:ext>
            </a:extLst>
          </p:cNvPr>
          <p:cNvPicPr>
            <a:picLocks noChangeAspect="1"/>
          </p:cNvPicPr>
          <p:nvPr/>
        </p:nvPicPr>
        <p:blipFill>
          <a:blip r:embed="rId3"/>
          <a:stretch>
            <a:fillRect/>
          </a:stretch>
        </p:blipFill>
        <p:spPr>
          <a:xfrm>
            <a:off x="145963" y="914743"/>
            <a:ext cx="8573359" cy="2206593"/>
          </a:xfrm>
          <a:prstGeom prst="rect">
            <a:avLst/>
          </a:prstGeom>
        </p:spPr>
      </p:pic>
      <p:sp>
        <p:nvSpPr>
          <p:cNvPr id="14" name="Google Shape;190;p40">
            <a:extLst>
              <a:ext uri="{FF2B5EF4-FFF2-40B4-BE49-F238E27FC236}">
                <a16:creationId xmlns:a16="http://schemas.microsoft.com/office/drawing/2014/main" id="{8AE5F60F-91BC-219C-A109-FF2B8B86F1BC}"/>
              </a:ext>
            </a:extLst>
          </p:cNvPr>
          <p:cNvSpPr txBox="1">
            <a:spLocks noGrp="1"/>
          </p:cNvSpPr>
          <p:nvPr>
            <p:ph type="body" idx="1"/>
          </p:nvPr>
        </p:nvSpPr>
        <p:spPr>
          <a:xfrm>
            <a:off x="416217" y="3231384"/>
            <a:ext cx="7889010" cy="1502945"/>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BAD</a:t>
            </a:r>
            <a:r>
              <a:rPr lang="en-US" sz="1200" dirty="0">
                <a:solidFill>
                  <a:schemeClr val="dk1"/>
                </a:solidFill>
                <a:latin typeface="Nunito" pitchFamily="2" charset="0"/>
                <a:ea typeface="Century Gothic"/>
                <a:cs typeface="Century Gothic"/>
                <a:sym typeface="Century Gothic"/>
              </a:rPr>
              <a:t> – predicted feature label, class imbalance, 80% of loans don’t default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Right-skewed, declines after 4 years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DEROG</a:t>
            </a:r>
            <a:r>
              <a:rPr lang="en-US" sz="1200" dirty="0">
                <a:solidFill>
                  <a:schemeClr val="dk1"/>
                </a:solidFill>
                <a:latin typeface="Nunito" pitchFamily="2" charset="0"/>
                <a:ea typeface="Century Gothic"/>
                <a:cs typeface="Century Gothic"/>
                <a:sym typeface="Century Gothic"/>
              </a:rPr>
              <a:t> – Most values are 0 (</a:t>
            </a:r>
            <a:r>
              <a:rPr lang="en-US" sz="1200" b="1" dirty="0">
                <a:solidFill>
                  <a:schemeClr val="dk1"/>
                </a:solidFill>
                <a:latin typeface="Nunito" pitchFamily="2" charset="0"/>
                <a:ea typeface="Century Gothic"/>
                <a:cs typeface="Century Gothic"/>
                <a:sym typeface="Century Gothic"/>
              </a:rPr>
              <a:t>zero-inflated</a:t>
            </a:r>
            <a:r>
              <a:rPr lang="en-US" sz="1200" dirty="0">
                <a:solidFill>
                  <a:schemeClr val="dk1"/>
                </a:solidFill>
                <a:latin typeface="Nunito" pitchFamily="2" charset="0"/>
                <a:ea typeface="Century Gothic"/>
                <a:cs typeface="Century Gothic"/>
                <a:sym typeface="Century Gothic"/>
              </a:rPr>
              <a: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Zero-inflated</a:t>
            </a:r>
            <a:r>
              <a:rPr lang="en-US" sz="1200">
                <a:solidFill>
                  <a:schemeClr val="dk1"/>
                </a:solidFill>
                <a:latin typeface="Nunito" pitchFamily="2" charset="0"/>
                <a:ea typeface="Century Gothic"/>
                <a:cs typeface="Century Gothic"/>
                <a:sym typeface="Century Gothic"/>
              </a:rPr>
              <a:t>, Right-skewed</a:t>
            </a:r>
            <a:endParaRPr lang="en-US" sz="1200" dirty="0">
              <a:solidFill>
                <a:schemeClr val="dk1"/>
              </a:solidFill>
              <a:latin typeface="Nunito" pitchFamily="2" charset="0"/>
              <a:ea typeface="Century Gothic"/>
              <a:cs typeface="Century Gothic"/>
              <a:sym typeface="Century Gothic"/>
            </a:endParaRP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3640644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5FEB714-95C1-6A8E-2AC6-DAB4D0AC2C6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EE859D-8FCA-10AF-BE57-B84A8B050C7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6D96CE4-99A5-3976-A8C7-FD80AA615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a:p>
        </p:txBody>
      </p:sp>
      <p:sp>
        <p:nvSpPr>
          <p:cNvPr id="14" name="Google Shape;190;p40">
            <a:extLst>
              <a:ext uri="{FF2B5EF4-FFF2-40B4-BE49-F238E27FC236}">
                <a16:creationId xmlns:a16="http://schemas.microsoft.com/office/drawing/2014/main" id="{C51859A5-FA00-2A01-0875-1D0733209E6D}"/>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8" name="Picture 7" descr="A table with text on it&#10;&#10;AI-generated content may be incorrect.">
            <a:extLst>
              <a:ext uri="{FF2B5EF4-FFF2-40B4-BE49-F238E27FC236}">
                <a16:creationId xmlns:a16="http://schemas.microsoft.com/office/drawing/2014/main" id="{BAF90042-BE2C-CC70-47E5-16A0DE805E9A}"/>
              </a:ext>
            </a:extLst>
          </p:cNvPr>
          <p:cNvPicPr>
            <a:picLocks noChangeAspect="1"/>
          </p:cNvPicPr>
          <p:nvPr/>
        </p:nvPicPr>
        <p:blipFill>
          <a:blip r:embed="rId3"/>
          <a:stretch>
            <a:fillRect/>
          </a:stretch>
        </p:blipFill>
        <p:spPr>
          <a:xfrm>
            <a:off x="3301631" y="2912890"/>
            <a:ext cx="2078981" cy="1215179"/>
          </a:xfrm>
          <a:prstGeom prst="rect">
            <a:avLst/>
          </a:prstGeom>
        </p:spPr>
      </p:pic>
      <p:pic>
        <p:nvPicPr>
          <p:cNvPr id="10" name="Picture 9" descr="A diagram of a normal distribution&#10;&#10;AI-generated content may be incorrect.">
            <a:extLst>
              <a:ext uri="{FF2B5EF4-FFF2-40B4-BE49-F238E27FC236}">
                <a16:creationId xmlns:a16="http://schemas.microsoft.com/office/drawing/2014/main" id="{B456744B-12E6-2BB4-0075-4D8EBFEC8D96}"/>
              </a:ext>
            </a:extLst>
          </p:cNvPr>
          <p:cNvPicPr>
            <a:picLocks noChangeAspect="1"/>
          </p:cNvPicPr>
          <p:nvPr/>
        </p:nvPicPr>
        <p:blipFill>
          <a:blip r:embed="rId4"/>
          <a:stretch>
            <a:fillRect/>
          </a:stretch>
        </p:blipFill>
        <p:spPr>
          <a:xfrm>
            <a:off x="468977" y="665117"/>
            <a:ext cx="7695399" cy="2134452"/>
          </a:xfrm>
          <a:prstGeom prst="rect">
            <a:avLst/>
          </a:prstGeom>
        </p:spPr>
      </p:pic>
    </p:spTree>
    <p:extLst>
      <p:ext uri="{BB962C8B-B14F-4D97-AF65-F5344CB8AC3E}">
        <p14:creationId xmlns:p14="http://schemas.microsoft.com/office/powerpoint/2010/main" val="30156629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0A5A0CB-5C2E-13AA-36EB-E1C7BD4DAAE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D752DBA-3B58-5591-9AD4-B06FC43B664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9D83326B-097D-10BD-1604-883EF2A3A36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a:p>
        </p:txBody>
      </p:sp>
      <p:sp>
        <p:nvSpPr>
          <p:cNvPr id="14" name="Google Shape;190;p40">
            <a:extLst>
              <a:ext uri="{FF2B5EF4-FFF2-40B4-BE49-F238E27FC236}">
                <a16:creationId xmlns:a16="http://schemas.microsoft.com/office/drawing/2014/main" id="{15BD3489-5CD2-6C8A-A4C9-A76D61259AA5}"/>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7" name="Picture 6" descr="A table with text on it&#10;&#10;AI-generated content may be incorrect.">
            <a:extLst>
              <a:ext uri="{FF2B5EF4-FFF2-40B4-BE49-F238E27FC236}">
                <a16:creationId xmlns:a16="http://schemas.microsoft.com/office/drawing/2014/main" id="{0CE7D02D-12C7-3380-F282-8CE7AA459D6B}"/>
              </a:ext>
            </a:extLst>
          </p:cNvPr>
          <p:cNvPicPr>
            <a:picLocks noChangeAspect="1"/>
          </p:cNvPicPr>
          <p:nvPr/>
        </p:nvPicPr>
        <p:blipFill>
          <a:blip r:embed="rId3"/>
          <a:stretch>
            <a:fillRect/>
          </a:stretch>
        </p:blipFill>
        <p:spPr>
          <a:xfrm>
            <a:off x="3410504" y="2912890"/>
            <a:ext cx="2322992" cy="1215179"/>
          </a:xfrm>
          <a:prstGeom prst="rect">
            <a:avLst/>
          </a:prstGeom>
        </p:spPr>
      </p:pic>
      <p:pic>
        <p:nvPicPr>
          <p:cNvPr id="10" name="Picture 9" descr="A screenshot of a graph&#10;&#10;AI-generated content may be incorrect.">
            <a:extLst>
              <a:ext uri="{FF2B5EF4-FFF2-40B4-BE49-F238E27FC236}">
                <a16:creationId xmlns:a16="http://schemas.microsoft.com/office/drawing/2014/main" id="{EF56C8C9-BA46-B44D-B3AE-ECA4774093B7}"/>
              </a:ext>
            </a:extLst>
          </p:cNvPr>
          <p:cNvPicPr>
            <a:picLocks noChangeAspect="1"/>
          </p:cNvPicPr>
          <p:nvPr/>
        </p:nvPicPr>
        <p:blipFill>
          <a:blip r:embed="rId4"/>
          <a:stretch>
            <a:fillRect/>
          </a:stretch>
        </p:blipFill>
        <p:spPr>
          <a:xfrm>
            <a:off x="627495" y="661348"/>
            <a:ext cx="7680285" cy="2144664"/>
          </a:xfrm>
          <a:prstGeom prst="rect">
            <a:avLst/>
          </a:prstGeom>
        </p:spPr>
      </p:pic>
    </p:spTree>
    <p:extLst>
      <p:ext uri="{BB962C8B-B14F-4D97-AF65-F5344CB8AC3E}">
        <p14:creationId xmlns:p14="http://schemas.microsoft.com/office/powerpoint/2010/main" val="1468846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8FA1894-AD34-EFFE-BED9-DB4F626F2B52}"/>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E671323-ABE5-36AF-A1C9-98670E6D82E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26740705-7B03-8138-8E50-28F171C3985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a:p>
        </p:txBody>
      </p:sp>
      <p:sp>
        <p:nvSpPr>
          <p:cNvPr id="14" name="Google Shape;190;p40">
            <a:extLst>
              <a:ext uri="{FF2B5EF4-FFF2-40B4-BE49-F238E27FC236}">
                <a16:creationId xmlns:a16="http://schemas.microsoft.com/office/drawing/2014/main" id="{5552E378-D2CB-205F-4550-C712E0099F19}"/>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4" name="Picture 3" descr="A diagram of a normalized curve&#10;&#10;AI-generated content may be incorrect.">
            <a:extLst>
              <a:ext uri="{FF2B5EF4-FFF2-40B4-BE49-F238E27FC236}">
                <a16:creationId xmlns:a16="http://schemas.microsoft.com/office/drawing/2014/main" id="{7942BA3C-DCA0-5D4C-2AA6-67060AEC2AA0}"/>
              </a:ext>
            </a:extLst>
          </p:cNvPr>
          <p:cNvPicPr>
            <a:picLocks noChangeAspect="1"/>
          </p:cNvPicPr>
          <p:nvPr/>
        </p:nvPicPr>
        <p:blipFill>
          <a:blip r:embed="rId3"/>
          <a:stretch>
            <a:fillRect/>
          </a:stretch>
        </p:blipFill>
        <p:spPr>
          <a:xfrm>
            <a:off x="652598" y="631783"/>
            <a:ext cx="7838803" cy="2174228"/>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B244255-B832-C9AC-686D-E51E0A347ABF}"/>
              </a:ext>
            </a:extLst>
          </p:cNvPr>
          <p:cNvPicPr>
            <a:picLocks noChangeAspect="1"/>
          </p:cNvPicPr>
          <p:nvPr/>
        </p:nvPicPr>
        <p:blipFill>
          <a:blip r:embed="rId4"/>
          <a:stretch>
            <a:fillRect/>
          </a:stretch>
        </p:blipFill>
        <p:spPr>
          <a:xfrm>
            <a:off x="3706221" y="2892728"/>
            <a:ext cx="2198392" cy="1255503"/>
          </a:xfrm>
          <a:prstGeom prst="rect">
            <a:avLst/>
          </a:prstGeom>
        </p:spPr>
      </p:pic>
    </p:spTree>
    <p:extLst>
      <p:ext uri="{BB962C8B-B14F-4D97-AF65-F5344CB8AC3E}">
        <p14:creationId xmlns:p14="http://schemas.microsoft.com/office/powerpoint/2010/main" val="11996189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2F11F53-79EF-085C-FAE6-D666EA1E03A5}"/>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EB9F5B17-FC30-C298-48EA-DA58DBEDE598}"/>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24FDA363-49CA-1147-5D60-9443CD48CD1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25</a:t>
            </a:fld>
            <a:endParaRPr lang="en-US"/>
          </a:p>
        </p:txBody>
      </p:sp>
      <p:sp>
        <p:nvSpPr>
          <p:cNvPr id="14" name="Google Shape;190;p40">
            <a:extLst>
              <a:ext uri="{FF2B5EF4-FFF2-40B4-BE49-F238E27FC236}">
                <a16:creationId xmlns:a16="http://schemas.microsoft.com/office/drawing/2014/main" id="{B8961BA6-C299-7291-C55F-F70C2A953535}"/>
              </a:ext>
            </a:extLst>
          </p:cNvPr>
          <p:cNvSpPr txBox="1">
            <a:spLocks noGrp="1"/>
          </p:cNvSpPr>
          <p:nvPr>
            <p:ph type="body" idx="1"/>
          </p:nvPr>
        </p:nvSpPr>
        <p:spPr>
          <a:xfrm>
            <a:off x="733821" y="4440511"/>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-0.07</a:t>
            </a:r>
          </a:p>
        </p:txBody>
      </p:sp>
      <p:pic>
        <p:nvPicPr>
          <p:cNvPr id="5" name="Picture 4" descr="A comparison of a normalization diagram&#10;&#10;AI-generated content may be incorrect.">
            <a:extLst>
              <a:ext uri="{FF2B5EF4-FFF2-40B4-BE49-F238E27FC236}">
                <a16:creationId xmlns:a16="http://schemas.microsoft.com/office/drawing/2014/main" id="{5709DA6E-BDA5-392B-390D-9DED8EDB0476}"/>
              </a:ext>
            </a:extLst>
          </p:cNvPr>
          <p:cNvPicPr>
            <a:picLocks noChangeAspect="1"/>
          </p:cNvPicPr>
          <p:nvPr/>
        </p:nvPicPr>
        <p:blipFill>
          <a:blip r:embed="rId3"/>
          <a:stretch>
            <a:fillRect/>
          </a:stretch>
        </p:blipFill>
        <p:spPr>
          <a:xfrm>
            <a:off x="733821" y="611885"/>
            <a:ext cx="7375277" cy="25510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B291F508-3506-9342-7829-EE2D5818C5EF}"/>
              </a:ext>
            </a:extLst>
          </p:cNvPr>
          <p:cNvPicPr>
            <a:picLocks noChangeAspect="1"/>
          </p:cNvPicPr>
          <p:nvPr/>
        </p:nvPicPr>
        <p:blipFill>
          <a:blip r:embed="rId4"/>
          <a:stretch>
            <a:fillRect/>
          </a:stretch>
        </p:blipFill>
        <p:spPr>
          <a:xfrm>
            <a:off x="3549688" y="3116819"/>
            <a:ext cx="2359177" cy="1255502"/>
          </a:xfrm>
          <a:prstGeom prst="rect">
            <a:avLst/>
          </a:prstGeom>
        </p:spPr>
      </p:pic>
    </p:spTree>
    <p:extLst>
      <p:ext uri="{BB962C8B-B14F-4D97-AF65-F5344CB8AC3E}">
        <p14:creationId xmlns:p14="http://schemas.microsoft.com/office/powerpoint/2010/main" val="15515564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9522791-8091-E57B-A3A5-7BED2F629B8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A49F80-C41C-F88D-B856-06808071BA0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1B8591A4-96CA-E862-D622-6F95ACC9BFD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a:p>
        </p:txBody>
      </p:sp>
      <p:sp>
        <p:nvSpPr>
          <p:cNvPr id="14" name="Google Shape;190;p40">
            <a:extLst>
              <a:ext uri="{FF2B5EF4-FFF2-40B4-BE49-F238E27FC236}">
                <a16:creationId xmlns:a16="http://schemas.microsoft.com/office/drawing/2014/main" id="{E4CEA280-F53F-D7D0-11F8-047055C98873}"/>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2.10</a:t>
            </a:r>
          </a:p>
        </p:txBody>
      </p:sp>
      <p:pic>
        <p:nvPicPr>
          <p:cNvPr id="7" name="Picture 6" descr="A comparison of normalization graphs&#10;&#10;AI-generated content may be incorrect.">
            <a:extLst>
              <a:ext uri="{FF2B5EF4-FFF2-40B4-BE49-F238E27FC236}">
                <a16:creationId xmlns:a16="http://schemas.microsoft.com/office/drawing/2014/main" id="{CE26248C-223E-86E3-609C-1A4F8FF457D8}"/>
              </a:ext>
            </a:extLst>
          </p:cNvPr>
          <p:cNvPicPr>
            <a:picLocks noChangeAspect="1"/>
          </p:cNvPicPr>
          <p:nvPr/>
        </p:nvPicPr>
        <p:blipFill>
          <a:blip r:embed="rId3"/>
          <a:stretch>
            <a:fillRect/>
          </a:stretch>
        </p:blipFill>
        <p:spPr>
          <a:xfrm>
            <a:off x="751939" y="595759"/>
            <a:ext cx="7286275" cy="2524523"/>
          </a:xfrm>
          <a:prstGeom prst="rect">
            <a:avLst/>
          </a:prstGeom>
        </p:spPr>
      </p:pic>
      <p:pic>
        <p:nvPicPr>
          <p:cNvPr id="10" name="Picture 9" descr="A table with text on it&#10;&#10;AI-generated content may be incorrect.">
            <a:extLst>
              <a:ext uri="{FF2B5EF4-FFF2-40B4-BE49-F238E27FC236}">
                <a16:creationId xmlns:a16="http://schemas.microsoft.com/office/drawing/2014/main" id="{2F00AF2D-7F67-BDE5-CF28-CA5E5342A0DE}"/>
              </a:ext>
            </a:extLst>
          </p:cNvPr>
          <p:cNvPicPr>
            <a:picLocks noChangeAspect="1"/>
          </p:cNvPicPr>
          <p:nvPr/>
        </p:nvPicPr>
        <p:blipFill>
          <a:blip r:embed="rId4"/>
          <a:stretch>
            <a:fillRect/>
          </a:stretch>
        </p:blipFill>
        <p:spPr>
          <a:xfrm>
            <a:off x="3732734" y="3091929"/>
            <a:ext cx="2448325" cy="1185563"/>
          </a:xfrm>
          <a:prstGeom prst="rect">
            <a:avLst/>
          </a:prstGeom>
        </p:spPr>
      </p:pic>
    </p:spTree>
    <p:extLst>
      <p:ext uri="{BB962C8B-B14F-4D97-AF65-F5344CB8AC3E}">
        <p14:creationId xmlns:p14="http://schemas.microsoft.com/office/powerpoint/2010/main" val="5891539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121CD02-5B6F-259B-4C67-28DFD39D11A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3D7D1D2-93B1-6E05-0D26-DDCF40499B2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0665D184-259E-C6EB-F11E-331FAA0CCB7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a:p>
        </p:txBody>
      </p:sp>
      <p:sp>
        <p:nvSpPr>
          <p:cNvPr id="14" name="Google Shape;190;p40">
            <a:extLst>
              <a:ext uri="{FF2B5EF4-FFF2-40B4-BE49-F238E27FC236}">
                <a16:creationId xmlns:a16="http://schemas.microsoft.com/office/drawing/2014/main" id="{9A7DE04B-DD66-C5A5-D6E3-2F28CA11FA5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1.33</a:t>
            </a:r>
          </a:p>
        </p:txBody>
      </p:sp>
      <p:pic>
        <p:nvPicPr>
          <p:cNvPr id="4" name="Picture 3" descr="A comparison of a normalization comparison&#10;&#10;AI-generated content may be incorrect.">
            <a:extLst>
              <a:ext uri="{FF2B5EF4-FFF2-40B4-BE49-F238E27FC236}">
                <a16:creationId xmlns:a16="http://schemas.microsoft.com/office/drawing/2014/main" id="{CB3CD514-388A-1AF9-2EF8-697E5FB74F89}"/>
              </a:ext>
            </a:extLst>
          </p:cNvPr>
          <p:cNvPicPr>
            <a:picLocks noChangeAspect="1"/>
          </p:cNvPicPr>
          <p:nvPr/>
        </p:nvPicPr>
        <p:blipFill>
          <a:blip r:embed="rId3"/>
          <a:stretch>
            <a:fillRect/>
          </a:stretch>
        </p:blipFill>
        <p:spPr>
          <a:xfrm>
            <a:off x="844088" y="607814"/>
            <a:ext cx="7286275" cy="2526643"/>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88E3352-1F85-DF8B-D3D3-F43257602263}"/>
              </a:ext>
            </a:extLst>
          </p:cNvPr>
          <p:cNvPicPr>
            <a:picLocks noChangeAspect="1"/>
          </p:cNvPicPr>
          <p:nvPr/>
        </p:nvPicPr>
        <p:blipFill>
          <a:blip r:embed="rId4"/>
          <a:stretch>
            <a:fillRect/>
          </a:stretch>
        </p:blipFill>
        <p:spPr>
          <a:xfrm>
            <a:off x="3472253" y="3099017"/>
            <a:ext cx="2514047" cy="1203831"/>
          </a:xfrm>
          <a:prstGeom prst="rect">
            <a:avLst/>
          </a:prstGeom>
        </p:spPr>
      </p:pic>
    </p:spTree>
    <p:extLst>
      <p:ext uri="{BB962C8B-B14F-4D97-AF65-F5344CB8AC3E}">
        <p14:creationId xmlns:p14="http://schemas.microsoft.com/office/powerpoint/2010/main" val="652779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80CC259-A6E6-EBDB-070C-AD1E67E0D2E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082F407-4F3E-8BD8-9E93-6D6F559EBB5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336357D-50C1-6205-6D62-74ADEBBB005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a:p>
        </p:txBody>
      </p:sp>
      <p:sp>
        <p:nvSpPr>
          <p:cNvPr id="14" name="Google Shape;190;p40">
            <a:extLst>
              <a:ext uri="{FF2B5EF4-FFF2-40B4-BE49-F238E27FC236}">
                <a16:creationId xmlns:a16="http://schemas.microsoft.com/office/drawing/2014/main" id="{E87B8466-0214-E54E-B172-CB0D654EEC32}"/>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comparison of normalization graphs&#10;&#10;AI-generated content may be incorrect.">
            <a:extLst>
              <a:ext uri="{FF2B5EF4-FFF2-40B4-BE49-F238E27FC236}">
                <a16:creationId xmlns:a16="http://schemas.microsoft.com/office/drawing/2014/main" id="{B2B98606-B867-90B6-280E-593F5F838AB9}"/>
              </a:ext>
            </a:extLst>
          </p:cNvPr>
          <p:cNvPicPr>
            <a:picLocks noChangeAspect="1"/>
          </p:cNvPicPr>
          <p:nvPr/>
        </p:nvPicPr>
        <p:blipFill>
          <a:blip r:embed="rId3"/>
          <a:stretch>
            <a:fillRect/>
          </a:stretch>
        </p:blipFill>
        <p:spPr>
          <a:xfrm>
            <a:off x="780867" y="570112"/>
            <a:ext cx="7413292" cy="25663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E06279D0-010C-DF7F-CB84-A1ABF91F75EB}"/>
              </a:ext>
            </a:extLst>
          </p:cNvPr>
          <p:cNvPicPr>
            <a:picLocks noChangeAspect="1"/>
          </p:cNvPicPr>
          <p:nvPr/>
        </p:nvPicPr>
        <p:blipFill>
          <a:blip r:embed="rId4"/>
          <a:stretch>
            <a:fillRect/>
          </a:stretch>
        </p:blipFill>
        <p:spPr>
          <a:xfrm>
            <a:off x="3442483" y="3143579"/>
            <a:ext cx="2433778" cy="1194663"/>
          </a:xfrm>
          <a:prstGeom prst="rect">
            <a:avLst/>
          </a:prstGeom>
        </p:spPr>
      </p:pic>
    </p:spTree>
    <p:extLst>
      <p:ext uri="{BB962C8B-B14F-4D97-AF65-F5344CB8AC3E}">
        <p14:creationId xmlns:p14="http://schemas.microsoft.com/office/powerpoint/2010/main" val="120986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D6BC32A-84D2-AB3A-2472-75C1621AF7F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6E8F4B85-3900-E1EB-8B97-DEC9774171CD}"/>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5463E823-8CFD-F764-947F-DA3C7D427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a:p>
        </p:txBody>
      </p:sp>
      <p:sp>
        <p:nvSpPr>
          <p:cNvPr id="14" name="Google Shape;190;p40">
            <a:extLst>
              <a:ext uri="{FF2B5EF4-FFF2-40B4-BE49-F238E27FC236}">
                <a16:creationId xmlns:a16="http://schemas.microsoft.com/office/drawing/2014/main" id="{24F4B1B8-C21C-1748-D7B3-9E430C5B2BD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0.22</a:t>
            </a:r>
          </a:p>
        </p:txBody>
      </p:sp>
      <p:pic>
        <p:nvPicPr>
          <p:cNvPr id="4" name="Picture 3" descr="A comparison of a normalization comparison&#10;&#10;AI-generated content may be incorrect.">
            <a:extLst>
              <a:ext uri="{FF2B5EF4-FFF2-40B4-BE49-F238E27FC236}">
                <a16:creationId xmlns:a16="http://schemas.microsoft.com/office/drawing/2014/main" id="{974EFC47-2A21-1CD1-DF0C-BBAB21011E47}"/>
              </a:ext>
            </a:extLst>
          </p:cNvPr>
          <p:cNvPicPr>
            <a:picLocks noChangeAspect="1"/>
          </p:cNvPicPr>
          <p:nvPr/>
        </p:nvPicPr>
        <p:blipFill>
          <a:blip r:embed="rId3"/>
          <a:stretch>
            <a:fillRect/>
          </a:stretch>
        </p:blipFill>
        <p:spPr>
          <a:xfrm>
            <a:off x="787964" y="566015"/>
            <a:ext cx="7568071" cy="2619962"/>
          </a:xfrm>
          <a:prstGeom prst="rect">
            <a:avLst/>
          </a:prstGeom>
        </p:spPr>
      </p:pic>
      <p:pic>
        <p:nvPicPr>
          <p:cNvPr id="7" name="Picture 6" descr="A table with text on it&#10;&#10;AI-generated content may be incorrect.">
            <a:extLst>
              <a:ext uri="{FF2B5EF4-FFF2-40B4-BE49-F238E27FC236}">
                <a16:creationId xmlns:a16="http://schemas.microsoft.com/office/drawing/2014/main" id="{DD7E543F-D8C1-4F03-F51A-361EDFAD8D7F}"/>
              </a:ext>
            </a:extLst>
          </p:cNvPr>
          <p:cNvPicPr>
            <a:picLocks noChangeAspect="1"/>
          </p:cNvPicPr>
          <p:nvPr/>
        </p:nvPicPr>
        <p:blipFill>
          <a:blip r:embed="rId4"/>
          <a:stretch>
            <a:fillRect/>
          </a:stretch>
        </p:blipFill>
        <p:spPr>
          <a:xfrm>
            <a:off x="3556924" y="3132906"/>
            <a:ext cx="2287442" cy="1162648"/>
          </a:xfrm>
          <a:prstGeom prst="rect">
            <a:avLst/>
          </a:prstGeom>
        </p:spPr>
      </p:pic>
    </p:spTree>
    <p:extLst>
      <p:ext uri="{BB962C8B-B14F-4D97-AF65-F5344CB8AC3E}">
        <p14:creationId xmlns:p14="http://schemas.microsoft.com/office/powerpoint/2010/main" val="8267728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7FEDB58-25F6-B6A1-9C31-5AE36EDB6E7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574ED5D-B102-7495-FC9F-2C11F04F2DA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D879DB2-472B-8199-3B16-52AC9CB8228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a:p>
        </p:txBody>
      </p:sp>
      <p:sp>
        <p:nvSpPr>
          <p:cNvPr id="14" name="Google Shape;190;p40">
            <a:extLst>
              <a:ext uri="{FF2B5EF4-FFF2-40B4-BE49-F238E27FC236}">
                <a16:creationId xmlns:a16="http://schemas.microsoft.com/office/drawing/2014/main" id="{142D6567-20BA-5AFB-1DBB-C54D45CDE78B}"/>
              </a:ext>
            </a:extLst>
          </p:cNvPr>
          <p:cNvSpPr txBox="1">
            <a:spLocks noGrp="1"/>
          </p:cNvSpPr>
          <p:nvPr>
            <p:ph type="body" idx="1"/>
          </p:nvPr>
        </p:nvSpPr>
        <p:spPr>
          <a:xfrm>
            <a:off x="627494" y="421156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graph of normalization comparison&#10;&#10;AI-generated content may be incorrect.">
            <a:extLst>
              <a:ext uri="{FF2B5EF4-FFF2-40B4-BE49-F238E27FC236}">
                <a16:creationId xmlns:a16="http://schemas.microsoft.com/office/drawing/2014/main" id="{EC952D67-3B43-09F4-AD87-5787DA483E67}"/>
              </a:ext>
            </a:extLst>
          </p:cNvPr>
          <p:cNvPicPr>
            <a:picLocks noChangeAspect="1"/>
          </p:cNvPicPr>
          <p:nvPr/>
        </p:nvPicPr>
        <p:blipFill>
          <a:blip r:embed="rId3"/>
          <a:stretch>
            <a:fillRect/>
          </a:stretch>
        </p:blipFill>
        <p:spPr>
          <a:xfrm>
            <a:off x="787964" y="575952"/>
            <a:ext cx="7568071" cy="2617767"/>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38A50665-62B7-7B2A-8BAB-3682BCA12D40}"/>
              </a:ext>
            </a:extLst>
          </p:cNvPr>
          <p:cNvPicPr>
            <a:picLocks noChangeAspect="1"/>
          </p:cNvPicPr>
          <p:nvPr/>
        </p:nvPicPr>
        <p:blipFill>
          <a:blip r:embed="rId4"/>
          <a:stretch>
            <a:fillRect/>
          </a:stretch>
        </p:blipFill>
        <p:spPr>
          <a:xfrm>
            <a:off x="3616402" y="3131073"/>
            <a:ext cx="2352007" cy="1184266"/>
          </a:xfrm>
          <a:prstGeom prst="rect">
            <a:avLst/>
          </a:prstGeom>
        </p:spPr>
      </p:pic>
    </p:spTree>
    <p:extLst>
      <p:ext uri="{BB962C8B-B14F-4D97-AF65-F5344CB8AC3E}">
        <p14:creationId xmlns:p14="http://schemas.microsoft.com/office/powerpoint/2010/main" val="21817673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0DD1AA5C-EE1E-86BF-E300-FED3908A8CD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9B9757B-607B-7683-D2F0-3598596DCE5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F283655-AEBC-D04B-E80A-A58FD591549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a:p>
        </p:txBody>
      </p:sp>
      <p:sp>
        <p:nvSpPr>
          <p:cNvPr id="14" name="Google Shape;190;p40">
            <a:extLst>
              <a:ext uri="{FF2B5EF4-FFF2-40B4-BE49-F238E27FC236}">
                <a16:creationId xmlns:a16="http://schemas.microsoft.com/office/drawing/2014/main" id="{0E2A9C69-1413-6A3F-C843-4A813846EEED}"/>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0.75</a:t>
            </a:r>
          </a:p>
        </p:txBody>
      </p:sp>
      <p:pic>
        <p:nvPicPr>
          <p:cNvPr id="5" name="Picture 4" descr="A graph of a function&#10;&#10;AI-generated content may be incorrect.">
            <a:extLst>
              <a:ext uri="{FF2B5EF4-FFF2-40B4-BE49-F238E27FC236}">
                <a16:creationId xmlns:a16="http://schemas.microsoft.com/office/drawing/2014/main" id="{87EAECEF-E13E-0FF5-8FD5-E5E903E68BF7}"/>
              </a:ext>
            </a:extLst>
          </p:cNvPr>
          <p:cNvPicPr>
            <a:picLocks noChangeAspect="1"/>
          </p:cNvPicPr>
          <p:nvPr/>
        </p:nvPicPr>
        <p:blipFill>
          <a:blip r:embed="rId3"/>
          <a:stretch>
            <a:fillRect/>
          </a:stretch>
        </p:blipFill>
        <p:spPr>
          <a:xfrm>
            <a:off x="705513" y="618746"/>
            <a:ext cx="8047528" cy="2230623"/>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623CE5EC-2BE8-889A-D827-F7D5C1E3572E}"/>
              </a:ext>
            </a:extLst>
          </p:cNvPr>
          <p:cNvPicPr>
            <a:picLocks noChangeAspect="1"/>
          </p:cNvPicPr>
          <p:nvPr/>
        </p:nvPicPr>
        <p:blipFill>
          <a:blip r:embed="rId4"/>
          <a:stretch>
            <a:fillRect/>
          </a:stretch>
        </p:blipFill>
        <p:spPr>
          <a:xfrm>
            <a:off x="3785189" y="2958948"/>
            <a:ext cx="2367518" cy="1276000"/>
          </a:xfrm>
          <a:prstGeom prst="rect">
            <a:avLst/>
          </a:prstGeom>
        </p:spPr>
      </p:pic>
    </p:spTree>
    <p:extLst>
      <p:ext uri="{BB962C8B-B14F-4D97-AF65-F5344CB8AC3E}">
        <p14:creationId xmlns:p14="http://schemas.microsoft.com/office/powerpoint/2010/main" val="29345489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A278AA5-0C44-AF03-0959-E61B63332E2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738667D-EC9F-A0F0-802F-6B059E8514A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A4969C8-9EA9-9040-FC7E-F8A13F3155A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a:p>
        </p:txBody>
      </p:sp>
      <p:pic>
        <p:nvPicPr>
          <p:cNvPr id="4" name="Picture 3" descr="A group of graphs showing different sizes and colors&#10;&#10;AI-generated content may be incorrect.">
            <a:extLst>
              <a:ext uri="{FF2B5EF4-FFF2-40B4-BE49-F238E27FC236}">
                <a16:creationId xmlns:a16="http://schemas.microsoft.com/office/drawing/2014/main" id="{D8AB1660-E972-0EF5-C744-0BF2D50E919B}"/>
              </a:ext>
            </a:extLst>
          </p:cNvPr>
          <p:cNvPicPr>
            <a:picLocks noChangeAspect="1"/>
          </p:cNvPicPr>
          <p:nvPr/>
        </p:nvPicPr>
        <p:blipFill>
          <a:blip r:embed="rId3"/>
          <a:stretch>
            <a:fillRect/>
          </a:stretch>
        </p:blipFill>
        <p:spPr>
          <a:xfrm>
            <a:off x="1033113" y="610571"/>
            <a:ext cx="6937575" cy="4286717"/>
          </a:xfrm>
          <a:prstGeom prst="rect">
            <a:avLst/>
          </a:prstGeom>
        </p:spPr>
      </p:pic>
    </p:spTree>
    <p:extLst>
      <p:ext uri="{BB962C8B-B14F-4D97-AF65-F5344CB8AC3E}">
        <p14:creationId xmlns:p14="http://schemas.microsoft.com/office/powerpoint/2010/main" val="18588096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BFCC694-81EA-FF02-4F4F-F0E598CB748B}"/>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F080ECC-6526-7E69-A7EF-C1EA3FED209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C69C2CA2-88E4-C461-ED30-1857B546F4F4}"/>
              </a:ext>
            </a:extLst>
          </p:cNvPr>
          <p:cNvSpPr txBox="1">
            <a:spLocks noGrp="1"/>
          </p:cNvSpPr>
          <p:nvPr>
            <p:ph type="body" idx="1"/>
          </p:nvPr>
        </p:nvSpPr>
        <p:spPr>
          <a:xfrm>
            <a:off x="0" y="3235808"/>
            <a:ext cx="4556303" cy="1766607"/>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Close to normal distribution,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binarize?</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D9AB37F-8DEF-7D1F-7469-57E038BC201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a:p>
        </p:txBody>
      </p:sp>
      <p:sp>
        <p:nvSpPr>
          <p:cNvPr id="7" name="Google Shape;190;p40">
            <a:extLst>
              <a:ext uri="{FF2B5EF4-FFF2-40B4-BE49-F238E27FC236}">
                <a16:creationId xmlns:a16="http://schemas.microsoft.com/office/drawing/2014/main" id="{CCDDB7F7-AD2A-772E-27CE-6E6E5E8F9341}"/>
              </a:ext>
            </a:extLst>
          </p:cNvPr>
          <p:cNvSpPr txBox="1">
            <a:spLocks/>
          </p:cNvSpPr>
          <p:nvPr/>
        </p:nvSpPr>
        <p:spPr>
          <a:xfrm>
            <a:off x="4587698" y="3284476"/>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binarize?</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Normal, but bimodal?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Better.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Normal-</a:t>
            </a:r>
            <a:r>
              <a:rPr lang="en-US" sz="1200" dirty="0" err="1">
                <a:solidFill>
                  <a:schemeClr val="dk1"/>
                </a:solidFill>
                <a:latin typeface="Nunito" pitchFamily="2" charset="0"/>
                <a:ea typeface="Century Gothic"/>
                <a:cs typeface="Century Gothic"/>
                <a:sym typeface="Century Gothic"/>
              </a:rPr>
              <a:t>ish</a:t>
            </a:r>
            <a:r>
              <a:rPr lang="en-US" sz="1200" dirty="0">
                <a:solidFill>
                  <a:schemeClr val="dk1"/>
                </a:solidFill>
                <a:latin typeface="Nunito" pitchFamily="2" charset="0"/>
                <a:ea typeface="Century Gothic"/>
                <a:cs typeface="Century Gothic"/>
                <a:sym typeface="Century Gothic"/>
              </a:rPr>
              <a:t>. Kurtosis reduced, but still high</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pic>
        <p:nvPicPr>
          <p:cNvPr id="4" name="Picture 3" descr="A screenshot of a computer&#10;&#10;AI-generated content may be incorrect.">
            <a:extLst>
              <a:ext uri="{FF2B5EF4-FFF2-40B4-BE49-F238E27FC236}">
                <a16:creationId xmlns:a16="http://schemas.microsoft.com/office/drawing/2014/main" id="{08D5D30F-677F-8479-79E5-878CE5246001}"/>
              </a:ext>
            </a:extLst>
          </p:cNvPr>
          <p:cNvPicPr>
            <a:picLocks noChangeAspect="1"/>
          </p:cNvPicPr>
          <p:nvPr/>
        </p:nvPicPr>
        <p:blipFill>
          <a:blip r:embed="rId3"/>
          <a:stretch>
            <a:fillRect/>
          </a:stretch>
        </p:blipFill>
        <p:spPr>
          <a:xfrm>
            <a:off x="234489" y="665117"/>
            <a:ext cx="8675022" cy="2226942"/>
          </a:xfrm>
          <a:prstGeom prst="rect">
            <a:avLst/>
          </a:prstGeom>
        </p:spPr>
      </p:pic>
    </p:spTree>
    <p:extLst>
      <p:ext uri="{BB962C8B-B14F-4D97-AF65-F5344CB8AC3E}">
        <p14:creationId xmlns:p14="http://schemas.microsoft.com/office/powerpoint/2010/main" val="31778013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9809A8D0-DF4F-253B-8839-5B81753736DD}"/>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C9757D56-04BD-69E4-D66B-2B42396DBD3B}"/>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pic>
        <p:nvPicPr>
          <p:cNvPr id="189" name="Google Shape;189;p40">
            <a:extLst>
              <a:ext uri="{FF2B5EF4-FFF2-40B4-BE49-F238E27FC236}">
                <a16:creationId xmlns:a16="http://schemas.microsoft.com/office/drawing/2014/main" id="{087C0B74-563F-916A-D9A1-1FD3C9B7CB49}"/>
              </a:ext>
            </a:extLst>
          </p:cNvPr>
          <p:cNvPicPr preferRelativeResize="0"/>
          <p:nvPr/>
        </p:nvPicPr>
        <p:blipFill rotWithShape="1">
          <a:blip r:embed="rId3">
            <a:alphaModFix/>
          </a:blip>
          <a:srcRect/>
          <a:stretch/>
        </p:blipFill>
        <p:spPr>
          <a:xfrm>
            <a:off x="710763" y="1808801"/>
            <a:ext cx="7613375" cy="3381765"/>
          </a:xfrm>
          <a:prstGeom prst="rect">
            <a:avLst/>
          </a:prstGeom>
          <a:noFill/>
          <a:ln>
            <a:noFill/>
          </a:ln>
        </p:spPr>
      </p:pic>
      <p:sp>
        <p:nvSpPr>
          <p:cNvPr id="190" name="Google Shape;190;p40">
            <a:extLst>
              <a:ext uri="{FF2B5EF4-FFF2-40B4-BE49-F238E27FC236}">
                <a16:creationId xmlns:a16="http://schemas.microsoft.com/office/drawing/2014/main" id="{B67FA253-C77F-6653-7DD8-B70A12ED42A8}"/>
              </a:ext>
            </a:extLst>
          </p:cNvPr>
          <p:cNvSpPr txBox="1">
            <a:spLocks noGrp="1"/>
          </p:cNvSpPr>
          <p:nvPr>
            <p:ph type="body" idx="1"/>
          </p:nvPr>
        </p:nvSpPr>
        <p:spPr>
          <a:xfrm>
            <a:off x="202550" y="752645"/>
            <a:ext cx="8629800" cy="8958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At this stage, the statistics were used to understand the raw data before any modifications. This helped in identifying missing values, data types, and the overall distribution of features. It represents the initial univariate exploratory data analysis (EDA).</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89F91EC-3D76-E4D8-442B-6AA8FBA6774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34</a:t>
            </a:fld>
            <a:endParaRPr lang="en-US"/>
          </a:p>
        </p:txBody>
      </p:sp>
    </p:spTree>
    <p:extLst>
      <p:ext uri="{BB962C8B-B14F-4D97-AF65-F5344CB8AC3E}">
        <p14:creationId xmlns:p14="http://schemas.microsoft.com/office/powerpoint/2010/main" val="1777190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41"/>
          <p:cNvPicPr preferRelativeResize="0"/>
          <p:nvPr/>
        </p:nvPicPr>
        <p:blipFill rotWithShape="1">
          <a:blip r:embed="rId3">
            <a:alphaModFix/>
          </a:blip>
          <a:srcRect/>
          <a:stretch/>
        </p:blipFill>
        <p:spPr>
          <a:xfrm>
            <a:off x="725562" y="775254"/>
            <a:ext cx="7954612" cy="3616977"/>
          </a:xfrm>
          <a:prstGeom prst="rect">
            <a:avLst/>
          </a:prstGeom>
          <a:noFill/>
          <a:ln>
            <a:noFill/>
          </a:ln>
        </p:spPr>
      </p:pic>
      <p:sp>
        <p:nvSpPr>
          <p:cNvPr id="2" name="Slide Number Placeholder 1">
            <a:extLst>
              <a:ext uri="{FF2B5EF4-FFF2-40B4-BE49-F238E27FC236}">
                <a16:creationId xmlns:a16="http://schemas.microsoft.com/office/drawing/2014/main" id="{F7466FDC-186A-78F3-D750-AF153C48085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42"/>
          <p:cNvPicPr preferRelativeResize="0"/>
          <p:nvPr/>
        </p:nvPicPr>
        <p:blipFill rotWithShape="1">
          <a:blip r:embed="rId3">
            <a:alphaModFix/>
          </a:blip>
          <a:srcRect/>
          <a:stretch/>
        </p:blipFill>
        <p:spPr>
          <a:xfrm>
            <a:off x="304800" y="918978"/>
            <a:ext cx="8534400" cy="3434362"/>
          </a:xfrm>
          <a:prstGeom prst="rect">
            <a:avLst/>
          </a:prstGeom>
          <a:noFill/>
          <a:ln>
            <a:noFill/>
          </a:ln>
        </p:spPr>
      </p:pic>
      <p:sp>
        <p:nvSpPr>
          <p:cNvPr id="2" name="Slide Number Placeholder 1">
            <a:extLst>
              <a:ext uri="{FF2B5EF4-FFF2-40B4-BE49-F238E27FC236}">
                <a16:creationId xmlns:a16="http://schemas.microsoft.com/office/drawing/2014/main" id="{F07EBFC5-0255-CCEB-6BEC-9CC993CE4C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just" rtl="0">
              <a:lnSpc>
                <a:spcPct val="115000"/>
              </a:lnSpc>
              <a:spcBef>
                <a:spcPts val="0"/>
              </a:spcBef>
              <a:spcAft>
                <a:spcPts val="0"/>
              </a:spcAft>
              <a:buSzPts val="1400"/>
              <a:buFont typeface="Nunito"/>
              <a:buChar char="●"/>
            </a:pPr>
            <a:r>
              <a:rPr lang="en-US" sz="1400"/>
              <a:t>The Statistics give insights into different attributes of the dataset. We have shown the results for BAD, CLAGE, and CLNO to understand how these variables behave at each stage. Other attributes like DEBTINC, DELINQ, DEROG, JOB, LOAN, MORTDUE, NINQ, REASON, VALUE, and YOJ are also available in the dataset you can explore them in the same way using the Statistics operator to understand their patterns and values.</a:t>
            </a:r>
            <a:endParaRPr sz="1400"/>
          </a:p>
          <a:p>
            <a:pPr marL="457200" lvl="0" indent="-317500" algn="just" rtl="0">
              <a:lnSpc>
                <a:spcPct val="115000"/>
              </a:lnSpc>
              <a:spcBef>
                <a:spcPts val="0"/>
              </a:spcBef>
              <a:spcAft>
                <a:spcPts val="0"/>
              </a:spcAft>
              <a:buSzPts val="1400"/>
              <a:buChar char="●"/>
            </a:pPr>
            <a:r>
              <a:rPr lang="en-US" sz="1400"/>
              <a:t>Add your insights and observations regarding the attributes you analyze in order to gain a deeper understanding of the data.</a:t>
            </a:r>
            <a:endParaRPr sz="1400"/>
          </a:p>
        </p:txBody>
      </p:sp>
      <p:sp>
        <p:nvSpPr>
          <p:cNvPr id="2" name="Slide Number Placeholder 1">
            <a:extLst>
              <a:ext uri="{FF2B5EF4-FFF2-40B4-BE49-F238E27FC236}">
                <a16:creationId xmlns:a16="http://schemas.microsoft.com/office/drawing/2014/main" id="{30F6E42A-2E01-2313-B9AF-A4E33B79B4F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4"/>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lt2"/>
                </a:solidFill>
                <a:latin typeface="Century Gothic"/>
                <a:ea typeface="Century Gothic"/>
                <a:cs typeface="Century Gothic"/>
                <a:sym typeface="Century Gothic"/>
              </a:rPr>
              <a:t>Statistics after Preprocessing:</a:t>
            </a:r>
            <a:endParaRPr sz="2200" b="1" i="0" u="none" strike="noStrike" cap="none">
              <a:solidFill>
                <a:schemeClr val="lt2"/>
              </a:solidFill>
              <a:latin typeface="Century Gothic"/>
              <a:ea typeface="Century Gothic"/>
              <a:cs typeface="Century Gothic"/>
              <a:sym typeface="Century Gothic"/>
            </a:endParaRPr>
          </a:p>
        </p:txBody>
      </p:sp>
      <p:sp>
        <p:nvSpPr>
          <p:cNvPr id="211" name="Google Shape;211;p44"/>
          <p:cNvSpPr txBox="1">
            <a:spLocks noGrp="1"/>
          </p:cNvSpPr>
          <p:nvPr>
            <p:ph type="body" idx="1"/>
          </p:nvPr>
        </p:nvSpPr>
        <p:spPr>
          <a:xfrm>
            <a:off x="202550" y="728051"/>
            <a:ext cx="8629800" cy="11436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endParaRPr/>
          </a:p>
        </p:txBody>
      </p:sp>
      <p:pic>
        <p:nvPicPr>
          <p:cNvPr id="212" name="Google Shape;212;p44"/>
          <p:cNvPicPr preferRelativeResize="0"/>
          <p:nvPr/>
        </p:nvPicPr>
        <p:blipFill rotWithShape="1">
          <a:blip r:embed="rId3">
            <a:alphaModFix/>
          </a:blip>
          <a:srcRect/>
          <a:stretch/>
        </p:blipFill>
        <p:spPr>
          <a:xfrm>
            <a:off x="514293" y="1934950"/>
            <a:ext cx="7721936" cy="3302461"/>
          </a:xfrm>
          <a:prstGeom prst="rect">
            <a:avLst/>
          </a:prstGeom>
          <a:noFill/>
          <a:ln>
            <a:noFill/>
          </a:ln>
        </p:spPr>
      </p:pic>
      <p:sp>
        <p:nvSpPr>
          <p:cNvPr id="2" name="Slide Number Placeholder 1">
            <a:extLst>
              <a:ext uri="{FF2B5EF4-FFF2-40B4-BE49-F238E27FC236}">
                <a16:creationId xmlns:a16="http://schemas.microsoft.com/office/drawing/2014/main" id="{EB1273AA-F837-53C0-86F8-6EB96BFD55E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pic>
        <p:nvPicPr>
          <p:cNvPr id="217" name="Google Shape;217;p45"/>
          <p:cNvPicPr preferRelativeResize="0"/>
          <p:nvPr/>
        </p:nvPicPr>
        <p:blipFill rotWithShape="1">
          <a:blip r:embed="rId3">
            <a:alphaModFix/>
          </a:blip>
          <a:srcRect/>
          <a:stretch/>
        </p:blipFill>
        <p:spPr>
          <a:xfrm>
            <a:off x="219711" y="614922"/>
            <a:ext cx="8321315" cy="3913656"/>
          </a:xfrm>
          <a:prstGeom prst="rect">
            <a:avLst/>
          </a:prstGeom>
          <a:noFill/>
          <a:ln>
            <a:noFill/>
          </a:ln>
        </p:spPr>
      </p:pic>
      <p:sp>
        <p:nvSpPr>
          <p:cNvPr id="2" name="Slide Number Placeholder 1">
            <a:extLst>
              <a:ext uri="{FF2B5EF4-FFF2-40B4-BE49-F238E27FC236}">
                <a16:creationId xmlns:a16="http://schemas.microsoft.com/office/drawing/2014/main" id="{CEEB3F50-3DFC-8EA4-BEC1-616F4958DF0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6"/>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just" rtl="0">
              <a:lnSpc>
                <a:spcPct val="115000"/>
              </a:lnSpc>
              <a:spcBef>
                <a:spcPts val="0"/>
              </a:spcBef>
              <a:spcAft>
                <a:spcPts val="0"/>
              </a:spcAft>
              <a:buSzPts val="1400"/>
              <a:buFont typeface="Nunito"/>
              <a:buChar char="●"/>
            </a:pPr>
            <a:r>
              <a:rPr lang="en-US" sz="1400"/>
              <a:t>The Statistics give insights into different attributes of the dataset. We have shown the results for BAD_nom, CLAGE, and CLNO to understand how these variables behave after preprocessing. Other attributes like DEBTINC, DELINQ, DEROG, JOB_Mgr, JOB_Office, JOB_Other, JOB_ProfExe, JOB_Sales, JOB_Self, LOAN, MORTDUE, NINQ, REASON_DebtCon, REASON_HomeImp, VALUE, and YOJ are also available in the dataset - you can explore them in the same way using the Statistics operator to understand their patterns and values.</a:t>
            </a:r>
            <a:endParaRPr sz="1400"/>
          </a:p>
          <a:p>
            <a:pPr marL="457200" lvl="0" indent="-317500" algn="just" rtl="0">
              <a:lnSpc>
                <a:spcPct val="115000"/>
              </a:lnSpc>
              <a:spcBef>
                <a:spcPts val="0"/>
              </a:spcBef>
              <a:spcAft>
                <a:spcPts val="0"/>
              </a:spcAft>
              <a:buSzPts val="1400"/>
              <a:buChar char="●"/>
            </a:pPr>
            <a:r>
              <a:rPr lang="en-US" sz="1400"/>
              <a:t>Add your insights and observations regarding the attributes you analyze in order to gain a deeper understanding of the data.</a:t>
            </a:r>
            <a:endParaRPr sz="1400"/>
          </a:p>
        </p:txBody>
      </p:sp>
      <p:sp>
        <p:nvSpPr>
          <p:cNvPr id="2" name="Slide Number Placeholder 1">
            <a:extLst>
              <a:ext uri="{FF2B5EF4-FFF2-40B4-BE49-F238E27FC236}">
                <a16:creationId xmlns:a16="http://schemas.microsoft.com/office/drawing/2014/main" id="{C9E600A8-210F-81BB-8254-6DC42E39967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47"/>
          <p:cNvPicPr preferRelativeResize="0"/>
          <p:nvPr/>
        </p:nvPicPr>
        <p:blipFill rotWithShape="1">
          <a:blip r:embed="rId3">
            <a:alphaModFix/>
          </a:blip>
          <a:srcRect/>
          <a:stretch/>
        </p:blipFill>
        <p:spPr>
          <a:xfrm>
            <a:off x="546852" y="801756"/>
            <a:ext cx="8411618" cy="3950181"/>
          </a:xfrm>
          <a:prstGeom prst="rect">
            <a:avLst/>
          </a:prstGeom>
          <a:noFill/>
          <a:ln>
            <a:noFill/>
          </a:ln>
        </p:spPr>
      </p:pic>
      <p:sp>
        <p:nvSpPr>
          <p:cNvPr id="2" name="Slide Number Placeholder 1">
            <a:extLst>
              <a:ext uri="{FF2B5EF4-FFF2-40B4-BE49-F238E27FC236}">
                <a16:creationId xmlns:a16="http://schemas.microsoft.com/office/drawing/2014/main" id="{611E005D-1CBD-4BDA-13A2-F5B93BE98F3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1: Basic Neural Network </a:t>
            </a:r>
            <a:endParaRPr/>
          </a:p>
        </p:txBody>
      </p:sp>
      <p:sp>
        <p:nvSpPr>
          <p:cNvPr id="233" name="Google Shape;233;p48"/>
          <p:cNvSpPr txBox="1">
            <a:spLocks noGrp="1"/>
          </p:cNvSpPr>
          <p:nvPr>
            <p:ph type="body" idx="1"/>
          </p:nvPr>
        </p:nvSpPr>
        <p:spPr>
          <a:xfrm>
            <a:off x="202550" y="861975"/>
            <a:ext cx="8307900" cy="4884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a:t>
            </a:r>
            <a:endParaRPr sz="1400">
              <a:solidFill>
                <a:schemeClr val="dk1"/>
              </a:solidFill>
              <a:latin typeface="Century Gothic"/>
              <a:ea typeface="Century Gothic"/>
              <a:cs typeface="Century Gothic"/>
              <a:sym typeface="Century Gothic"/>
            </a:endParaRPr>
          </a:p>
        </p:txBody>
      </p:sp>
      <p:graphicFrame>
        <p:nvGraphicFramePr>
          <p:cNvPr id="234" name="Google Shape;234;p48"/>
          <p:cNvGraphicFramePr/>
          <p:nvPr/>
        </p:nvGraphicFramePr>
        <p:xfrm>
          <a:off x="1364816" y="1751211"/>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Basic Neural Network </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2D31FCDC-E85D-2B56-2189-19DE3C4EBF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9"/>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2: Neural Network With Parameter Tuning</a:t>
            </a:r>
            <a:endParaRPr/>
          </a:p>
        </p:txBody>
      </p:sp>
      <p:sp>
        <p:nvSpPr>
          <p:cNvPr id="240" name="Google Shape;240;p49"/>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of the </a:t>
            </a:r>
            <a:endParaRPr sz="1400">
              <a:solidFill>
                <a:schemeClr val="dk1"/>
              </a:solidFill>
              <a:latin typeface="Century Gothic"/>
              <a:ea typeface="Century Gothic"/>
              <a:cs typeface="Century Gothic"/>
              <a:sym typeface="Century Gothic"/>
            </a:endParaRPr>
          </a:p>
        </p:txBody>
      </p:sp>
      <p:graphicFrame>
        <p:nvGraphicFramePr>
          <p:cNvPr id="241" name="Google Shape;241;p49"/>
          <p:cNvGraphicFramePr/>
          <p:nvPr/>
        </p:nvGraphicFramePr>
        <p:xfrm>
          <a:off x="1364816" y="1765092"/>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Neural Network with Parameter Tuning</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3CFD6D71-10EA-96E3-B3D8-D6D2984694B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5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3: Neural Network Using Grid Search </a:t>
            </a:r>
            <a:endParaRPr/>
          </a:p>
        </p:txBody>
      </p:sp>
      <p:sp>
        <p:nvSpPr>
          <p:cNvPr id="247" name="Google Shape;247;p50"/>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a:t>
            </a:r>
            <a:endParaRPr sz="1400">
              <a:solidFill>
                <a:schemeClr val="dk1"/>
              </a:solidFill>
              <a:latin typeface="Century Gothic"/>
              <a:ea typeface="Century Gothic"/>
              <a:cs typeface="Century Gothic"/>
              <a:sym typeface="Century Gothic"/>
            </a:endParaRPr>
          </a:p>
        </p:txBody>
      </p:sp>
      <p:graphicFrame>
        <p:nvGraphicFramePr>
          <p:cNvPr id="248" name="Google Shape;248;p50"/>
          <p:cNvGraphicFramePr/>
          <p:nvPr/>
        </p:nvGraphicFramePr>
        <p:xfrm>
          <a:off x="1364816" y="1765092"/>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17A7C042-EEF3-AE72-50B6-A3690FE1ABF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51"/>
          <p:cNvSpPr txBox="1">
            <a:spLocks noGrp="1"/>
          </p:cNvSpPr>
          <p:nvPr>
            <p:ph type="body" idx="1"/>
          </p:nvPr>
        </p:nvSpPr>
        <p:spPr>
          <a:xfrm>
            <a:off x="202550" y="861975"/>
            <a:ext cx="8629800" cy="12411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model is best for predicting loan defaults, and which metric is most important to check?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metric is most important, and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What advice would you give the business from this model?</a:t>
            </a:r>
            <a:endParaRPr sz="1400">
              <a:latin typeface="Century Gothic"/>
              <a:ea typeface="Century Gothic"/>
              <a:cs typeface="Century Gothic"/>
              <a:sym typeface="Century Gothic"/>
            </a:endParaRPr>
          </a:p>
        </p:txBody>
      </p:sp>
      <p:sp>
        <p:nvSpPr>
          <p:cNvPr id="254" name="Google Shape;254;p51"/>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lt2"/>
                </a:solidFill>
                <a:latin typeface="Century Gothic"/>
                <a:ea typeface="Century Gothic"/>
                <a:cs typeface="Century Gothic"/>
                <a:sym typeface="Century Gothic"/>
              </a:rPr>
              <a:t>Model Performance Summary</a:t>
            </a:r>
            <a:endParaRPr sz="2200" b="1" i="0" u="none" strike="noStrike" cap="none">
              <a:solidFill>
                <a:schemeClr val="lt2"/>
              </a:solidFill>
              <a:latin typeface="Century Gothic"/>
              <a:ea typeface="Century Gothic"/>
              <a:cs typeface="Century Gothic"/>
              <a:sym typeface="Century Gothic"/>
            </a:endParaRPr>
          </a:p>
        </p:txBody>
      </p:sp>
      <p:graphicFrame>
        <p:nvGraphicFramePr>
          <p:cNvPr id="255" name="Google Shape;255;p51"/>
          <p:cNvGraphicFramePr/>
          <p:nvPr/>
        </p:nvGraphicFramePr>
        <p:xfrm>
          <a:off x="1916213" y="2367750"/>
          <a:ext cx="5311575" cy="1828840"/>
        </p:xfrm>
        <a:graphic>
          <a:graphicData uri="http://schemas.openxmlformats.org/drawingml/2006/table">
            <a:tbl>
              <a:tblPr firstRow="1" bandRow="1">
                <a:noFill/>
                <a:tableStyleId>{36976CF4-DB81-4460-9A5E-51383ADFE053}</a:tableStyleId>
              </a:tblPr>
              <a:tblGrid>
                <a:gridCol w="1434025">
                  <a:extLst>
                    <a:ext uri="{9D8B030D-6E8A-4147-A177-3AD203B41FA5}">
                      <a16:colId xmlns:a16="http://schemas.microsoft.com/office/drawing/2014/main" val="20000"/>
                    </a:ext>
                  </a:extLst>
                </a:gridCol>
                <a:gridCol w="929475">
                  <a:extLst>
                    <a:ext uri="{9D8B030D-6E8A-4147-A177-3AD203B41FA5}">
                      <a16:colId xmlns:a16="http://schemas.microsoft.com/office/drawing/2014/main" val="20001"/>
                    </a:ext>
                  </a:extLst>
                </a:gridCol>
                <a:gridCol w="961150">
                  <a:extLst>
                    <a:ext uri="{9D8B030D-6E8A-4147-A177-3AD203B41FA5}">
                      <a16:colId xmlns:a16="http://schemas.microsoft.com/office/drawing/2014/main" val="20002"/>
                    </a:ext>
                  </a:extLst>
                </a:gridCol>
                <a:gridCol w="924600">
                  <a:extLst>
                    <a:ext uri="{9D8B030D-6E8A-4147-A177-3AD203B41FA5}">
                      <a16:colId xmlns:a16="http://schemas.microsoft.com/office/drawing/2014/main" val="20003"/>
                    </a:ext>
                  </a:extLst>
                </a:gridCol>
                <a:gridCol w="1062325">
                  <a:extLst>
                    <a:ext uri="{9D8B030D-6E8A-4147-A177-3AD203B41FA5}">
                      <a16:colId xmlns:a16="http://schemas.microsoft.com/office/drawing/2014/main" val="20004"/>
                    </a:ext>
                  </a:extLst>
                </a:gridCol>
              </a:tblGrid>
              <a:tr h="36565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Without parameter tuning</a:t>
                      </a:r>
                      <a:endParaRPr sz="120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 parameter tuning</a:t>
                      </a:r>
                      <a:endParaRPr sz="1200">
                        <a:latin typeface="Nunito"/>
                        <a:ea typeface="Nunito"/>
                        <a:cs typeface="Nunito"/>
                        <a:sym typeface="Nunito"/>
                      </a:endParaRPr>
                    </a:p>
                  </a:txBody>
                  <a:tcPr marL="91450" marR="91450" marT="45725" marB="457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1717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 name="Slide Number Placeholder 1">
            <a:extLst>
              <a:ext uri="{FF2B5EF4-FFF2-40B4-BE49-F238E27FC236}">
                <a16:creationId xmlns:a16="http://schemas.microsoft.com/office/drawing/2014/main" id="{12509EB3-413F-679D-B362-F2544166F3C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Conclusions and Recommendations</a:t>
            </a:r>
            <a:endParaRPr>
              <a:solidFill>
                <a:schemeClr val="lt2"/>
              </a:solidFill>
              <a:latin typeface="Century Gothic"/>
              <a:ea typeface="Century Gothic"/>
              <a:cs typeface="Century Gothic"/>
              <a:sym typeface="Century Gothic"/>
            </a:endParaRPr>
          </a:p>
        </p:txBody>
      </p:sp>
      <p:sp>
        <p:nvSpPr>
          <p:cNvPr id="261" name="Google Shape;261;p52"/>
          <p:cNvSpPr txBox="1">
            <a:spLocks noGrp="1"/>
          </p:cNvSpPr>
          <p:nvPr>
            <p:ph type="body" idx="1"/>
          </p:nvPr>
        </p:nvSpPr>
        <p:spPr>
          <a:xfrm>
            <a:off x="202550" y="861975"/>
            <a:ext cx="8629800" cy="560636"/>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mention actionable insights &amp; recommendations</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D7BEC19-31A9-812F-8E02-ADF79AA6D19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53"/>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5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72" name="Google Shape;272;p5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3DC1E3D-B5A6-1A3C-BFB8-F586E099D8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5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80" name="Google Shape;280;p5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US"/>
              <a:t>49</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734</TotalTime>
  <Words>2315</Words>
  <Application>Microsoft Office PowerPoint</Application>
  <PresentationFormat>On-screen Show (16:9)</PresentationFormat>
  <Paragraphs>323</Paragraphs>
  <Slides>49</Slides>
  <Notes>46</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49</vt:i4>
      </vt:variant>
    </vt:vector>
  </HeadingPairs>
  <TitlesOfParts>
    <vt:vector size="58" baseType="lpstr">
      <vt:lpstr>Century Gothic</vt:lpstr>
      <vt:lpstr>Nunito</vt:lpstr>
      <vt:lpstr>Calibri</vt:lpstr>
      <vt:lpstr>Arial</vt:lpstr>
      <vt:lpstr>Nunito SemiBold</vt:lpstr>
      <vt:lpstr>Nunito ExtraBold</vt:lpstr>
      <vt:lpstr>Just Logo</vt:lpstr>
      <vt:lpstr>Just Logo</vt:lpstr>
      <vt:lpstr>Just Logo</vt:lpstr>
      <vt:lpstr>Home Loan Defaults Prediction Methods - Neural Networks</vt:lpstr>
      <vt:lpstr>Contents / Agenda</vt:lpstr>
      <vt:lpstr>Data Dictionary</vt:lpstr>
      <vt:lpstr>Data Dictionary</vt:lpstr>
      <vt:lpstr>Business Problem Overview</vt:lpstr>
      <vt:lpstr>Business Problem Overview</vt:lpstr>
      <vt:lpstr>Business Problem Overview</vt:lpstr>
      <vt:lpstr>Project Goals and Objectives</vt:lpstr>
      <vt:lpstr>Solution Approach </vt:lpstr>
      <vt:lpstr>Solution Approach </vt:lpstr>
      <vt:lpstr>Expected Outcomes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Scenario 1: Basic Neural Network </vt:lpstr>
      <vt:lpstr>Scenario 2: Neural Network With Parameter Tuning</vt:lpstr>
      <vt:lpstr>Scenario 3: Neural Network Using Grid Search </vt:lpstr>
      <vt:lpstr>PowerPoint Presentation</vt:lpstr>
      <vt:lpstr>Conclusions and Recommendations</vt:lpstr>
      <vt:lpstr>APPENDIX</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144</cp:revision>
  <dcterms:modified xsi:type="dcterms:W3CDTF">2025-12-14T02:11:24Z</dcterms:modified>
</cp:coreProperties>
</file>