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9" r:id="rId2"/>
    <p:sldMasterId id="2147483670" r:id="rId3"/>
    <p:sldMasterId id="2147483681" r:id="rId4"/>
  </p:sldMasterIdLst>
  <p:notesMasterIdLst>
    <p:notesMasterId r:id="rId71"/>
  </p:notesMasterIdLst>
  <p:sldIdLst>
    <p:sldId id="256" r:id="rId5"/>
    <p:sldId id="257" r:id="rId6"/>
    <p:sldId id="258" r:id="rId7"/>
    <p:sldId id="259" r:id="rId8"/>
    <p:sldId id="261" r:id="rId9"/>
    <p:sldId id="286" r:id="rId10"/>
    <p:sldId id="287" r:id="rId11"/>
    <p:sldId id="262" r:id="rId12"/>
    <p:sldId id="288" r:id="rId13"/>
    <p:sldId id="289" r:id="rId14"/>
    <p:sldId id="263" r:id="rId15"/>
    <p:sldId id="290" r:id="rId16"/>
    <p:sldId id="291" r:id="rId17"/>
    <p:sldId id="300" r:id="rId18"/>
    <p:sldId id="301" r:id="rId19"/>
    <p:sldId id="302" r:id="rId20"/>
    <p:sldId id="303" r:id="rId21"/>
    <p:sldId id="299" r:id="rId22"/>
    <p:sldId id="295" r:id="rId23"/>
    <p:sldId id="297" r:id="rId24"/>
    <p:sldId id="296" r:id="rId25"/>
    <p:sldId id="298" r:id="rId26"/>
    <p:sldId id="265" r:id="rId27"/>
    <p:sldId id="292" r:id="rId28"/>
    <p:sldId id="304" r:id="rId29"/>
    <p:sldId id="264" r:id="rId30"/>
    <p:sldId id="294" r:id="rId31"/>
    <p:sldId id="267" r:id="rId32"/>
    <p:sldId id="305" r:id="rId33"/>
    <p:sldId id="293" r:id="rId34"/>
    <p:sldId id="306" r:id="rId35"/>
    <p:sldId id="266" r:id="rId36"/>
    <p:sldId id="309" r:id="rId37"/>
    <p:sldId id="308" r:id="rId38"/>
    <p:sldId id="268" r:id="rId39"/>
    <p:sldId id="316" r:id="rId40"/>
    <p:sldId id="315" r:id="rId41"/>
    <p:sldId id="269" r:id="rId42"/>
    <p:sldId id="307" r:id="rId43"/>
    <p:sldId id="310" r:id="rId44"/>
    <p:sldId id="270" r:id="rId45"/>
    <p:sldId id="311" r:id="rId46"/>
    <p:sldId id="312" r:id="rId47"/>
    <p:sldId id="271" r:id="rId48"/>
    <p:sldId id="313" r:id="rId49"/>
    <p:sldId id="314" r:id="rId50"/>
    <p:sldId id="318" r:id="rId51"/>
    <p:sldId id="317" r:id="rId52"/>
    <p:sldId id="272" r:id="rId53"/>
    <p:sldId id="320" r:id="rId54"/>
    <p:sldId id="319" r:id="rId55"/>
    <p:sldId id="273" r:id="rId56"/>
    <p:sldId id="274" r:id="rId57"/>
    <p:sldId id="275" r:id="rId58"/>
    <p:sldId id="321" r:id="rId59"/>
    <p:sldId id="276" r:id="rId60"/>
    <p:sldId id="277" r:id="rId61"/>
    <p:sldId id="278" r:id="rId62"/>
    <p:sldId id="322" r:id="rId63"/>
    <p:sldId id="279" r:id="rId64"/>
    <p:sldId id="280" r:id="rId65"/>
    <p:sldId id="281" r:id="rId66"/>
    <p:sldId id="323" r:id="rId67"/>
    <p:sldId id="282" r:id="rId68"/>
    <p:sldId id="284" r:id="rId69"/>
    <p:sldId id="285" r:id="rId70"/>
  </p:sldIdLst>
  <p:sldSz cx="9144000" cy="5143500" type="screen16x9"/>
  <p:notesSz cx="7010400" cy="9296400"/>
  <p:embeddedFontLst>
    <p:embeddedFont>
      <p:font typeface="Century Gothic" panose="020B0502020202020204" pitchFamily="34" charset="0"/>
      <p:regular r:id="rId72"/>
      <p:bold r:id="rId73"/>
      <p:italic r:id="rId74"/>
      <p:boldItalic r:id="rId75"/>
    </p:embeddedFont>
    <p:embeddedFont>
      <p:font typeface="Nunito" pitchFamily="2" charset="0"/>
      <p:regular r:id="rId76"/>
      <p:bold r:id="rId77"/>
      <p:italic r:id="rId78"/>
      <p:boldItalic r:id="rId79"/>
    </p:embeddedFont>
    <p:embeddedFont>
      <p:font typeface="Nunito ExtraBold" pitchFamily="2" charset="0"/>
      <p:bold r:id="rId80"/>
      <p:boldItalic r:id="rId81"/>
    </p:embeddedFont>
    <p:embeddedFont>
      <p:font typeface="Nunito SemiBold" pitchFamily="2" charset="0"/>
      <p:regular r:id="rId82"/>
      <p:bold r:id="rId83"/>
      <p:italic r:id="rId84"/>
      <p:boldItalic r:id="rId8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6" roundtripDataSignature="AMtx7mgU5MxqWkBEcDZhVTSjLTVZSyau3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rejith Premkumar" initials="" lastIdx="5" clrIdx="0"/>
  <p:cmAuthor id="1" name="Akash Krishna" initials="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1344643-9A85-4DB7-9F01-8C1698141E30}">
  <a:tblStyle styleId="{C1344643-9A85-4DB7-9F01-8C1698141E3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5B9BD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5B9BD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rgbClr val="5B9BD5">
              <a:alpha val="20000"/>
            </a:srgb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5B9BD5">
              <a:alpha val="20000"/>
            </a:srgb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rgbClr val="5B9BD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rgbClr val="5B9BD5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DC789D89-7B42-48A2-8941-39F5C445BB0A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BEEEF"/>
          </a:solidFill>
        </a:fill>
      </a:tcStyle>
    </a:wholeTbl>
    <a:band1H>
      <a:tcTxStyle b="off" i="off"/>
      <a:tcStyle>
        <a:tcBdr/>
        <a:fill>
          <a:solidFill>
            <a:srgbClr val="D5DBDE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5DBDE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3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3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03" d="100"/>
          <a:sy n="203" d="100"/>
        </p:scale>
        <p:origin x="580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font" Target="fonts/font13.fntdata"/><Relationship Id="rId89" Type="http://schemas.openxmlformats.org/officeDocument/2006/relationships/viewProps" Target="viewProps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font" Target="fonts/font3.fntdata"/><Relationship Id="rId79" Type="http://schemas.openxmlformats.org/officeDocument/2006/relationships/font" Target="fonts/font8.fntdata"/><Relationship Id="rId5" Type="http://schemas.openxmlformats.org/officeDocument/2006/relationships/slide" Target="slides/slide1.xml"/><Relationship Id="rId90" Type="http://schemas.openxmlformats.org/officeDocument/2006/relationships/theme" Target="theme/theme1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font" Target="fonts/font6.fntdata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font" Target="fonts/font1.fntdata"/><Relationship Id="rId80" Type="http://schemas.openxmlformats.org/officeDocument/2006/relationships/font" Target="fonts/font9.fntdata"/><Relationship Id="rId85" Type="http://schemas.openxmlformats.org/officeDocument/2006/relationships/font" Target="fonts/font14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font" Target="fonts/font4.fntdata"/><Relationship Id="rId83" Type="http://schemas.openxmlformats.org/officeDocument/2006/relationships/font" Target="fonts/font12.fntdata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font" Target="fonts/font2.fntdata"/><Relationship Id="rId78" Type="http://schemas.openxmlformats.org/officeDocument/2006/relationships/font" Target="fonts/font7.fntdata"/><Relationship Id="rId81" Type="http://schemas.openxmlformats.org/officeDocument/2006/relationships/font" Target="fonts/font10.fntdata"/><Relationship Id="rId86" Type="http://customschemas.google.com/relationships/presentationmetadata" Target="meta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font" Target="fonts/font5.fntdata"/><Relationship Id="rId7" Type="http://schemas.openxmlformats.org/officeDocument/2006/relationships/slide" Target="slides/slide3.xml"/><Relationship Id="rId71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commentAuthors" Target="commentAuthors.xml"/><Relationship Id="rId61" Type="http://schemas.openxmlformats.org/officeDocument/2006/relationships/slide" Target="slides/slide57.xml"/><Relationship Id="rId82" Type="http://schemas.openxmlformats.org/officeDocument/2006/relationships/font" Target="fonts/font11.fntdata"/><Relationship Id="rId19" Type="http://schemas.openxmlformats.org/officeDocument/2006/relationships/slide" Target="slides/slide1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9188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58837adcbf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g158837adcbf_0_53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45c43bb502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" name="Google Shape;211;g245c43bb502_0_4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45c43bb502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7" name="Google Shape;217;g245c43bb502_0_53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p3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5886a1dc9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15886a1dc9e_0_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DB9C910B-A15F-4607-90E2-5581F01B9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5886a1dc9e_0_1:notes">
            <a:extLst>
              <a:ext uri="{FF2B5EF4-FFF2-40B4-BE49-F238E27FC236}">
                <a16:creationId xmlns:a16="http://schemas.microsoft.com/office/drawing/2014/main" id="{55A64E9B-43C8-1E88-D407-38985396AD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15886a1dc9e_0_1:notes">
            <a:extLst>
              <a:ext uri="{FF2B5EF4-FFF2-40B4-BE49-F238E27FC236}">
                <a16:creationId xmlns:a16="http://schemas.microsoft.com/office/drawing/2014/main" id="{737C1F68-E850-F89A-FEAB-29EB061212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58195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CCC3F00D-B6A6-FA5C-C2C9-85B9DCCD3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5886a1dc9e_0_1:notes">
            <a:extLst>
              <a:ext uri="{FF2B5EF4-FFF2-40B4-BE49-F238E27FC236}">
                <a16:creationId xmlns:a16="http://schemas.microsoft.com/office/drawing/2014/main" id="{4A366267-9DB1-8F3A-6E55-1C598117A5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15886a1dc9e_0_1:notes">
            <a:extLst>
              <a:ext uri="{FF2B5EF4-FFF2-40B4-BE49-F238E27FC236}">
                <a16:creationId xmlns:a16="http://schemas.microsoft.com/office/drawing/2014/main" id="{0DF42954-9BC6-D63A-1095-E099D623FB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91480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419b7728cb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g2419b7728cb_0_120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>
          <a:extLst>
            <a:ext uri="{FF2B5EF4-FFF2-40B4-BE49-F238E27FC236}">
              <a16:creationId xmlns:a16="http://schemas.microsoft.com/office/drawing/2014/main" id="{BCFDFCEC-582D-7504-666F-CAD8E13AA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419b7728cb_0_120:notes">
            <a:extLst>
              <a:ext uri="{FF2B5EF4-FFF2-40B4-BE49-F238E27FC236}">
                <a16:creationId xmlns:a16="http://schemas.microsoft.com/office/drawing/2014/main" id="{119CF834-A512-BD5F-5574-21A1425A1A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g2419b7728cb_0_120:notes">
            <a:extLst>
              <a:ext uri="{FF2B5EF4-FFF2-40B4-BE49-F238E27FC236}">
                <a16:creationId xmlns:a16="http://schemas.microsoft.com/office/drawing/2014/main" id="{12729895-2B16-F0E7-2484-2FEB9C1582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639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A42F7915-9520-8835-A7C6-8E4CB2060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419b7728cb_0_127:notes">
            <a:extLst>
              <a:ext uri="{FF2B5EF4-FFF2-40B4-BE49-F238E27FC236}">
                <a16:creationId xmlns:a16="http://schemas.microsoft.com/office/drawing/2014/main" id="{371A7DBD-D376-2C06-66D4-ACA0F34DC4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g2419b7728cb_0_127:notes">
            <a:extLst>
              <a:ext uri="{FF2B5EF4-FFF2-40B4-BE49-F238E27FC236}">
                <a16:creationId xmlns:a16="http://schemas.microsoft.com/office/drawing/2014/main" id="{6D1C8511-9056-979F-1183-BA301200D0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89595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EAD3FCE2-7150-E380-6443-6DA748BF1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419b7728cb_0_127:notes">
            <a:extLst>
              <a:ext uri="{FF2B5EF4-FFF2-40B4-BE49-F238E27FC236}">
                <a16:creationId xmlns:a16="http://schemas.microsoft.com/office/drawing/2014/main" id="{CB678232-0428-5436-974E-A505885287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g2419b7728cb_0_127:notes">
            <a:extLst>
              <a:ext uri="{FF2B5EF4-FFF2-40B4-BE49-F238E27FC236}">
                <a16:creationId xmlns:a16="http://schemas.microsoft.com/office/drawing/2014/main" id="{B139AA55-5E60-A86F-1240-6483DEEF9A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48286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966EBFA2-2CC8-1B44-7B31-12F801689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419b7728cb_0_127:notes">
            <a:extLst>
              <a:ext uri="{FF2B5EF4-FFF2-40B4-BE49-F238E27FC236}">
                <a16:creationId xmlns:a16="http://schemas.microsoft.com/office/drawing/2014/main" id="{4B4472EB-0DE0-C993-8B1E-0EFA83DA18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g2419b7728cb_0_127:notes">
            <a:extLst>
              <a:ext uri="{FF2B5EF4-FFF2-40B4-BE49-F238E27FC236}">
                <a16:creationId xmlns:a16="http://schemas.microsoft.com/office/drawing/2014/main" id="{C820F2A5-16C0-7764-7D36-77C0B187B2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3908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934A2592-9803-5718-87D1-F90C6D18B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419b7728cb_0_127:notes">
            <a:extLst>
              <a:ext uri="{FF2B5EF4-FFF2-40B4-BE49-F238E27FC236}">
                <a16:creationId xmlns:a16="http://schemas.microsoft.com/office/drawing/2014/main" id="{FDC281B5-CB1C-ED07-4631-C72B0DB23F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g2419b7728cb_0_127:notes">
            <a:extLst>
              <a:ext uri="{FF2B5EF4-FFF2-40B4-BE49-F238E27FC236}">
                <a16:creationId xmlns:a16="http://schemas.microsoft.com/office/drawing/2014/main" id="{F73B496E-7512-1445-AA14-C7BD4BA61C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33358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84797638-EBCA-C881-2E8B-5375F3476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419b7728cb_0_127:notes">
            <a:extLst>
              <a:ext uri="{FF2B5EF4-FFF2-40B4-BE49-F238E27FC236}">
                <a16:creationId xmlns:a16="http://schemas.microsoft.com/office/drawing/2014/main" id="{9EC2BF7B-D2D3-8AF7-3B27-50E89149CD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g2419b7728cb_0_127:notes">
            <a:extLst>
              <a:ext uri="{FF2B5EF4-FFF2-40B4-BE49-F238E27FC236}">
                <a16:creationId xmlns:a16="http://schemas.microsoft.com/office/drawing/2014/main" id="{25332378-5709-61AE-CA37-BD7A1709CB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14897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95B01964-199C-9C99-EC82-DD7AC968E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419b7728cb_0_127:notes">
            <a:extLst>
              <a:ext uri="{FF2B5EF4-FFF2-40B4-BE49-F238E27FC236}">
                <a16:creationId xmlns:a16="http://schemas.microsoft.com/office/drawing/2014/main" id="{A6D1CF1D-E3B3-E805-B0AA-69779700E8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g2419b7728cb_0_127:notes">
            <a:extLst>
              <a:ext uri="{FF2B5EF4-FFF2-40B4-BE49-F238E27FC236}">
                <a16:creationId xmlns:a16="http://schemas.microsoft.com/office/drawing/2014/main" id="{17A4DA4B-2F55-A16A-79D8-C5607C7E15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93701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69AC646C-5120-A3DA-A826-E3F4D3DA4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419b7728cb_0_127:notes">
            <a:extLst>
              <a:ext uri="{FF2B5EF4-FFF2-40B4-BE49-F238E27FC236}">
                <a16:creationId xmlns:a16="http://schemas.microsoft.com/office/drawing/2014/main" id="{E7129D8E-4C53-2D0A-47F0-0DC058A335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g2419b7728cb_0_127:notes">
            <a:extLst>
              <a:ext uri="{FF2B5EF4-FFF2-40B4-BE49-F238E27FC236}">
                <a16:creationId xmlns:a16="http://schemas.microsoft.com/office/drawing/2014/main" id="{2239E4D2-ADFF-B462-EC7C-F152E64B33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54259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58ED0913-04D4-EDDC-3111-D17910C2C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419b7728cb_0_127:notes">
            <a:extLst>
              <a:ext uri="{FF2B5EF4-FFF2-40B4-BE49-F238E27FC236}">
                <a16:creationId xmlns:a16="http://schemas.microsoft.com/office/drawing/2014/main" id="{6C1ECE35-2BC6-F42C-9D8C-7470B4637D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g2419b7728cb_0_127:notes">
            <a:extLst>
              <a:ext uri="{FF2B5EF4-FFF2-40B4-BE49-F238E27FC236}">
                <a16:creationId xmlns:a16="http://schemas.microsoft.com/office/drawing/2014/main" id="{4277FBF4-DB79-725C-A10D-EFB39528E0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85464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C40AFD42-9872-2BEA-7826-A3C8681AB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419b7728cb_0_127:notes">
            <a:extLst>
              <a:ext uri="{FF2B5EF4-FFF2-40B4-BE49-F238E27FC236}">
                <a16:creationId xmlns:a16="http://schemas.microsoft.com/office/drawing/2014/main" id="{AC2F532A-28E3-11B9-298B-D834971915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g2419b7728cb_0_127:notes">
            <a:extLst>
              <a:ext uri="{FF2B5EF4-FFF2-40B4-BE49-F238E27FC236}">
                <a16:creationId xmlns:a16="http://schemas.microsoft.com/office/drawing/2014/main" id="{DB6F8702-45B8-0C4A-EA16-C5FEB8BA49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75245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5EC76DA8-EEC8-0C65-0DDB-7CC53B7EF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419b7728cb_0_127:notes">
            <a:extLst>
              <a:ext uri="{FF2B5EF4-FFF2-40B4-BE49-F238E27FC236}">
                <a16:creationId xmlns:a16="http://schemas.microsoft.com/office/drawing/2014/main" id="{9F64FB4B-F474-4903-ADA6-EF2C3722DF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g2419b7728cb_0_127:notes">
            <a:extLst>
              <a:ext uri="{FF2B5EF4-FFF2-40B4-BE49-F238E27FC236}">
                <a16:creationId xmlns:a16="http://schemas.microsoft.com/office/drawing/2014/main" id="{905E503C-18BC-7679-7B72-C7E0CAF30D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22569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419b7728cb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g2419b7728cb_0_137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1736BF51-54C5-DBB5-91E3-44180DAA0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419b7728cb_0_137:notes">
            <a:extLst>
              <a:ext uri="{FF2B5EF4-FFF2-40B4-BE49-F238E27FC236}">
                <a16:creationId xmlns:a16="http://schemas.microsoft.com/office/drawing/2014/main" id="{306EB255-0996-FBC1-3F09-D6860EDD72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g2419b7728cb_0_137:notes">
            <a:extLst>
              <a:ext uri="{FF2B5EF4-FFF2-40B4-BE49-F238E27FC236}">
                <a16:creationId xmlns:a16="http://schemas.microsoft.com/office/drawing/2014/main" id="{3B0F379E-6027-93CF-3436-9478296477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21694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2AC2B98D-818D-F4F8-D2AD-94149563C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419b7728cb_0_137:notes">
            <a:extLst>
              <a:ext uri="{FF2B5EF4-FFF2-40B4-BE49-F238E27FC236}">
                <a16:creationId xmlns:a16="http://schemas.microsoft.com/office/drawing/2014/main" id="{423545D1-416D-B8CE-C6BF-2C7E8355E0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g2419b7728cb_0_137:notes">
            <a:extLst>
              <a:ext uri="{FF2B5EF4-FFF2-40B4-BE49-F238E27FC236}">
                <a16:creationId xmlns:a16="http://schemas.microsoft.com/office/drawing/2014/main" id="{81637C3E-2689-F7C5-B1D9-1477535956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64231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419b7728cb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g2419b7728cb_0_127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CECD07BF-B471-AD66-7709-303003112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419b7728cb_0_127:notes">
            <a:extLst>
              <a:ext uri="{FF2B5EF4-FFF2-40B4-BE49-F238E27FC236}">
                <a16:creationId xmlns:a16="http://schemas.microsoft.com/office/drawing/2014/main" id="{81C6FD7E-AA5B-D58C-05A6-DDB041CACB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g2419b7728cb_0_127:notes">
            <a:extLst>
              <a:ext uri="{FF2B5EF4-FFF2-40B4-BE49-F238E27FC236}">
                <a16:creationId xmlns:a16="http://schemas.microsoft.com/office/drawing/2014/main" id="{84F3D1FF-DA99-4720-EC88-5C4F118558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943825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419b7728cb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g2419b7728cb_0_6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>
          <a:extLst>
            <a:ext uri="{FF2B5EF4-FFF2-40B4-BE49-F238E27FC236}">
              <a16:creationId xmlns:a16="http://schemas.microsoft.com/office/drawing/2014/main" id="{657A9F1F-D874-DAF5-5A15-CE849DDD3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419b7728cb_0_65:notes">
            <a:extLst>
              <a:ext uri="{FF2B5EF4-FFF2-40B4-BE49-F238E27FC236}">
                <a16:creationId xmlns:a16="http://schemas.microsoft.com/office/drawing/2014/main" id="{5F10E7F3-DA51-3C4B-25AC-2D82F6F064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g2419b7728cb_0_65:notes">
            <a:extLst>
              <a:ext uri="{FF2B5EF4-FFF2-40B4-BE49-F238E27FC236}">
                <a16:creationId xmlns:a16="http://schemas.microsoft.com/office/drawing/2014/main" id="{8E078040-46B0-17FA-EF4B-3B0D57F2EF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454226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>
          <a:extLst>
            <a:ext uri="{FF2B5EF4-FFF2-40B4-BE49-F238E27FC236}">
              <a16:creationId xmlns:a16="http://schemas.microsoft.com/office/drawing/2014/main" id="{7A58816C-48FC-6D9C-1A84-4614B0A47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419b7728cb_0_65:notes">
            <a:extLst>
              <a:ext uri="{FF2B5EF4-FFF2-40B4-BE49-F238E27FC236}">
                <a16:creationId xmlns:a16="http://schemas.microsoft.com/office/drawing/2014/main" id="{3B6C0AF0-3EF3-E2D0-F75B-80258CCE17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g2419b7728cb_0_65:notes">
            <a:extLst>
              <a:ext uri="{FF2B5EF4-FFF2-40B4-BE49-F238E27FC236}">
                <a16:creationId xmlns:a16="http://schemas.microsoft.com/office/drawing/2014/main" id="{F5AE873B-14C4-8942-3AA0-DE791F64C0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472292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>
          <a:extLst>
            <a:ext uri="{FF2B5EF4-FFF2-40B4-BE49-F238E27FC236}">
              <a16:creationId xmlns:a16="http://schemas.microsoft.com/office/drawing/2014/main" id="{F6B3D273-44F6-6BA0-F953-6F3A673CC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419b7728cb_0_65:notes">
            <a:extLst>
              <a:ext uri="{FF2B5EF4-FFF2-40B4-BE49-F238E27FC236}">
                <a16:creationId xmlns:a16="http://schemas.microsoft.com/office/drawing/2014/main" id="{8B4F9799-EBBC-3210-37CE-9E023D572A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g2419b7728cb_0_65:notes">
            <a:extLst>
              <a:ext uri="{FF2B5EF4-FFF2-40B4-BE49-F238E27FC236}">
                <a16:creationId xmlns:a16="http://schemas.microsoft.com/office/drawing/2014/main" id="{E513DF95-F19C-81D3-4011-72DEAD31E2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87305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15886a1dc9e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" name="Google Shape;267;g15886a1dc9e_0_116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>
          <a:extLst>
            <a:ext uri="{FF2B5EF4-FFF2-40B4-BE49-F238E27FC236}">
              <a16:creationId xmlns:a16="http://schemas.microsoft.com/office/drawing/2014/main" id="{5892072E-E00B-6A69-CFA3-CF2DE6DBF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419b7728cb_0_155:notes">
            <a:extLst>
              <a:ext uri="{FF2B5EF4-FFF2-40B4-BE49-F238E27FC236}">
                <a16:creationId xmlns:a16="http://schemas.microsoft.com/office/drawing/2014/main" id="{B6E56F86-6DEB-6E1E-003E-7A255D4511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1" name="Google Shape;281;g2419b7728cb_0_155:notes">
            <a:extLst>
              <a:ext uri="{FF2B5EF4-FFF2-40B4-BE49-F238E27FC236}">
                <a16:creationId xmlns:a16="http://schemas.microsoft.com/office/drawing/2014/main" id="{016226CC-7B76-5C67-1876-70DCE7907E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588650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ABAB96AA-C1A4-A48D-C9B0-6ED3E7321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5886a1dc9e_0_174:notes">
            <a:extLst>
              <a:ext uri="{FF2B5EF4-FFF2-40B4-BE49-F238E27FC236}">
                <a16:creationId xmlns:a16="http://schemas.microsoft.com/office/drawing/2014/main" id="{E13F8632-9680-3FF1-3B62-913F835F74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g15886a1dc9e_0_174:notes">
            <a:extLst>
              <a:ext uri="{FF2B5EF4-FFF2-40B4-BE49-F238E27FC236}">
                <a16:creationId xmlns:a16="http://schemas.microsoft.com/office/drawing/2014/main" id="{581ED341-7367-A189-D5E0-B3B82609AD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409775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419b7728cb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1" name="Google Shape;281;g2419b7728cb_0_15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>
          <a:extLst>
            <a:ext uri="{FF2B5EF4-FFF2-40B4-BE49-F238E27FC236}">
              <a16:creationId xmlns:a16="http://schemas.microsoft.com/office/drawing/2014/main" id="{A7C2E92E-6C47-3E57-7D94-FF54E36E0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419b7728cb_0_155:notes">
            <a:extLst>
              <a:ext uri="{FF2B5EF4-FFF2-40B4-BE49-F238E27FC236}">
                <a16:creationId xmlns:a16="http://schemas.microsoft.com/office/drawing/2014/main" id="{6D8E53EF-1C71-2C23-3160-428675DC9A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1" name="Google Shape;281;g2419b7728cb_0_155:notes">
            <a:extLst>
              <a:ext uri="{FF2B5EF4-FFF2-40B4-BE49-F238E27FC236}">
                <a16:creationId xmlns:a16="http://schemas.microsoft.com/office/drawing/2014/main" id="{8F09E4EC-42AA-A83C-B017-9D486BBF0C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033700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A472B34B-D068-7FF9-8D9E-CCB20EAA0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5886a1dc9e_0_174:notes">
            <a:extLst>
              <a:ext uri="{FF2B5EF4-FFF2-40B4-BE49-F238E27FC236}">
                <a16:creationId xmlns:a16="http://schemas.microsoft.com/office/drawing/2014/main" id="{504CC011-F65F-F8D7-FBBD-2DD3FFC925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g15886a1dc9e_0_174:notes">
            <a:extLst>
              <a:ext uri="{FF2B5EF4-FFF2-40B4-BE49-F238E27FC236}">
                <a16:creationId xmlns:a16="http://schemas.microsoft.com/office/drawing/2014/main" id="{11064FB8-251C-12DC-7052-785104E4BF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129982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5886a1dc9e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g15886a1dc9e_0_174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E608F1C5-0202-E5BC-B18D-AA689D9C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5886a1dc9e_0_174:notes">
            <a:extLst>
              <a:ext uri="{FF2B5EF4-FFF2-40B4-BE49-F238E27FC236}">
                <a16:creationId xmlns:a16="http://schemas.microsoft.com/office/drawing/2014/main" id="{7B05E870-E456-D664-2881-375BE9B499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g15886a1dc9e_0_174:notes">
            <a:extLst>
              <a:ext uri="{FF2B5EF4-FFF2-40B4-BE49-F238E27FC236}">
                <a16:creationId xmlns:a16="http://schemas.microsoft.com/office/drawing/2014/main" id="{205F2B7B-2F6D-6809-3B1D-3BF335D470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847076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8083AC41-65E9-ADB1-6D1B-CE0186D92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5886a1dc9e_0_174:notes">
            <a:extLst>
              <a:ext uri="{FF2B5EF4-FFF2-40B4-BE49-F238E27FC236}">
                <a16:creationId xmlns:a16="http://schemas.microsoft.com/office/drawing/2014/main" id="{A0548C1D-7A40-77F1-B700-C5FF51AA71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g15886a1dc9e_0_174:notes">
            <a:extLst>
              <a:ext uri="{FF2B5EF4-FFF2-40B4-BE49-F238E27FC236}">
                <a16:creationId xmlns:a16="http://schemas.microsoft.com/office/drawing/2014/main" id="{2BDD89C6-FD49-C88A-A9B6-E281C4B27F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279938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15886a1dc9e_0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6" name="Google Shape;296;g15886a1dc9e_0_23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56E71109-D52A-D101-8FD5-4BF546010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5886a1dc9e_0_174:notes">
            <a:extLst>
              <a:ext uri="{FF2B5EF4-FFF2-40B4-BE49-F238E27FC236}">
                <a16:creationId xmlns:a16="http://schemas.microsoft.com/office/drawing/2014/main" id="{99966AE1-5EF2-7951-568A-3F7B40F21F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g15886a1dc9e_0_174:notes">
            <a:extLst>
              <a:ext uri="{FF2B5EF4-FFF2-40B4-BE49-F238E27FC236}">
                <a16:creationId xmlns:a16="http://schemas.microsoft.com/office/drawing/2014/main" id="{0CA11978-3954-70A8-860A-98807F3111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357709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0F92DC7E-BE46-0C00-5EC3-5D053F6D5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5886a1dc9e_0_174:notes">
            <a:extLst>
              <a:ext uri="{FF2B5EF4-FFF2-40B4-BE49-F238E27FC236}">
                <a16:creationId xmlns:a16="http://schemas.microsoft.com/office/drawing/2014/main" id="{B28ED205-510C-9EA2-0360-8701B73BA0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g15886a1dc9e_0_174:notes">
            <a:extLst>
              <a:ext uri="{FF2B5EF4-FFF2-40B4-BE49-F238E27FC236}">
                <a16:creationId xmlns:a16="http://schemas.microsoft.com/office/drawing/2014/main" id="{175AE2E2-20E9-C922-F1A1-0F20D0D17F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632086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5886a1dc9e_0_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g15886a1dc9e_0_293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C89482A1-E4FB-11C3-54DA-EB9340A65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5886a1dc9e_0_174:notes">
            <a:extLst>
              <a:ext uri="{FF2B5EF4-FFF2-40B4-BE49-F238E27FC236}">
                <a16:creationId xmlns:a16="http://schemas.microsoft.com/office/drawing/2014/main" id="{F950AAB8-6A91-8429-32AD-B5983AE0F3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g15886a1dc9e_0_174:notes">
            <a:extLst>
              <a:ext uri="{FF2B5EF4-FFF2-40B4-BE49-F238E27FC236}">
                <a16:creationId xmlns:a16="http://schemas.microsoft.com/office/drawing/2014/main" id="{869646DD-8F72-5561-6086-4CCA41E2D3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930404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446A0588-528C-6EE1-D809-E1C1643AD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5886a1dc9e_0_174:notes">
            <a:extLst>
              <a:ext uri="{FF2B5EF4-FFF2-40B4-BE49-F238E27FC236}">
                <a16:creationId xmlns:a16="http://schemas.microsoft.com/office/drawing/2014/main" id="{10DC0830-BA19-3DA4-155F-843F4DEA68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g15886a1dc9e_0_174:notes">
            <a:extLst>
              <a:ext uri="{FF2B5EF4-FFF2-40B4-BE49-F238E27FC236}">
                <a16:creationId xmlns:a16="http://schemas.microsoft.com/office/drawing/2014/main" id="{69945E5A-512B-3366-A5C3-150764AFA0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910968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>
          <a:extLst>
            <a:ext uri="{FF2B5EF4-FFF2-40B4-BE49-F238E27FC236}">
              <a16:creationId xmlns:a16="http://schemas.microsoft.com/office/drawing/2014/main" id="{24049DC4-FE06-F4CB-5760-7FFD0AA90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5886a1dc9e_0_293:notes">
            <a:extLst>
              <a:ext uri="{FF2B5EF4-FFF2-40B4-BE49-F238E27FC236}">
                <a16:creationId xmlns:a16="http://schemas.microsoft.com/office/drawing/2014/main" id="{5C398477-CF06-9477-3384-0194B565CF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g15886a1dc9e_0_293:notes">
            <a:extLst>
              <a:ext uri="{FF2B5EF4-FFF2-40B4-BE49-F238E27FC236}">
                <a16:creationId xmlns:a16="http://schemas.microsoft.com/office/drawing/2014/main" id="{1AB4FCC5-5D12-FBAA-3C32-0DFDA00F3B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043803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>
          <a:extLst>
            <a:ext uri="{FF2B5EF4-FFF2-40B4-BE49-F238E27FC236}">
              <a16:creationId xmlns:a16="http://schemas.microsoft.com/office/drawing/2014/main" id="{EB3D05A7-F525-4684-EAA3-576EC25D8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5886a1dc9e_0_293:notes">
            <a:extLst>
              <a:ext uri="{FF2B5EF4-FFF2-40B4-BE49-F238E27FC236}">
                <a16:creationId xmlns:a16="http://schemas.microsoft.com/office/drawing/2014/main" id="{0A87AA7C-4B0A-0BF0-58F6-C0FE3DF9D3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g15886a1dc9e_0_293:notes">
            <a:extLst>
              <a:ext uri="{FF2B5EF4-FFF2-40B4-BE49-F238E27FC236}">
                <a16:creationId xmlns:a16="http://schemas.microsoft.com/office/drawing/2014/main" id="{7DEA0775-D70B-3C56-B9D6-BEBA8FEDDE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439087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44d23124c0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2" name="Google Shape;312;g244d23124c0_1_1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>
          <a:extLst>
            <a:ext uri="{FF2B5EF4-FFF2-40B4-BE49-F238E27FC236}">
              <a16:creationId xmlns:a16="http://schemas.microsoft.com/office/drawing/2014/main" id="{95E72F37-8429-9008-93A2-8E9CD6FE4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44d23124c0_1_11:notes">
            <a:extLst>
              <a:ext uri="{FF2B5EF4-FFF2-40B4-BE49-F238E27FC236}">
                <a16:creationId xmlns:a16="http://schemas.microsoft.com/office/drawing/2014/main" id="{EFC333F9-AC45-8BB1-B6D4-F7619D7B6B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2" name="Google Shape;312;g244d23124c0_1_11:notes">
            <a:extLst>
              <a:ext uri="{FF2B5EF4-FFF2-40B4-BE49-F238E27FC236}">
                <a16:creationId xmlns:a16="http://schemas.microsoft.com/office/drawing/2014/main" id="{26CA066E-FDBE-E898-F6DA-3CA5A062EE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99371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>
          <a:extLst>
            <a:ext uri="{FF2B5EF4-FFF2-40B4-BE49-F238E27FC236}">
              <a16:creationId xmlns:a16="http://schemas.microsoft.com/office/drawing/2014/main" id="{0B688D4F-B5AF-3C4B-5480-0E128DF70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44d23124c0_1_11:notes">
            <a:extLst>
              <a:ext uri="{FF2B5EF4-FFF2-40B4-BE49-F238E27FC236}">
                <a16:creationId xmlns:a16="http://schemas.microsoft.com/office/drawing/2014/main" id="{3D2651A5-52BC-1F3D-9058-B63F07AC4A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2" name="Google Shape;312;g244d23124c0_1_11:notes">
            <a:extLst>
              <a:ext uri="{FF2B5EF4-FFF2-40B4-BE49-F238E27FC236}">
                <a16:creationId xmlns:a16="http://schemas.microsoft.com/office/drawing/2014/main" id="{AA4B324A-266E-32DB-B57F-F6216731FD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905903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44d23124c0_1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g244d23124c0_1_153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4937ead0e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5" name="Google Shape;325;g24937ead0e2_0_20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44d23124c0_1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2" name="Google Shape;332;g244d23124c0_1_18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9241B889-87C2-003A-A741-FD15807B3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44d23124c0_1_181:notes">
            <a:extLst>
              <a:ext uri="{FF2B5EF4-FFF2-40B4-BE49-F238E27FC236}">
                <a16:creationId xmlns:a16="http://schemas.microsoft.com/office/drawing/2014/main" id="{8A159042-A02F-17CD-0185-67CA5DFB38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2" name="Google Shape;332;g244d23124c0_1_181:notes">
            <a:extLst>
              <a:ext uri="{FF2B5EF4-FFF2-40B4-BE49-F238E27FC236}">
                <a16:creationId xmlns:a16="http://schemas.microsoft.com/office/drawing/2014/main" id="{CDC4C448-7915-7770-BF47-6AF86F1D70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98393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44d23124c0_1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244d23124c0_1_167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24937ead0e2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6" name="Google Shape;346;g24937ead0e2_0_30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44d23124c0_1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3" name="Google Shape;353;g244d23124c0_1_174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>
          <a:extLst>
            <a:ext uri="{FF2B5EF4-FFF2-40B4-BE49-F238E27FC236}">
              <a16:creationId xmlns:a16="http://schemas.microsoft.com/office/drawing/2014/main" id="{A4E0A6A4-3FF8-8BE5-2018-D3D2ED857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44d23124c0_1_174:notes">
            <a:extLst>
              <a:ext uri="{FF2B5EF4-FFF2-40B4-BE49-F238E27FC236}">
                <a16:creationId xmlns:a16="http://schemas.microsoft.com/office/drawing/2014/main" id="{F19DA51E-E04C-4E6F-BF07-40CE6BBB83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3" name="Google Shape;353;g244d23124c0_1_174:notes">
            <a:extLst>
              <a:ext uri="{FF2B5EF4-FFF2-40B4-BE49-F238E27FC236}">
                <a16:creationId xmlns:a16="http://schemas.microsoft.com/office/drawing/2014/main" id="{77A1F472-7A6A-EA61-AA2D-CCEB9ECD12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319014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4937ead0e2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0" name="Google Shape;360;g24937ead0e2_0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15886a1dc9e_0_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7" name="Google Shape;367;g15886a1dc9e_0_403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44c62e8fd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4" name="Google Shape;374;g244c62e8fd3_0_10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>
          <a:extLst>
            <a:ext uri="{FF2B5EF4-FFF2-40B4-BE49-F238E27FC236}">
              <a16:creationId xmlns:a16="http://schemas.microsoft.com/office/drawing/2014/main" id="{B4E504BC-88DB-23A3-8025-335AF7964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44c62e8fd3_0_10:notes">
            <a:extLst>
              <a:ext uri="{FF2B5EF4-FFF2-40B4-BE49-F238E27FC236}">
                <a16:creationId xmlns:a16="http://schemas.microsoft.com/office/drawing/2014/main" id="{4307223E-00F9-C1A2-9B4F-B019933F65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4" name="Google Shape;374;g244c62e8fd3_0_10:notes">
            <a:extLst>
              <a:ext uri="{FF2B5EF4-FFF2-40B4-BE49-F238E27FC236}">
                <a16:creationId xmlns:a16="http://schemas.microsoft.com/office/drawing/2014/main" id="{4ED835B7-2DEB-41F4-D619-4B501B53F5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165216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10e9006cb6c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0" name="Google Shape;380;g10e9006cb6c_1_20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44d23124c0_1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1" name="Google Shape;391;g244d23124c0_1_99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10ee00f67ea_0_55:notes"/>
          <p:cNvSpPr txBox="1">
            <a:spLocks noGrp="1"/>
          </p:cNvSpPr>
          <p:nvPr>
            <p:ph type="body" idx="1"/>
          </p:nvPr>
        </p:nvSpPr>
        <p:spPr>
          <a:xfrm>
            <a:off x="701040" y="4473893"/>
            <a:ext cx="5608320" cy="3660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buSzPts val="1400"/>
              <a:buNone/>
            </a:pPr>
            <a:endParaRPr/>
          </a:p>
        </p:txBody>
      </p:sp>
      <p:sp>
        <p:nvSpPr>
          <p:cNvPr id="397" name="Google Shape;397;g10ee00f67ea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8" name="Google Shape;398;g10ee00f67ea_0_55:notes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40" cy="466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SzPts val="1200"/>
              </a:pPr>
              <a:t>66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g10ee00f67ea_0_55:notes"/>
          <p:cNvSpPr txBox="1">
            <a:spLocks noGrp="1"/>
          </p:cNvSpPr>
          <p:nvPr>
            <p:ph type="ftr" idx="11"/>
          </p:nvPr>
        </p:nvSpPr>
        <p:spPr>
          <a:xfrm>
            <a:off x="0" y="8829967"/>
            <a:ext cx="3037840" cy="466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b" anchorCtr="0">
            <a:noAutofit/>
          </a:bodyPr>
          <a:lstStyle/>
          <a:p>
            <a:pPr>
              <a:buSzPts val="1400"/>
            </a:pPr>
            <a:r>
              <a:rPr lang="en"/>
              <a:t>| Proprietary content. ©Great Learning. All Rights Reserved. Unauthorized use or distribution prohibited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e1a9588eba_0_9"/>
          <p:cNvSpPr txBox="1">
            <a:spLocks noGrp="1"/>
          </p:cNvSpPr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6" name="Google Shape;16;ge1a9588eba_0_9"/>
          <p:cNvSpPr txBox="1">
            <a:spLocks noGrp="1"/>
          </p:cNvSpPr>
          <p:nvPr>
            <p:ph type="subTitle" idx="1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e1a9588eba_0_15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ge1a9588eba_0_15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20" name="Google Shape;20;ge1a9588eba_0_15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e1a9588eba_0_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ge1a9588eba_0_12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>
  <p:cSld name="CUSTOM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e1a9588eba_0_19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graphicFrame>
        <p:nvGraphicFramePr>
          <p:cNvPr id="26" name="Google Shape;26;ge1a9588eba_0_19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{C1344643-9A85-4DB7-9F01-8C1698141E30}</a:tableStyleId>
              </a:tblPr>
              <a:tblGrid>
                <a:gridCol w="88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3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baseline="30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Google Shape;27;ge1a9588eba_0_19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e1a9588eba_0_23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e1a9588eba_0_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e1a9588eba_0_2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e1a9588eba_0_23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e1a9588eba_0_28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ge1a9588eba_0_28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e1a9588eba_0_3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8" name="Google Shape;38;ge1a9588eba_0_31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e1a9588eba_0_3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ge1a9588eba_0_3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ge1a9588eba_0_3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ge1a9588eba_0_3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marL="4114800" lvl="8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ge1a9588eba_0_34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e1a9588eba_0_40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e1a9588eba_0_42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" name="Google Shape;49;ge1a9588eba_0_42" descr="A close up of a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l="42816" t="18358" r="37293" b="19149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ge1a9588eba_0_42"/>
          <p:cNvSpPr txBox="1">
            <a:spLocks noGrp="1"/>
          </p:cNvSpPr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85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ge1a9588eba_0_42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en" sz="3300" b="0" i="0" u="none" strike="noStrike" cap="non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sz="3300" b="0" i="0" u="none" strike="noStrike" cap="non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52" name="Google Shape;52;ge1a9588eba_0_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5874" y="683275"/>
            <a:ext cx="3757725" cy="8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419b7728cb_0_83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g2419b7728cb_0_83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65" name="Google Shape;65;g2419b7728cb_0_83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419b7728cb_0_80"/>
          <p:cNvSpPr txBox="1">
            <a:spLocks noGrp="1"/>
          </p:cNvSpPr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68" name="Google Shape;68;g2419b7728cb_0_80"/>
          <p:cNvSpPr txBox="1">
            <a:spLocks noGrp="1"/>
          </p:cNvSpPr>
          <p:nvPr>
            <p:ph type="subTitle" idx="1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419b7728cb_0_8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g2419b7728cb_0_87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>
  <p:cSld name="CUSTOM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419b7728cb_0_90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graphicFrame>
        <p:nvGraphicFramePr>
          <p:cNvPr id="74" name="Google Shape;74;g2419b7728cb_0_90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{C1344643-9A85-4DB7-9F01-8C1698141E30}</a:tableStyleId>
              </a:tblPr>
              <a:tblGrid>
                <a:gridCol w="88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3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baseline="30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5" name="Google Shape;75;g2419b7728cb_0_90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419b7728cb_0_94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g2419b7728cb_0_9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9" name="Google Shape;79;g2419b7728cb_0_9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0" name="Google Shape;80;g2419b7728cb_0_94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419b7728cb_0_99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g2419b7728cb_0_99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419b7728cb_0_10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6" name="Google Shape;86;g2419b7728cb_0_102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419b7728cb_0_10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2419b7728cb_0_105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90" name="Google Shape;90;g2419b7728cb_0_105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1" name="Google Shape;91;g2419b7728cb_0_105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marL="4114800" lvl="8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g2419b7728cb_0_105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419b7728cb_0_111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419b7728cb_0_113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g2419b7728cb_0_113" descr="A close up of a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l="42816" t="18360" r="37293" b="19147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2419b7728cb_0_113"/>
          <p:cNvSpPr txBox="1">
            <a:spLocks noGrp="1"/>
          </p:cNvSpPr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85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" name="Google Shape;99;g2419b7728cb_0_113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en" sz="3300" b="0" i="0" u="none" strike="noStrike" cap="non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sz="3300" b="0" i="0" u="none" strike="noStrike" cap="non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100" name="Google Shape;100;g2419b7728cb_0_1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5874" y="683275"/>
            <a:ext cx="3757725" cy="8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44d23124c0_1_116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g244d23124c0_1_116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13" name="Google Shape;113;g244d23124c0_1_116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44d23124c0_1_113"/>
          <p:cNvSpPr txBox="1">
            <a:spLocks noGrp="1"/>
          </p:cNvSpPr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16" name="Google Shape;116;g244d23124c0_1_113"/>
          <p:cNvSpPr txBox="1">
            <a:spLocks noGrp="1"/>
          </p:cNvSpPr>
          <p:nvPr>
            <p:ph type="subTitle" idx="1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44d23124c0_1_12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g244d23124c0_1_120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>
  <p:cSld name="CUSTOM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44d23124c0_1_123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graphicFrame>
        <p:nvGraphicFramePr>
          <p:cNvPr id="122" name="Google Shape;122;g244d23124c0_1_123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{C1344643-9A85-4DB7-9F01-8C1698141E30}</a:tableStyleId>
              </a:tblPr>
              <a:tblGrid>
                <a:gridCol w="88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3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baseline="30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3" name="Google Shape;123;g244d23124c0_1_123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44d23124c0_1_127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g244d23124c0_1_1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27" name="Google Shape;127;g244d23124c0_1_12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28" name="Google Shape;128;g244d23124c0_1_127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44d23124c0_1_132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g244d23124c0_1_132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44d23124c0_1_13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4" name="Google Shape;134;g244d23124c0_1_135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44d23124c0_1_13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244d23124c0_1_13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38" name="Google Shape;138;g244d23124c0_1_13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39" name="Google Shape;139;g244d23124c0_1_13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marL="4114800" lvl="8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>
            <a:endParaRPr/>
          </a:p>
        </p:txBody>
      </p:sp>
      <p:sp>
        <p:nvSpPr>
          <p:cNvPr id="140" name="Google Shape;140;g244d23124c0_1_138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44d23124c0_1_144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44d23124c0_1_146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g244d23124c0_1_146" descr="A close up of a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l="42816" t="18360" r="37294" b="19147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244d23124c0_1_146"/>
          <p:cNvSpPr txBox="1">
            <a:spLocks noGrp="1"/>
          </p:cNvSpPr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85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" name="Google Shape;147;g244d23124c0_1_146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en" sz="3300" b="0" i="0" u="none" strike="noStrike" cap="non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sz="3300" b="0" i="0" u="none" strike="noStrike" cap="non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148" name="Google Shape;148;g244d23124c0_1_1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5874" y="683275"/>
            <a:ext cx="3757725" cy="8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0ee00f67ea_0_104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g10ee00f67ea_0_104" descr="A close up of a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l="42816" t="18358" r="37293" b="19149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g10ee00f67ea_0_104"/>
          <p:cNvSpPr txBox="1">
            <a:spLocks noGrp="1"/>
          </p:cNvSpPr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85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2" name="Google Shape;162;g10ee00f67ea_0_104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en" sz="3300" b="0" i="0" u="none" strike="noStrike" cap="non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sz="3300" b="0" i="0" u="none" strike="noStrike" cap="non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163" name="Google Shape;163;g10ee00f67ea_0_1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1875" y="769949"/>
            <a:ext cx="3071452" cy="126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0ee00f67ea_0_71"/>
          <p:cNvSpPr txBox="1">
            <a:spLocks noGrp="1"/>
          </p:cNvSpPr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66" name="Google Shape;166;g10ee00f67ea_0_71"/>
          <p:cNvSpPr txBox="1">
            <a:spLocks noGrp="1"/>
          </p:cNvSpPr>
          <p:nvPr>
            <p:ph type="subTitle" idx="1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0ee00f67ea_0_7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>
            <a:endParaRPr/>
          </a:p>
        </p:txBody>
      </p:sp>
      <p:sp>
        <p:nvSpPr>
          <p:cNvPr id="169" name="Google Shape;169;g10ee00f67ea_0_74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0ee00f67ea_0_77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g10ee00f67ea_0_77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73" name="Google Shape;173;g10ee00f67ea_0_77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>
  <p:cSld name="CUSTOM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0ee00f67ea_0_81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graphicFrame>
        <p:nvGraphicFramePr>
          <p:cNvPr id="176" name="Google Shape;176;g10ee00f67ea_0_81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{C1344643-9A85-4DB7-9F01-8C1698141E30}</a:tableStyleId>
              </a:tblPr>
              <a:tblGrid>
                <a:gridCol w="88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3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baseline="30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7" name="Google Shape;177;g10ee00f67ea_0_81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0ee00f67ea_0_85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g10ee00f67ea_0_8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81" name="Google Shape;181;g10ee00f67ea_0_8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82" name="Google Shape;182;g10ee00f67ea_0_85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0ee00f67ea_0_90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g10ee00f67ea_0_90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0ee00f67ea_0_9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88" name="Google Shape;188;g10ee00f67ea_0_93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0ee00f67ea_0_9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10ee00f67ea_0_9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92" name="Google Shape;192;g10ee00f67ea_0_9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3" name="Google Shape;193;g10ee00f67ea_0_9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marL="4114800" lvl="8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>
            <a:endParaRPr/>
          </a:p>
        </p:txBody>
      </p:sp>
      <p:sp>
        <p:nvSpPr>
          <p:cNvPr id="194" name="Google Shape;194;g10ee00f67ea_0_96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0ee00f67ea_0_102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e1a9588eba_0_0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sz="22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  <p:sp>
        <p:nvSpPr>
          <p:cNvPr id="7" name="Google Shape;7;ge1a9588eba_0_0"/>
          <p:cNvSpPr txBox="1">
            <a:spLocks noGrp="1"/>
          </p:cNvSpPr>
          <p:nvPr>
            <p:ph type="body" idx="1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sz="15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11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sz="13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2857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2794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sz="8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2730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sz="7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2667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sz="6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ge1a9588eba_0_0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marR="0" lvl="0" indent="0" algn="ctr" rtl="0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sz="700" b="1" i="0" u="none" strike="noStrike" cap="non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" name="Google Shape;9;ge1a9588eba_0_0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" name="Google Shape;10;ge1a9588eba_0_0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ge1a9588eba_0_0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" name="Google Shape;12;ge1a9588eba_0_0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ge1a9588eba_0_0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2419b7728cb_0_71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sz="22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  <p:sp>
        <p:nvSpPr>
          <p:cNvPr id="55" name="Google Shape;55;g2419b7728cb_0_71"/>
          <p:cNvSpPr txBox="1">
            <a:spLocks noGrp="1"/>
          </p:cNvSpPr>
          <p:nvPr>
            <p:ph type="body" idx="1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sz="15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11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sz="13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2857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2794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sz="8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2730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sz="7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2667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sz="6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56" name="Google Shape;56;g2419b7728cb_0_71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marR="0" lvl="0" indent="0" algn="ctr" rtl="0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sz="700" b="1" i="0" u="none" strike="noStrike" cap="non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" name="Google Shape;57;g2419b7728cb_0_71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8" name="Google Shape;58;g2419b7728cb_0_7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669500" y="68264"/>
            <a:ext cx="1395475" cy="572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g2419b7728cb_0_71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60" name="Google Shape;60;g2419b7728cb_0_71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g2419b7728cb_0_71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44d23124c0_1_104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sz="22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  <p:sp>
        <p:nvSpPr>
          <p:cNvPr id="103" name="Google Shape;103;g244d23124c0_1_104"/>
          <p:cNvSpPr txBox="1">
            <a:spLocks noGrp="1"/>
          </p:cNvSpPr>
          <p:nvPr>
            <p:ph type="body" idx="1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sz="15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11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sz="13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2857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2794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sz="8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2730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sz="7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2667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sz="6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04" name="Google Shape;104;g244d23124c0_1_104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marR="0" lvl="0" indent="0" algn="ctr" rtl="0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sz="700" b="1" i="0" u="none" strike="noStrike" cap="non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5" name="Google Shape;105;g244d23124c0_1_104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6" name="Google Shape;106;g244d23124c0_1_104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669500" y="68264"/>
            <a:ext cx="1395475" cy="572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" name="Google Shape;107;g244d23124c0_1_104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08" name="Google Shape;108;g244d23124c0_1_104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g244d23124c0_1_104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0ee00f67ea_0_62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sz="22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  <p:sp>
        <p:nvSpPr>
          <p:cNvPr id="151" name="Google Shape;151;g10ee00f67ea_0_62"/>
          <p:cNvSpPr txBox="1">
            <a:spLocks noGrp="1"/>
          </p:cNvSpPr>
          <p:nvPr>
            <p:ph type="body" idx="1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sz="15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11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sz="13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2857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2794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sz="8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2730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sz="7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2667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sz="6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52" name="Google Shape;152;g10ee00f67ea_0_62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marR="0" lvl="0" indent="0" algn="ctr" rtl="0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sz="700" b="1" i="0" u="none" strike="noStrike" cap="non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3" name="Google Shape;153;g10ee00f67ea_0_62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4" name="Google Shape;154;g10ee00f67ea_0_62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5" name="Google Shape;155;g10ee00f67ea_0_62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56" name="Google Shape;156;g10ee00f67ea_0_62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g10ee00f67ea_0_62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</p:sldLayoutIdLst>
  <mc:AlternateContent xmlns:mc="http://schemas.openxmlformats.org/markup-compatibility/2006" xmlns:p14="http://schemas.microsoft.com/office/powerpoint/2010/main">
    <mc:Choice Requires="p14">
      <p:transition p14:dur="0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"/>
          <p:cNvSpPr txBox="1">
            <a:spLocks noGrp="1"/>
          </p:cNvSpPr>
          <p:nvPr>
            <p:ph type="ctrTitle"/>
          </p:nvPr>
        </p:nvSpPr>
        <p:spPr>
          <a:xfrm>
            <a:off x="619200" y="1113200"/>
            <a:ext cx="8105400" cy="13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300" dirty="0">
                <a:latin typeface="Century Gothic"/>
                <a:ea typeface="Century Gothic"/>
                <a:cs typeface="Century Gothic"/>
                <a:sym typeface="Century Gothic"/>
              </a:rPr>
              <a:t>Hotel Booking Cancellation Prediction</a:t>
            </a:r>
            <a:endParaRPr sz="3300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2" name="Google Shape;202;p1"/>
          <p:cNvSpPr txBox="1">
            <a:spLocks noGrp="1"/>
          </p:cNvSpPr>
          <p:nvPr>
            <p:ph type="ctrTitle"/>
          </p:nvPr>
        </p:nvSpPr>
        <p:spPr>
          <a:xfrm>
            <a:off x="619200" y="2450950"/>
            <a:ext cx="79056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000" b="0" dirty="0">
                <a:latin typeface="Century Gothic"/>
                <a:ea typeface="Century Gothic"/>
                <a:cs typeface="Century Gothic"/>
                <a:sym typeface="Century Gothic"/>
              </a:rPr>
              <a:t>Decision Systems</a:t>
            </a:r>
            <a:endParaRPr sz="3000" b="0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" name="Google Shape;202;p1">
            <a:extLst>
              <a:ext uri="{FF2B5EF4-FFF2-40B4-BE49-F238E27FC236}">
                <a16:creationId xmlns:a16="http://schemas.microsoft.com/office/drawing/2014/main" id="{0BB4866D-44ED-0CB3-9D1B-641C9D89F920}"/>
              </a:ext>
            </a:extLst>
          </p:cNvPr>
          <p:cNvSpPr txBox="1">
            <a:spLocks/>
          </p:cNvSpPr>
          <p:nvPr/>
        </p:nvSpPr>
        <p:spPr>
          <a:xfrm>
            <a:off x="575173" y="2769297"/>
            <a:ext cx="79056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 b="1" i="0" u="none" strike="noStrike" cap="non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 b="0" i="0" u="none" strike="noStrike" cap="non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 b="0" i="0" u="none" strike="noStrike" cap="non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 b="0" i="0" u="none" strike="noStrike" cap="non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 b="0" i="0" u="none" strike="noStrike" cap="non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 b="0" i="0" u="none" strike="noStrike" cap="non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 b="0" i="0" u="none" strike="noStrike" cap="non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 b="0" i="0" u="none" strike="noStrike" cap="non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 b="0" i="0" u="none" strike="noStrike" cap="non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en-US" sz="1600" b="0" dirty="0">
                <a:latin typeface="Century Gothic"/>
                <a:ea typeface="Century Gothic"/>
                <a:cs typeface="Century Gothic"/>
                <a:sym typeface="Century Gothic"/>
              </a:rPr>
              <a:t>By John Buczkowski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58837adcbf_0_53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Contents / Agenda</a:t>
            </a:r>
            <a:endParaRPr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8" name="Google Shape;208;g158837adcbf_0_53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Dictionary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 Problem Overview and Solution Approach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Results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Preprocessing 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 Performance Summary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Conclusions and Recommendations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Appendix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45c43bb502_0_48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Dictionary</a:t>
            </a:r>
            <a:endParaRPr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4" name="Google Shape;214;g245c43bb502_0_48"/>
          <p:cNvSpPr txBox="1">
            <a:spLocks noGrp="1"/>
          </p:cNvSpPr>
          <p:nvPr>
            <p:ph type="body" idx="1"/>
          </p:nvPr>
        </p:nvSpPr>
        <p:spPr>
          <a:xfrm>
            <a:off x="311750" y="861975"/>
            <a:ext cx="85206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data contains the different attributes of</a:t>
            </a:r>
            <a:r>
              <a:rPr lang="en" sz="12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customers' booking details</a:t>
            </a: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The detailed data dictionary is given below: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●"/>
            </a:pPr>
            <a:r>
              <a:rPr lang="en" sz="12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Booking_ID: </a:t>
            </a: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unique identifier of each booking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●"/>
            </a:pPr>
            <a:r>
              <a:rPr lang="en" sz="12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no_of_adults: </a:t>
            </a: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Number of adults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●"/>
            </a:pPr>
            <a:r>
              <a:rPr lang="en" sz="12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no_of_children:</a:t>
            </a: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Number of Children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●"/>
            </a:pPr>
            <a:r>
              <a:rPr lang="en" sz="12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no_of_weekend_nights:</a:t>
            </a: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Number of weekend nights (Saturday or Sunday) the guest stayed or booked to stay at the hotel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●"/>
            </a:pPr>
            <a:r>
              <a:rPr lang="en" sz="12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no_of_week_nights:</a:t>
            </a: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Number of weeknights (Monday to Friday) the guest stayed or booked to stay at the hotel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●"/>
            </a:pPr>
            <a:r>
              <a:rPr lang="en" sz="12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required_car_parking_space:</a:t>
            </a: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Does the customer require a car parking space? (0 - No, 1- Yes)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●"/>
            </a:pPr>
            <a:r>
              <a:rPr lang="en" sz="1200" b="1">
                <a:solidFill>
                  <a:srgbClr val="2D3B45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room_type_reserved:</a:t>
            </a: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 Type of room reserved by the customer. The values are ciphered (encoded) by INN Hotels Group</a:t>
            </a:r>
            <a:endParaRPr sz="1200">
              <a:solidFill>
                <a:srgbClr val="2D3B45"/>
              </a:solidFill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45c43bb502_0_53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Dictionary</a:t>
            </a:r>
            <a:endParaRPr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0" name="Google Shape;220;g245c43bb502_0_53"/>
          <p:cNvSpPr txBox="1">
            <a:spLocks noGrp="1"/>
          </p:cNvSpPr>
          <p:nvPr>
            <p:ph type="body" idx="1"/>
          </p:nvPr>
        </p:nvSpPr>
        <p:spPr>
          <a:xfrm>
            <a:off x="311750" y="861975"/>
            <a:ext cx="85206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-304800" algn="l" rtl="0">
              <a:spcBef>
                <a:spcPts val="1000"/>
              </a:spcBef>
              <a:spcAft>
                <a:spcPts val="0"/>
              </a:spcAft>
              <a:buClr>
                <a:srgbClr val="2D3B45"/>
              </a:buClr>
              <a:buSzPts val="1200"/>
              <a:buFont typeface="Century Gothic"/>
              <a:buChar char="●"/>
            </a:pPr>
            <a:r>
              <a:rPr lang="en" sz="1200" b="1">
                <a:solidFill>
                  <a:srgbClr val="2D3B45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lead_time: </a:t>
            </a: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Number of days between the date of booking and the arrival date</a:t>
            </a:r>
            <a:endParaRPr sz="1200">
              <a:solidFill>
                <a:srgbClr val="2D3B45"/>
              </a:solidFill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914400" lvl="0" indent="-304800" algn="l" rtl="0">
              <a:spcBef>
                <a:spcPts val="1000"/>
              </a:spcBef>
              <a:spcAft>
                <a:spcPts val="0"/>
              </a:spcAft>
              <a:buClr>
                <a:srgbClr val="2D3B45"/>
              </a:buClr>
              <a:buSzPts val="1200"/>
              <a:buFont typeface="Century Gothic"/>
              <a:buChar char="●"/>
            </a:pPr>
            <a:r>
              <a:rPr lang="en" sz="1200" b="1">
                <a:solidFill>
                  <a:srgbClr val="2D3B45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arrival_year:</a:t>
            </a: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 Year of arrival date</a:t>
            </a:r>
            <a:endParaRPr sz="1200">
              <a:solidFill>
                <a:srgbClr val="2D3B45"/>
              </a:solidFill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914400" lvl="0" indent="-304800" algn="l" rtl="0">
              <a:spcBef>
                <a:spcPts val="1000"/>
              </a:spcBef>
              <a:spcAft>
                <a:spcPts val="0"/>
              </a:spcAft>
              <a:buClr>
                <a:srgbClr val="2D3B45"/>
              </a:buClr>
              <a:buSzPts val="1200"/>
              <a:buFont typeface="Century Gothic"/>
              <a:buChar char="●"/>
            </a:pPr>
            <a:r>
              <a:rPr lang="en" sz="1200" b="1">
                <a:solidFill>
                  <a:srgbClr val="2D3B45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arrival_month:</a:t>
            </a: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 Month of arrival date</a:t>
            </a:r>
            <a:endParaRPr sz="1200">
              <a:solidFill>
                <a:srgbClr val="2D3B45"/>
              </a:solidFill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914400" lvl="0" indent="-304800" algn="l" rtl="0">
              <a:spcBef>
                <a:spcPts val="1000"/>
              </a:spcBef>
              <a:spcAft>
                <a:spcPts val="0"/>
              </a:spcAft>
              <a:buClr>
                <a:srgbClr val="2D3B45"/>
              </a:buClr>
              <a:buSzPts val="1200"/>
              <a:buFont typeface="Century Gothic"/>
              <a:buChar char="●"/>
            </a:pPr>
            <a:r>
              <a:rPr lang="en" sz="1200" b="1">
                <a:solidFill>
                  <a:srgbClr val="2D3B45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arrival_date:</a:t>
            </a: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 Date of the month</a:t>
            </a:r>
            <a:endParaRPr sz="1200">
              <a:solidFill>
                <a:srgbClr val="2D3B45"/>
              </a:solidFill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914400" lvl="0" indent="-304800" algn="l" rtl="0">
              <a:spcBef>
                <a:spcPts val="1000"/>
              </a:spcBef>
              <a:spcAft>
                <a:spcPts val="0"/>
              </a:spcAft>
              <a:buClr>
                <a:srgbClr val="2D3B45"/>
              </a:buClr>
              <a:buSzPts val="1200"/>
              <a:buFont typeface="Century Gothic"/>
              <a:buChar char="●"/>
            </a:pPr>
            <a:r>
              <a:rPr lang="en" sz="1200" b="1">
                <a:solidFill>
                  <a:srgbClr val="2D3B45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market_segment_type:</a:t>
            </a: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 Market segment designation.</a:t>
            </a:r>
            <a:endParaRPr sz="1200">
              <a:solidFill>
                <a:srgbClr val="2D3B45"/>
              </a:solidFill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914400" lvl="0" indent="-304800" algn="l" rtl="0">
              <a:spcBef>
                <a:spcPts val="1000"/>
              </a:spcBef>
              <a:spcAft>
                <a:spcPts val="0"/>
              </a:spcAft>
              <a:buClr>
                <a:srgbClr val="2D3B45"/>
              </a:buClr>
              <a:buSzPts val="1200"/>
              <a:buFont typeface="Century Gothic"/>
              <a:buChar char="●"/>
            </a:pPr>
            <a:r>
              <a:rPr lang="en" sz="1200" b="1">
                <a:solidFill>
                  <a:srgbClr val="2D3B45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repeated_guest:</a:t>
            </a: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 Is the customer a repeated guest? (0 - No, 1- Yes)</a:t>
            </a:r>
            <a:endParaRPr sz="1200">
              <a:solidFill>
                <a:srgbClr val="2D3B45"/>
              </a:solidFill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914400" lvl="0" indent="-304800" algn="l" rtl="0">
              <a:spcBef>
                <a:spcPts val="1000"/>
              </a:spcBef>
              <a:spcAft>
                <a:spcPts val="0"/>
              </a:spcAft>
              <a:buClr>
                <a:srgbClr val="2D3B45"/>
              </a:buClr>
              <a:buSzPts val="1200"/>
              <a:buFont typeface="Century Gothic"/>
              <a:buChar char="●"/>
            </a:pPr>
            <a:r>
              <a:rPr lang="en" sz="1200" b="1">
                <a:solidFill>
                  <a:srgbClr val="2D3B45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no_of_previous_cancellations:</a:t>
            </a: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 Number of previous bookings that were canceled by the customer prior to the current booking</a:t>
            </a:r>
            <a:endParaRPr sz="1200">
              <a:solidFill>
                <a:srgbClr val="2D3B45"/>
              </a:solidFill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914400" lvl="0" indent="-304800" algn="l" rtl="0">
              <a:spcBef>
                <a:spcPts val="1000"/>
              </a:spcBef>
              <a:spcAft>
                <a:spcPts val="0"/>
              </a:spcAft>
              <a:buClr>
                <a:srgbClr val="2D3B45"/>
              </a:buClr>
              <a:buSzPts val="1200"/>
              <a:buFont typeface="Century Gothic"/>
              <a:buChar char="●"/>
            </a:pPr>
            <a:r>
              <a:rPr lang="en" sz="1200" b="1">
                <a:solidFill>
                  <a:srgbClr val="2D3B45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no_of_previous_bookings_not_canceled:</a:t>
            </a: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 Number of previous bookings not canceled by the customer prior to the current booking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473521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 Problem Overview</a:t>
            </a:r>
            <a:endParaRPr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2" name="Google Shape;232;p3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2569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9700" indent="0">
              <a:spcBef>
                <a:spcPts val="1000"/>
              </a:spcBef>
              <a:buClr>
                <a:schemeClr val="dk1"/>
              </a:buClr>
              <a:buSzPts val="1400"/>
              <a:buNone/>
            </a:pPr>
            <a:r>
              <a:rPr lang="en-US" b="1" dirty="0"/>
              <a:t>INN Hotels Group</a:t>
            </a:r>
            <a:r>
              <a:rPr lang="en-US" dirty="0"/>
              <a:t>, a hotel chain operating in Portugal, has been seeing an increase in booking cancellations that have resulted in negatively impact their business operations and profitability. </a:t>
            </a:r>
          </a:p>
          <a:p>
            <a:pPr marL="139700" indent="0">
              <a:spcBef>
                <a:spcPts val="1000"/>
              </a:spcBef>
              <a:buClr>
                <a:schemeClr val="dk1"/>
              </a:buClr>
              <a:buSzPts val="1400"/>
              <a:buNone/>
            </a:pPr>
            <a:r>
              <a:rPr lang="en-US" dirty="0"/>
              <a:t>These cancellations result in:</a:t>
            </a:r>
          </a:p>
          <a:p>
            <a:pPr marL="139700" indent="0">
              <a:spcBef>
                <a:spcPts val="1000"/>
              </a:spcBef>
              <a:buClr>
                <a:schemeClr val="dk1"/>
              </a:buClr>
              <a:buSzPts val="1400"/>
              <a:buNone/>
            </a:pPr>
            <a:endParaRPr lang="en-US" sz="800" dirty="0"/>
          </a:p>
          <a:p>
            <a:pPr lvl="0"/>
            <a:r>
              <a:rPr lang="en-US" b="1" dirty="0"/>
              <a:t>Loss of Revenue </a:t>
            </a:r>
            <a:r>
              <a:rPr lang="en-US" dirty="0"/>
              <a:t>when rooms cannot be resold by the hotel</a:t>
            </a:r>
          </a:p>
          <a:p>
            <a:pPr lvl="0"/>
            <a:r>
              <a:rPr lang="en-US" b="1" dirty="0"/>
              <a:t>Increased distribution channel costs</a:t>
            </a:r>
            <a:r>
              <a:rPr lang="en-US" dirty="0"/>
              <a:t> through higher commissions and advertising expenses</a:t>
            </a:r>
          </a:p>
          <a:p>
            <a:pPr lvl="0"/>
            <a:r>
              <a:rPr lang="en-US" b="1" dirty="0"/>
              <a:t>Reduced profitability </a:t>
            </a:r>
            <a:r>
              <a:rPr lang="en-US" dirty="0"/>
              <a:t>from last-minute price reductions to ensure unsold rooms are filled</a:t>
            </a:r>
          </a:p>
          <a:p>
            <a:pPr lvl="0"/>
            <a:r>
              <a:rPr lang="en-US" b="1" dirty="0"/>
              <a:t>Additional Operational costs </a:t>
            </a:r>
            <a:r>
              <a:rPr lang="en-US" dirty="0"/>
              <a:t>requiring additional human resource allocation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1AC7F-EAFB-724B-5A24-394B8868E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Solution Approach</a:t>
            </a:r>
            <a:br>
              <a:rPr lang="en-US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F664F-FE4B-F917-1F60-158FDC5B15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3350" indent="0">
              <a:buNone/>
            </a:pPr>
            <a:r>
              <a:rPr lang="en-US" b="1" dirty="0"/>
              <a:t>1. Analyze the Existing Model</a:t>
            </a:r>
            <a:endParaRPr lang="en-US" dirty="0"/>
          </a:p>
          <a:p>
            <a:pPr lvl="0"/>
            <a:r>
              <a:rPr lang="en-US" sz="1200" dirty="0"/>
              <a:t>Evaluate the Rapid Miner Decision Tree and Random Forest models provided</a:t>
            </a:r>
          </a:p>
          <a:p>
            <a:pPr lvl="0"/>
            <a:r>
              <a:rPr lang="en-US" sz="1200" dirty="0"/>
              <a:t>Compare their performance and understand their predictions</a:t>
            </a:r>
          </a:p>
          <a:p>
            <a:pPr lvl="0"/>
            <a:r>
              <a:rPr lang="en-US" sz="1200" dirty="0"/>
              <a:t>Identify which model works better for this business problem</a:t>
            </a:r>
          </a:p>
          <a:p>
            <a:endParaRPr lang="en-US" sz="1000" b="1" dirty="0"/>
          </a:p>
          <a:p>
            <a:pPr marL="133350" indent="0">
              <a:buNone/>
            </a:pPr>
            <a:r>
              <a:rPr lang="en-US" b="1" dirty="0"/>
              <a:t>2. Identify Cancellation Drivers</a:t>
            </a:r>
            <a:endParaRPr lang="en-US" dirty="0"/>
          </a:p>
          <a:p>
            <a:pPr marL="133350" indent="0">
              <a:buNone/>
            </a:pPr>
            <a:r>
              <a:rPr lang="en-US" sz="1200" dirty="0"/>
              <a:t>Identify and analyze which factors most influence cancellations:</a:t>
            </a:r>
          </a:p>
          <a:p>
            <a:pPr lvl="0"/>
            <a:r>
              <a:rPr lang="en-US" sz="1200" dirty="0"/>
              <a:t>Lead time and booking advance period</a:t>
            </a:r>
          </a:p>
          <a:p>
            <a:pPr lvl="0"/>
            <a:r>
              <a:rPr lang="en-US" sz="1200" dirty="0"/>
              <a:t>Customer history (previous cancellations, repeat guests)</a:t>
            </a:r>
          </a:p>
          <a:p>
            <a:pPr lvl="0"/>
            <a:r>
              <a:rPr lang="en-US" sz="1200" dirty="0"/>
              <a:t>Price, special requests, and market segment</a:t>
            </a:r>
          </a:p>
          <a:p>
            <a:pPr lvl="0"/>
            <a:r>
              <a:rPr lang="en-US" sz="1200" dirty="0"/>
              <a:t>Room type and length of stay patterns</a:t>
            </a:r>
          </a:p>
          <a:p>
            <a:pPr lvl="0"/>
            <a:endParaRPr lang="en-US" sz="1000" dirty="0"/>
          </a:p>
          <a:p>
            <a:r>
              <a:rPr lang="en-US" b="1" dirty="0"/>
              <a:t>3. Develop Revenue Optimization Strategies</a:t>
            </a:r>
            <a:endParaRPr lang="en-US" dirty="0"/>
          </a:p>
          <a:p>
            <a:pPr marL="133350" indent="0">
              <a:buNone/>
            </a:pPr>
            <a:r>
              <a:rPr lang="en-US" sz="1200" dirty="0"/>
              <a:t>Based on model investigation and cancellation patterns, provide recommendations to:</a:t>
            </a:r>
          </a:p>
          <a:p>
            <a:pPr lvl="0"/>
            <a:r>
              <a:rPr lang="en-US" sz="1200" dirty="0"/>
              <a:t>Reduce cancellation-related revenue losses</a:t>
            </a:r>
          </a:p>
          <a:p>
            <a:pPr lvl="0"/>
            <a:r>
              <a:rPr lang="en-US" sz="1200" dirty="0"/>
              <a:t>Improve operational efficiency</a:t>
            </a:r>
          </a:p>
          <a:p>
            <a:pPr lvl="0"/>
            <a:r>
              <a:rPr lang="en-US" sz="1200" dirty="0"/>
              <a:t>Identify additional strategies for increasing the revenue stream (bookings)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730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037BA-0C0B-D6EF-DEB7-071B81931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Expected Outcomes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12A709-F407-4469-B44F-89D09010BA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364" y="1322561"/>
            <a:ext cx="8629800" cy="1989598"/>
          </a:xfrm>
        </p:spPr>
        <p:txBody>
          <a:bodyPr/>
          <a:lstStyle/>
          <a:p>
            <a:pPr lvl="0"/>
            <a:r>
              <a:rPr lang="en-US" b="1" dirty="0"/>
              <a:t>Improved revenue</a:t>
            </a:r>
            <a:r>
              <a:rPr lang="en-US" dirty="0"/>
              <a:t>: Better inventory management and optimized cancellation policies</a:t>
            </a:r>
          </a:p>
          <a:p>
            <a:pPr marL="133350" lvl="0" indent="0">
              <a:buNone/>
            </a:pPr>
            <a:endParaRPr lang="en-US" sz="400" dirty="0"/>
          </a:p>
          <a:p>
            <a:pPr lvl="0"/>
            <a:r>
              <a:rPr lang="en-US" b="1" dirty="0"/>
              <a:t>Reduced operational costs</a:t>
            </a:r>
            <a:r>
              <a:rPr lang="en-US" dirty="0"/>
              <a:t>: More efficient resource allocation</a:t>
            </a:r>
          </a:p>
          <a:p>
            <a:pPr marL="133350" lvl="0" indent="0">
              <a:buNone/>
            </a:pPr>
            <a:endParaRPr lang="en-US" sz="400" dirty="0"/>
          </a:p>
          <a:p>
            <a:pPr lvl="0"/>
            <a:r>
              <a:rPr lang="en-US" b="1" dirty="0"/>
              <a:t>Enhanced customer experience</a:t>
            </a:r>
            <a:r>
              <a:rPr lang="en-US" dirty="0"/>
              <a:t>: Customized policies for different risk segments</a:t>
            </a:r>
          </a:p>
          <a:p>
            <a:pPr marL="133350" lvl="0" indent="0">
              <a:buNone/>
            </a:pPr>
            <a:endParaRPr lang="en-US" sz="400" dirty="0"/>
          </a:p>
          <a:p>
            <a:pPr lvl="0"/>
            <a:r>
              <a:rPr lang="en-US" b="1" dirty="0"/>
              <a:t>Data-driven decision making</a:t>
            </a:r>
            <a:r>
              <a:rPr lang="en-US" dirty="0"/>
              <a:t>: Actionable insights for strategic planning</a:t>
            </a:r>
          </a:p>
          <a:p>
            <a:pPr marL="133350" lvl="0" indent="0">
              <a:buNone/>
            </a:pPr>
            <a:endParaRPr lang="en-US" sz="400" dirty="0"/>
          </a:p>
          <a:p>
            <a:r>
              <a:rPr lang="en-US" b="1" dirty="0"/>
              <a:t>Additional revenue streams: </a:t>
            </a:r>
            <a:r>
              <a:rPr lang="en-US" dirty="0"/>
              <a:t>Suggest new programs and strategies to capture untapped revenue streams</a:t>
            </a:r>
          </a:p>
        </p:txBody>
      </p:sp>
    </p:spTree>
    <p:extLst>
      <p:ext uri="{BB962C8B-B14F-4D97-AF65-F5344CB8AC3E}">
        <p14:creationId xmlns:p14="http://schemas.microsoft.com/office/powerpoint/2010/main" val="913878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5886a1dc9e_0_1"/>
          <p:cNvSpPr txBox="1">
            <a:spLocks noGrp="1"/>
          </p:cNvSpPr>
          <p:nvPr>
            <p:ph type="body" idx="1"/>
          </p:nvPr>
        </p:nvSpPr>
        <p:spPr>
          <a:xfrm>
            <a:off x="108373" y="1012025"/>
            <a:ext cx="4514427" cy="3736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sz="14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Examining the bar count plot of Booking Months, we can make the following deductions:</a:t>
            </a:r>
          </a:p>
          <a:p>
            <a:pPr marL="139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lang="en" sz="12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Highest occupancy is October (10)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Highest occupancy month range is June (6) thru October (10), with a small decline occurring in July (7)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Peak booking months are August (8) thru October(10)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Lowest occupancy is in January (1)</a:t>
            </a:r>
          </a:p>
          <a:p>
            <a:pPr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Lowest occupancy month range is November (11) thru April (5)</a:t>
            </a:r>
          </a:p>
          <a:p>
            <a:pPr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January (1) and February (2) are the slowest months</a:t>
            </a:r>
          </a:p>
          <a:p>
            <a:pPr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There is a notable increase in April (4) from March (3)  Is this due to school vacations?</a:t>
            </a:r>
          </a:p>
          <a:p>
            <a:pPr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Its unclear why there would be a drop off between June (6) and July (7).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**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We are only examining 2 months of data. It would be interesting to see if additional years of data would show a consistent trend</a:t>
            </a:r>
          </a:p>
        </p:txBody>
      </p:sp>
      <p:sp>
        <p:nvSpPr>
          <p:cNvPr id="238" name="Google Shape;238;g15886a1dc9e_0_1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- Univariate Analysis – Booking Months</a:t>
            </a: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39" name="Google Shape;239;g15886a1dc9e_0_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34193" y="1056051"/>
            <a:ext cx="4581225" cy="298257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g15886a1dc9e_0_1"/>
          <p:cNvSpPr txBox="1"/>
          <p:nvPr/>
        </p:nvSpPr>
        <p:spPr>
          <a:xfrm>
            <a:off x="5432998" y="4038626"/>
            <a:ext cx="30888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X-axis: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Arrival month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Y-axis: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bookings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Description: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bookings per month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2545360A-A4F7-67FE-BB5F-82C25C128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5886a1dc9e_0_1">
            <a:extLst>
              <a:ext uri="{FF2B5EF4-FFF2-40B4-BE49-F238E27FC236}">
                <a16:creationId xmlns:a16="http://schemas.microsoft.com/office/drawing/2014/main" id="{25A2BD6A-18CB-B480-6AD3-F7596EA24C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" y="1012025"/>
            <a:ext cx="4318000" cy="3736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sz="14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Dividing the </a:t>
            </a:r>
            <a:r>
              <a:rPr lang="en" sz="14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Booking Months </a:t>
            </a:r>
            <a:r>
              <a:rPr lang="en" sz="14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into </a:t>
            </a:r>
            <a:r>
              <a:rPr lang="en" sz="14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Busy </a:t>
            </a:r>
            <a:r>
              <a:rPr lang="en" sz="14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and </a:t>
            </a:r>
            <a:r>
              <a:rPr lang="en" sz="14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Quiet</a:t>
            </a:r>
            <a:r>
              <a:rPr lang="en" sz="14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seasons:</a:t>
            </a:r>
          </a:p>
          <a:p>
            <a:pPr marL="139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lang="en" sz="12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Highest occupancy is October (10)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Highest occupancy month range is June (6) thru October (10), with a small decline occurring in July (7)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Peak booking months are August (8) thru October(10)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Lowest occupancy is in January (1)</a:t>
            </a:r>
          </a:p>
          <a:p>
            <a:pPr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Lowest occupancy month range is November (11) thru April (5)</a:t>
            </a:r>
          </a:p>
          <a:p>
            <a:pPr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There is a notable increase in April (4) from March (3). Is this due to school vacations?</a:t>
            </a:r>
          </a:p>
          <a:p>
            <a:pPr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Its unclear why there would be a drop off between June (6) and July (7).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**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We are only examining 2 months of data. It would be interesting to see if additional years of data would show a consistent trend</a:t>
            </a:r>
          </a:p>
        </p:txBody>
      </p:sp>
      <p:sp>
        <p:nvSpPr>
          <p:cNvPr id="238" name="Google Shape;238;g15886a1dc9e_0_1">
            <a:extLst>
              <a:ext uri="{FF2B5EF4-FFF2-40B4-BE49-F238E27FC236}">
                <a16:creationId xmlns:a16="http://schemas.microsoft.com/office/drawing/2014/main" id="{0C213CFD-11D0-93E7-63B6-042EF5DC16D2}"/>
              </a:ext>
            </a:extLst>
          </p:cNvPr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- Booking Months – Further Examination - 1</a:t>
            </a: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1DDB0F-4F9B-0C14-19A8-2BED85793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850" y="1012025"/>
            <a:ext cx="4423244" cy="3119450"/>
          </a:xfrm>
          <a:prstGeom prst="rect">
            <a:avLst/>
          </a:prstGeom>
        </p:spPr>
      </p:pic>
      <p:sp>
        <p:nvSpPr>
          <p:cNvPr id="8" name="Google Shape;240;g15886a1dc9e_0_1">
            <a:extLst>
              <a:ext uri="{FF2B5EF4-FFF2-40B4-BE49-F238E27FC236}">
                <a16:creationId xmlns:a16="http://schemas.microsoft.com/office/drawing/2014/main" id="{92DC1E41-DDD5-CCF2-E803-7F1AEBB55668}"/>
              </a:ext>
            </a:extLst>
          </p:cNvPr>
          <p:cNvSpPr txBox="1"/>
          <p:nvPr/>
        </p:nvSpPr>
        <p:spPr>
          <a:xfrm>
            <a:off x="5508345" y="4131475"/>
            <a:ext cx="308880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Busy Months: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June - October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Quiet Months: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November - January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4143897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568564ED-E945-C56D-F541-588C18C6E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5886a1dc9e_0_1">
            <a:extLst>
              <a:ext uri="{FF2B5EF4-FFF2-40B4-BE49-F238E27FC236}">
                <a16:creationId xmlns:a16="http://schemas.microsoft.com/office/drawing/2014/main" id="{459F7D9D-D2CE-8B06-7F63-7206ABAA03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4987" y="1012025"/>
            <a:ext cx="4097463" cy="3736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4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Dividing the </a:t>
            </a:r>
            <a:r>
              <a:rPr lang="en" sz="14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Booking Months</a:t>
            </a:r>
            <a:r>
              <a:rPr lang="en" sz="14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into </a:t>
            </a:r>
            <a:r>
              <a:rPr lang="en" sz="14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Peak </a:t>
            </a:r>
            <a:r>
              <a:rPr lang="en" sz="14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and </a:t>
            </a:r>
            <a:r>
              <a:rPr lang="en" sz="14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Other </a:t>
            </a:r>
            <a:r>
              <a:rPr lang="en" sz="14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seasons:</a:t>
            </a:r>
          </a:p>
          <a:p>
            <a:pPr marL="139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lang="en" sz="12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peak booking season occurs between August (8) and October (10)</a:t>
            </a: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</a:t>
            </a:r>
            <a:r>
              <a:rPr lang="en-US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ose 3 months (August – October) account for almost 40% of the years bookings.</a:t>
            </a:r>
          </a:p>
        </p:txBody>
      </p:sp>
      <p:sp>
        <p:nvSpPr>
          <p:cNvPr id="238" name="Google Shape;238;g15886a1dc9e_0_1">
            <a:extLst>
              <a:ext uri="{FF2B5EF4-FFF2-40B4-BE49-F238E27FC236}">
                <a16:creationId xmlns:a16="http://schemas.microsoft.com/office/drawing/2014/main" id="{1D6F59F0-D140-EC3B-F21A-9134E9BCB885}"/>
              </a:ext>
            </a:extLst>
          </p:cNvPr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- Booking Months – Further Examination - 2</a:t>
            </a: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" name="Google Shape;240;g15886a1dc9e_0_1">
            <a:extLst>
              <a:ext uri="{FF2B5EF4-FFF2-40B4-BE49-F238E27FC236}">
                <a16:creationId xmlns:a16="http://schemas.microsoft.com/office/drawing/2014/main" id="{11128F4F-21A4-4960-013A-24E23923EB3A}"/>
              </a:ext>
            </a:extLst>
          </p:cNvPr>
          <p:cNvSpPr txBox="1"/>
          <p:nvPr/>
        </p:nvSpPr>
        <p:spPr>
          <a:xfrm>
            <a:off x="5508345" y="4131475"/>
            <a:ext cx="308880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Peak Months: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August - October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Rest of Year: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November - July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F19AFF-54E1-67EB-976C-F337564DB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4495" y="989780"/>
            <a:ext cx="4206676" cy="3141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46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419b7728cb_0_120"/>
          <p:cNvSpPr txBox="1">
            <a:spLocks noGrp="1"/>
          </p:cNvSpPr>
          <p:nvPr>
            <p:ph type="body" idx="1"/>
          </p:nvPr>
        </p:nvSpPr>
        <p:spPr>
          <a:xfrm>
            <a:off x="50799" y="1012025"/>
            <a:ext cx="4378961" cy="27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4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Examining the histogram of booking market segments, we can make the following observations: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12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Highest market segment type is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Online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r>
              <a:rPr lang="en" sz="1000" baseline="30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nd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highest is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Offline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Corporate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ranks a distance 3</a:t>
            </a:r>
            <a:r>
              <a:rPr lang="en" sz="1000" baseline="30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rd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Aviation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and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Complementary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are almost negligible</a:t>
            </a:r>
          </a:p>
          <a:p>
            <a:pPr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Complementary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is free rooms. Unless it can be verified that comped rooms lead to future bookings, it would be advisable to keep this number low</a:t>
            </a:r>
          </a:p>
        </p:txBody>
      </p:sp>
      <p:sp>
        <p:nvSpPr>
          <p:cNvPr id="246" name="Google Shape;246;g2419b7728cb_0_120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- Univariate Analysis – Market Segment Type</a:t>
            </a: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47" name="Google Shape;247;g2419b7728cb_0_1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7902" y="1004425"/>
            <a:ext cx="4516875" cy="2738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g2419b7728cb_0_120"/>
          <p:cNvSpPr txBox="1"/>
          <p:nvPr/>
        </p:nvSpPr>
        <p:spPr>
          <a:xfrm>
            <a:off x="4714240" y="3742725"/>
            <a:ext cx="4144729" cy="692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X-axis: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Market Segment Type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Y-axis: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customers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Description:</a:t>
            </a:r>
            <a:r>
              <a:rPr lang="en" sz="9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Bookings received in each market segment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>
          <a:extLst>
            <a:ext uri="{FF2B5EF4-FFF2-40B4-BE49-F238E27FC236}">
              <a16:creationId xmlns:a16="http://schemas.microsoft.com/office/drawing/2014/main" id="{78E6CEA5-1335-1902-C8A6-D70189B9D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419b7728cb_0_120">
            <a:extLst>
              <a:ext uri="{FF2B5EF4-FFF2-40B4-BE49-F238E27FC236}">
                <a16:creationId xmlns:a16="http://schemas.microsoft.com/office/drawing/2014/main" id="{BECAA9E1-6000-9360-144E-5ABD360BBD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3053" y="1012025"/>
            <a:ext cx="4172989" cy="1822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Examining </a:t>
            </a: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Market Segment</a:t>
            </a: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percentages relative to overall bookings: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12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Online 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booking is by far the strongest market segment</a:t>
            </a:r>
            <a:endParaRPr lang="en" sz="10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Offline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still accounts for around 30% of all bookings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Corporate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ranks a distance 3</a:t>
            </a:r>
            <a:r>
              <a:rPr lang="en" sz="1000" baseline="30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rd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Aviation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accounts for less than 1% of the bookings</a:t>
            </a:r>
          </a:p>
        </p:txBody>
      </p:sp>
      <p:sp>
        <p:nvSpPr>
          <p:cNvPr id="246" name="Google Shape;246;g2419b7728cb_0_120">
            <a:extLst>
              <a:ext uri="{FF2B5EF4-FFF2-40B4-BE49-F238E27FC236}">
                <a16:creationId xmlns:a16="http://schemas.microsoft.com/office/drawing/2014/main" id="{F9459C96-61FC-D0E7-4E67-D6C5273F1AC3}"/>
              </a:ext>
            </a:extLst>
          </p:cNvPr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- Market Segment Type – Further Examination</a:t>
            </a: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8" name="Google Shape;248;g2419b7728cb_0_120">
            <a:extLst>
              <a:ext uri="{FF2B5EF4-FFF2-40B4-BE49-F238E27FC236}">
                <a16:creationId xmlns:a16="http://schemas.microsoft.com/office/drawing/2014/main" id="{41B28C6F-172C-03A9-BEED-327905E45D8D}"/>
              </a:ext>
            </a:extLst>
          </p:cNvPr>
          <p:cNvSpPr txBox="1"/>
          <p:nvPr/>
        </p:nvSpPr>
        <p:spPr>
          <a:xfrm>
            <a:off x="4534747" y="3742725"/>
            <a:ext cx="4144729" cy="692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X-axis: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Market Segment Type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Y-axis: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customers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Description:</a:t>
            </a:r>
            <a:r>
              <a:rPr lang="en" sz="9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Percentages of Bookings received in each market segment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FC2FC9-E0F3-BCBF-63F4-D937BB351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798" y="891188"/>
            <a:ext cx="4472626" cy="2668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5911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>
          <a:extLst>
            <a:ext uri="{FF2B5EF4-FFF2-40B4-BE49-F238E27FC236}">
              <a16:creationId xmlns:a16="http://schemas.microsoft.com/office/drawing/2014/main" id="{49AD4D52-6C75-07A4-CA21-DCA4E7A90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419b7728cb_0_127">
            <a:extLst>
              <a:ext uri="{FF2B5EF4-FFF2-40B4-BE49-F238E27FC236}">
                <a16:creationId xmlns:a16="http://schemas.microsoft.com/office/drawing/2014/main" id="{5F1153A9-1392-81DA-23D7-4E8D36B8A5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186" y="1012025"/>
            <a:ext cx="4378159" cy="3160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Examining </a:t>
            </a: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Number of Guests </a:t>
            </a: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we see: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2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number of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Adult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Guests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is Normal Distribution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Most rooms (72%) have 2 adults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25% of rooms have a single adult occupant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number of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Children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is Left-Skew Distribution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surprisingly number of rooms have no children (93%)</a:t>
            </a:r>
          </a:p>
        </p:txBody>
      </p:sp>
      <p:sp>
        <p:nvSpPr>
          <p:cNvPr id="254" name="Google Shape;254;g2419b7728cb_0_127">
            <a:extLst>
              <a:ext uri="{FF2B5EF4-FFF2-40B4-BE49-F238E27FC236}">
                <a16:creationId xmlns:a16="http://schemas.microsoft.com/office/drawing/2014/main" id="{BF13C3F6-BDD6-D24E-341E-200BA4436D96}"/>
              </a:ext>
            </a:extLst>
          </p:cNvPr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2200"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– </a:t>
            </a:r>
            <a:r>
              <a:rPr lang="en" sz="2200" b="1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Univariate Analysis  - Number of Guests</a:t>
            </a: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6" name="Google Shape;256;g2419b7728cb_0_127">
            <a:extLst>
              <a:ext uri="{FF2B5EF4-FFF2-40B4-BE49-F238E27FC236}">
                <a16:creationId xmlns:a16="http://schemas.microsoft.com/office/drawing/2014/main" id="{8387EFC8-3AE4-F074-5D97-3E928143A874}"/>
              </a:ext>
            </a:extLst>
          </p:cNvPr>
          <p:cNvSpPr txBox="1"/>
          <p:nvPr/>
        </p:nvSpPr>
        <p:spPr>
          <a:xfrm>
            <a:off x="5786792" y="4291866"/>
            <a:ext cx="3397602" cy="76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X-axis: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occupants (adults/children)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Y-axis: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bookings (frequency count)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Description: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Distribution of bookings by occupancy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66B7B88-AC5E-E3D4-17F2-EC6A5BE30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8370" y="734852"/>
            <a:ext cx="3113417" cy="18573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0B3802D-E0A3-7B36-CFF4-E592EF4BC7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3326" y="2504385"/>
            <a:ext cx="3143504" cy="187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76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>
          <a:extLst>
            <a:ext uri="{FF2B5EF4-FFF2-40B4-BE49-F238E27FC236}">
              <a16:creationId xmlns:a16="http://schemas.microsoft.com/office/drawing/2014/main" id="{42072C88-E528-DDE6-229E-FEFD6D72E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419b7728cb_0_127">
            <a:extLst>
              <a:ext uri="{FF2B5EF4-FFF2-40B4-BE49-F238E27FC236}">
                <a16:creationId xmlns:a16="http://schemas.microsoft.com/office/drawing/2014/main" id="{031099A0-AF7E-FFAF-A3E7-DD32846E4A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186" y="1012025"/>
            <a:ext cx="4378159" cy="3160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Examining </a:t>
            </a: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Booking Lead Times </a:t>
            </a: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we see: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2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Booking Lead Time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data has a definite right skewed distribution </a:t>
            </a:r>
            <a:endParaRPr lang="en" sz="10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majority of the bookings occur 100 days or less ahead of the customer’s arrival</a:t>
            </a:r>
          </a:p>
        </p:txBody>
      </p:sp>
      <p:sp>
        <p:nvSpPr>
          <p:cNvPr id="254" name="Google Shape;254;g2419b7728cb_0_127">
            <a:extLst>
              <a:ext uri="{FF2B5EF4-FFF2-40B4-BE49-F238E27FC236}">
                <a16:creationId xmlns:a16="http://schemas.microsoft.com/office/drawing/2014/main" id="{E57D8A5A-B692-FBF5-EB8E-91FADFC20D2D}"/>
              </a:ext>
            </a:extLst>
          </p:cNvPr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2200"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– </a:t>
            </a:r>
            <a:r>
              <a:rPr lang="en" sz="2200" b="1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Number of Guests (Total Guests) - 2</a:t>
            </a: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6" name="Google Shape;256;g2419b7728cb_0_127">
            <a:extLst>
              <a:ext uri="{FF2B5EF4-FFF2-40B4-BE49-F238E27FC236}">
                <a16:creationId xmlns:a16="http://schemas.microsoft.com/office/drawing/2014/main" id="{A5204670-29C8-8C8F-BC9A-F69247978DFD}"/>
              </a:ext>
            </a:extLst>
          </p:cNvPr>
          <p:cNvSpPr txBox="1"/>
          <p:nvPr/>
        </p:nvSpPr>
        <p:spPr>
          <a:xfrm>
            <a:off x="5381131" y="3591938"/>
            <a:ext cx="3397602" cy="76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X-axis: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total occupants (adults and children)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Y-axis: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bookings (frequency count)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Description: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Distribution of bookings by occupancy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F2A796-2524-0E3E-7358-84F97CC3A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654" y="1127996"/>
            <a:ext cx="4533160" cy="224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411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>
          <a:extLst>
            <a:ext uri="{FF2B5EF4-FFF2-40B4-BE49-F238E27FC236}">
              <a16:creationId xmlns:a16="http://schemas.microsoft.com/office/drawing/2014/main" id="{CCC70A34-5094-C879-0B3B-D8C7299AF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419b7728cb_0_127">
            <a:extLst>
              <a:ext uri="{FF2B5EF4-FFF2-40B4-BE49-F238E27FC236}">
                <a16:creationId xmlns:a16="http://schemas.microsoft.com/office/drawing/2014/main" id="{EC0FB6A9-BA56-66A6-3F2A-D70FD97A9A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186" y="1012025"/>
            <a:ext cx="4378159" cy="3160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Examining </a:t>
            </a: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Number of Days Booked </a:t>
            </a: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we see: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2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Weekday Bookings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plot looks like Normal Distribution with a Right-Skew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Weekend Bookings 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looks like a Right-Skew Distribution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Zero (0)days booked indicate the customer booked only weekdays or weekends for their stay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Most of the bookings had at least 1 weekday night included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Roughly ½ the bookings had 2 weekend nights</a:t>
            </a:r>
          </a:p>
        </p:txBody>
      </p:sp>
      <p:sp>
        <p:nvSpPr>
          <p:cNvPr id="254" name="Google Shape;254;g2419b7728cb_0_127">
            <a:extLst>
              <a:ext uri="{FF2B5EF4-FFF2-40B4-BE49-F238E27FC236}">
                <a16:creationId xmlns:a16="http://schemas.microsoft.com/office/drawing/2014/main" id="{3E7B1F6E-DAB9-45AC-801B-7F9D9E064789}"/>
              </a:ext>
            </a:extLst>
          </p:cNvPr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2200"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– </a:t>
            </a:r>
            <a:r>
              <a:rPr lang="en" sz="2200" b="1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Univariate Analysis  - Number of Days Booked</a:t>
            </a: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6" name="Google Shape;256;g2419b7728cb_0_127">
            <a:extLst>
              <a:ext uri="{FF2B5EF4-FFF2-40B4-BE49-F238E27FC236}">
                <a16:creationId xmlns:a16="http://schemas.microsoft.com/office/drawing/2014/main" id="{76EBEAEB-326C-B899-171D-8770D53546DE}"/>
              </a:ext>
            </a:extLst>
          </p:cNvPr>
          <p:cNvSpPr txBox="1"/>
          <p:nvPr/>
        </p:nvSpPr>
        <p:spPr>
          <a:xfrm>
            <a:off x="5786792" y="4291866"/>
            <a:ext cx="3397602" cy="76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X-axis: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nights booked (weekday/weekend)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Y-axis: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bookings (frequency count)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Description: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Distribution of bookings by length of stay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0BE9C4-DA6D-E78D-FBAC-A196CA45A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6792" y="861979"/>
            <a:ext cx="3118104" cy="15472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06BD5D-68CB-403D-6A4A-854CA475FF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6214" y="2534189"/>
            <a:ext cx="3188682" cy="158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537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>
          <a:extLst>
            <a:ext uri="{FF2B5EF4-FFF2-40B4-BE49-F238E27FC236}">
              <a16:creationId xmlns:a16="http://schemas.microsoft.com/office/drawing/2014/main" id="{58888E0D-5BFF-A0ED-FB66-520B4698D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419b7728cb_0_127">
            <a:extLst>
              <a:ext uri="{FF2B5EF4-FFF2-40B4-BE49-F238E27FC236}">
                <a16:creationId xmlns:a16="http://schemas.microsoft.com/office/drawing/2014/main" id="{26C0C6C6-38F4-C059-DB1E-9A41BFA485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186" y="1012025"/>
            <a:ext cx="4378159" cy="3160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Examining </a:t>
            </a: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Total Number of Days Booked </a:t>
            </a: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we see: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2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total number of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Bookings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plot looks like Normal Distribution with a Right-Skew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Weekend Bookings 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looks like a Right-Skew Distribution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Few clients book more than 7 days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Zero (0)days booked looks like it could be a data error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Most of the bookings had at least 1 weekday night included</a:t>
            </a:r>
          </a:p>
        </p:txBody>
      </p:sp>
      <p:sp>
        <p:nvSpPr>
          <p:cNvPr id="254" name="Google Shape;254;g2419b7728cb_0_127">
            <a:extLst>
              <a:ext uri="{FF2B5EF4-FFF2-40B4-BE49-F238E27FC236}">
                <a16:creationId xmlns:a16="http://schemas.microsoft.com/office/drawing/2014/main" id="{52D5B139-454D-4494-4386-80C548E7C370}"/>
              </a:ext>
            </a:extLst>
          </p:cNvPr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2200"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–</a:t>
            </a:r>
            <a:r>
              <a:rPr lang="en" sz="2200" b="1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Number of Total Days Booked - 1</a:t>
            </a: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6" name="Google Shape;256;g2419b7728cb_0_127">
            <a:extLst>
              <a:ext uri="{FF2B5EF4-FFF2-40B4-BE49-F238E27FC236}">
                <a16:creationId xmlns:a16="http://schemas.microsoft.com/office/drawing/2014/main" id="{B45AF6AE-2D17-76EA-AD62-87B9BD698783}"/>
              </a:ext>
            </a:extLst>
          </p:cNvPr>
          <p:cNvSpPr txBox="1"/>
          <p:nvPr/>
        </p:nvSpPr>
        <p:spPr>
          <a:xfrm>
            <a:off x="5391106" y="3403731"/>
            <a:ext cx="3397602" cy="76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X-axis: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Total number of occupants (adults and children)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Y-axis: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bookings (frequency count)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Description: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Distribution of bookings by occupancy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9A9E8F-703B-395C-021D-1F0C34D88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850" y="1037383"/>
            <a:ext cx="4665102" cy="231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0014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>
          <a:extLst>
            <a:ext uri="{FF2B5EF4-FFF2-40B4-BE49-F238E27FC236}">
              <a16:creationId xmlns:a16="http://schemas.microsoft.com/office/drawing/2014/main" id="{F6D96624-BFE9-938D-27ED-CE6268606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419b7728cb_0_127">
            <a:extLst>
              <a:ext uri="{FF2B5EF4-FFF2-40B4-BE49-F238E27FC236}">
                <a16:creationId xmlns:a16="http://schemas.microsoft.com/office/drawing/2014/main" id="{AA19105B-0DF5-937A-B3DD-EF38FA5360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186" y="1012025"/>
            <a:ext cx="4378159" cy="3160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Examining </a:t>
            </a: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Total Number of Days Booked </a:t>
            </a: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we see: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2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By binning the data, we get a slightly different view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This looks much more like a normal distribution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From this, we can see that almost 80% of the bookings are for between 2 and 7 nights</a:t>
            </a:r>
          </a:p>
        </p:txBody>
      </p:sp>
      <p:sp>
        <p:nvSpPr>
          <p:cNvPr id="254" name="Google Shape;254;g2419b7728cb_0_127">
            <a:extLst>
              <a:ext uri="{FF2B5EF4-FFF2-40B4-BE49-F238E27FC236}">
                <a16:creationId xmlns:a16="http://schemas.microsoft.com/office/drawing/2014/main" id="{3312497B-2393-DC58-EC8B-A3C6266554CA}"/>
              </a:ext>
            </a:extLst>
          </p:cNvPr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2200"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–</a:t>
            </a:r>
            <a:r>
              <a:rPr lang="en" sz="2200" b="1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Number of Total Days Booked - 2</a:t>
            </a: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6" name="Google Shape;256;g2419b7728cb_0_127">
            <a:extLst>
              <a:ext uri="{FF2B5EF4-FFF2-40B4-BE49-F238E27FC236}">
                <a16:creationId xmlns:a16="http://schemas.microsoft.com/office/drawing/2014/main" id="{F88EF7A7-7434-65E1-81EA-0254FD7A7159}"/>
              </a:ext>
            </a:extLst>
          </p:cNvPr>
          <p:cNvSpPr txBox="1"/>
          <p:nvPr/>
        </p:nvSpPr>
        <p:spPr>
          <a:xfrm>
            <a:off x="5111798" y="3765749"/>
            <a:ext cx="3397602" cy="76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X-axis: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Total number of occupants (adults and children)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Y-axis: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bookings (frequency count)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Description: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Distribution of bookings by occupancy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7799F2-BE16-B057-EB49-4C83822D8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2345" y="1020612"/>
            <a:ext cx="4587200" cy="273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1109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>
          <a:extLst>
            <a:ext uri="{FF2B5EF4-FFF2-40B4-BE49-F238E27FC236}">
              <a16:creationId xmlns:a16="http://schemas.microsoft.com/office/drawing/2014/main" id="{2F3992C7-71CD-7EA1-8AA5-B80AFD554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419b7728cb_0_127">
            <a:extLst>
              <a:ext uri="{FF2B5EF4-FFF2-40B4-BE49-F238E27FC236}">
                <a16:creationId xmlns:a16="http://schemas.microsoft.com/office/drawing/2014/main" id="{B7377151-13ED-86AD-F480-C00BEEF4F4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186" y="1012025"/>
            <a:ext cx="4378159" cy="3160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Examining </a:t>
            </a: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Booking Lead Times </a:t>
            </a: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we see: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2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Booking Lead Time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data has a definite right skewed distribution </a:t>
            </a:r>
            <a:endParaRPr lang="en" sz="10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majority of the bookings occur 100 days or less ahead of the customer’s arrival</a:t>
            </a:r>
          </a:p>
        </p:txBody>
      </p:sp>
      <p:sp>
        <p:nvSpPr>
          <p:cNvPr id="254" name="Google Shape;254;g2419b7728cb_0_127">
            <a:extLst>
              <a:ext uri="{FF2B5EF4-FFF2-40B4-BE49-F238E27FC236}">
                <a16:creationId xmlns:a16="http://schemas.microsoft.com/office/drawing/2014/main" id="{AA4E8F7F-8D34-153F-1232-5F8B528EB8A7}"/>
              </a:ext>
            </a:extLst>
          </p:cNvPr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2200"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– </a:t>
            </a:r>
            <a:r>
              <a:rPr lang="en" sz="2200" b="1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Univariate Analysis  - Booking Lead Times</a:t>
            </a: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6" name="Google Shape;256;g2419b7728cb_0_127">
            <a:extLst>
              <a:ext uri="{FF2B5EF4-FFF2-40B4-BE49-F238E27FC236}">
                <a16:creationId xmlns:a16="http://schemas.microsoft.com/office/drawing/2014/main" id="{3F62BD39-C587-2614-0205-38C4BDB6E044}"/>
              </a:ext>
            </a:extLst>
          </p:cNvPr>
          <p:cNvSpPr txBox="1"/>
          <p:nvPr/>
        </p:nvSpPr>
        <p:spPr>
          <a:xfrm>
            <a:off x="4571999" y="3596925"/>
            <a:ext cx="4294293" cy="76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X-axis: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Booking Lead time in days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Y-axis: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I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nstance count of </a:t>
            </a:r>
            <a:r>
              <a:rPr lang="en-US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instances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of days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Description: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Count of the number if instances days clients booked in advance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8FFD4B-2314-F0B9-0CF1-BD4E24CB4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2346" y="1167578"/>
            <a:ext cx="4472255" cy="224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2193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>
          <a:extLst>
            <a:ext uri="{FF2B5EF4-FFF2-40B4-BE49-F238E27FC236}">
              <a16:creationId xmlns:a16="http://schemas.microsoft.com/office/drawing/2014/main" id="{63E0D3E3-054E-A1F9-401E-FDA8A1E0B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419b7728cb_0_127">
            <a:extLst>
              <a:ext uri="{FF2B5EF4-FFF2-40B4-BE49-F238E27FC236}">
                <a16:creationId xmlns:a16="http://schemas.microsoft.com/office/drawing/2014/main" id="{C17C5DE0-B46A-4BD2-78B2-94CAE869DB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186" y="1012025"/>
            <a:ext cx="4294293" cy="3160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Examining </a:t>
            </a: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Previous Cancellations </a:t>
            </a: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continued: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2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Binning and plotting the percentages of the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Booking Lead Time 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reiterates the right skewed distribution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2/3rds of clients book within 100 days of their arrival date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small percentage (11%) book more than 200 days in advance</a:t>
            </a:r>
          </a:p>
        </p:txBody>
      </p:sp>
      <p:sp>
        <p:nvSpPr>
          <p:cNvPr id="254" name="Google Shape;254;g2419b7728cb_0_127">
            <a:extLst>
              <a:ext uri="{FF2B5EF4-FFF2-40B4-BE49-F238E27FC236}">
                <a16:creationId xmlns:a16="http://schemas.microsoft.com/office/drawing/2014/main" id="{E465C51F-6A0B-D950-9D49-3D367F5F2016}"/>
              </a:ext>
            </a:extLst>
          </p:cNvPr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– Booking Lead Times - 1</a:t>
            </a: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" name="Google Shape;256;g2419b7728cb_0_127">
            <a:extLst>
              <a:ext uri="{FF2B5EF4-FFF2-40B4-BE49-F238E27FC236}">
                <a16:creationId xmlns:a16="http://schemas.microsoft.com/office/drawing/2014/main" id="{61E300A4-C5F8-7E71-705A-4CF1FC8ADF62}"/>
              </a:ext>
            </a:extLst>
          </p:cNvPr>
          <p:cNvSpPr txBox="1"/>
          <p:nvPr/>
        </p:nvSpPr>
        <p:spPr>
          <a:xfrm>
            <a:off x="4702629" y="3882245"/>
            <a:ext cx="4151100" cy="927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X-axis: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days client booked in advance in bins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Y-axis: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Count of number of 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Description: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Count of the number if instances of previous cancellation/non-cancellation events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D0C7699-B1FE-FE3E-7589-F5C879C55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6662" y="1092987"/>
            <a:ext cx="4675553" cy="2789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7983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>
          <a:extLst>
            <a:ext uri="{FF2B5EF4-FFF2-40B4-BE49-F238E27FC236}">
              <a16:creationId xmlns:a16="http://schemas.microsoft.com/office/drawing/2014/main" id="{0D7E7310-F22B-2830-7763-02112D4FF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419b7728cb_0_127">
            <a:extLst>
              <a:ext uri="{FF2B5EF4-FFF2-40B4-BE49-F238E27FC236}">
                <a16:creationId xmlns:a16="http://schemas.microsoft.com/office/drawing/2014/main" id="{8A89B652-1224-8113-406B-97FE4C8968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186" y="1012025"/>
            <a:ext cx="4294293" cy="3842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Examining </a:t>
            </a:r>
            <a:r>
              <a:rPr lang="en" sz="1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Booking Lead Times </a:t>
            </a:r>
            <a:r>
              <a:rPr lang="en" sz="1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continued: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32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Binning and plotting the percentages of the </a:t>
            </a: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Booking Lead Time </a:t>
            </a: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reiterates the right skewed distribution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2/3rds of clients book within 100 days of their arrival date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small percentage (11%) book more than 200 days in advance</a:t>
            </a:r>
          </a:p>
          <a:p>
            <a:pPr lvl="1">
              <a:spcBef>
                <a:spcPts val="300"/>
              </a:spcBef>
            </a:pPr>
            <a:endParaRPr lang="en" sz="9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endParaRPr lang="en" sz="1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4" name="Google Shape;254;g2419b7728cb_0_127">
            <a:extLst>
              <a:ext uri="{FF2B5EF4-FFF2-40B4-BE49-F238E27FC236}">
                <a16:creationId xmlns:a16="http://schemas.microsoft.com/office/drawing/2014/main" id="{9DF987B4-DCDA-C090-A293-DC6B805124B8}"/>
              </a:ext>
            </a:extLst>
          </p:cNvPr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2200"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–</a:t>
            </a:r>
            <a:r>
              <a:rPr lang="en" sz="2200" b="1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Booking Lead Times - 2</a:t>
            </a: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2AA009-250E-A7C0-58D0-18A22164C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724870"/>
            <a:ext cx="4412170" cy="329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2802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>
          <a:extLst>
            <a:ext uri="{FF2B5EF4-FFF2-40B4-BE49-F238E27FC236}">
              <a16:creationId xmlns:a16="http://schemas.microsoft.com/office/drawing/2014/main" id="{2E4504CC-FE2B-1C35-21F2-5911A9901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419b7728cb_0_127">
            <a:extLst>
              <a:ext uri="{FF2B5EF4-FFF2-40B4-BE49-F238E27FC236}">
                <a16:creationId xmlns:a16="http://schemas.microsoft.com/office/drawing/2014/main" id="{3C64B7AD-BD57-6AE2-9E89-A68F40DA9E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186" y="1012025"/>
            <a:ext cx="4294293" cy="3160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Examining </a:t>
            </a:r>
            <a:r>
              <a:rPr lang="en" sz="1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Previous Cancellations </a:t>
            </a:r>
            <a:r>
              <a:rPr lang="en" sz="1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continued: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32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Binning and plotting the percentages of the </a:t>
            </a: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Booking Lead Time </a:t>
            </a: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reiterates the right skewed distribution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2/3rds of clients book within 100 days of their arrival date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small percentage (11%) book more than 200 days in advance</a:t>
            </a:r>
          </a:p>
        </p:txBody>
      </p:sp>
      <p:sp>
        <p:nvSpPr>
          <p:cNvPr id="254" name="Google Shape;254;g2419b7728cb_0_127">
            <a:extLst>
              <a:ext uri="{FF2B5EF4-FFF2-40B4-BE49-F238E27FC236}">
                <a16:creationId xmlns:a16="http://schemas.microsoft.com/office/drawing/2014/main" id="{1FCD64E7-B768-20E5-D58D-0699159A28F7}"/>
              </a:ext>
            </a:extLst>
          </p:cNvPr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2200"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– </a:t>
            </a:r>
            <a:r>
              <a:rPr lang="en" sz="2200" b="1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Univariate Analysis  - Previous </a:t>
            </a: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Booking History</a:t>
            </a: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6" name="Google Shape;256;g2419b7728cb_0_127">
            <a:extLst>
              <a:ext uri="{FF2B5EF4-FFF2-40B4-BE49-F238E27FC236}">
                <a16:creationId xmlns:a16="http://schemas.microsoft.com/office/drawing/2014/main" id="{E667F73F-BDF6-6A13-9999-8D16C3E8659E}"/>
              </a:ext>
            </a:extLst>
          </p:cNvPr>
          <p:cNvSpPr txBox="1"/>
          <p:nvPr/>
        </p:nvSpPr>
        <p:spPr>
          <a:xfrm>
            <a:off x="4572000" y="3596925"/>
            <a:ext cx="4151100" cy="927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X-axis: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instances of previous cancellation/non-cancellations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Y-axis: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Count of number of cancellation/non-cancellation instances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Description: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Count of the number if instances of previous cancellation/non-cancellation events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32F19D-370B-9915-4DAD-E7979F926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8479" y="1227429"/>
            <a:ext cx="4615974" cy="236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4247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>
          <a:extLst>
            <a:ext uri="{FF2B5EF4-FFF2-40B4-BE49-F238E27FC236}">
              <a16:creationId xmlns:a16="http://schemas.microsoft.com/office/drawing/2014/main" id="{D1E07416-CA42-B407-8E4C-324E93470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419b7728cb_0_127">
            <a:extLst>
              <a:ext uri="{FF2B5EF4-FFF2-40B4-BE49-F238E27FC236}">
                <a16:creationId xmlns:a16="http://schemas.microsoft.com/office/drawing/2014/main" id="{62D0B8C1-6D43-BD15-49ED-0E1CAE356E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186" y="1012025"/>
            <a:ext cx="4294293" cy="3160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Examining </a:t>
            </a: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Previous Cancellations </a:t>
            </a: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continued: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2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Looking at the supplied matrix data, it appears that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Previous Cancellations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are minimal, especially when comparing against the number of clients that </a:t>
            </a:r>
            <a:r>
              <a:rPr lang="en" sz="1000" u="sng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did not have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Previous Cancellations</a:t>
            </a:r>
          </a:p>
        </p:txBody>
      </p:sp>
      <p:sp>
        <p:nvSpPr>
          <p:cNvPr id="254" name="Google Shape;254;g2419b7728cb_0_127">
            <a:extLst>
              <a:ext uri="{FF2B5EF4-FFF2-40B4-BE49-F238E27FC236}">
                <a16:creationId xmlns:a16="http://schemas.microsoft.com/office/drawing/2014/main" id="{75AD314C-F7B4-CEC4-D32F-5CFE2A2F3B9C}"/>
              </a:ext>
            </a:extLst>
          </p:cNvPr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– Previous Booking History - 2</a:t>
            </a: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67224B-317C-A7A3-C313-F3C8915C0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4979" y="749610"/>
            <a:ext cx="2779108" cy="415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7957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419b7728cb_0_137"/>
          <p:cNvSpPr txBox="1">
            <a:spLocks noGrp="1"/>
          </p:cNvSpPr>
          <p:nvPr>
            <p:ph type="body" idx="1"/>
          </p:nvPr>
        </p:nvSpPr>
        <p:spPr>
          <a:xfrm>
            <a:off x="81279" y="1012024"/>
            <a:ext cx="4337867" cy="320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Examining the histogram of repeat customer business, we can deduce the following: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14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Most of the customers at this hotel are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r>
              <a:rPr lang="en" sz="1000" b="1" baseline="30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time bookings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There is very little (almost negligble) repeat business</a:t>
            </a:r>
            <a:endParaRPr lang="en" sz="10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This might indicate that the hotel is good at drawing initial clients but poor at following through by reaching out to previous customers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This also might speak to the level of quality of stay and service as when customers have a less than positive experience, they are not likely to rebook in the future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Its unclear to what degree guests having a potentially negative experience affects the bookings initialized by word of mouth</a:t>
            </a:r>
          </a:p>
        </p:txBody>
      </p:sp>
      <p:sp>
        <p:nvSpPr>
          <p:cNvPr id="262" name="Google Shape;262;g2419b7728cb_0_137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- Univariate Analysis – Repeat Customers</a:t>
            </a: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63" name="Google Shape;263;g2419b7728cb_0_1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62850" y="861979"/>
            <a:ext cx="4520700" cy="2717739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g2419b7728cb_0_137"/>
          <p:cNvSpPr txBox="1"/>
          <p:nvPr/>
        </p:nvSpPr>
        <p:spPr>
          <a:xfrm>
            <a:off x="4788747" y="3579718"/>
            <a:ext cx="4151100" cy="9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X-axis: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Repeated guests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Y-axis: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Guests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Description: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Customers who have visited the hotel more than once vs customers who have visited the hotel only once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74F40601-356C-5917-A953-72C16058D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419b7728cb_0_137">
            <a:extLst>
              <a:ext uri="{FF2B5EF4-FFF2-40B4-BE49-F238E27FC236}">
                <a16:creationId xmlns:a16="http://schemas.microsoft.com/office/drawing/2014/main" id="{DA107765-7CA3-C0B4-702A-8193972C88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828" y="1012024"/>
            <a:ext cx="4329218" cy="3413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Examining </a:t>
            </a: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Repeat Customers </a:t>
            </a: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percentages relative to overall bookings: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12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Roughly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98% 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 the bookings are from new customers</a:t>
            </a:r>
            <a:endParaRPr lang="en" sz="10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Repeat customers make up less than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3% 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 the bookings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Those are incredibly skewed results in favor of 1</a:t>
            </a:r>
            <a:r>
              <a:rPr lang="en" sz="1000" baseline="30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time clients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This is especially alarming for an industry where reputation (from word of mouth, online reviews) is important in sustaining a profitable business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hotel really has to take a step back and examine it’s operations, cultural enviornment and guest experience</a:t>
            </a:r>
          </a:p>
        </p:txBody>
      </p:sp>
      <p:sp>
        <p:nvSpPr>
          <p:cNvPr id="262" name="Google Shape;262;g2419b7728cb_0_137">
            <a:extLst>
              <a:ext uri="{FF2B5EF4-FFF2-40B4-BE49-F238E27FC236}">
                <a16:creationId xmlns:a16="http://schemas.microsoft.com/office/drawing/2014/main" id="{AC821813-B642-CF62-D9B7-418229F1FDC9}"/>
              </a:ext>
            </a:extLst>
          </p:cNvPr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- Repeat Customers – Additional Observations</a:t>
            </a: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4" name="Google Shape;264;g2419b7728cb_0_137">
            <a:extLst>
              <a:ext uri="{FF2B5EF4-FFF2-40B4-BE49-F238E27FC236}">
                <a16:creationId xmlns:a16="http://schemas.microsoft.com/office/drawing/2014/main" id="{058E941A-D847-24B4-FB99-F05E67A3B595}"/>
              </a:ext>
            </a:extLst>
          </p:cNvPr>
          <p:cNvSpPr txBox="1"/>
          <p:nvPr/>
        </p:nvSpPr>
        <p:spPr>
          <a:xfrm>
            <a:off x="4572000" y="3624061"/>
            <a:ext cx="4329218" cy="927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X-axis: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Repeated guests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Y-axis: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Guests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Description: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Percentage of c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ustomers who have visited the hotel more than once vs customers who have visited the hotel only once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5FA0BD-96E0-FB66-2D43-59B8BF1BB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5813" y="780473"/>
            <a:ext cx="3771048" cy="2816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3232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B6E2DC42-E76E-00D4-CEC4-E94547BBF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419b7728cb_0_137">
            <a:extLst>
              <a:ext uri="{FF2B5EF4-FFF2-40B4-BE49-F238E27FC236}">
                <a16:creationId xmlns:a16="http://schemas.microsoft.com/office/drawing/2014/main" id="{84048894-6408-FC60-F3B6-F22BF582DF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79" y="1012024"/>
            <a:ext cx="4743428" cy="320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Examining remaining features: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14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Room Type 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generally looks like a right-skewed distribution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Most people book either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Room Type 1 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(79%) or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Room T</a:t>
            </a:r>
            <a:r>
              <a:rPr lang="en-US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 4 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(16%)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Parking Requirements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-  Almost all clients do indicate a preference for required parking</a:t>
            </a:r>
            <a:endParaRPr lang="en" sz="10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Special Requests 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is a right-skewed distribution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Over ½ the bookings (54%) have no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special requests 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45% of the bookings have 1-2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special requests</a:t>
            </a:r>
          </a:p>
        </p:txBody>
      </p:sp>
      <p:sp>
        <p:nvSpPr>
          <p:cNvPr id="262" name="Google Shape;262;g2419b7728cb_0_137">
            <a:extLst>
              <a:ext uri="{FF2B5EF4-FFF2-40B4-BE49-F238E27FC236}">
                <a16:creationId xmlns:a16="http://schemas.microsoft.com/office/drawing/2014/main" id="{9B4BF1A8-50D3-002C-521C-3DD7ABD70B47}"/>
              </a:ext>
            </a:extLst>
          </p:cNvPr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- Univariate Analysis – Additonal Features</a:t>
            </a: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B12543-98A7-DF43-B8DA-51D0653B0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9454" y="728796"/>
            <a:ext cx="1978681" cy="11804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A97E98-D93C-A1F6-BB75-5DFAA29A34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6983" y="1955752"/>
            <a:ext cx="2166693" cy="16181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E32AD0-3BC8-A609-3378-731E0C9361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7257" y="3620465"/>
            <a:ext cx="2246419" cy="1340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772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419b7728cb_0_127"/>
          <p:cNvSpPr txBox="1">
            <a:spLocks noGrp="1"/>
          </p:cNvSpPr>
          <p:nvPr>
            <p:ph type="body" idx="1"/>
          </p:nvPr>
        </p:nvSpPr>
        <p:spPr>
          <a:xfrm>
            <a:off x="202550" y="1012025"/>
            <a:ext cx="4006650" cy="3261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4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Examining the histogram of booking status, we can make the following observations: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2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What we are really looking at here is the labeled net effect (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Cancelled, Not Cancelled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 which are contributed to by the other data features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More bookings are N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ot Cancelled 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compared to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Cancelled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by a ratio of roughly 2 to 1</a:t>
            </a:r>
            <a:endParaRPr lang="en" sz="10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That is a high number of cancellations that the business has to deal with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Its not clear from this graph whether that ratio is consistent across the 2 years of data, or whether an event (weather, covid, economic) affected the results one of the years which would unduely sway the results</a:t>
            </a:r>
          </a:p>
        </p:txBody>
      </p:sp>
      <p:sp>
        <p:nvSpPr>
          <p:cNvPr id="254" name="Google Shape;254;g2419b7728cb_0_127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- Univariate Analysis - Cancellations</a:t>
            </a: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55" name="Google Shape;255;g2419b7728cb_0_1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09200" y="861975"/>
            <a:ext cx="4590050" cy="273495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g2419b7728cb_0_127"/>
          <p:cNvSpPr txBox="1"/>
          <p:nvPr/>
        </p:nvSpPr>
        <p:spPr>
          <a:xfrm>
            <a:off x="4572000" y="3596925"/>
            <a:ext cx="4151100" cy="7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X-axis:</a:t>
            </a:r>
            <a:r>
              <a:rPr lang="en" sz="1000" b="1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Booking status</a:t>
            </a:r>
            <a:endParaRPr sz="90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Y-axis:</a:t>
            </a:r>
            <a:r>
              <a:rPr lang="en" sz="1000" b="1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bookings</a:t>
            </a:r>
            <a:endParaRPr sz="90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Description:</a:t>
            </a:r>
            <a:r>
              <a:rPr lang="en" sz="100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Count of bookings that are Cancelled v/s Not Cancelled</a:t>
            </a:r>
            <a:endParaRPr sz="90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>
          <a:extLst>
            <a:ext uri="{FF2B5EF4-FFF2-40B4-BE49-F238E27FC236}">
              <a16:creationId xmlns:a16="http://schemas.microsoft.com/office/drawing/2014/main" id="{FB77AD81-79A3-F17D-187E-C3FC08B93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419b7728cb_0_127">
            <a:extLst>
              <a:ext uri="{FF2B5EF4-FFF2-40B4-BE49-F238E27FC236}">
                <a16:creationId xmlns:a16="http://schemas.microsoft.com/office/drawing/2014/main" id="{0E524EC7-7540-7776-D527-601812AA90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186" y="1012025"/>
            <a:ext cx="4294293" cy="3160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Examining </a:t>
            </a: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Booking Status </a:t>
            </a: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percentages relative to overall bookings: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2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Roughly 70% of the bookings are successful and not cancelled</a:t>
            </a:r>
            <a:endParaRPr lang="en" sz="10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30%-ish cancellation rate is a very high rate of cancellation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high percentage of cancellations is huge cost for the business to absorb in terms of rebooking costs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It’s not clear from the data as to how many of those cancellations end up getting successfully rebooked and at what room rate 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 would be interesting the data set included more details surrounding booking prices and rebooking percentages to more accurately understand the costs</a:t>
            </a:r>
          </a:p>
        </p:txBody>
      </p:sp>
      <p:sp>
        <p:nvSpPr>
          <p:cNvPr id="254" name="Google Shape;254;g2419b7728cb_0_127">
            <a:extLst>
              <a:ext uri="{FF2B5EF4-FFF2-40B4-BE49-F238E27FC236}">
                <a16:creationId xmlns:a16="http://schemas.microsoft.com/office/drawing/2014/main" id="{0F3B0BD5-3297-8453-8A83-03F28D1C218E}"/>
              </a:ext>
            </a:extLst>
          </p:cNvPr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– Cancellations – Further Examination</a:t>
            </a: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6" name="Google Shape;256;g2419b7728cb_0_127">
            <a:extLst>
              <a:ext uri="{FF2B5EF4-FFF2-40B4-BE49-F238E27FC236}">
                <a16:creationId xmlns:a16="http://schemas.microsoft.com/office/drawing/2014/main" id="{2D975018-3276-3828-3641-C97452E081C2}"/>
              </a:ext>
            </a:extLst>
          </p:cNvPr>
          <p:cNvSpPr txBox="1"/>
          <p:nvPr/>
        </p:nvSpPr>
        <p:spPr>
          <a:xfrm>
            <a:off x="4572000" y="3596925"/>
            <a:ext cx="4151100" cy="76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X-axis: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Booking status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Y-axis: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bookings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Description: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Percentage of bookings that are Cancelled v/s Not Cancelled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4ABA19-C9DB-106D-2E7C-2348ACD8E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6765" y="917178"/>
            <a:ext cx="3768649" cy="2814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8438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419b7728cb_0_65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Results EDA - Univariate Analysis - 1</a:t>
            </a:r>
            <a:endParaRPr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8" name="Google Shape;278;g2419b7728cb_0_65"/>
          <p:cNvSpPr txBox="1">
            <a:spLocks noGrp="1"/>
          </p:cNvSpPr>
          <p:nvPr>
            <p:ph type="body" idx="1"/>
          </p:nvPr>
        </p:nvSpPr>
        <p:spPr>
          <a:xfrm>
            <a:off x="202550" y="808773"/>
            <a:ext cx="8629800" cy="391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3350" indent="0">
              <a:buNone/>
            </a:pPr>
            <a:r>
              <a:rPr lang="en-US" sz="1800" b="1" u="sng" dirty="0"/>
              <a:t>Key Findings - Univariate Analysis</a:t>
            </a:r>
          </a:p>
          <a:p>
            <a:pPr marL="133350" indent="0">
              <a:buNone/>
            </a:pPr>
            <a:endParaRPr lang="en-US" sz="1400" b="1" dirty="0"/>
          </a:p>
          <a:p>
            <a:pPr marL="133350" indent="0">
              <a:buNone/>
            </a:pPr>
            <a:r>
              <a:rPr lang="en-US" sz="1400" b="1" dirty="0"/>
              <a:t>Booking Patterns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Peak season:</a:t>
            </a:r>
            <a:r>
              <a:rPr lang="en-US" sz="1200" dirty="0"/>
              <a:t> August-October accounts for ~40% of annual bookings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Slowest months:</a:t>
            </a:r>
            <a:r>
              <a:rPr lang="en-US" sz="1200" dirty="0"/>
              <a:t> January-February show lowest occupancy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Seasonal split:</a:t>
            </a:r>
            <a:r>
              <a:rPr lang="en-US" sz="1200" dirty="0"/>
              <a:t> Busy season (June-October) vs. Quiet season (remaining months)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Booking behavior:</a:t>
            </a:r>
            <a:r>
              <a:rPr lang="en-US" sz="1200" dirty="0"/>
              <a:t> 2/3 of customers book within 100 days; only 11% book 200+ days in advance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Stay duration:</a:t>
            </a:r>
            <a:r>
              <a:rPr lang="en-US" sz="1200" dirty="0"/>
              <a:t> ~80% of bookings are for 2-7 nights; very few extended stays</a:t>
            </a:r>
          </a:p>
          <a:p>
            <a:pPr marL="133350" indent="0">
              <a:buNone/>
            </a:pPr>
            <a:endParaRPr lang="en-US" sz="1400" b="1" dirty="0"/>
          </a:p>
          <a:p>
            <a:pPr marL="133350" indent="0">
              <a:buNone/>
            </a:pPr>
            <a:r>
              <a:rPr lang="en-US" sz="1400" b="1" dirty="0"/>
              <a:t>Guest Demographics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Party size:</a:t>
            </a:r>
            <a:r>
              <a:rPr lang="en-US" sz="1200" dirty="0"/>
              <a:t> 72% of rooms have 2 adults; 25% single occupancy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Limited Family Booking:</a:t>
            </a:r>
            <a:r>
              <a:rPr lang="en-US" sz="1200" dirty="0"/>
              <a:t> 93% of bookings have no children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Guest type:</a:t>
            </a:r>
            <a:r>
              <a:rPr lang="en-US" sz="1200" dirty="0"/>
              <a:t> Normal distribution for adults; left-skewed for children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>
          <a:extLst>
            <a:ext uri="{FF2B5EF4-FFF2-40B4-BE49-F238E27FC236}">
              <a16:creationId xmlns:a16="http://schemas.microsoft.com/office/drawing/2014/main" id="{BA59CDED-ABC0-7F68-011A-636856F18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419b7728cb_0_65">
            <a:extLst>
              <a:ext uri="{FF2B5EF4-FFF2-40B4-BE49-F238E27FC236}">
                <a16:creationId xmlns:a16="http://schemas.microsoft.com/office/drawing/2014/main" id="{42C502CE-1393-BACF-2A3D-BE921C9225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Results EDA - Univariate Analysis - 2</a:t>
            </a:r>
            <a:endParaRPr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8" name="Google Shape;278;g2419b7728cb_0_65">
            <a:extLst>
              <a:ext uri="{FF2B5EF4-FFF2-40B4-BE49-F238E27FC236}">
                <a16:creationId xmlns:a16="http://schemas.microsoft.com/office/drawing/2014/main" id="{847A0832-0F5F-10F3-AFC9-023EF5063A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2550" y="645844"/>
            <a:ext cx="8629800" cy="4291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3350" indent="0">
              <a:buNone/>
            </a:pPr>
            <a:r>
              <a:rPr lang="en-US" sz="1400" b="1" dirty="0"/>
              <a:t>Market Segments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Online dominates:</a:t>
            </a:r>
            <a:r>
              <a:rPr lang="en-US" sz="1200" dirty="0"/>
              <a:t> Largest booking channel by significant margin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Offline remains strong:</a:t>
            </a:r>
            <a:r>
              <a:rPr lang="en-US" sz="1200" dirty="0"/>
              <a:t> ~30% of total bookings, but could decrease as older/less </a:t>
            </a:r>
          </a:p>
          <a:p>
            <a:pPr marL="603250" lvl="1" indent="0">
              <a:spcBef>
                <a:spcPts val="0"/>
              </a:spcBef>
              <a:buNone/>
            </a:pPr>
            <a:r>
              <a:rPr lang="en-US" sz="1200" dirty="0"/>
              <a:t>	than tech savvy tech clients age out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Corporate distant third:</a:t>
            </a:r>
            <a:r>
              <a:rPr lang="en-US" sz="1200" dirty="0"/>
              <a:t> Limited corporate segment penetration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Aviation negligible:</a:t>
            </a:r>
            <a:r>
              <a:rPr lang="en-US" sz="1200" dirty="0"/>
              <a:t> Less than 1% of bookings</a:t>
            </a:r>
          </a:p>
          <a:p>
            <a:pPr lvl="1">
              <a:spcBef>
                <a:spcPts val="0"/>
              </a:spcBef>
            </a:pPr>
            <a:endParaRPr lang="en-US" sz="800" dirty="0"/>
          </a:p>
          <a:p>
            <a:pPr marL="133350" indent="0">
              <a:buNone/>
            </a:pPr>
            <a:r>
              <a:rPr lang="en-US" sz="1400" b="1" dirty="0"/>
              <a:t>Room Preferences and Requests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Room concentration:</a:t>
            </a:r>
            <a:r>
              <a:rPr lang="en-US" sz="1200" dirty="0"/>
              <a:t> 79% book Room Type 1; 16% book Room Type 4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Parking demand:</a:t>
            </a:r>
            <a:r>
              <a:rPr lang="en-US" sz="1200" dirty="0"/>
              <a:t> Nearly all clients do not require parking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Special requests:</a:t>
            </a:r>
            <a:r>
              <a:rPr lang="en-US" sz="1200" dirty="0"/>
              <a:t> 54% have no requests; 45% make 1-2 requests</a:t>
            </a:r>
          </a:p>
          <a:p>
            <a:pPr lvl="1">
              <a:spcBef>
                <a:spcPts val="0"/>
              </a:spcBef>
            </a:pPr>
            <a:endParaRPr lang="en-US" sz="800" dirty="0"/>
          </a:p>
          <a:p>
            <a:pPr marL="133350" indent="0">
              <a:buNone/>
            </a:pPr>
            <a:r>
              <a:rPr lang="en-US" sz="1400" b="1" dirty="0"/>
              <a:t>Booking Lead Time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High variability:</a:t>
            </a:r>
            <a:r>
              <a:rPr lang="en-US" sz="1200" dirty="0"/>
              <a:t> Standard deviation (86 days) nearly equals mean (85 days)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Same-day bookings:</a:t>
            </a:r>
            <a:r>
              <a:rPr lang="en-US" sz="1200" dirty="0"/>
              <a:t> Mode of 0 days indicates frequent last-minute reservations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Unpredictable patterns:</a:t>
            </a:r>
            <a:r>
              <a:rPr lang="en-US" sz="1200" dirty="0"/>
              <a:t> Wide range (0-443 days) makes forecasting difficult</a:t>
            </a:r>
          </a:p>
        </p:txBody>
      </p:sp>
    </p:spTree>
    <p:extLst>
      <p:ext uri="{BB962C8B-B14F-4D97-AF65-F5344CB8AC3E}">
        <p14:creationId xmlns:p14="http://schemas.microsoft.com/office/powerpoint/2010/main" val="16415975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>
          <a:extLst>
            <a:ext uri="{FF2B5EF4-FFF2-40B4-BE49-F238E27FC236}">
              <a16:creationId xmlns:a16="http://schemas.microsoft.com/office/drawing/2014/main" id="{9DD76C8C-7EAC-4F74-0BF6-9C9EBF753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419b7728cb_0_65">
            <a:extLst>
              <a:ext uri="{FF2B5EF4-FFF2-40B4-BE49-F238E27FC236}">
                <a16:creationId xmlns:a16="http://schemas.microsoft.com/office/drawing/2014/main" id="{ECD28B72-5178-A4B3-F8C0-004985E383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Results EDA - Univariate Analysis - 2</a:t>
            </a:r>
            <a:endParaRPr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8" name="Google Shape;278;g2419b7728cb_0_65">
            <a:extLst>
              <a:ext uri="{FF2B5EF4-FFF2-40B4-BE49-F238E27FC236}">
                <a16:creationId xmlns:a16="http://schemas.microsoft.com/office/drawing/2014/main" id="{81118878-80EE-8A8D-3E26-878E031D3E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4022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3350" indent="0">
              <a:buNone/>
            </a:pPr>
            <a:r>
              <a:rPr lang="en-US" sz="1400" b="1" dirty="0"/>
              <a:t>Customer Retention Problem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98% new customers:</a:t>
            </a:r>
            <a:r>
              <a:rPr lang="en-US" sz="1200" dirty="0"/>
              <a:t> Nearly all bookings are first-time guests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&lt;3% repeat business:</a:t>
            </a:r>
            <a:r>
              <a:rPr lang="en-US" sz="1200" dirty="0"/>
              <a:t> Alarmingly low customer loyalty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Service quality concern:</a:t>
            </a:r>
            <a:r>
              <a:rPr lang="en-US" sz="1200" dirty="0"/>
              <a:t> Poor retention suggests negative guest experiences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Reputation risk:</a:t>
            </a:r>
            <a:r>
              <a:rPr lang="en-US" sz="1200" dirty="0"/>
              <a:t> Low repeat rates may indicate poor reviews via online reviews and word-of-mouth</a:t>
            </a:r>
          </a:p>
          <a:p>
            <a:pPr lvl="1">
              <a:spcBef>
                <a:spcPts val="0"/>
              </a:spcBef>
            </a:pPr>
            <a:endParaRPr lang="en-US" sz="800" dirty="0"/>
          </a:p>
          <a:p>
            <a:pPr marL="133350" indent="0">
              <a:buNone/>
            </a:pPr>
            <a:r>
              <a:rPr lang="en-US" sz="1400" b="1" dirty="0"/>
              <a:t>Cancellation Crisis?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30% cancellation rate:</a:t>
            </a:r>
            <a:r>
              <a:rPr lang="en-US" sz="1200" dirty="0"/>
              <a:t> Extremely high and costly for operations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2:1 ratio:</a:t>
            </a:r>
            <a:r>
              <a:rPr lang="en-US" sz="1200" dirty="0"/>
              <a:t> Roughly 2 successful bookings for every 1 cancellation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Revenue impact:</a:t>
            </a:r>
            <a:r>
              <a:rPr lang="en-US" sz="1200" dirty="0"/>
              <a:t> Significant rebooking costs and potential revenue loss</a:t>
            </a:r>
          </a:p>
          <a:p>
            <a:pPr lvl="1">
              <a:spcBef>
                <a:spcPts val="0"/>
              </a:spcBef>
            </a:pP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5044047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>
          <a:extLst>
            <a:ext uri="{FF2B5EF4-FFF2-40B4-BE49-F238E27FC236}">
              <a16:creationId xmlns:a16="http://schemas.microsoft.com/office/drawing/2014/main" id="{7DA95E80-937F-19F6-2303-9D7D5A7DE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419b7728cb_0_65">
            <a:extLst>
              <a:ext uri="{FF2B5EF4-FFF2-40B4-BE49-F238E27FC236}">
                <a16:creationId xmlns:a16="http://schemas.microsoft.com/office/drawing/2014/main" id="{786B782D-2776-0D63-8553-F1E66EE902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Results EDA - Univariate Analysis - 3</a:t>
            </a:r>
            <a:endParaRPr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8" name="Google Shape;278;g2419b7728cb_0_65">
            <a:extLst>
              <a:ext uri="{FF2B5EF4-FFF2-40B4-BE49-F238E27FC236}">
                <a16:creationId xmlns:a16="http://schemas.microsoft.com/office/drawing/2014/main" id="{85E18E7A-2B51-4900-1D8D-74D207437D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4022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3350" indent="0">
              <a:buNone/>
            </a:pPr>
            <a:r>
              <a:rPr lang="en-US" sz="1400" b="1" dirty="0"/>
              <a:t>Customer Retention Problem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98% new customers:</a:t>
            </a:r>
            <a:r>
              <a:rPr lang="en-US" sz="1200" dirty="0"/>
              <a:t> Nearly all bookings are first-time guests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&lt;3% repeat business:</a:t>
            </a:r>
            <a:r>
              <a:rPr lang="en-US" sz="1200" dirty="0"/>
              <a:t> Alarmingly low customer loyalty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Service quality concern:</a:t>
            </a:r>
            <a:r>
              <a:rPr lang="en-US" sz="1200" dirty="0"/>
              <a:t> Poor retention suggests negative guest experiences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Reputation risk:</a:t>
            </a:r>
            <a:r>
              <a:rPr lang="en-US" sz="1200" dirty="0"/>
              <a:t> Low repeat rates may indicate poor reviews via online reviews and word-of-mouth</a:t>
            </a:r>
          </a:p>
          <a:p>
            <a:pPr lvl="1">
              <a:spcBef>
                <a:spcPts val="0"/>
              </a:spcBef>
            </a:pPr>
            <a:endParaRPr lang="en-US" sz="800" dirty="0"/>
          </a:p>
          <a:p>
            <a:pPr marL="133350" indent="0">
              <a:buNone/>
            </a:pPr>
            <a:r>
              <a:rPr lang="en-US" sz="1400" b="1" dirty="0"/>
              <a:t>Cancellation Crisis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30% cancellation rate:</a:t>
            </a:r>
            <a:r>
              <a:rPr lang="en-US" sz="1200" dirty="0"/>
              <a:t> Extremely high and costly for operations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2:1 ratio:</a:t>
            </a:r>
            <a:r>
              <a:rPr lang="en-US" sz="1200" dirty="0"/>
              <a:t> Roughly 2 successful bookings for every 1 cancellation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Revenue impact:</a:t>
            </a:r>
            <a:r>
              <a:rPr lang="en-US" sz="1200" dirty="0"/>
              <a:t> Significant rebooking costs and potential revenue loss</a:t>
            </a:r>
          </a:p>
          <a:p>
            <a:pPr lvl="1">
              <a:spcBef>
                <a:spcPts val="0"/>
              </a:spcBef>
            </a:pP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9252502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15886a1dc9e_0_116"/>
          <p:cNvSpPr txBox="1">
            <a:spLocks noGrp="1"/>
          </p:cNvSpPr>
          <p:nvPr>
            <p:ph type="body" idx="1"/>
          </p:nvPr>
        </p:nvSpPr>
        <p:spPr>
          <a:xfrm>
            <a:off x="202549" y="861975"/>
            <a:ext cx="4212875" cy="3299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Examining </a:t>
            </a: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Market Segments </a:t>
            </a: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and how they relate to </a:t>
            </a: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Price Variations</a:t>
            </a: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12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Online has the highest median price ($110-$115)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Online has a pretty wide price variance, maxing out at just under $400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Aviation has 2</a:t>
            </a:r>
            <a:r>
              <a:rPr lang="en" sz="1000" baseline="30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nd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highest median ($100-$100), but avaition bookings are the smallest of the hotel’s bookings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Offline is next with a median of ($95-$100) 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Offline has the highest variability spanning between ~$90 - $550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Corporate bookings have the next highest median (~$95), once again it is a smaller share of segments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Complementary does not directly figure into the hotel’s revenue stream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 could be profitability factor if the hotel comps out more higher priced rooms than it should</a:t>
            </a:r>
          </a:p>
        </p:txBody>
      </p:sp>
      <p:sp>
        <p:nvSpPr>
          <p:cNvPr id="270" name="Google Shape;270;g15886a1dc9e_0_116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0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-</a:t>
            </a:r>
            <a:r>
              <a:rPr lang="en" sz="2000" b="1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Bi</a:t>
            </a:r>
            <a:r>
              <a:rPr lang="en" sz="20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variate Analysis</a:t>
            </a:r>
            <a:r>
              <a:rPr lang="en-US" sz="20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– Market Segment Price Variations</a:t>
            </a:r>
            <a:endParaRPr sz="20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0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71" name="Google Shape;271;g15886a1dc9e_0_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0288" y="841537"/>
            <a:ext cx="4105404" cy="2619587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g15886a1dc9e_0_116"/>
          <p:cNvSpPr txBox="1"/>
          <p:nvPr/>
        </p:nvSpPr>
        <p:spPr>
          <a:xfrm>
            <a:off x="4825958" y="3533321"/>
            <a:ext cx="3754064" cy="76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X-axis: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Market segment type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Y-axis: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Average price per room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Description: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Price per room across various  market segments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>
          <a:extLst>
            <a:ext uri="{FF2B5EF4-FFF2-40B4-BE49-F238E27FC236}">
              <a16:creationId xmlns:a16="http://schemas.microsoft.com/office/drawing/2014/main" id="{1144E969-D9D0-755A-4967-6F7EFECB1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419b7728cb_0_155">
            <a:extLst>
              <a:ext uri="{FF2B5EF4-FFF2-40B4-BE49-F238E27FC236}">
                <a16:creationId xmlns:a16="http://schemas.microsoft.com/office/drawing/2014/main" id="{D79DF3E0-3CBA-B1B1-EFA2-B369ED1D00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2647" y="583271"/>
            <a:ext cx="4769977" cy="367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Explanations for how </a:t>
            </a: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Market Segments </a:t>
            </a: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correlate to </a:t>
            </a: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Room Prices</a:t>
            </a: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These plots represent a different visualization of the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Market Segment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/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Room Price 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relationship: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Online Booking: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Has the higher prices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 should be the most profitable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Accounts for highest percentage of bookings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Company cost to book rooms online is cheaper and less labor intensive than direct contact</a:t>
            </a: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Offline Booking: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Widest price variance suggests price inconsistencies across sales channels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Suggest wide range of customer types: from budget conscious to premium clientelle (where price isn’t an issue)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 is the most unpredictable and least optimized segment</a:t>
            </a:r>
            <a:endParaRPr lang="en" sz="1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Corporate Booking: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smaller price range indicates probable use of negotiated (corporate rates)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Aviation Booking: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Since the prices are tightly clustered, </a:t>
            </a:r>
            <a:r>
              <a:rPr lang="en-US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 might indicate use of standardized/fixed (reduced) rates</a:t>
            </a: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4" name="Google Shape;284;g2419b7728cb_0_155">
            <a:extLst>
              <a:ext uri="{FF2B5EF4-FFF2-40B4-BE49-F238E27FC236}">
                <a16:creationId xmlns:a16="http://schemas.microsoft.com/office/drawing/2014/main" id="{29AAF6EF-1B7C-B07F-6BF3-FE172A37202C}"/>
              </a:ext>
            </a:extLst>
          </p:cNvPr>
          <p:cNvSpPr txBox="1"/>
          <p:nvPr/>
        </p:nvSpPr>
        <p:spPr>
          <a:xfrm>
            <a:off x="196287" y="5882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2200"/>
            </a:pPr>
            <a:r>
              <a:rPr lang="en" sz="20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– </a:t>
            </a:r>
            <a:r>
              <a:rPr lang="en-US" sz="2000" b="1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Market Segment Price Variations</a:t>
            </a:r>
            <a:endParaRPr sz="20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EF7FFA-A1E8-4571-1338-E1CA8729E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3503" y="656394"/>
            <a:ext cx="3937153" cy="17736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5AD0E9-8AD4-2ACF-4952-C5F7652D60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4357" y="2454917"/>
            <a:ext cx="3936299" cy="1953252"/>
          </a:xfrm>
          <a:prstGeom prst="rect">
            <a:avLst/>
          </a:prstGeom>
        </p:spPr>
      </p:pic>
      <p:sp>
        <p:nvSpPr>
          <p:cNvPr id="10" name="Google Shape;272;g15886a1dc9e_0_116">
            <a:extLst>
              <a:ext uri="{FF2B5EF4-FFF2-40B4-BE49-F238E27FC236}">
                <a16:creationId xmlns:a16="http://schemas.microsoft.com/office/drawing/2014/main" id="{1C3BEA4F-9B03-0C27-E079-4E92D4099199}"/>
              </a:ext>
            </a:extLst>
          </p:cNvPr>
          <p:cNvSpPr txBox="1"/>
          <p:nvPr/>
        </p:nvSpPr>
        <p:spPr>
          <a:xfrm>
            <a:off x="5772748" y="4408169"/>
            <a:ext cx="3754064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X-axis: </a:t>
            </a:r>
            <a:r>
              <a:rPr lang="en" sz="8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Market segment type</a:t>
            </a:r>
            <a:endParaRPr sz="8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Y-axis: </a:t>
            </a:r>
            <a:r>
              <a:rPr lang="en" sz="8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Average price per room</a:t>
            </a:r>
            <a:endParaRPr sz="8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Description:</a:t>
            </a:r>
            <a:r>
              <a:rPr lang="en" sz="8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Price per room across various  market segments</a:t>
            </a:r>
            <a:endParaRPr sz="8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7814953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>
          <a:extLst>
            <a:ext uri="{FF2B5EF4-FFF2-40B4-BE49-F238E27FC236}">
              <a16:creationId xmlns:a16="http://schemas.microsoft.com/office/drawing/2014/main" id="{197DDFED-A757-E009-FBD8-6C978F788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5886a1dc9e_0_174">
            <a:extLst>
              <a:ext uri="{FF2B5EF4-FFF2-40B4-BE49-F238E27FC236}">
                <a16:creationId xmlns:a16="http://schemas.microsoft.com/office/drawing/2014/main" id="{1D7A8790-3C81-6574-7ADC-6282C9EF2B89}"/>
              </a:ext>
            </a:extLst>
          </p:cNvPr>
          <p:cNvSpPr txBox="1"/>
          <p:nvPr/>
        </p:nvSpPr>
        <p:spPr>
          <a:xfrm>
            <a:off x="311700" y="88863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SzPts val="2200"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- </a:t>
            </a:r>
            <a:r>
              <a:rPr lang="en-US" sz="2400" b="1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Market Segment Price Variations </a:t>
            </a: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Google Shape;253;g2419b7728cb_0_127">
            <a:extLst>
              <a:ext uri="{FF2B5EF4-FFF2-40B4-BE49-F238E27FC236}">
                <a16:creationId xmlns:a16="http://schemas.microsoft.com/office/drawing/2014/main" id="{80F4467B-18FA-2A79-408B-A0E0D8A6EB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71815" y="609798"/>
            <a:ext cx="8275599" cy="440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Strategies for optimizing </a:t>
            </a: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Price Variations</a:t>
            </a: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across market segments: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Online Booking/Offline Booking: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Real time price adjustment to keep room prices competitive with competition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Rate parity across channels and online presentations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Set a price floor where selling a room below a prespecified value is not deemed profitable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Bundle air travel and hotel stay as packages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Online Booking:</a:t>
            </a: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Add surge pricing during peak seasons/special events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Show real time room inventory levels to motivate customers to complete booking process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Automated sales email compaigns and measured increased advertising 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Make sure to have clearly visible “special requests” as part the online experience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Offline Booking:</a:t>
            </a: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Standardized pricing strategies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Restructured commission plans and incentives for travel agents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Better training for agents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Corporate Booking: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Volume based discounts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Tiered room packages and add ons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 development – campaign to reach out to new potential clients (including local companies) 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Offer corporate discounts to frequent guests for private stays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Aviation Booking: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-US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Re-evaluate and adjust 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contract rates according to market conditions and inflation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Target new/additional airlines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Add airline crew specific amenities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Crew member personal stay discounts</a:t>
            </a:r>
          </a:p>
          <a:p>
            <a:pPr marL="596900" lvl="1" indent="0">
              <a:spcBef>
                <a:spcPts val="0"/>
              </a:spcBef>
              <a:buClr>
                <a:schemeClr val="dk1"/>
              </a:buClr>
              <a:buSzPts val="1400"/>
              <a:buNone/>
            </a:pP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30560453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419b7728cb_0_155"/>
          <p:cNvSpPr txBox="1">
            <a:spLocks noGrp="1"/>
          </p:cNvSpPr>
          <p:nvPr>
            <p:ph type="body" idx="1"/>
          </p:nvPr>
        </p:nvSpPr>
        <p:spPr>
          <a:xfrm>
            <a:off x="72875" y="861975"/>
            <a:ext cx="4283051" cy="2095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Examining </a:t>
            </a: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Market Segments </a:t>
            </a: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and how they relate to </a:t>
            </a: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Cancelled Bookings</a:t>
            </a: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14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Online and Offline booking result in the highest number of cancellation both in total count and as percentages relative to their specific segments</a:t>
            </a:r>
            <a:endParaRPr lang="en" sz="10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Corporate and Aviation booking have fewer overall cancellations in terms of count and segment percentages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Complementary bookings have no cancellations because they are free (no cost to the customer)</a:t>
            </a:r>
          </a:p>
        </p:txBody>
      </p:sp>
      <p:sp>
        <p:nvSpPr>
          <p:cNvPr id="284" name="Google Shape;284;g2419b7728cb_0_155"/>
          <p:cNvSpPr txBox="1"/>
          <p:nvPr/>
        </p:nvSpPr>
        <p:spPr>
          <a:xfrm>
            <a:off x="121131" y="289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0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- Bivariate Analysis – Booking Status and Market Segments</a:t>
            </a:r>
            <a:endParaRPr sz="20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85" name="Google Shape;285;g2419b7728cb_0_1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97100" y="1014178"/>
            <a:ext cx="4224375" cy="276832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g2419b7728cb_0_155"/>
          <p:cNvSpPr txBox="1"/>
          <p:nvPr/>
        </p:nvSpPr>
        <p:spPr>
          <a:xfrm>
            <a:off x="4571988" y="3861825"/>
            <a:ext cx="4151100" cy="927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X-axis: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Market Segment type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Y-axis: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bookings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Description: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bookings that are cancelled vs not cancelled across various market segments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>
          <a:extLst>
            <a:ext uri="{FF2B5EF4-FFF2-40B4-BE49-F238E27FC236}">
              <a16:creationId xmlns:a16="http://schemas.microsoft.com/office/drawing/2014/main" id="{D6387BE2-F4F2-E1D9-F6EF-77D6CE69E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419b7728cb_0_155">
            <a:extLst>
              <a:ext uri="{FF2B5EF4-FFF2-40B4-BE49-F238E27FC236}">
                <a16:creationId xmlns:a16="http://schemas.microsoft.com/office/drawing/2014/main" id="{C2ABC666-E3D1-0CEC-BEFB-EC6AE38BA7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340" y="861975"/>
            <a:ext cx="4531660" cy="3299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Explainations for how </a:t>
            </a: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Market Segments </a:t>
            </a: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correlate to </a:t>
            </a: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Cancelled Bookings</a:t>
            </a: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Online and Offline booking accounts for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97%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of cancellations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Roughly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30% 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 all Online and Offline bookings get cancelled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Online Booking: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Majority of people today book online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Easy to book online, easy to cancel online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Offline Booking: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Although still substantial, fewer and fewer people are booking offline (phone/travel agencies)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Not as convenient as online cancellation, but still easy</a:t>
            </a:r>
            <a:endParaRPr lang="en" sz="1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Corporate Booking: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Customers that make special requests are more engaged planners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They understand what they want and are less impulsive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Aviation Booking: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Directly tied to airline cancellations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Likelyhood of Aviation booking cancellation is directly related to whether a flight gets cancelled or not</a:t>
            </a:r>
          </a:p>
        </p:txBody>
      </p:sp>
      <p:sp>
        <p:nvSpPr>
          <p:cNvPr id="284" name="Google Shape;284;g2419b7728cb_0_155">
            <a:extLst>
              <a:ext uri="{FF2B5EF4-FFF2-40B4-BE49-F238E27FC236}">
                <a16:creationId xmlns:a16="http://schemas.microsoft.com/office/drawing/2014/main" id="{6D419C39-4FE5-D9D0-FDB7-7227AE46EDAA}"/>
              </a:ext>
            </a:extLst>
          </p:cNvPr>
          <p:cNvSpPr txBox="1"/>
          <p:nvPr/>
        </p:nvSpPr>
        <p:spPr>
          <a:xfrm>
            <a:off x="121131" y="289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0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– Effects of Market Segments</a:t>
            </a:r>
            <a:endParaRPr sz="20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6" name="Google Shape;286;g2419b7728cb_0_155">
            <a:extLst>
              <a:ext uri="{FF2B5EF4-FFF2-40B4-BE49-F238E27FC236}">
                <a16:creationId xmlns:a16="http://schemas.microsoft.com/office/drawing/2014/main" id="{D6FA5B79-CAAD-0479-9B54-6E989C48D959}"/>
              </a:ext>
            </a:extLst>
          </p:cNvPr>
          <p:cNvSpPr txBox="1"/>
          <p:nvPr/>
        </p:nvSpPr>
        <p:spPr>
          <a:xfrm>
            <a:off x="4952559" y="3799702"/>
            <a:ext cx="4151100" cy="927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X-axis: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Market Segment type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Y-axis: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cancelled/non-cancelled bookings (percentages)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Description: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bookings that are cancelled vs not cancelled as percentages across the various market segments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CF7BA1-647D-BD5B-1BF2-3590B8770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5840" y="1014178"/>
            <a:ext cx="4487819" cy="275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6820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>
          <a:extLst>
            <a:ext uri="{FF2B5EF4-FFF2-40B4-BE49-F238E27FC236}">
              <a16:creationId xmlns:a16="http://schemas.microsoft.com/office/drawing/2014/main" id="{84437D14-D6E2-6804-A92C-7DC562F63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5886a1dc9e_0_174">
            <a:extLst>
              <a:ext uri="{FF2B5EF4-FFF2-40B4-BE49-F238E27FC236}">
                <a16:creationId xmlns:a16="http://schemas.microsoft.com/office/drawing/2014/main" id="{9DFEF040-C396-3581-AEDA-3784534209CF}"/>
              </a:ext>
            </a:extLst>
          </p:cNvPr>
          <p:cNvSpPr txBox="1"/>
          <p:nvPr/>
        </p:nvSpPr>
        <p:spPr>
          <a:xfrm>
            <a:off x="311700" y="88863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- Effects of Market Segments - 3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Google Shape;253;g2419b7728cb_0_127">
            <a:extLst>
              <a:ext uri="{FF2B5EF4-FFF2-40B4-BE49-F238E27FC236}">
                <a16:creationId xmlns:a16="http://schemas.microsoft.com/office/drawing/2014/main" id="{D99AEC4F-39B1-1F76-8EDB-69E4F4FC7E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71815" y="609798"/>
            <a:ext cx="8275599" cy="440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Strategies for minimizing cancellation risks associated with market segments: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Online Booking/Offline Booking: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Progressive cancellation penalties as booking nears check in date 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Offer credit instead of refunding booking cost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Loyalty program for completed bookings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Follow up confirmation (emails, phone calls)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Regular automated reminders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Post booking engagement – emails/mailers about local attractions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Online Booking:</a:t>
            </a: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Make the actual online cancellation process more difficult (add steps)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Make “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Special Requests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 a prominent part of the online booking experience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Have a deliberate multi-step online confirmation process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Offer free cancellation with 1</a:t>
            </a:r>
            <a:r>
              <a:rPr lang="en" sz="800" baseline="30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24 hours after booking to incentivize uncertain customers to cancel early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Ability to rebook/modify dates instead of outright cancelling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Clearly display the cancellation policy and ask for confirmation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Offline Booking:</a:t>
            </a: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Bonuses to travel agents with lowest cancellation rate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Better training – help agents identify higher risk bookings, direct telephone follow up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Warning system that alerts agents to high risk bookings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Corporate Booking: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Save client profiles (preferences, room styles, special requests)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VIP treatment for top executives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Maintain direct contact with existing corporate clients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Offer corporate discounts to frequent guests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Aviation Booking: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Real time communications/alert system for early notification of cancellations so rooms will have more time to be rebooked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Reward airlines that minimize short notice cancellations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Tiered partnership/rewards programs</a:t>
            </a:r>
          </a:p>
          <a:p>
            <a:pPr marL="596900" lvl="1" indent="0">
              <a:spcBef>
                <a:spcPts val="0"/>
              </a:spcBef>
              <a:buClr>
                <a:schemeClr val="dk1"/>
              </a:buClr>
              <a:buSzPts val="1400"/>
              <a:buNone/>
            </a:pP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36919905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5886a1dc9e_0_174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- Bivariate Analysis -  Effects of Special Requests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93" name="Google Shape;293;g15886a1dc9e_0_1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28031" y="1014376"/>
            <a:ext cx="4040943" cy="325504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53;g2419b7728cb_0_127">
            <a:extLst>
              <a:ext uri="{FF2B5EF4-FFF2-40B4-BE49-F238E27FC236}">
                <a16:creationId xmlns:a16="http://schemas.microsoft.com/office/drawing/2014/main" id="{65951E69-5B59-DC79-169B-2688254C08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45439" y="910425"/>
            <a:ext cx="4429761" cy="3160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Examining </a:t>
            </a: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Special Requests </a:t>
            </a: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and how they relate to </a:t>
            </a: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Cancelled Bookings</a:t>
            </a: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12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Examining the existing plot, it’s easy to identify an inversely proportional relationship.</a:t>
            </a:r>
            <a:endParaRPr lang="en" sz="10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As the number of special requests increases, the number of cancelled bookings decreases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That relationship is consistently strong across all request levels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Special Requests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are a strong indicator of reservation commitment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-US" sz="1000" dirty="0"/>
              <a:t>Zero requests is a clear red flag for a risk of cancellation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-US" sz="1000" dirty="0"/>
              <a:t>A subsequent plot on the following page compares the percentage of cancellations/non-cancellations with special request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>
          <a:extLst>
            <a:ext uri="{FF2B5EF4-FFF2-40B4-BE49-F238E27FC236}">
              <a16:creationId xmlns:a16="http://schemas.microsoft.com/office/drawing/2014/main" id="{BFC11759-972F-9858-3B3F-AD94449F9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5886a1dc9e_0_174">
            <a:extLst>
              <a:ext uri="{FF2B5EF4-FFF2-40B4-BE49-F238E27FC236}">
                <a16:creationId xmlns:a16="http://schemas.microsoft.com/office/drawing/2014/main" id="{0F6F1B33-5017-2CFB-67F9-8FB2CA479814}"/>
              </a:ext>
            </a:extLst>
          </p:cNvPr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- Effects of Special Requests - 2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Google Shape;253;g2419b7728cb_0_127">
            <a:extLst>
              <a:ext uri="{FF2B5EF4-FFF2-40B4-BE49-F238E27FC236}">
                <a16:creationId xmlns:a16="http://schemas.microsoft.com/office/drawing/2014/main" id="{6311EA63-A245-2243-1AAD-17E7F8032A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45439" y="910424"/>
            <a:ext cx="4429761" cy="3799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Explainations for how </a:t>
            </a: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Special Requests </a:t>
            </a: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correlate to decreased </a:t>
            </a: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Cancelled Bookings</a:t>
            </a: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12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Greater Personal Commitment: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Clients who make special requests are active in their trip planning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time it takes to do so indicates a higher level of commitment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Trip Purpose: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Special Requests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can be associated with events such as weddings, anniversaries, business meetings – events less likley to be cancelled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time it takes to do so indicates higher trip commitment</a:t>
            </a:r>
            <a:endParaRPr lang="en" sz="1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Client Engagement: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Customers that make special requests are more engaged planners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They understand what they want and are less impulsive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Booking Timeline: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They are more likely to have booked in advance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Their hotel stay is combined with other tip elements – flights, events and are less likely to be cancelled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Increased Personal Investment: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Business/Frequent travellers often make more requests because they know what they want/like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Business/Frequent travellers are less likely to cancel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Casual/First Time guests are likely to make fewer requests and more more likely to cancel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506810C-9676-FA7A-A0FB-60FDF62EB8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3797" y="981913"/>
            <a:ext cx="4331676" cy="2831616"/>
          </a:xfrm>
          <a:prstGeom prst="rect">
            <a:avLst/>
          </a:prstGeom>
        </p:spPr>
      </p:pic>
      <p:sp>
        <p:nvSpPr>
          <p:cNvPr id="5" name="Google Shape;272;g15886a1dc9e_0_116">
            <a:extLst>
              <a:ext uri="{FF2B5EF4-FFF2-40B4-BE49-F238E27FC236}">
                <a16:creationId xmlns:a16="http://schemas.microsoft.com/office/drawing/2014/main" id="{A9FBAA85-70C3-3FA4-8C47-972844A9F520}"/>
              </a:ext>
            </a:extLst>
          </p:cNvPr>
          <p:cNvSpPr txBox="1"/>
          <p:nvPr/>
        </p:nvSpPr>
        <p:spPr>
          <a:xfrm>
            <a:off x="5023549" y="3933463"/>
            <a:ext cx="4151100" cy="927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X-axis: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Special Requests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Y-axis: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cancellations/non-cancellations (percentages)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Description: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Compares the special requests to the overall percentage of cancellations/non-cancellations at each request level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16992930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>
          <a:extLst>
            <a:ext uri="{FF2B5EF4-FFF2-40B4-BE49-F238E27FC236}">
              <a16:creationId xmlns:a16="http://schemas.microsoft.com/office/drawing/2014/main" id="{99BE9A1A-8E74-15FC-69B5-806560FB8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5886a1dc9e_0_174">
            <a:extLst>
              <a:ext uri="{FF2B5EF4-FFF2-40B4-BE49-F238E27FC236}">
                <a16:creationId xmlns:a16="http://schemas.microsoft.com/office/drawing/2014/main" id="{55E9F517-BF8A-4109-95F4-4F0EFDEB73E5}"/>
              </a:ext>
            </a:extLst>
          </p:cNvPr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- Effects of Special Requests - 3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Google Shape;253;g2419b7728cb_0_127">
            <a:extLst>
              <a:ext uri="{FF2B5EF4-FFF2-40B4-BE49-F238E27FC236}">
                <a16:creationId xmlns:a16="http://schemas.microsoft.com/office/drawing/2014/main" id="{07E75C62-560C-8BF1-FD0A-FFC5A97467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45439" y="910424"/>
            <a:ext cx="8275599" cy="3799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Strategies for minimizing cancellation risks associated with decreased special requests: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12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Promote/Encourage addition of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Special Requests 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during the booking process: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Add prompts for special requests during the booking process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Offer bundled special requests at a discount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Stricter cancellation policies for zero(0) request bookings:</a:t>
            </a: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They are at a higher risk and are more likely to be cancelled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Try to mitigate risk by automated follow up emails and booking confirmation</a:t>
            </a:r>
            <a:endParaRPr lang="en" sz="1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More flexible cancellation policies for mulit-request bookings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They are lower risk and the booking is much more likely to be honoured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Lower initial deposits for multi-request bookings: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They are more likely to have booked in advance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Their hotel stay is combined with other tip elements – flights, events and are less likely to be cancelled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Save premium priced rooms for travellers wi</a:t>
            </a:r>
            <a:r>
              <a:rPr lang="en-US" sz="1000" dirty="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</a:t>
            </a:r>
            <a:r>
              <a:rPr lang="en-US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 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higher number of requests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Dynamic Pricing: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Incetivise by adjusting prices based on the number of special requests</a:t>
            </a:r>
            <a:endParaRPr lang="en" sz="1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Overbook rooms to compensate for the anticpated loss due to 0 request cancellations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Requirement prepayment for zero request rooms</a:t>
            </a:r>
          </a:p>
          <a:p>
            <a:pPr marL="596900" lvl="1" indent="0">
              <a:spcBef>
                <a:spcPts val="0"/>
              </a:spcBef>
              <a:buClr>
                <a:schemeClr val="dk1"/>
              </a:buClr>
              <a:buSzPts val="1400"/>
              <a:buNone/>
            </a:pP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5441581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15886a1dc9e_0_231"/>
          <p:cNvSpPr txBox="1">
            <a:spLocks noGrp="1"/>
          </p:cNvSpPr>
          <p:nvPr>
            <p:ph type="body" idx="1"/>
          </p:nvPr>
        </p:nvSpPr>
        <p:spPr>
          <a:xfrm>
            <a:off x="106471" y="929424"/>
            <a:ext cx="4625236" cy="170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Examining </a:t>
            </a: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Booking Lead Times </a:t>
            </a: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and how they relate to </a:t>
            </a: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Cancelled Bookings</a:t>
            </a: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12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Shorter Book Lead Time results in higher number of cancellations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As the lead time increases, the number of cancellations decrease (this could be related to the fact the number of bookings decrease as the lead time increases)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distribution has a definite although uneven right-skew</a:t>
            </a:r>
            <a:endParaRPr lang="en-US" sz="1000" dirty="0"/>
          </a:p>
        </p:txBody>
      </p:sp>
      <p:sp>
        <p:nvSpPr>
          <p:cNvPr id="299" name="Google Shape;299;g15886a1dc9e_0_231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- Bivariate Analysis – Effects of Booking Lead Times</a:t>
            </a: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0" name="Google Shape;300;g15886a1dc9e_0_231"/>
          <p:cNvSpPr txBox="1"/>
          <p:nvPr/>
        </p:nvSpPr>
        <p:spPr>
          <a:xfrm>
            <a:off x="5058300" y="3193177"/>
            <a:ext cx="3525160" cy="76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X-axis: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Lead time</a:t>
            </a:r>
            <a:endParaRPr sz="10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Y-axis: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bookings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Description: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Lead time of the bookings that were cancelled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01" name="Google Shape;301;g15886a1dc9e_0_2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5548" y="791503"/>
            <a:ext cx="4165902" cy="2427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>
          <a:extLst>
            <a:ext uri="{FF2B5EF4-FFF2-40B4-BE49-F238E27FC236}">
              <a16:creationId xmlns:a16="http://schemas.microsoft.com/office/drawing/2014/main" id="{CB89A02D-6177-0215-8228-2A7E2D730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5886a1dc9e_0_174">
            <a:extLst>
              <a:ext uri="{FF2B5EF4-FFF2-40B4-BE49-F238E27FC236}">
                <a16:creationId xmlns:a16="http://schemas.microsoft.com/office/drawing/2014/main" id="{8DBF5D15-6945-32DF-A099-03D2ADDB181C}"/>
              </a:ext>
            </a:extLst>
          </p:cNvPr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- Effects of Booking Lead Times - 2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Google Shape;253;g2419b7728cb_0_127">
            <a:extLst>
              <a:ext uri="{FF2B5EF4-FFF2-40B4-BE49-F238E27FC236}">
                <a16:creationId xmlns:a16="http://schemas.microsoft.com/office/drawing/2014/main" id="{ECD43A7C-DD25-CC36-E572-923B5ED72B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45439" y="910424"/>
            <a:ext cx="4429761" cy="3799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Explanations for how </a:t>
            </a: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Booking Lead Times </a:t>
            </a: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correlate to increased </a:t>
            </a: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Cancelled Bookings</a:t>
            </a: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12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Greater Personal Commitment: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Clients who make special requests are active in their trip planning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time it takes to do so indicates a higher level of commitment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Trip Purpose: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Special Requests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can be associated with events such as weddings, anniversaries, business meetings – events less likley to be cancelled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time it takes to do so indicates higher trip commitment</a:t>
            </a:r>
            <a:endParaRPr lang="en" sz="1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Client Engagement: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Customers that make special requests are more engaged planners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They understand what they want and are less impulsive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Booking Timeline: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They are more likely to have booked in advance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Their hotel stay is combined with other tip elements – flights, events and are less likely to be cancelled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Increased Personal Investment: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Business/Frequent travellers often make more requests because they know what they want/like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Business/Frequent travellers are less likely to cancel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Casual/First Time guests are likely to make fewer requests and more more likely to cancel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CB639C1-4675-0054-8162-96D93F617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3797" y="981913"/>
            <a:ext cx="4331676" cy="2831616"/>
          </a:xfrm>
          <a:prstGeom prst="rect">
            <a:avLst/>
          </a:prstGeom>
        </p:spPr>
      </p:pic>
      <p:sp>
        <p:nvSpPr>
          <p:cNvPr id="5" name="Google Shape;272;g15886a1dc9e_0_116">
            <a:extLst>
              <a:ext uri="{FF2B5EF4-FFF2-40B4-BE49-F238E27FC236}">
                <a16:creationId xmlns:a16="http://schemas.microsoft.com/office/drawing/2014/main" id="{713243AF-A344-737C-02E8-FCB37725C0E8}"/>
              </a:ext>
            </a:extLst>
          </p:cNvPr>
          <p:cNvSpPr txBox="1"/>
          <p:nvPr/>
        </p:nvSpPr>
        <p:spPr>
          <a:xfrm>
            <a:off x="5023549" y="3933463"/>
            <a:ext cx="4151100" cy="927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X-axis: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Special Requests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Y-axis: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cancellations/non-cancellations (percentages)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Description: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Compares the special requests to the overall percentage of cancellations/non-cancellations at each request level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13222133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>
          <a:extLst>
            <a:ext uri="{FF2B5EF4-FFF2-40B4-BE49-F238E27FC236}">
              <a16:creationId xmlns:a16="http://schemas.microsoft.com/office/drawing/2014/main" id="{41AF1259-9EEE-EB1F-9B82-AA610CB46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5886a1dc9e_0_174">
            <a:extLst>
              <a:ext uri="{FF2B5EF4-FFF2-40B4-BE49-F238E27FC236}">
                <a16:creationId xmlns:a16="http://schemas.microsoft.com/office/drawing/2014/main" id="{ACD1D260-9D86-8AFC-0EBC-64FA23A68E54}"/>
              </a:ext>
            </a:extLst>
          </p:cNvPr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- Effects of Booking Lead Times- 3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Google Shape;253;g2419b7728cb_0_127">
            <a:extLst>
              <a:ext uri="{FF2B5EF4-FFF2-40B4-BE49-F238E27FC236}">
                <a16:creationId xmlns:a16="http://schemas.microsoft.com/office/drawing/2014/main" id="{029553B9-69FF-3107-5C51-F1AC1E0A37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45439" y="910424"/>
            <a:ext cx="8275599" cy="3799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Strategies for minimizing cancellation risks related with </a:t>
            </a: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Booking Lead Times</a:t>
            </a: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12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Promote/Encourage addition of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Special Requests 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during the booking process: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Add prompts for special requests during the booking process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Offer bundled special requests at a discount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Stricter cancellation policies for zero(0) request bookings:</a:t>
            </a: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They are at a higher risk and are more likely to be cancelled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Try to mitigate risk by automated follow up emails and booking confirmation</a:t>
            </a:r>
            <a:endParaRPr lang="en" sz="1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More flexible cancellation policies for mulit-request bookings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They are lower risk and the booking is much more likely to be honoured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Lower initial deposits for multi-request bookings: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They are more likely to have booked in advance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Their hotel stay is combined with other tip elements – flights, events and are less likely to be cancelled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Save premium priced rooms for travellers wi</a:t>
            </a:r>
            <a:r>
              <a:rPr lang="en-US" sz="1000" dirty="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</a:t>
            </a:r>
            <a:r>
              <a:rPr lang="en-US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 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higher number of requests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Dynamic Pricing: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Incetivise by adjusting prices based on the number of special requests</a:t>
            </a:r>
            <a:endParaRPr lang="en" sz="1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Overbook rooms to compensate for the anticpated loss due to 0 request cancellations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Requirement prepayment for zero request rooms</a:t>
            </a:r>
          </a:p>
          <a:p>
            <a:pPr marL="596900" lvl="1" indent="0">
              <a:spcBef>
                <a:spcPts val="0"/>
              </a:spcBef>
              <a:buClr>
                <a:schemeClr val="dk1"/>
              </a:buClr>
              <a:buSzPts val="1400"/>
              <a:buNone/>
            </a:pP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0272086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15886a1dc9e_0_293"/>
          <p:cNvSpPr txBox="1">
            <a:spLocks noGrp="1"/>
          </p:cNvSpPr>
          <p:nvPr>
            <p:ph type="body" idx="1"/>
          </p:nvPr>
        </p:nvSpPr>
        <p:spPr>
          <a:xfrm>
            <a:off x="83560" y="861979"/>
            <a:ext cx="4488439" cy="2591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Examining </a:t>
            </a: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Check-in Month </a:t>
            </a: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and how it relates to </a:t>
            </a: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Cancelled Bookings</a:t>
            </a: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12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Summer through early fall is the peak travel season with the highest number of arrivals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Cancellations are noticeably increased during this period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July has the highest number of cancellations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offseason (November through March) has fewer cancellations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January has the lowest cancellation rate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-US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left-skewed (if not somewhat normalized) distribution, but in the case the distribution would change depending on which month we start our plots with</a:t>
            </a:r>
          </a:p>
        </p:txBody>
      </p:sp>
      <p:sp>
        <p:nvSpPr>
          <p:cNvPr id="307" name="Google Shape;307;g15886a1dc9e_0_293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- Bivariate Analysis – Effects of </a:t>
            </a:r>
            <a:r>
              <a:rPr lang="en-US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Check-in Month</a:t>
            </a: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08" name="Google Shape;308;g15886a1dc9e_0_29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81603" y="908947"/>
            <a:ext cx="3344449" cy="20753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g15886a1dc9e_0_29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15259" y="3057181"/>
            <a:ext cx="3210793" cy="16901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>
          <a:extLst>
            <a:ext uri="{FF2B5EF4-FFF2-40B4-BE49-F238E27FC236}">
              <a16:creationId xmlns:a16="http://schemas.microsoft.com/office/drawing/2014/main" id="{2C7BA08C-111D-5312-CAE4-FC6B62F04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5886a1dc9e_0_174">
            <a:extLst>
              <a:ext uri="{FF2B5EF4-FFF2-40B4-BE49-F238E27FC236}">
                <a16:creationId xmlns:a16="http://schemas.microsoft.com/office/drawing/2014/main" id="{68DC5960-FBBD-DA69-BC6D-F229CA6E987A}"/>
              </a:ext>
            </a:extLst>
          </p:cNvPr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- Effects of Check-in Month - 2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Google Shape;253;g2419b7728cb_0_127">
            <a:extLst>
              <a:ext uri="{FF2B5EF4-FFF2-40B4-BE49-F238E27FC236}">
                <a16:creationId xmlns:a16="http://schemas.microsoft.com/office/drawing/2014/main" id="{717CC54D-6927-E8E9-3B83-8F17F5AD1A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6973" y="910424"/>
            <a:ext cx="4728228" cy="3799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Explanations for how </a:t>
            </a: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Check-in Month </a:t>
            </a: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correlates to </a:t>
            </a: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Cancelled Bookings</a:t>
            </a: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This plot provides a clearer picture showing the bookings per month along with a stacked view of t</a:t>
            </a:r>
            <a:r>
              <a:rPr lang="en-US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cancelled/non-cancelled bookings and their percentages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Base on this view we can see that June – August have the highest percentage of calculations along with April (is that a school vacation month?)</a:t>
            </a:r>
          </a:p>
          <a:p>
            <a:pPr lvl="0" indent="-317500">
              <a:spcBef>
                <a:spcPts val="6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Higher Cancellations in Summer/Fall: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Peak season booked far in advance – cancellation more likely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time it takes to do so indicates a higher level of commitment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Vacaton plans often change from the time they are first booked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People will often shop around for better deals. </a:t>
            </a:r>
            <a:r>
              <a:rPr lang="en-US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 suitable cancellation penalties don’t exist, they will book the better deals</a:t>
            </a:r>
          </a:p>
          <a:p>
            <a:pPr lvl="0" indent="-317500">
              <a:spcBef>
                <a:spcPts val="6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Lower Cancellations in Winter: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Holiday/Family plans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– are often firmer plans (Christmas at grandmas)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Bookings are made closer to travel dates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Lower prices/more deals in the off season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Increased relative percentage of business/corporate bookings which are generally more reliable</a:t>
            </a:r>
            <a:endParaRPr lang="en" sz="1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" name="Google Shape;272;g15886a1dc9e_0_116">
            <a:extLst>
              <a:ext uri="{FF2B5EF4-FFF2-40B4-BE49-F238E27FC236}">
                <a16:creationId xmlns:a16="http://schemas.microsoft.com/office/drawing/2014/main" id="{7D1CAD9D-A270-A327-D0DB-C76A4AF7915A}"/>
              </a:ext>
            </a:extLst>
          </p:cNvPr>
          <p:cNvSpPr txBox="1"/>
          <p:nvPr/>
        </p:nvSpPr>
        <p:spPr>
          <a:xfrm>
            <a:off x="5023549" y="3933463"/>
            <a:ext cx="4151100" cy="927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X-axis: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Arrival (Check-in) month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Y-axis: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cancellations/non-cancellations (percentages)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Description: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Compares the client arrival month to the overall percentage of cancellations/non-cancellations at each request level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EE3354-7520-C74D-CDDF-5AAE3A28F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346" y="1132831"/>
            <a:ext cx="4109736" cy="275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8625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>
          <a:extLst>
            <a:ext uri="{FF2B5EF4-FFF2-40B4-BE49-F238E27FC236}">
              <a16:creationId xmlns:a16="http://schemas.microsoft.com/office/drawing/2014/main" id="{F9EED1B9-9D1E-2D7A-371E-34705012F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5886a1dc9e_0_174">
            <a:extLst>
              <a:ext uri="{FF2B5EF4-FFF2-40B4-BE49-F238E27FC236}">
                <a16:creationId xmlns:a16="http://schemas.microsoft.com/office/drawing/2014/main" id="{F5721161-7D19-2331-36FA-46B85DE54B9E}"/>
              </a:ext>
            </a:extLst>
          </p:cNvPr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- Effects of Booking Month 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Google Shape;253;g2419b7728cb_0_127">
            <a:extLst>
              <a:ext uri="{FF2B5EF4-FFF2-40B4-BE49-F238E27FC236}">
                <a16:creationId xmlns:a16="http://schemas.microsoft.com/office/drawing/2014/main" id="{3FDBBBE9-AE3D-8C6D-C889-65822897D2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45439" y="910424"/>
            <a:ext cx="8275599" cy="3799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Strategies for minimizing cancellation risks related with </a:t>
            </a: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Booking Month</a:t>
            </a: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12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Peak Season (June – October):</a:t>
            </a:r>
            <a:r>
              <a:rPr lang="en" sz="6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[Including April as school vacation month]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Stricter cancellation policies – reduce window for free cancellations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Shorten the booking window – release rooms with less lead time for booking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Non-refundable deposits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Automated customer follow up at predefined intervals before arrival date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Strategic overbooking – overbook rooms with the knowledge of the predicted cancellation rates</a:t>
            </a:r>
          </a:p>
          <a:p>
            <a:pPr lvl="0" indent="-317500">
              <a:spcBef>
                <a:spcPts val="6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Offseason (November – March):</a:t>
            </a: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Creative inclusive vacation stay packages (partner with other local businesses?)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Target more reliable booking segments (corporate, repeat clients)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Increase (bonus) customer loyalty programs</a:t>
            </a:r>
            <a:endParaRPr lang="en" sz="1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Lower room deposit requirements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Extended stay discounts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Last minute sales/deals to appeal to the more spontaneous travellers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11269414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>
          <a:extLst>
            <a:ext uri="{FF2B5EF4-FFF2-40B4-BE49-F238E27FC236}">
              <a16:creationId xmlns:a16="http://schemas.microsoft.com/office/drawing/2014/main" id="{00571E71-74C0-177E-3067-F70BA9513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15886a1dc9e_0_293">
            <a:extLst>
              <a:ext uri="{FF2B5EF4-FFF2-40B4-BE49-F238E27FC236}">
                <a16:creationId xmlns:a16="http://schemas.microsoft.com/office/drawing/2014/main" id="{E3752EC5-C925-3A66-6AF7-6E6849E545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4185" y="804301"/>
            <a:ext cx="8180485" cy="149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Examine how combined features of </a:t>
            </a: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Price Distribution </a:t>
            </a: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and </a:t>
            </a: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Market Segment</a:t>
            </a: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relate to </a:t>
            </a: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Cancelled Bookings</a:t>
            </a: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12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following plots illustrate the cancellation/non-cancellations by market segments across different ranges of room costs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Most bookings occur in the $51 - $150 price range in the Online/Offline market segments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Consequently most cancellations occur in these ranges as well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sym typeface="Century Gothic"/>
              </a:rPr>
              <a:t>T</a:t>
            </a:r>
            <a:r>
              <a:rPr lang="en-US" sz="1000" dirty="0">
                <a:solidFill>
                  <a:schemeClr val="dk1"/>
                </a:solidFill>
                <a:latin typeface="Century Gothic"/>
                <a:sym typeface="Century Gothic"/>
              </a:rPr>
              <a:t>h</a:t>
            </a:r>
            <a:r>
              <a:rPr lang="en" sz="1000" dirty="0">
                <a:solidFill>
                  <a:schemeClr val="dk1"/>
                </a:solidFill>
                <a:latin typeface="Century Gothic"/>
                <a:sym typeface="Century Gothic"/>
              </a:rPr>
              <a:t>ere is a spike in number of online bookings in the highest price ranges (&gt; $150)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sym typeface="Century Gothic"/>
              </a:rPr>
              <a:t>Few rooms are offered under $50, so there are few bookings and few cancellations</a:t>
            </a:r>
            <a:endParaRPr lang="en-US" sz="1000" dirty="0"/>
          </a:p>
        </p:txBody>
      </p:sp>
      <p:sp>
        <p:nvSpPr>
          <p:cNvPr id="307" name="Google Shape;307;g15886a1dc9e_0_293">
            <a:extLst>
              <a:ext uri="{FF2B5EF4-FFF2-40B4-BE49-F238E27FC236}">
                <a16:creationId xmlns:a16="http://schemas.microsoft.com/office/drawing/2014/main" id="{028C44FA-3198-70E7-3C2E-77E1A3243638}"/>
              </a:ext>
            </a:extLst>
          </p:cNvPr>
          <p:cNvSpPr txBox="1"/>
          <p:nvPr/>
        </p:nvSpPr>
        <p:spPr>
          <a:xfrm>
            <a:off x="554959" y="59498"/>
            <a:ext cx="8520600" cy="870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0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- Multivariate Analysis – </a:t>
            </a:r>
            <a:r>
              <a:rPr lang="en-US" sz="20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Comparing </a:t>
            </a:r>
            <a:r>
              <a:rPr lang="en-US" sz="2000" b="1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Booking Status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000" b="1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by Price Distribution and Market Segment</a:t>
            </a:r>
            <a:endParaRPr sz="20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45D627-F05A-9190-0907-6C5C25299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505" y="2323578"/>
            <a:ext cx="7420989" cy="255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00055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>
          <a:extLst>
            <a:ext uri="{FF2B5EF4-FFF2-40B4-BE49-F238E27FC236}">
              <a16:creationId xmlns:a16="http://schemas.microsoft.com/office/drawing/2014/main" id="{4692DA03-6E31-059D-A9FA-A2B4E930A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15886a1dc9e_0_293">
            <a:extLst>
              <a:ext uri="{FF2B5EF4-FFF2-40B4-BE49-F238E27FC236}">
                <a16:creationId xmlns:a16="http://schemas.microsoft.com/office/drawing/2014/main" id="{8119ED1B-7175-806B-596C-99E67493E4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9134" y="930057"/>
            <a:ext cx="4341258" cy="3713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Price Distribution </a:t>
            </a: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and </a:t>
            </a: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Market Segment</a:t>
            </a: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as related to </a:t>
            </a: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Cancelled Bookings</a:t>
            </a: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12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Prices are consistent within market segments</a:t>
            </a:r>
            <a:endParaRPr lang="en" sz="6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Price ranges generally stay consistent within market segments regardless of booking status</a:t>
            </a:r>
          </a:p>
          <a:p>
            <a:pPr lvl="0" indent="-317500">
              <a:spcBef>
                <a:spcPts val="6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Price isn’t affected by cancellations:</a:t>
            </a:r>
            <a:endParaRPr lang="en" sz="6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Cancelled/non-cancelled have identical price distributions across all individual market segments</a:t>
            </a:r>
          </a:p>
          <a:p>
            <a:pPr lvl="0" indent="-317500">
              <a:spcBef>
                <a:spcPts val="6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Offline prices have highest variability:</a:t>
            </a:r>
            <a:endParaRPr lang="en" sz="6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Offline prices have the highest price ranges ($50 - $550) for both cancelled and non-cancelled bookings</a:t>
            </a:r>
          </a:p>
          <a:p>
            <a:pPr lvl="0" indent="-317500">
              <a:spcBef>
                <a:spcPts val="6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All price levels seem to cancel equally:</a:t>
            </a:r>
            <a:endParaRPr lang="en" sz="6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Expensive and cheaper bookings cancel at the same rates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This proves price does not predicitive of cancellation</a:t>
            </a:r>
          </a:p>
          <a:p>
            <a:pPr marL="596900" lvl="1" indent="0">
              <a:spcBef>
                <a:spcPts val="0"/>
              </a:spcBef>
              <a:buClr>
                <a:schemeClr val="dk1"/>
              </a:buClr>
              <a:buSzPts val="1400"/>
              <a:buNone/>
            </a:pP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spcBef>
                <a:spcPts val="6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Recommendations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Since price doesn’t have a predicitive impact on cancellations, more research needs to be done to identify other cancellation reduction strategies</a:t>
            </a:r>
          </a:p>
        </p:txBody>
      </p:sp>
      <p:sp>
        <p:nvSpPr>
          <p:cNvPr id="307" name="Google Shape;307;g15886a1dc9e_0_293">
            <a:extLst>
              <a:ext uri="{FF2B5EF4-FFF2-40B4-BE49-F238E27FC236}">
                <a16:creationId xmlns:a16="http://schemas.microsoft.com/office/drawing/2014/main" id="{51EEA2A1-486A-0FA3-5519-12C0EF6F17C8}"/>
              </a:ext>
            </a:extLst>
          </p:cNvPr>
          <p:cNvSpPr txBox="1"/>
          <p:nvPr/>
        </p:nvSpPr>
        <p:spPr>
          <a:xfrm>
            <a:off x="554959" y="59498"/>
            <a:ext cx="8520600" cy="870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0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- Multivariate Analysis – </a:t>
            </a:r>
            <a:r>
              <a:rPr lang="en-US" sz="20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Comparing </a:t>
            </a:r>
            <a:r>
              <a:rPr lang="en-US" sz="2000" b="1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Booking Status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000" b="1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by Price Distribution and Market Segment</a:t>
            </a:r>
            <a:endParaRPr sz="20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671D45-BE0F-86E2-A5EB-2B039B5F9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339" y="720237"/>
            <a:ext cx="3843285" cy="19070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6180ED-D6A8-6403-4351-926090D96B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1338" y="2698657"/>
            <a:ext cx="3843286" cy="1907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2685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44d23124c0_1_11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Results EDA - Bivariate Analysis</a:t>
            </a:r>
            <a:endParaRPr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5" name="Google Shape;315;g244d23124c0_1_11"/>
          <p:cNvSpPr txBox="1">
            <a:spLocks noGrp="1"/>
          </p:cNvSpPr>
          <p:nvPr>
            <p:ph type="body" idx="1"/>
          </p:nvPr>
        </p:nvSpPr>
        <p:spPr>
          <a:xfrm>
            <a:off x="202550" y="770352"/>
            <a:ext cx="8629800" cy="415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3350" indent="0">
              <a:buNone/>
            </a:pPr>
            <a:r>
              <a:rPr lang="en-US" sz="1800" b="1" u="sng" dirty="0"/>
              <a:t>Key Findings - Bivariate Analysis</a:t>
            </a:r>
          </a:p>
          <a:p>
            <a:pPr marL="133350" indent="0">
              <a:spcBef>
                <a:spcPts val="600"/>
              </a:spcBef>
              <a:buNone/>
            </a:pPr>
            <a:r>
              <a:rPr lang="en-US" sz="1200" b="1" dirty="0"/>
              <a:t>Price vs Cancellations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Room prices have no impact on number of cancellations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Expensive and lower priced rooms are cancelled at roughly the same rate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Cancelled and non-cancelled rooms have identical distributions across market segments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Price is not a predictor of client cancellations</a:t>
            </a:r>
          </a:p>
          <a:p>
            <a:pPr marL="133350" indent="0">
              <a:spcBef>
                <a:spcPts val="600"/>
              </a:spcBef>
              <a:buNone/>
            </a:pPr>
            <a:r>
              <a:rPr lang="en-US" sz="1200" b="1" dirty="0"/>
              <a:t>Special Requests vs Cancellations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Zero (0) requests have a 43% cancellation rate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As number of requests increases, the likely of cancellation decreases substantially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Customers making special requests are more engaged and committed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Business and frequent guests make more requests and cancel less often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Business trips and special events (weddings, conferences) are less likely to be cancelled</a:t>
            </a:r>
          </a:p>
          <a:p>
            <a:pPr lvl="1">
              <a:spcBef>
                <a:spcPts val="600"/>
              </a:spcBef>
            </a:pPr>
            <a:endParaRPr lang="en-US" sz="1400" dirty="0"/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endParaRPr sz="14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>
          <a:extLst>
            <a:ext uri="{FF2B5EF4-FFF2-40B4-BE49-F238E27FC236}">
              <a16:creationId xmlns:a16="http://schemas.microsoft.com/office/drawing/2014/main" id="{D4EA81EC-82A3-D239-6619-8CC2AFF04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44d23124c0_1_11">
            <a:extLst>
              <a:ext uri="{FF2B5EF4-FFF2-40B4-BE49-F238E27FC236}">
                <a16:creationId xmlns:a16="http://schemas.microsoft.com/office/drawing/2014/main" id="{101B70E3-B100-46F8-C52D-EA58847711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Results EDA - Bivariate Analysis</a:t>
            </a:r>
            <a:endParaRPr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5" name="Google Shape;315;g244d23124c0_1_11">
            <a:extLst>
              <a:ext uri="{FF2B5EF4-FFF2-40B4-BE49-F238E27FC236}">
                <a16:creationId xmlns:a16="http://schemas.microsoft.com/office/drawing/2014/main" id="{B289116D-7FAE-157A-F2E1-4297460315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2550" y="770352"/>
            <a:ext cx="8629800" cy="415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3350" indent="0">
              <a:spcBef>
                <a:spcPts val="600"/>
              </a:spcBef>
              <a:buNone/>
            </a:pPr>
            <a:endParaRPr lang="en-US" sz="1200" b="1" dirty="0"/>
          </a:p>
          <a:p>
            <a:pPr marL="133350" indent="0">
              <a:spcBef>
                <a:spcPts val="600"/>
              </a:spcBef>
              <a:buNone/>
            </a:pPr>
            <a:r>
              <a:rPr lang="en-US" sz="1200" b="1" dirty="0"/>
              <a:t>Market Segments vs Cancellations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Online (~36% cancelled)  Offline (~30% cancelled) bookings for roughly 95% of all cancellations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Corporate (~10% cancelled) are a more reliable booking source – same could be probably said of frequent return clients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Aviation bookings have minimal cancellations - standard contractual rooms - (unless flights outright cancelled) 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Comped rooms don’t get cancelled (but mismanaged can negatively affect bottom line)</a:t>
            </a:r>
          </a:p>
          <a:p>
            <a:pPr marL="133350" indent="0">
              <a:spcBef>
                <a:spcPts val="600"/>
              </a:spcBef>
              <a:buNone/>
            </a:pPr>
            <a:r>
              <a:rPr lang="en-US" sz="1200" b="1" dirty="0"/>
              <a:t>Special Requests vs Cancellations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Zero (0) requests have a 43% cancellation rate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As number of requests increases, the likely of cancellation decreases substantially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Customers making special requests are more engaged and committed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Business and frequent guests make more requests and cancel less often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Business trips and special events (weddings, conferences) are less likely to be cancelled</a:t>
            </a:r>
          </a:p>
          <a:p>
            <a:pPr marL="133350" indent="0">
              <a:spcBef>
                <a:spcPts val="600"/>
              </a:spcBef>
              <a:buNone/>
            </a:pPr>
            <a:r>
              <a:rPr lang="en-US" sz="1200" b="1" dirty="0"/>
              <a:t>Booking Lead Time vs Cancellations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Shorter lead times have higher rates of cancellations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Same day booking has highest risk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Longer lead times have lower rates of cancellations – more invested travelers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Right skewed distribution with most bookings occurring within 100 days of check-in</a:t>
            </a:r>
          </a:p>
          <a:p>
            <a:pPr lvl="1">
              <a:spcBef>
                <a:spcPts val="600"/>
              </a:spcBef>
            </a:pPr>
            <a:endParaRPr lang="en-US" sz="1400" dirty="0"/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endParaRPr sz="14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442365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>
          <a:extLst>
            <a:ext uri="{FF2B5EF4-FFF2-40B4-BE49-F238E27FC236}">
              <a16:creationId xmlns:a16="http://schemas.microsoft.com/office/drawing/2014/main" id="{2F36AB83-1736-3227-7168-C82B88E4F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44d23124c0_1_11">
            <a:extLst>
              <a:ext uri="{FF2B5EF4-FFF2-40B4-BE49-F238E27FC236}">
                <a16:creationId xmlns:a16="http://schemas.microsoft.com/office/drawing/2014/main" id="{4048FC1B-1FC2-C623-C3A4-168D3B8837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Results EDA - Bivariate Analysis</a:t>
            </a:r>
            <a:endParaRPr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5" name="Google Shape;315;g244d23124c0_1_11">
            <a:extLst>
              <a:ext uri="{FF2B5EF4-FFF2-40B4-BE49-F238E27FC236}">
                <a16:creationId xmlns:a16="http://schemas.microsoft.com/office/drawing/2014/main" id="{0DE5CA39-2F24-A18F-4EB1-A493FF91BF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2550" y="770352"/>
            <a:ext cx="8629800" cy="415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3350" indent="0">
              <a:buNone/>
            </a:pPr>
            <a:r>
              <a:rPr lang="en-US" sz="1800" b="1" u="sng" dirty="0"/>
              <a:t>Key Findings - Bivariate Analysis</a:t>
            </a:r>
          </a:p>
          <a:p>
            <a:pPr marL="133350" indent="0">
              <a:spcBef>
                <a:spcPts val="600"/>
              </a:spcBef>
              <a:buNone/>
            </a:pPr>
            <a:r>
              <a:rPr lang="en-US" sz="1200" b="1" dirty="0"/>
              <a:t>Check-in Month vs Cancellations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Peak season for cancellations is June-0ctober (summer season when most bookings occur)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Peak season bookings tend to have longer lead times, vacation plans subject to change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July is peak month for cancellations in terms of percentage of months booking (~46%)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October is the worst month for the overall number of cancellations (~1400)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Off-peak is November – April has cancellations in total or ~25% of the period’s bookings (886 of 3423 bookings cancelled)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Winter months have shorter lead times and firmer plans (holidays, special occasions, corporate bookings)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December has the fewest number of cancellations (13% of monthly bookings)</a:t>
            </a:r>
          </a:p>
          <a:p>
            <a:pPr marL="133350" indent="0">
              <a:spcBef>
                <a:spcPts val="600"/>
              </a:spcBef>
              <a:buNone/>
            </a:pPr>
            <a:r>
              <a:rPr lang="en-US" sz="1200" b="1" dirty="0"/>
              <a:t>Revenue Impacts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Cancellation rates have highest impact on peak booking months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Online/Offline market segments account for highest percentage and number of cancellations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October is the worst month in terms of negative revenue impact due to cancellations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Corporate and Aviation bookings are the most predictable and reliable</a:t>
            </a:r>
          </a:p>
          <a:p>
            <a:pPr lvl="1">
              <a:spcBef>
                <a:spcPts val="200"/>
              </a:spcBef>
            </a:pPr>
            <a:endParaRPr lang="en-US" sz="1000" dirty="0"/>
          </a:p>
          <a:p>
            <a:pPr lvl="1">
              <a:spcBef>
                <a:spcPts val="600"/>
              </a:spcBef>
            </a:pPr>
            <a:endParaRPr lang="en-US" sz="1400" dirty="0"/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endParaRPr sz="14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382563404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44d23124c0_1_153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 Performance Evaluation Decision Tree</a:t>
            </a:r>
            <a:endParaRPr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1" name="Google Shape;321;g244d23124c0_1_153"/>
          <p:cNvSpPr txBox="1">
            <a:spLocks noGrp="1"/>
          </p:cNvSpPr>
          <p:nvPr>
            <p:ph type="body" idx="1"/>
          </p:nvPr>
        </p:nvSpPr>
        <p:spPr>
          <a:xfrm>
            <a:off x="468729" y="1840640"/>
            <a:ext cx="7563586" cy="284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Accuracy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 accuracy with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Training data: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99.65%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but lower with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Test data: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83.20%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gap of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16.45% 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indicates significant overfitting is taking place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 is nearly perfect with the training data, but drops significantly with the test data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Whatever the model learned on the training doesn’t apply well to the (new) test data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Precision</a:t>
            </a:r>
            <a:endParaRPr lang="en" sz="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 precision with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Training: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99.47%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but significantly lower with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Test: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73.23%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very large gap of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26.24% 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indicates a large number of false positives on test data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Recall</a:t>
            </a:r>
            <a:endParaRPr lang="en" sz="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 recall with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Training: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99.47%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but significantly lower with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Test: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76.66%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Gap between training and test is high at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22.70%</a:t>
            </a: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 identified training cancellations well, but had issues with test data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Assessment/Course of Action</a:t>
            </a:r>
            <a:endParaRPr lang="en" sz="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model scored poorly on test data as evidenced by the large percentage gaps 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model is too complicated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Apply pruning techniques to help simplify the model</a:t>
            </a:r>
          </a:p>
          <a:p>
            <a:pPr marL="596900" lvl="1" indent="0">
              <a:spcBef>
                <a:spcPts val="0"/>
              </a:spcBef>
              <a:buClr>
                <a:schemeClr val="dk1"/>
              </a:buClr>
              <a:buSzPts val="1400"/>
              <a:buNone/>
            </a:pPr>
            <a:endParaRPr lang="en" sz="1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322" name="Google Shape;322;g244d23124c0_1_153"/>
          <p:cNvGraphicFramePr/>
          <p:nvPr>
            <p:extLst>
              <p:ext uri="{D42A27DB-BD31-4B8C-83A1-F6EECF244321}">
                <p14:modId xmlns:p14="http://schemas.microsoft.com/office/powerpoint/2010/main" val="197987201"/>
              </p:ext>
            </p:extLst>
          </p:nvPr>
        </p:nvGraphicFramePr>
        <p:xfrm>
          <a:off x="655479" y="927147"/>
          <a:ext cx="6392525" cy="848325"/>
        </p:xfrm>
        <a:graphic>
          <a:graphicData uri="http://schemas.openxmlformats.org/drawingml/2006/table">
            <a:tbl>
              <a:tblPr firstRow="1" bandRow="1">
                <a:noFill/>
                <a:tableStyleId>{DC789D89-7B42-48A2-8941-39F5C445BB0A}</a:tableStyleId>
              </a:tblPr>
              <a:tblGrid>
                <a:gridCol w="123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9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4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3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3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3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0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Model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Train Accuracy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Test Accuracy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Train Recall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Test Recall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Train Precision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Test Precision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Decision Tree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99.65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83.20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99.47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76.77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99.47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73.23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4937ead0e2_0_20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 Performance Evaluation Decision Tree</a:t>
            </a:r>
            <a:endParaRPr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29" name="Google Shape;329;g24937ead0e2_0_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251" y="418090"/>
            <a:ext cx="4593669" cy="201274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21;g244d23124c0_1_153">
            <a:extLst>
              <a:ext uri="{FF2B5EF4-FFF2-40B4-BE49-F238E27FC236}">
                <a16:creationId xmlns:a16="http://schemas.microsoft.com/office/drawing/2014/main" id="{D607396B-E0C1-B2D0-D200-907AABE48C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9210" y="2352545"/>
            <a:ext cx="7609910" cy="2442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9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Decision Tree Weighting:</a:t>
            </a:r>
          </a:p>
          <a:p>
            <a:pPr lvl="0" indent="-317500">
              <a:spcBef>
                <a:spcPts val="6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Top Weight Features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-GB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Lead Time (most significant), Weekend Nights, Weekday Nights, Price, Arrival Date</a:t>
            </a: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Medium Weight Features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Arrival Month, Meal Plan, Room Type, Number of Adults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Low Weight Features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Remaining features have low weight and minimal influence</a:t>
            </a:r>
            <a:endParaRPr lang="en" sz="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9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Analysis:</a:t>
            </a:r>
          </a:p>
          <a:p>
            <a:pPr lvl="0" indent="-317500">
              <a:spcBef>
                <a:spcPts val="6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Over-relied on Lead Time which resulted in splitting in multiple tree levels which caused overfitting</a:t>
            </a:r>
          </a:p>
          <a:p>
            <a:pPr lvl="0" indent="-317500">
              <a:spcBef>
                <a:spcPts val="2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Emphasizes arrival date above arrival month</a:t>
            </a:r>
          </a:p>
          <a:p>
            <a:pPr lvl="0" indent="-317500">
              <a:spcBef>
                <a:spcPts val="2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Ignored more critical features such as Special Requests, Market Segment and customer history</a:t>
            </a:r>
          </a:p>
          <a:p>
            <a:pPr lvl="0" indent="-317500">
              <a:spcBef>
                <a:spcPts val="2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Redo weighting to put more emphasis on neglected features and less on weaker cancellation indicators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44d23124c0_1_181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 Performance Evaluation Pruned Decision Tree</a:t>
            </a:r>
            <a:endParaRPr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336" name="Google Shape;336;g244d23124c0_1_181"/>
          <p:cNvGraphicFramePr/>
          <p:nvPr>
            <p:extLst>
              <p:ext uri="{D42A27DB-BD31-4B8C-83A1-F6EECF244321}">
                <p14:modId xmlns:p14="http://schemas.microsoft.com/office/powerpoint/2010/main" val="1515059784"/>
              </p:ext>
            </p:extLst>
          </p:nvPr>
        </p:nvGraphicFramePr>
        <p:xfrm>
          <a:off x="472859" y="837957"/>
          <a:ext cx="6644052" cy="1134926"/>
        </p:xfrm>
        <a:graphic>
          <a:graphicData uri="http://schemas.openxmlformats.org/drawingml/2006/table">
            <a:tbl>
              <a:tblPr firstRow="1" bandRow="1">
                <a:noFill/>
                <a:tableStyleId>{DC789D89-7B42-48A2-8941-39F5C445BB0A}</a:tableStyleId>
              </a:tblPr>
              <a:tblGrid>
                <a:gridCol w="1281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60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91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91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91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767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          </a:ext>
                          </a:extLst>
                        </a:rPr>
                        <a:t>Model 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Train Accuracy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Test Accuracy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Train Recall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Test Recall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Train Precision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Test Precision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24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Decision Tree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99.65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83.20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99.47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76.77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99.47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73.23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67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Decision Tree  Pruned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95.64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84.34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90.77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76.09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95.69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76.09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Google Shape;321;g244d23124c0_1_153">
            <a:extLst>
              <a:ext uri="{FF2B5EF4-FFF2-40B4-BE49-F238E27FC236}">
                <a16:creationId xmlns:a16="http://schemas.microsoft.com/office/drawing/2014/main" id="{301B1525-68CC-5684-7C25-DE944A65E4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1090" y="1970288"/>
            <a:ext cx="8629650" cy="2442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Pruned Decision Tree:</a:t>
            </a:r>
          </a:p>
          <a:p>
            <a:pPr lvl="0" indent="-317500">
              <a:spcBef>
                <a:spcPts val="6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Accuracy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 accuracy with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Training data: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95.64%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with improved but still low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Test data: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84.34%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gap of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11.30% 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indicates moderate overfitting is taking place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Precision</a:t>
            </a:r>
            <a:endParaRPr lang="en" sz="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 precision with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Training: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95.69%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but significantly lower with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Test: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76.09%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gap of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19.</a:t>
            </a:r>
            <a:r>
              <a:rPr lang="en-GB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60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% 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indicates a large number of false positives on test data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Significant overfitting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Recall</a:t>
            </a:r>
            <a:endParaRPr lang="en" sz="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 recall with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Training: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90.77%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but significantly lower with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Test: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76.09%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Gap between training and test is high at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14.68%</a:t>
            </a: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 identified training cancellations well, but had issues with test data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Borderline moderate overfitting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>
          <a:extLst>
            <a:ext uri="{FF2B5EF4-FFF2-40B4-BE49-F238E27FC236}">
              <a16:creationId xmlns:a16="http://schemas.microsoft.com/office/drawing/2014/main" id="{D5E9C8E1-C935-1D69-32C1-B5147AA8D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44d23124c0_1_181">
            <a:extLst>
              <a:ext uri="{FF2B5EF4-FFF2-40B4-BE49-F238E27FC236}">
                <a16:creationId xmlns:a16="http://schemas.microsoft.com/office/drawing/2014/main" id="{F2B90BED-9D12-3E3D-9B3C-3488A10D6E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 Performance Evaluation Pruned Decision Tree</a:t>
            </a:r>
            <a:endParaRPr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" name="Google Shape;321;g244d23124c0_1_153">
            <a:extLst>
              <a:ext uri="{FF2B5EF4-FFF2-40B4-BE49-F238E27FC236}">
                <a16:creationId xmlns:a16="http://schemas.microsoft.com/office/drawing/2014/main" id="{B9808739-EDC9-D4F5-9B7B-DCF6F776F6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34723" y="933759"/>
            <a:ext cx="8629650" cy="2983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Decision Tree/Pruned Tree Comparisons:</a:t>
            </a:r>
          </a:p>
          <a:p>
            <a:pPr lvl="0" indent="-317500">
              <a:spcBef>
                <a:spcPts val="6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Accuracy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gap improved by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5.2%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still needs improvement</a:t>
            </a:r>
            <a:endParaRPr lang="en" sz="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Precision</a:t>
            </a:r>
            <a:endParaRPr lang="en" sz="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-GB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Gap improved by </a:t>
            </a:r>
            <a:r>
              <a:rPr lang="en-GB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6.6%</a:t>
            </a:r>
            <a:r>
              <a:rPr lang="en-GB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still needs improvement</a:t>
            </a:r>
            <a:endParaRPr lang="en" sz="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Recall</a:t>
            </a:r>
            <a:endParaRPr lang="en" sz="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Gap improved by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8.0%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but needs improvement</a:t>
            </a:r>
            <a:endParaRPr lang="en" sz="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Assessment/Course of Action</a:t>
            </a:r>
            <a:endParaRPr lang="en" sz="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Pruning reduced overfitting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gaps are better for Pruned Decision Tree, but still high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Another round of pruning to further simplify and improve the model?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Try Random Forest as a different approach</a:t>
            </a:r>
            <a:endParaRPr lang="en" sz="1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99038564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244d23124c0_1_167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 Performance Evaluation Random Forest</a:t>
            </a:r>
            <a:endParaRPr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343" name="Google Shape;343;g244d23124c0_1_167"/>
          <p:cNvGraphicFramePr/>
          <p:nvPr>
            <p:extLst>
              <p:ext uri="{D42A27DB-BD31-4B8C-83A1-F6EECF244321}">
                <p14:modId xmlns:p14="http://schemas.microsoft.com/office/powerpoint/2010/main" val="4149014994"/>
              </p:ext>
            </p:extLst>
          </p:nvPr>
        </p:nvGraphicFramePr>
        <p:xfrm>
          <a:off x="336639" y="787721"/>
          <a:ext cx="6392525" cy="738676"/>
        </p:xfrm>
        <a:graphic>
          <a:graphicData uri="http://schemas.openxmlformats.org/drawingml/2006/table">
            <a:tbl>
              <a:tblPr firstRow="1" bandRow="1">
                <a:noFill/>
                <a:tableStyleId>{DC789D89-7B42-48A2-8941-39F5C445BB0A}</a:tableStyleId>
              </a:tblPr>
              <a:tblGrid>
                <a:gridCol w="123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9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4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3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3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3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337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Model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Train Accuracy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Test Accuracy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Train Recall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Test Recall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Train Precision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Test Precision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Random Forest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98.47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87.94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96.44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77.10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98.87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84.71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Google Shape;321;g244d23124c0_1_153">
            <a:extLst>
              <a:ext uri="{FF2B5EF4-FFF2-40B4-BE49-F238E27FC236}">
                <a16:creationId xmlns:a16="http://schemas.microsoft.com/office/drawing/2014/main" id="{2453E408-55FD-6158-90A8-F6042498A1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36639" y="1715380"/>
            <a:ext cx="8307900" cy="284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Accuracy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 accuracy with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Training data: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98.47%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but lower with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Test data: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87.94%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gap of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10.53% 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indicates moderate overfitting is taking place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Precision</a:t>
            </a:r>
            <a:endParaRPr lang="en" sz="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 precision with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Training: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98.87%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but significantly lower with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Test: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84.71%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gap of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14.16%  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is better, but still considered high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Moderate overfitting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Recall</a:t>
            </a:r>
            <a:endParaRPr lang="en" sz="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 recall with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Training: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96.44%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but significantly lower with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Test: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77.10%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Gap between training and test is still high at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19.34%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Significant overfitting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Assessment/Course of Action</a:t>
            </a:r>
            <a:endParaRPr lang="en" sz="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 performed better than Decision Tree/Pruned Decision Tree except for Recall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Overfitting is taking place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Try Prunded Random Forest next</a:t>
            </a:r>
          </a:p>
          <a:p>
            <a:pPr marL="596900" lvl="1" indent="0">
              <a:spcBef>
                <a:spcPts val="0"/>
              </a:spcBef>
              <a:buClr>
                <a:schemeClr val="dk1"/>
              </a:buClr>
              <a:buSzPts val="1400"/>
              <a:buNone/>
            </a:pPr>
            <a:endParaRPr lang="en" sz="1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4937ead0e2_0_30"/>
          <p:cNvSpPr txBox="1">
            <a:spLocks noGrp="1"/>
          </p:cNvSpPr>
          <p:nvPr>
            <p:ph type="title"/>
          </p:nvPr>
        </p:nvSpPr>
        <p:spPr>
          <a:xfrm>
            <a:off x="233865" y="7633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 Performance Evaluation Random Forest</a:t>
            </a:r>
            <a:endParaRPr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50" name="Google Shape;350;g24937ead0e2_0_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9547" y="561353"/>
            <a:ext cx="5048898" cy="215221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21;g244d23124c0_1_153">
            <a:extLst>
              <a:ext uri="{FF2B5EF4-FFF2-40B4-BE49-F238E27FC236}">
                <a16:creationId xmlns:a16="http://schemas.microsoft.com/office/drawing/2014/main" id="{0B8590CE-9102-C174-F999-E6BC1FF926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2237" y="2740851"/>
            <a:ext cx="7609910" cy="2442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9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Random Forest Weighting:</a:t>
            </a:r>
          </a:p>
          <a:p>
            <a:pPr lvl="0" indent="-317500">
              <a:spcBef>
                <a:spcPts val="6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Top Weight Features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-GB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Lead Time (most significant), Room Price, Arrival Date, Weeknights Nights, Arrival Month, Weekend Nights</a:t>
            </a: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Medium Weight Features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Number of Adults, Meal Plan, Room T</a:t>
            </a:r>
            <a:r>
              <a:rPr lang="en-US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pe, Special Requests, Market Segmentsegment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Low Weight Features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Remaining features have low weight and minimal influence</a:t>
            </a:r>
            <a:endParaRPr lang="en" sz="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9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Analysis:</a:t>
            </a:r>
          </a:p>
          <a:p>
            <a:pPr lvl="0" indent="-317500">
              <a:spcBef>
                <a:spcPts val="6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Lead Time is still the top weighted feature similar to Decision Tree, Random Forest did not reduce it’s effect, still overfitting</a:t>
            </a:r>
          </a:p>
          <a:p>
            <a:pPr lvl="0" indent="-317500">
              <a:spcBef>
                <a:spcPts val="2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Room price made more significant </a:t>
            </a:r>
          </a:p>
          <a:p>
            <a:pPr lvl="0" indent="-317500">
              <a:spcBef>
                <a:spcPts val="2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Still emphasizes arrival date above arrival month</a:t>
            </a:r>
          </a:p>
          <a:p>
            <a:pPr lvl="0" indent="-317500">
              <a:spcBef>
                <a:spcPts val="2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Special Requests, Market Segment and customer history are still ignored</a:t>
            </a:r>
          </a:p>
          <a:p>
            <a:pPr lvl="0" indent="-317500">
              <a:spcBef>
                <a:spcPts val="2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Redo weighting to put more emphasis on neglected features and less on weaker cancellation indicators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244d23124c0_1_174"/>
          <p:cNvSpPr txBox="1">
            <a:spLocks noGrp="1"/>
          </p:cNvSpPr>
          <p:nvPr>
            <p:ph type="title"/>
          </p:nvPr>
        </p:nvSpPr>
        <p:spPr>
          <a:xfrm>
            <a:off x="202550" y="1368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 Performance Evaluation Pruned Random Forest</a:t>
            </a:r>
            <a:endParaRPr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357" name="Google Shape;357;g244d23124c0_1_174"/>
          <p:cNvGraphicFramePr/>
          <p:nvPr>
            <p:extLst>
              <p:ext uri="{D42A27DB-BD31-4B8C-83A1-F6EECF244321}">
                <p14:modId xmlns:p14="http://schemas.microsoft.com/office/powerpoint/2010/main" val="1241854994"/>
              </p:ext>
            </p:extLst>
          </p:nvPr>
        </p:nvGraphicFramePr>
        <p:xfrm>
          <a:off x="677412" y="646936"/>
          <a:ext cx="6392525" cy="1134926"/>
        </p:xfrm>
        <a:graphic>
          <a:graphicData uri="http://schemas.openxmlformats.org/drawingml/2006/table">
            <a:tbl>
              <a:tblPr firstRow="1" bandRow="1">
                <a:noFill/>
                <a:tableStyleId>{DC789D89-7B42-48A2-8941-39F5C445BB0A}</a:tableStyleId>
              </a:tblPr>
              <a:tblGrid>
                <a:gridCol w="123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9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4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3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3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3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906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          </a:ext>
                          </a:extLst>
                        </a:rPr>
                        <a:t>Model 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Train Accuracy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Test Accuracy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Train Recall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Test Recall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Train Precision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Test Precision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29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Random Forest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98.47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87.94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96.44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77.10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98.87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84.71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06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Random Forest - Pruned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87.32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85.04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69.86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66.22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89.09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84.77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Google Shape;321;g244d23124c0_1_153">
            <a:extLst>
              <a:ext uri="{FF2B5EF4-FFF2-40B4-BE49-F238E27FC236}">
                <a16:creationId xmlns:a16="http://schemas.microsoft.com/office/drawing/2014/main" id="{E6742630-2FD7-EC21-0882-2D0BF68956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7353" y="1829370"/>
            <a:ext cx="8629650" cy="2442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Pruned Random Forest:</a:t>
            </a:r>
          </a:p>
          <a:p>
            <a:pPr lvl="0" indent="-317500">
              <a:spcBef>
                <a:spcPts val="6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Accuracy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Training data: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87.32%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with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Test data: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85.04%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gap is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2.28% 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with minimal overfitting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Precision</a:t>
            </a:r>
            <a:endParaRPr lang="en" sz="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Training: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89.09%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with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Test: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84.77%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gap of </a:t>
            </a:r>
            <a:r>
              <a:rPr lang="en-GB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4.32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% 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with minimal overfitting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Recall</a:t>
            </a:r>
            <a:endParaRPr lang="en" sz="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Training: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69.86%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with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Test: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66.22%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Gap is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3.64% 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with minimal overfitting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Recall is low though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>
          <a:extLst>
            <a:ext uri="{FF2B5EF4-FFF2-40B4-BE49-F238E27FC236}">
              <a16:creationId xmlns:a16="http://schemas.microsoft.com/office/drawing/2014/main" id="{188B583F-EC06-ADCA-E022-E8A7EA7CE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244d23124c0_1_174">
            <a:extLst>
              <a:ext uri="{FF2B5EF4-FFF2-40B4-BE49-F238E27FC236}">
                <a16:creationId xmlns:a16="http://schemas.microsoft.com/office/drawing/2014/main" id="{D32BAEAB-EB48-88C3-53FD-B86869C637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550" y="1368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 Performance Evaluation Pruned Random Forest</a:t>
            </a:r>
            <a:endParaRPr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" name="Google Shape;321;g244d23124c0_1_153">
            <a:extLst>
              <a:ext uri="{FF2B5EF4-FFF2-40B4-BE49-F238E27FC236}">
                <a16:creationId xmlns:a16="http://schemas.microsoft.com/office/drawing/2014/main" id="{2AD0442D-98F5-ED40-B986-D0911C960D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43677" y="744613"/>
            <a:ext cx="8307900" cy="307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Clr>
                <a:schemeClr val="dk1"/>
              </a:buClr>
              <a:buSzPts val="1400"/>
              <a:buNone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Random Forest/Pruned Random Forest Comparisons: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10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Accuracy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Improved with pruning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Precision</a:t>
            </a:r>
            <a:endParaRPr lang="en" sz="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Improved with pruning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Recall</a:t>
            </a:r>
            <a:endParaRPr lang="en" sz="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Improved with pruning</a:t>
            </a:r>
          </a:p>
          <a:p>
            <a:pPr lvl="0" indent="-317500">
              <a:spcBef>
                <a:spcPts val="6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Analysis/Course of Action</a:t>
            </a:r>
            <a:endParaRPr lang="en" sz="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Overfitting was dramatically reduced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Better training scores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Better generalized model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Recall dropped by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10.88%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Accuracy dropped by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2.90%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Possible that model is overpruned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 might be overly simplified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Scale back amount of pruning for Random Forests and rerun</a:t>
            </a:r>
          </a:p>
          <a:p>
            <a:pPr marL="596900" lvl="1" indent="0">
              <a:spcBef>
                <a:spcPts val="0"/>
              </a:spcBef>
              <a:buClr>
                <a:schemeClr val="dk1"/>
              </a:buClr>
              <a:buSzPts val="1400"/>
              <a:buNone/>
            </a:pPr>
            <a:endParaRPr lang="en" sz="1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382297880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4937ead0e2_0_38"/>
          <p:cNvSpPr txBox="1">
            <a:spLocks noGrp="1"/>
          </p:cNvSpPr>
          <p:nvPr>
            <p:ph type="title"/>
          </p:nvPr>
        </p:nvSpPr>
        <p:spPr>
          <a:xfrm>
            <a:off x="202550" y="1368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 Performance Evaluation Pruned Random Forest</a:t>
            </a:r>
            <a:endParaRPr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64" name="Google Shape;364;g24937ead0e2_0_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79047" y="654780"/>
            <a:ext cx="4614450" cy="18379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21;g244d23124c0_1_153">
            <a:extLst>
              <a:ext uri="{FF2B5EF4-FFF2-40B4-BE49-F238E27FC236}">
                <a16:creationId xmlns:a16="http://schemas.microsoft.com/office/drawing/2014/main" id="{F6D65E3C-6FBE-5E00-FAA2-0B3DE19F7A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7790" y="2433964"/>
            <a:ext cx="7609910" cy="2442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9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Pruned Random Forest Weighting:</a:t>
            </a:r>
          </a:p>
          <a:p>
            <a:pPr lvl="0" indent="-317500">
              <a:spcBef>
                <a:spcPts val="6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Top Weight Features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-GB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Lead Time (most significant), Room Price, Arrival Date, Arrival Month, Special Requests, Market Segment</a:t>
            </a: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Medium Weight Features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Weekend Nights, Weekday Nights, Number of Adults, Meal Plan, Arrival Year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Low Weight Features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Remaining features have low weight and minimal influence</a:t>
            </a:r>
            <a:endParaRPr lang="en" sz="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9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Analysis:</a:t>
            </a:r>
          </a:p>
          <a:p>
            <a:pPr lvl="0" indent="-317500">
              <a:spcBef>
                <a:spcPts val="6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Lead Time is a more dominant weight</a:t>
            </a:r>
          </a:p>
          <a:p>
            <a:pPr lvl="0" indent="-317500">
              <a:spcBef>
                <a:spcPts val="2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Room price is even more significant </a:t>
            </a:r>
          </a:p>
          <a:p>
            <a:pPr lvl="0" indent="-317500">
              <a:spcBef>
                <a:spcPts val="2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Special Requests, Market Segment are more strongly weighted</a:t>
            </a:r>
          </a:p>
          <a:p>
            <a:pPr lvl="0" indent="-317500">
              <a:spcBef>
                <a:spcPts val="2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Customer history are still ignored</a:t>
            </a:r>
          </a:p>
          <a:p>
            <a:pPr lvl="0" indent="-317500">
              <a:spcBef>
                <a:spcPts val="2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Resulted in significantly lower Recall</a:t>
            </a:r>
          </a:p>
          <a:p>
            <a:pPr lvl="0" indent="-317500">
              <a:spcBef>
                <a:spcPts val="2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Over pruning, over simplified model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0" name="Google Shape;370;g15886a1dc9e_0_403"/>
          <p:cNvGraphicFramePr/>
          <p:nvPr>
            <p:extLst>
              <p:ext uri="{D42A27DB-BD31-4B8C-83A1-F6EECF244321}">
                <p14:modId xmlns:p14="http://schemas.microsoft.com/office/powerpoint/2010/main" val="752549438"/>
              </p:ext>
            </p:extLst>
          </p:nvPr>
        </p:nvGraphicFramePr>
        <p:xfrm>
          <a:off x="670409" y="470541"/>
          <a:ext cx="6120825" cy="1843122"/>
        </p:xfrm>
        <a:graphic>
          <a:graphicData uri="http://schemas.openxmlformats.org/drawingml/2006/table">
            <a:tbl>
              <a:tblPr firstRow="1" bandRow="1">
                <a:noFill/>
                <a:tableStyleId>{DC789D89-7B42-48A2-8941-39F5C445BB0A}</a:tableStyleId>
              </a:tblPr>
              <a:tblGrid>
                <a:gridCol w="118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1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1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576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3"/>
                            </a:ext>
                          </a:extLst>
                        </a:rPr>
                        <a:t>Model </a:t>
                      </a:r>
                      <a:endParaRPr sz="9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Train Accuracy</a:t>
                      </a:r>
                      <a:endParaRPr sz="9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Test Accuracy</a:t>
                      </a:r>
                      <a:endParaRPr sz="9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Train Recall</a:t>
                      </a:r>
                      <a:endParaRPr sz="9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Test Recall</a:t>
                      </a:r>
                      <a:endParaRPr sz="9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Train Precision</a:t>
                      </a:r>
                      <a:endParaRPr sz="9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Test Precision</a:t>
                      </a:r>
                      <a:endParaRPr sz="9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16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Decision Tree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99.65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83.20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99.47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76.77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99.47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73.23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74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Decision Tree - Pruned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95.64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84.34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90.77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76.09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95.69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76.09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816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Random Forest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98.47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87.94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96.44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77.10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98.87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84.71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74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Random Forest - Pruned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87.32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85.04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69.86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66.22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89.09</a:t>
                      </a:r>
                      <a:endParaRPr sz="1000" u="none" strike="noStrike" cap="non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84.77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71" name="Google Shape;371;g15886a1dc9e_0_403"/>
          <p:cNvSpPr txBox="1"/>
          <p:nvPr/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 Performance Summary</a:t>
            </a: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" name="Google Shape;321;g244d23124c0_1_153">
            <a:extLst>
              <a:ext uri="{FF2B5EF4-FFF2-40B4-BE49-F238E27FC236}">
                <a16:creationId xmlns:a16="http://schemas.microsoft.com/office/drawing/2014/main" id="{9CE78F94-BA31-6004-37F3-5BE3A35053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24400" y="2313663"/>
            <a:ext cx="8307900" cy="284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Random Forest is the best model for the business objective: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Highest test data Accuracy (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87.94%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), Precision (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84.71%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  and Recall(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77.10%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</a:t>
            </a:r>
            <a:endParaRPr lang="en" sz="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 the 4 models, this had acceptable levels of overfitting (not best – which resulted in crashed Recall numbers)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Not pruned, which could lead to model oversimplifcation</a:t>
            </a:r>
          </a:p>
          <a:p>
            <a:pPr lvl="0" indent="-317500">
              <a:spcBef>
                <a:spcPts val="2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Most important evaluation metric: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Recall – how many of the actual cancellations were we able to catch?</a:t>
            </a:r>
            <a:endParaRPr lang="en" sz="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Missed cancellations directly result in either lost/reduced revenue or increased cost required to fill empty rooms</a:t>
            </a:r>
          </a:p>
          <a:p>
            <a:pPr lvl="0" indent="-317500">
              <a:spcBef>
                <a:spcPts val="2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Features used by model to make predictions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Lead Time, Room Price, Arrival Date, Week Nights, Check-in Date,Weekend Nights are top features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Special Requests is the most ignored feature, followed by Market Segment, Repeat Guests, and Previous Cancellations </a:t>
            </a:r>
          </a:p>
          <a:p>
            <a:pPr marL="596900" lvl="1" indent="0">
              <a:spcBef>
                <a:spcPts val="0"/>
              </a:spcBef>
              <a:buClr>
                <a:schemeClr val="dk1"/>
              </a:buClr>
              <a:buSzPts val="1400"/>
              <a:buNone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even though they were high scoring in Bivariate Analysis</a:t>
            </a:r>
          </a:p>
          <a:p>
            <a:pPr lvl="0" indent="-317500">
              <a:spcBef>
                <a:spcPts val="2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Action Items/Follow up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Use Random Forest Model for Cancellation risk assessment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Implement post booking client follow up program (emails, notifications, in some higher risk situations: phone calls)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Increase foothold in Corporate and Aviation Market Segments; they are lower risk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Evalulate and enhance the overbooking strategy – knowing a percentage of rooms will be cancelled, have means to fill them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After model has been in use for a while, evaluate its real performace. If necessary, alter the model weights to put more </a:t>
            </a:r>
          </a:p>
          <a:p>
            <a:pPr marL="596900" lvl="1" indent="0">
              <a:spcBef>
                <a:spcPts val="0"/>
              </a:spcBef>
              <a:buClr>
                <a:schemeClr val="dk1"/>
              </a:buClr>
              <a:buSzPts val="1400"/>
              <a:buNone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emphasis on identified higher impact features</a:t>
            </a:r>
          </a:p>
          <a:p>
            <a:pPr marL="596900" lvl="1" indent="0">
              <a:spcBef>
                <a:spcPts val="0"/>
              </a:spcBef>
              <a:buClr>
                <a:schemeClr val="dk1"/>
              </a:buClr>
              <a:buSzPts val="1400"/>
              <a:buNone/>
            </a:pPr>
            <a:endParaRPr lang="en" sz="1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244c62e8fd3_0_10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Conclusions and Recommendations</a:t>
            </a:r>
            <a:endParaRPr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" name="Google Shape;321;g244d23124c0_1_153">
            <a:extLst>
              <a:ext uri="{FF2B5EF4-FFF2-40B4-BE49-F238E27FC236}">
                <a16:creationId xmlns:a16="http://schemas.microsoft.com/office/drawing/2014/main" id="{A73ECEAF-31C8-C567-C5F9-BEEC0BF6B1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2550" y="895089"/>
            <a:ext cx="8307900" cy="3959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4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Analysis Summary and Recommendations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Random Forest is the best model for the business objective: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Highest test data Accuracy (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87.94%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), Precision (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84.71%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  and Recall(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77.10%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</a:t>
            </a:r>
            <a:endParaRPr lang="en" sz="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 the 4 models, this had acceptable levels of overfitting (not best – which resulted in crashed Recall numbers)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Not pruned, which could lead to model oversimplifcation</a:t>
            </a:r>
          </a:p>
          <a:p>
            <a:pPr lvl="0" indent="-317500">
              <a:spcBef>
                <a:spcPts val="2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Most important evaluation metric: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Recall – how many of the actual cancellations were we able to catch?</a:t>
            </a:r>
            <a:endParaRPr lang="en" sz="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Missed cancellations directly result in either lost/reduced revenue or increased cost required to fill empty rooms</a:t>
            </a:r>
          </a:p>
          <a:p>
            <a:pPr lvl="0" indent="-317500">
              <a:spcBef>
                <a:spcPts val="2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Features used by model to make predictions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Lead Time, Room Price, Arrival Date, Week Nights, Check-in Date,Weekend Nights are top features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Special Requests is the most ignored feature, followed by Market Segment, Repeat Guests, and Previous Cancellations </a:t>
            </a:r>
          </a:p>
          <a:p>
            <a:pPr marL="596900" lvl="1" indent="0">
              <a:spcBef>
                <a:spcPts val="0"/>
              </a:spcBef>
              <a:buClr>
                <a:schemeClr val="dk1"/>
              </a:buClr>
              <a:buSzPts val="1400"/>
              <a:buNone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even though they were high scoring in Bivariate Analysis</a:t>
            </a:r>
          </a:p>
          <a:p>
            <a:pPr lvl="0" indent="-317500">
              <a:spcBef>
                <a:spcPts val="2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Action Items/Follow up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Use Random Forest Model for Cancellation risk assessment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Implement post booking client follow up program (emails, notifications, in some higher risk situations: phone calls)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Increase foothold in Corporate and Aviation Market Segments; they are lower risk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Evalulate and enhance the overbooking strategy – knowing a percentage of rooms will be cancelled, have means to fill them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After model has been in use for a while, evaluate its real performace. If necessary, alter the model weights to put more </a:t>
            </a:r>
          </a:p>
          <a:p>
            <a:pPr marL="596900" lvl="1" indent="0">
              <a:spcBef>
                <a:spcPts val="0"/>
              </a:spcBef>
              <a:buClr>
                <a:schemeClr val="dk1"/>
              </a:buClr>
              <a:buSzPts val="1400"/>
              <a:buNone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emphasis on identified higher impact features</a:t>
            </a:r>
          </a:p>
          <a:p>
            <a:pPr marL="596900" lvl="1" indent="0">
              <a:spcBef>
                <a:spcPts val="0"/>
              </a:spcBef>
              <a:buClr>
                <a:schemeClr val="dk1"/>
              </a:buClr>
              <a:buSzPts val="1400"/>
              <a:buNone/>
            </a:pPr>
            <a:endParaRPr lang="en" sz="1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>
          <a:extLst>
            <a:ext uri="{FF2B5EF4-FFF2-40B4-BE49-F238E27FC236}">
              <a16:creationId xmlns:a16="http://schemas.microsoft.com/office/drawing/2014/main" id="{45A33C61-12FC-C963-EEEB-D76A05F06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244c62e8fd3_0_10">
            <a:extLst>
              <a:ext uri="{FF2B5EF4-FFF2-40B4-BE49-F238E27FC236}">
                <a16:creationId xmlns:a16="http://schemas.microsoft.com/office/drawing/2014/main" id="{29A228E2-17E6-685D-C561-59B1CE74BD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Conclusions and Recommendations</a:t>
            </a:r>
            <a:endParaRPr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" name="Google Shape;321;g244d23124c0_1_153">
            <a:extLst>
              <a:ext uri="{FF2B5EF4-FFF2-40B4-BE49-F238E27FC236}">
                <a16:creationId xmlns:a16="http://schemas.microsoft.com/office/drawing/2014/main" id="{999F78DF-32BD-F258-0D92-11E2C41440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2550" y="895089"/>
            <a:ext cx="8307900" cy="3959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4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Additional Recommendations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b="1" u="sng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Target Market Segments</a:t>
            </a:r>
          </a:p>
          <a:p>
            <a:pPr lvl="1" indent="-317500">
              <a:spcBef>
                <a:spcPts val="40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Findings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Online/Offline bookings account for most of the cancellations (</a:t>
            </a:r>
            <a:r>
              <a:rPr lang="en" sz="7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97%</a:t>
            </a:r>
            <a:r>
              <a:rPr lang="en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</a:t>
            </a:r>
            <a:r>
              <a:rPr lang="en" sz="7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Corporate and Aviation are lowest risk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Recommendations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Re-evaluate Online/Offline booking and cancellation policies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Grow foothold in Corporate and Aviation segments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Increase marketing to entice more low risk clients</a:t>
            </a:r>
            <a:endParaRPr lang="en" sz="7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spcBef>
                <a:spcPts val="4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b="1" u="sng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Special Requests: Most Import (Magic Bullet) Cancellation Indicator</a:t>
            </a:r>
          </a:p>
          <a:p>
            <a:pPr lvl="1" indent="-317500">
              <a:spcBef>
                <a:spcPts val="40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Findings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" sz="700" u="sng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Strongest predictor </a:t>
            </a:r>
            <a:r>
              <a:rPr lang="en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 cancellations in the dataset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</a:t>
            </a:r>
            <a:r>
              <a:rPr lang="en-US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</a:t>
            </a:r>
            <a:r>
              <a:rPr lang="en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 fewer special requests a client has, the more likely the are to cancel 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Zero requests has a cancellation rate of </a:t>
            </a:r>
            <a:r>
              <a:rPr lang="en" sz="7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¬43%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As number of special requests increases, cancellation rates decrease dramatically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Combination of long lead times and no special requests is a high risk cancellation indicator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Holds true across all market segments</a:t>
            </a:r>
            <a:endParaRPr lang="en" sz="7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Recommendations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X</a:t>
            </a:r>
            <a:r>
              <a:rPr lang="en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xxxx</a:t>
            </a:r>
          </a:p>
          <a:p>
            <a:pPr lvl="0" indent="-317500">
              <a:spcBef>
                <a:spcPts val="4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b="1" u="sng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Seasonal Booking Trends</a:t>
            </a:r>
          </a:p>
          <a:p>
            <a:pPr lvl="1" indent="-317500">
              <a:spcBef>
                <a:spcPts val="40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Findings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xxxxx</a:t>
            </a:r>
            <a:r>
              <a:rPr lang="en" sz="7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Recommendations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xxxxx</a:t>
            </a:r>
            <a:endParaRPr lang="en" sz="7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54100" lvl="2" indent="0">
              <a:spcBef>
                <a:spcPts val="0"/>
              </a:spcBef>
              <a:buClr>
                <a:schemeClr val="dk1"/>
              </a:buClr>
              <a:buSzPts val="1400"/>
              <a:buNone/>
            </a:pPr>
            <a:endParaRPr lang="en" sz="7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14194813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10e9006cb6c_1_20"/>
          <p:cNvSpPr txBox="1">
            <a:spLocks noGrp="1"/>
          </p:cNvSpPr>
          <p:nvPr>
            <p:ph type="ctrTitle"/>
          </p:nvPr>
        </p:nvSpPr>
        <p:spPr>
          <a:xfrm>
            <a:off x="0" y="2820425"/>
            <a:ext cx="9144000" cy="58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3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APPENDIX</a:t>
            </a:r>
            <a:endParaRPr sz="33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44d23124c0_1_99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Slide Header</a:t>
            </a:r>
            <a:endParaRPr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4" name="Google Shape;394;g244d23124c0_1_99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Please add any other pointers (if needed)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10ee00f67ea_0_55"/>
          <p:cNvSpPr txBox="1">
            <a:spLocks noGrp="1"/>
          </p:cNvSpPr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85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/>
          </a:p>
        </p:txBody>
      </p:sp>
      <p:sp>
        <p:nvSpPr>
          <p:cNvPr id="402" name="Google Shape;402;g10ee00f67ea_0_55"/>
          <p:cNvSpPr txBox="1">
            <a:spLocks noGrp="1"/>
          </p:cNvSpPr>
          <p:nvPr>
            <p:ph type="sldNum" idx="4294967295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66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Just Lo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3227</TotalTime>
  <Words>7951</Words>
  <Application>Microsoft Office PowerPoint</Application>
  <PresentationFormat>On-screen Show (16:9)</PresentationFormat>
  <Paragraphs>959</Paragraphs>
  <Slides>66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66</vt:i4>
      </vt:variant>
    </vt:vector>
  </HeadingPairs>
  <TitlesOfParts>
    <vt:vector size="77" baseType="lpstr">
      <vt:lpstr>Century Gothic</vt:lpstr>
      <vt:lpstr>Courier New</vt:lpstr>
      <vt:lpstr>Nunito</vt:lpstr>
      <vt:lpstr>Calibri</vt:lpstr>
      <vt:lpstr>Nunito ExtraBold</vt:lpstr>
      <vt:lpstr>Nunito SemiBold</vt:lpstr>
      <vt:lpstr>Arial</vt:lpstr>
      <vt:lpstr>Just Logo</vt:lpstr>
      <vt:lpstr>Just Logo</vt:lpstr>
      <vt:lpstr>Just Logo</vt:lpstr>
      <vt:lpstr>Just Logo</vt:lpstr>
      <vt:lpstr>Hotel Booking Cancellation Prediction</vt:lpstr>
      <vt:lpstr>Contents / Agenda</vt:lpstr>
      <vt:lpstr>Data Dictionary</vt:lpstr>
      <vt:lpstr>Data Dictionary</vt:lpstr>
      <vt:lpstr>Business Problem Overview</vt:lpstr>
      <vt:lpstr>Solution Approach </vt:lpstr>
      <vt:lpstr>Expected Outcomes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Results EDA - Univariate Analysis - 1</vt:lpstr>
      <vt:lpstr>Results EDA - Univariate Analysis - 2</vt:lpstr>
      <vt:lpstr>Results EDA - Univariate Analysis - 2</vt:lpstr>
      <vt:lpstr>Results EDA - Univariate Analysis - 3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Results EDA - Bivariate Analysis</vt:lpstr>
      <vt:lpstr>Results EDA - Bivariate Analysis</vt:lpstr>
      <vt:lpstr>Results EDA - Bivariate Analysis</vt:lpstr>
      <vt:lpstr>Model Performance Evaluation Decision Tree</vt:lpstr>
      <vt:lpstr>Model Performance Evaluation Decision Tree</vt:lpstr>
      <vt:lpstr>Model Performance Evaluation Pruned Decision Tree</vt:lpstr>
      <vt:lpstr>Model Performance Evaluation Pruned Decision Tree</vt:lpstr>
      <vt:lpstr>Model Performance Evaluation Random Forest</vt:lpstr>
      <vt:lpstr>Model Performance Evaluation Random Forest</vt:lpstr>
      <vt:lpstr>Model Performance Evaluation Pruned Random Forest</vt:lpstr>
      <vt:lpstr>Model Performance Evaluation Pruned Random Forest</vt:lpstr>
      <vt:lpstr>Model Performance Evaluation Pruned Random Forest</vt:lpstr>
      <vt:lpstr>PowerPoint Presentation</vt:lpstr>
      <vt:lpstr>Conclusions and Recommendations</vt:lpstr>
      <vt:lpstr>Conclusions and Recommendations</vt:lpstr>
      <vt:lpstr>APPENDIX</vt:lpstr>
      <vt:lpstr>Slide Header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Booking Cancellation Prediction</dc:title>
  <dc:creator>John Buczkowski</dc:creator>
  <cp:lastModifiedBy>John Buczkowski</cp:lastModifiedBy>
  <cp:revision>508</cp:revision>
  <cp:lastPrinted>2025-11-10T00:27:57Z</cp:lastPrinted>
  <dcterms:modified xsi:type="dcterms:W3CDTF">2025-11-10T07:26:34Z</dcterms:modified>
</cp:coreProperties>
</file>