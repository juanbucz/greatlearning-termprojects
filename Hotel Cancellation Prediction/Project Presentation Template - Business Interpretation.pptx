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9" r:id="rId2"/>
    <p:sldMasterId id="2147483670" r:id="rId3"/>
    <p:sldMasterId id="2147483681" r:id="rId4"/>
  </p:sldMasterIdLst>
  <p:notesMasterIdLst>
    <p:notesMasterId r:id="rId3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4" r:id="rId32"/>
    <p:sldId id="285" r:id="rId33"/>
  </p:sldIdLst>
  <p:sldSz cx="9144000" cy="5143500" type="screen16x9"/>
  <p:notesSz cx="6858000" cy="9144000"/>
  <p:embeddedFontLst>
    <p:embeddedFont>
      <p:font typeface="Calibri" panose="020F0502020204030204" pitchFamily="34" charset="0"/>
      <p:regular r:id="rId35"/>
      <p:bold r:id="rId36"/>
      <p:italic r:id="rId37"/>
      <p:boldItalic r:id="rId38"/>
    </p:embeddedFont>
    <p:embeddedFont>
      <p:font typeface="Century Gothic" panose="020B0502020202020204" pitchFamily="34" charset="0"/>
      <p:regular r:id="rId39"/>
      <p:bold r:id="rId40"/>
      <p:italic r:id="rId41"/>
      <p:boldItalic r:id="rId42"/>
    </p:embeddedFont>
    <p:embeddedFont>
      <p:font typeface="Nunito" panose="020B0604020202020204" charset="0"/>
      <p:regular r:id="rId43"/>
      <p:bold r:id="rId44"/>
      <p:italic r:id="rId45"/>
      <p:boldItalic r:id="rId46"/>
    </p:embeddedFont>
    <p:embeddedFont>
      <p:font typeface="Nunito ExtraBold" panose="020B0604020202020204" charset="0"/>
      <p:bold r:id="rId47"/>
      <p:boldItalic r:id="rId48"/>
    </p:embeddedFont>
    <p:embeddedFont>
      <p:font typeface="Nunito SemiBold" panose="020B0604020202020204"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gU5MxqWkBEcDZhVTSjLTVZSyau3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rejith Premkumar" initials="" lastIdx="5" clrIdx="0"/>
  <p:cmAuthor id="1" name="Akash Krishna" initial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1344643-9A85-4DB7-9F01-8C1698141E30}">
  <a:tblStyle styleId="{C1344643-9A85-4DB7-9F01-8C1698141E30}" styleName="Table_0">
    <a:wholeTbl>
      <a:tcTxStyle b="off" i="off">
        <a:font>
          <a:latin typeface="Arial"/>
          <a:ea typeface="Arial"/>
          <a:cs typeface="Arial"/>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5B9BD5"/>
              </a:solidFill>
              <a:prstDash val="solid"/>
              <a:round/>
              <a:headEnd type="none" w="sm" len="sm"/>
              <a:tailEnd type="none" w="sm" len="sm"/>
            </a:ln>
          </a:top>
          <a:bottom>
            <a:ln w="12700" cap="flat" cmpd="sng">
              <a:solidFill>
                <a:srgbClr val="5B9BD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rgbClr val="5B9BD5">
              <a:alpha val="20000"/>
            </a:srgbClr>
          </a:solidFill>
        </a:fill>
      </a:tcStyle>
    </a:band1H>
    <a:band2H>
      <a:tcTxStyle b="off" i="off"/>
      <a:tcStyle>
        <a:tcBdr/>
      </a:tcStyle>
    </a:band2H>
    <a:band1V>
      <a:tcTxStyle b="off" i="off"/>
      <a:tcStyle>
        <a:tcBdr/>
        <a:fill>
          <a:solidFill>
            <a:srgbClr val="5B9BD5">
              <a:alpha val="20000"/>
            </a:srgb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rgbClr val="5B9BD5"/>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rgbClr val="5B9BD5"/>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 styleId="{DC789D89-7B42-48A2-8941-39F5C445BB0A}"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EEEF"/>
          </a:solidFill>
        </a:fill>
      </a:tcStyle>
    </a:wholeTbl>
    <a:band1H>
      <a:tcTxStyle b="off" i="off"/>
      <a:tcStyle>
        <a:tcBdr/>
        <a:fill>
          <a:solidFill>
            <a:srgbClr val="D5DBDE"/>
          </a:solidFill>
        </a:fill>
      </a:tcStyle>
    </a:band1H>
    <a:band2H>
      <a:tcTxStyle b="off" i="off"/>
      <a:tcStyle>
        <a:tcBdr/>
      </a:tcStyle>
    </a:band2H>
    <a:band1V>
      <a:tcTxStyle b="off" i="off"/>
      <a:tcStyle>
        <a:tcBdr/>
        <a:fill>
          <a:solidFill>
            <a:srgbClr val="D5DBDE"/>
          </a:solidFill>
        </a:fill>
      </a:tcStyle>
    </a:band1V>
    <a:band2V>
      <a:tcTxStyle b="off" i="off"/>
      <a:tcStyle>
        <a:tcBdr/>
      </a:tcStyle>
    </a:band2V>
    <a:lastCol>
      <a:tcTxStyle b="on" i="off">
        <a:font>
          <a:latin typeface="Arial"/>
          <a:ea typeface="Arial"/>
          <a:cs typeface="Arial"/>
        </a:font>
        <a:schemeClr val="lt1"/>
      </a:tcTxStyle>
      <a:tcStyle>
        <a:tcBdr/>
        <a:fill>
          <a:solidFill>
            <a:schemeClr val="accent3"/>
          </a:solidFill>
        </a:fill>
      </a:tcStyle>
    </a:lastCol>
    <a:firstCol>
      <a:tcTxStyle b="on" i="off">
        <a:font>
          <a:latin typeface="Arial"/>
          <a:ea typeface="Arial"/>
          <a:cs typeface="Arial"/>
        </a:font>
        <a:schemeClr val="lt1"/>
      </a:tcTxStyle>
      <a:tcStyle>
        <a:tcBdr/>
        <a:fill>
          <a:solidFill>
            <a:schemeClr val="accent3"/>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3"/>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3"/>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2" d="100"/>
          <a:sy n="142" d="100"/>
        </p:scale>
        <p:origin x="168" y="10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5.fntdata"/><Relationship Id="rId21" Type="http://schemas.openxmlformats.org/officeDocument/2006/relationships/slide" Target="slides/slide17.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font" Target="fonts/font16.fntdata"/><Relationship Id="rId55" Type="http://customschemas.google.com/relationships/presentationmetadata" Target="metadata"/><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8" Type="http://schemas.openxmlformats.org/officeDocument/2006/relationships/viewProps" Target="view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56"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font" Target="fonts/font17.fntdata"/><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4.fntdata"/><Relationship Id="rId46" Type="http://schemas.openxmlformats.org/officeDocument/2006/relationships/font" Target="fonts/font12.fntdata"/><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2.fntdata"/><Relationship Id="rId49" Type="http://schemas.openxmlformats.org/officeDocument/2006/relationships/font" Target="fonts/font15.fntdata"/><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font" Target="fonts/font10.fntdata"/><Relationship Id="rId52" Type="http://schemas.openxmlformats.org/officeDocument/2006/relationships/font" Target="fonts/font18.fntdata"/><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9" name="Google Shape;199;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158837adcbf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5" name="Google Shape;205;g158837adcbf_0_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45c43bb502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1" name="Google Shape;211;g245c43bb502_0_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245c43bb502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7" name="Google Shape;217;g245c43bb502_0_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44c62e8fd3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3" name="Google Shape;223;g244c62e8fd3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9" name="Google Shape;229;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15886a1dc9e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5" name="Google Shape;235;g15886a1dc9e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2419b7728cb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3" name="Google Shape;243;g2419b7728cb_0_1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419b7728cb_0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1" name="Google Shape;251;g2419b7728cb_0_1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2419b7728cb_0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9" name="Google Shape;259;g2419b7728cb_0_1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15886a1dc9e_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7" name="Google Shape;267;g15886a1dc9e_0_1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2419b7728cb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5" name="Google Shape;275;g2419b7728cb_0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419b7728cb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1" name="Google Shape;281;g2419b7728cb_0_1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15886a1dc9e_0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9" name="Google Shape;289;g15886a1dc9e_0_1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15886a1dc9e_0_2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6" name="Google Shape;296;g15886a1dc9e_0_2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15886a1dc9e_0_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4" name="Google Shape;304;g15886a1dc9e_0_2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244d23124c0_1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2" name="Google Shape;312;g244d23124c0_1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244d23124c0_1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8" name="Google Shape;318;g244d23124c0_1_1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4937ead0e2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5" name="Google Shape;325;g24937ead0e2_0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244d23124c0_1_1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2" name="Google Shape;332;g244d23124c0_1_1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244d23124c0_1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9" name="Google Shape;339;g244d23124c0_1_1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24937ead0e2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6" name="Google Shape;346;g24937ead0e2_0_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244d23124c0_1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3" name="Google Shape;353;g244d23124c0_1_1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24937ead0e2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0" name="Google Shape;360;g24937ead0e2_0_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15886a1dc9e_0_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7" name="Google Shape;367;g15886a1dc9e_0_4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244c62e8fd3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4" name="Google Shape;374;g244c62e8fd3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10e9006cb6c_1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0" name="Google Shape;380;g10e9006cb6c_1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244d23124c0_1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1" name="Google Shape;391;g244d23124c0_1_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10ee00f67ea_0_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7" name="Google Shape;397;g10ee00f67ea_0_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8" name="Google Shape;398;g10ee00f67ea_0_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29</a:t>
            </a:fld>
            <a:endParaRPr sz="1200" b="0" i="0" u="none" strike="noStrike" cap="none">
              <a:solidFill>
                <a:schemeClr val="dk1"/>
              </a:solidFill>
              <a:latin typeface="Calibri"/>
              <a:ea typeface="Calibri"/>
              <a:cs typeface="Calibri"/>
              <a:sym typeface="Calibri"/>
            </a:endParaRPr>
          </a:p>
        </p:txBody>
      </p:sp>
      <p:sp>
        <p:nvSpPr>
          <p:cNvPr id="399" name="Google Shape;399;g10ee00f67ea_0_55: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 Proprietary content. ©Great Learning. All Rights Reserved. Unauthorized use or distribution prohibited</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sp>
        <p:nvSpPr>
          <p:cNvPr id="15" name="Google Shape;15;ge1a9588eba_0_9"/>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6" name="Google Shape;16;ge1a9588eba_0_9"/>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ge1a9588eba_0_15"/>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9" name="Google Shape;19;ge1a9588eba_0_15"/>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20" name="Google Shape;20;ge1a9588eba_0_1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ge1a9588eba_0_12"/>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23" name="Google Shape;23;ge1a9588eba_0_1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24"/>
        <p:cNvGrpSpPr/>
        <p:nvPr/>
      </p:nvGrpSpPr>
      <p:grpSpPr>
        <a:xfrm>
          <a:off x="0" y="0"/>
          <a:ext cx="0" cy="0"/>
          <a:chOff x="0" y="0"/>
          <a:chExt cx="0" cy="0"/>
        </a:xfrm>
      </p:grpSpPr>
      <p:sp>
        <p:nvSpPr>
          <p:cNvPr id="25" name="Google Shape;25;ge1a9588eba_0_19"/>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26" name="Google Shape;26;ge1a9588eba_0_19"/>
          <p:cNvGraphicFramePr/>
          <p:nvPr/>
        </p:nvGraphicFramePr>
        <p:xfrm>
          <a:off x="201942" y="833662"/>
          <a:ext cx="3000000" cy="3000000"/>
        </p:xfrm>
        <a:graphic>
          <a:graphicData uri="http://schemas.openxmlformats.org/drawingml/2006/table">
            <a:tbl>
              <a:tblPr firstRow="1" bandRow="1">
                <a:noFill/>
                <a:tableStyleId>{C1344643-9A85-4DB7-9F01-8C1698141E30}</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27" name="Google Shape;27;ge1a9588eba_0_1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ge1a9588eba_0_23"/>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0" name="Google Shape;30;ge1a9588eba_0_23"/>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ge1a9588eba_0_23"/>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2" name="Google Shape;32;ge1a9588eba_0_2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ge1a9588eba_0_28"/>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5" name="Google Shape;35;ge1a9588eba_0_2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ge1a9588eba_0_3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8" name="Google Shape;38;ge1a9588eba_0_3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ge1a9588eba_0_3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ge1a9588eba_0_34"/>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2" name="Google Shape;42;ge1a9588eba_0_34"/>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ge1a9588eba_0_34"/>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44" name="Google Shape;44;ge1a9588eba_0_3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ge1a9588eba_0_4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47"/>
        <p:cNvGrpSpPr/>
        <p:nvPr/>
      </p:nvGrpSpPr>
      <p:grpSpPr>
        <a:xfrm>
          <a:off x="0" y="0"/>
          <a:ext cx="0" cy="0"/>
          <a:chOff x="0" y="0"/>
          <a:chExt cx="0" cy="0"/>
        </a:xfrm>
      </p:grpSpPr>
      <p:sp>
        <p:nvSpPr>
          <p:cNvPr id="48" name="Google Shape;48;ge1a9588eba_0_42"/>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49" name="Google Shape;49;ge1a9588eba_0_42" descr="A close up of a logo&#10;&#10;Description automatically generated"/>
          <p:cNvPicPr preferRelativeResize="0"/>
          <p:nvPr/>
        </p:nvPicPr>
        <p:blipFill rotWithShape="1">
          <a:blip r:embed="rId2">
            <a:alphaModFix/>
          </a:blip>
          <a:srcRect l="42816" t="18358" r="37293" b="19149"/>
          <a:stretch/>
        </p:blipFill>
        <p:spPr>
          <a:xfrm>
            <a:off x="6052536" y="514443"/>
            <a:ext cx="2095112" cy="3703320"/>
          </a:xfrm>
          <a:prstGeom prst="rect">
            <a:avLst/>
          </a:prstGeom>
          <a:noFill/>
          <a:ln>
            <a:noFill/>
          </a:ln>
        </p:spPr>
      </p:pic>
      <p:sp>
        <p:nvSpPr>
          <p:cNvPr id="50" name="Google Shape;50;ge1a9588eba_0_42"/>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51" name="Google Shape;51;ge1a9588eba_0_42"/>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52" name="Google Shape;52;ge1a9588eba_0_42"/>
          <p:cNvPicPr preferRelativeResize="0"/>
          <p:nvPr/>
        </p:nvPicPr>
        <p:blipFill rotWithShape="1">
          <a:blip r:embed="rId3">
            <a:alphaModFix/>
          </a:blip>
          <a:srcRect/>
          <a:stretch/>
        </p:blipFill>
        <p:spPr>
          <a:xfrm>
            <a:off x="295874" y="683275"/>
            <a:ext cx="3757725" cy="8258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2"/>
        <p:cNvGrpSpPr/>
        <p:nvPr/>
      </p:nvGrpSpPr>
      <p:grpSpPr>
        <a:xfrm>
          <a:off x="0" y="0"/>
          <a:ext cx="0" cy="0"/>
          <a:chOff x="0" y="0"/>
          <a:chExt cx="0" cy="0"/>
        </a:xfrm>
      </p:grpSpPr>
      <p:sp>
        <p:nvSpPr>
          <p:cNvPr id="63" name="Google Shape;63;g2419b7728cb_0_8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64" name="Google Shape;64;g2419b7728cb_0_83"/>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65" name="Google Shape;65;g2419b7728cb_0_8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6"/>
        <p:cNvGrpSpPr/>
        <p:nvPr/>
      </p:nvGrpSpPr>
      <p:grpSpPr>
        <a:xfrm>
          <a:off x="0" y="0"/>
          <a:ext cx="0" cy="0"/>
          <a:chOff x="0" y="0"/>
          <a:chExt cx="0" cy="0"/>
        </a:xfrm>
      </p:grpSpPr>
      <p:sp>
        <p:nvSpPr>
          <p:cNvPr id="67" name="Google Shape;67;g2419b7728cb_0_80"/>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68" name="Google Shape;68;g2419b7728cb_0_80"/>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9"/>
        <p:cNvGrpSpPr/>
        <p:nvPr/>
      </p:nvGrpSpPr>
      <p:grpSpPr>
        <a:xfrm>
          <a:off x="0" y="0"/>
          <a:ext cx="0" cy="0"/>
          <a:chOff x="0" y="0"/>
          <a:chExt cx="0" cy="0"/>
        </a:xfrm>
      </p:grpSpPr>
      <p:sp>
        <p:nvSpPr>
          <p:cNvPr id="70" name="Google Shape;70;g2419b7728cb_0_8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71" name="Google Shape;71;g2419b7728cb_0_8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72"/>
        <p:cNvGrpSpPr/>
        <p:nvPr/>
      </p:nvGrpSpPr>
      <p:grpSpPr>
        <a:xfrm>
          <a:off x="0" y="0"/>
          <a:ext cx="0" cy="0"/>
          <a:chOff x="0" y="0"/>
          <a:chExt cx="0" cy="0"/>
        </a:xfrm>
      </p:grpSpPr>
      <p:sp>
        <p:nvSpPr>
          <p:cNvPr id="73" name="Google Shape;73;g2419b7728cb_0_90"/>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74" name="Google Shape;74;g2419b7728cb_0_90"/>
          <p:cNvGraphicFramePr/>
          <p:nvPr/>
        </p:nvGraphicFramePr>
        <p:xfrm>
          <a:off x="201942" y="833662"/>
          <a:ext cx="3000000" cy="3000000"/>
        </p:xfrm>
        <a:graphic>
          <a:graphicData uri="http://schemas.openxmlformats.org/drawingml/2006/table">
            <a:tbl>
              <a:tblPr firstRow="1" bandRow="1">
                <a:noFill/>
                <a:tableStyleId>{C1344643-9A85-4DB7-9F01-8C1698141E30}</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75" name="Google Shape;75;g2419b7728cb_0_9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6"/>
        <p:cNvGrpSpPr/>
        <p:nvPr/>
      </p:nvGrpSpPr>
      <p:grpSpPr>
        <a:xfrm>
          <a:off x="0" y="0"/>
          <a:ext cx="0" cy="0"/>
          <a:chOff x="0" y="0"/>
          <a:chExt cx="0" cy="0"/>
        </a:xfrm>
      </p:grpSpPr>
      <p:sp>
        <p:nvSpPr>
          <p:cNvPr id="77" name="Google Shape;77;g2419b7728cb_0_94"/>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78" name="Google Shape;78;g2419b7728cb_0_94"/>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79" name="Google Shape;79;g2419b7728cb_0_94"/>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80" name="Google Shape;80;g2419b7728cb_0_9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1"/>
        <p:cNvGrpSpPr/>
        <p:nvPr/>
      </p:nvGrpSpPr>
      <p:grpSpPr>
        <a:xfrm>
          <a:off x="0" y="0"/>
          <a:ext cx="0" cy="0"/>
          <a:chOff x="0" y="0"/>
          <a:chExt cx="0" cy="0"/>
        </a:xfrm>
      </p:grpSpPr>
      <p:sp>
        <p:nvSpPr>
          <p:cNvPr id="82" name="Google Shape;82;g2419b7728cb_0_99"/>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3" name="Google Shape;83;g2419b7728cb_0_9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4"/>
        <p:cNvGrpSpPr/>
        <p:nvPr/>
      </p:nvGrpSpPr>
      <p:grpSpPr>
        <a:xfrm>
          <a:off x="0" y="0"/>
          <a:ext cx="0" cy="0"/>
          <a:chOff x="0" y="0"/>
          <a:chExt cx="0" cy="0"/>
        </a:xfrm>
      </p:grpSpPr>
      <p:sp>
        <p:nvSpPr>
          <p:cNvPr id="85" name="Google Shape;85;g2419b7728cb_0_102"/>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86" name="Google Shape;86;g2419b7728cb_0_10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7"/>
        <p:cNvGrpSpPr/>
        <p:nvPr/>
      </p:nvGrpSpPr>
      <p:grpSpPr>
        <a:xfrm>
          <a:off x="0" y="0"/>
          <a:ext cx="0" cy="0"/>
          <a:chOff x="0" y="0"/>
          <a:chExt cx="0" cy="0"/>
        </a:xfrm>
      </p:grpSpPr>
      <p:sp>
        <p:nvSpPr>
          <p:cNvPr id="88" name="Google Shape;88;g2419b7728cb_0_105"/>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g2419b7728cb_0_105"/>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90" name="Google Shape;90;g2419b7728cb_0_105"/>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1" name="Google Shape;91;g2419b7728cb_0_105"/>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92" name="Google Shape;92;g2419b7728cb_0_10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g2419b7728cb_0_11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95"/>
        <p:cNvGrpSpPr/>
        <p:nvPr/>
      </p:nvGrpSpPr>
      <p:grpSpPr>
        <a:xfrm>
          <a:off x="0" y="0"/>
          <a:ext cx="0" cy="0"/>
          <a:chOff x="0" y="0"/>
          <a:chExt cx="0" cy="0"/>
        </a:xfrm>
      </p:grpSpPr>
      <p:sp>
        <p:nvSpPr>
          <p:cNvPr id="96" name="Google Shape;96;g2419b7728cb_0_113"/>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97" name="Google Shape;97;g2419b7728cb_0_113" descr="A close up of a logo&#10;&#10;Description automatically generated"/>
          <p:cNvPicPr preferRelativeResize="0"/>
          <p:nvPr/>
        </p:nvPicPr>
        <p:blipFill rotWithShape="1">
          <a:blip r:embed="rId2">
            <a:alphaModFix/>
          </a:blip>
          <a:srcRect l="42816" t="18360" r="37293" b="19147"/>
          <a:stretch/>
        </p:blipFill>
        <p:spPr>
          <a:xfrm>
            <a:off x="6052536" y="514443"/>
            <a:ext cx="2095112" cy="3703320"/>
          </a:xfrm>
          <a:prstGeom prst="rect">
            <a:avLst/>
          </a:prstGeom>
          <a:noFill/>
          <a:ln>
            <a:noFill/>
          </a:ln>
        </p:spPr>
      </p:pic>
      <p:sp>
        <p:nvSpPr>
          <p:cNvPr id="98" name="Google Shape;98;g2419b7728cb_0_113"/>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99" name="Google Shape;99;g2419b7728cb_0_113"/>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100" name="Google Shape;100;g2419b7728cb_0_113"/>
          <p:cNvPicPr preferRelativeResize="0"/>
          <p:nvPr/>
        </p:nvPicPr>
        <p:blipFill rotWithShape="1">
          <a:blip r:embed="rId3">
            <a:alphaModFix/>
          </a:blip>
          <a:srcRect/>
          <a:stretch/>
        </p:blipFill>
        <p:spPr>
          <a:xfrm>
            <a:off x="295874" y="683275"/>
            <a:ext cx="3757725" cy="8258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0"/>
        <p:cNvGrpSpPr/>
        <p:nvPr/>
      </p:nvGrpSpPr>
      <p:grpSpPr>
        <a:xfrm>
          <a:off x="0" y="0"/>
          <a:ext cx="0" cy="0"/>
          <a:chOff x="0" y="0"/>
          <a:chExt cx="0" cy="0"/>
        </a:xfrm>
      </p:grpSpPr>
      <p:sp>
        <p:nvSpPr>
          <p:cNvPr id="111" name="Google Shape;111;g244d23124c0_1_116"/>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12" name="Google Shape;112;g244d23124c0_1_116"/>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113" name="Google Shape;113;g244d23124c0_1_11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4"/>
        <p:cNvGrpSpPr/>
        <p:nvPr/>
      </p:nvGrpSpPr>
      <p:grpSpPr>
        <a:xfrm>
          <a:off x="0" y="0"/>
          <a:ext cx="0" cy="0"/>
          <a:chOff x="0" y="0"/>
          <a:chExt cx="0" cy="0"/>
        </a:xfrm>
      </p:grpSpPr>
      <p:sp>
        <p:nvSpPr>
          <p:cNvPr id="115" name="Google Shape;115;g244d23124c0_1_113"/>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16" name="Google Shape;116;g244d23124c0_1_113"/>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7"/>
        <p:cNvGrpSpPr/>
        <p:nvPr/>
      </p:nvGrpSpPr>
      <p:grpSpPr>
        <a:xfrm>
          <a:off x="0" y="0"/>
          <a:ext cx="0" cy="0"/>
          <a:chOff x="0" y="0"/>
          <a:chExt cx="0" cy="0"/>
        </a:xfrm>
      </p:grpSpPr>
      <p:sp>
        <p:nvSpPr>
          <p:cNvPr id="118" name="Google Shape;118;g244d23124c0_1_120"/>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119" name="Google Shape;119;g244d23124c0_1_12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120"/>
        <p:cNvGrpSpPr/>
        <p:nvPr/>
      </p:nvGrpSpPr>
      <p:grpSpPr>
        <a:xfrm>
          <a:off x="0" y="0"/>
          <a:ext cx="0" cy="0"/>
          <a:chOff x="0" y="0"/>
          <a:chExt cx="0" cy="0"/>
        </a:xfrm>
      </p:grpSpPr>
      <p:sp>
        <p:nvSpPr>
          <p:cNvPr id="121" name="Google Shape;121;g244d23124c0_1_123"/>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122" name="Google Shape;122;g244d23124c0_1_123"/>
          <p:cNvGraphicFramePr/>
          <p:nvPr/>
        </p:nvGraphicFramePr>
        <p:xfrm>
          <a:off x="201942" y="833662"/>
          <a:ext cx="3000000" cy="3000000"/>
        </p:xfrm>
        <a:graphic>
          <a:graphicData uri="http://schemas.openxmlformats.org/drawingml/2006/table">
            <a:tbl>
              <a:tblPr firstRow="1" bandRow="1">
                <a:noFill/>
                <a:tableStyleId>{C1344643-9A85-4DB7-9F01-8C1698141E30}</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123" name="Google Shape;123;g244d23124c0_1_12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4"/>
        <p:cNvGrpSpPr/>
        <p:nvPr/>
      </p:nvGrpSpPr>
      <p:grpSpPr>
        <a:xfrm>
          <a:off x="0" y="0"/>
          <a:ext cx="0" cy="0"/>
          <a:chOff x="0" y="0"/>
          <a:chExt cx="0" cy="0"/>
        </a:xfrm>
      </p:grpSpPr>
      <p:sp>
        <p:nvSpPr>
          <p:cNvPr id="125" name="Google Shape;125;g244d23124c0_1_127"/>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26" name="Google Shape;126;g244d23124c0_1_12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27" name="Google Shape;127;g244d23124c0_1_12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28" name="Google Shape;128;g244d23124c0_1_12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9"/>
        <p:cNvGrpSpPr/>
        <p:nvPr/>
      </p:nvGrpSpPr>
      <p:grpSpPr>
        <a:xfrm>
          <a:off x="0" y="0"/>
          <a:ext cx="0" cy="0"/>
          <a:chOff x="0" y="0"/>
          <a:chExt cx="0" cy="0"/>
        </a:xfrm>
      </p:grpSpPr>
      <p:sp>
        <p:nvSpPr>
          <p:cNvPr id="130" name="Google Shape;130;g244d23124c0_1_132"/>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31" name="Google Shape;131;g244d23124c0_1_13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32"/>
        <p:cNvGrpSpPr/>
        <p:nvPr/>
      </p:nvGrpSpPr>
      <p:grpSpPr>
        <a:xfrm>
          <a:off x="0" y="0"/>
          <a:ext cx="0" cy="0"/>
          <a:chOff x="0" y="0"/>
          <a:chExt cx="0" cy="0"/>
        </a:xfrm>
      </p:grpSpPr>
      <p:sp>
        <p:nvSpPr>
          <p:cNvPr id="133" name="Google Shape;133;g244d23124c0_1_135"/>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34" name="Google Shape;134;g244d23124c0_1_13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35"/>
        <p:cNvGrpSpPr/>
        <p:nvPr/>
      </p:nvGrpSpPr>
      <p:grpSpPr>
        <a:xfrm>
          <a:off x="0" y="0"/>
          <a:ext cx="0" cy="0"/>
          <a:chOff x="0" y="0"/>
          <a:chExt cx="0" cy="0"/>
        </a:xfrm>
      </p:grpSpPr>
      <p:sp>
        <p:nvSpPr>
          <p:cNvPr id="136" name="Google Shape;136;g244d23124c0_1_138"/>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 name="Google Shape;137;g244d23124c0_1_138"/>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38" name="Google Shape;138;g244d23124c0_1_138"/>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39" name="Google Shape;139;g244d23124c0_1_138"/>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140" name="Google Shape;140;g244d23124c0_1_13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1"/>
        <p:cNvGrpSpPr/>
        <p:nvPr/>
      </p:nvGrpSpPr>
      <p:grpSpPr>
        <a:xfrm>
          <a:off x="0" y="0"/>
          <a:ext cx="0" cy="0"/>
          <a:chOff x="0" y="0"/>
          <a:chExt cx="0" cy="0"/>
        </a:xfrm>
      </p:grpSpPr>
      <p:sp>
        <p:nvSpPr>
          <p:cNvPr id="142" name="Google Shape;142;g244d23124c0_1_14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143"/>
        <p:cNvGrpSpPr/>
        <p:nvPr/>
      </p:nvGrpSpPr>
      <p:grpSpPr>
        <a:xfrm>
          <a:off x="0" y="0"/>
          <a:ext cx="0" cy="0"/>
          <a:chOff x="0" y="0"/>
          <a:chExt cx="0" cy="0"/>
        </a:xfrm>
      </p:grpSpPr>
      <p:sp>
        <p:nvSpPr>
          <p:cNvPr id="144" name="Google Shape;144;g244d23124c0_1_146"/>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145" name="Google Shape;145;g244d23124c0_1_146" descr="A close up of a logo&#10;&#10;Description automatically generated"/>
          <p:cNvPicPr preferRelativeResize="0"/>
          <p:nvPr/>
        </p:nvPicPr>
        <p:blipFill rotWithShape="1">
          <a:blip r:embed="rId2">
            <a:alphaModFix/>
          </a:blip>
          <a:srcRect l="42816" t="18360" r="37294" b="19147"/>
          <a:stretch/>
        </p:blipFill>
        <p:spPr>
          <a:xfrm>
            <a:off x="6052536" y="514443"/>
            <a:ext cx="2095112" cy="3703320"/>
          </a:xfrm>
          <a:prstGeom prst="rect">
            <a:avLst/>
          </a:prstGeom>
          <a:noFill/>
          <a:ln>
            <a:noFill/>
          </a:ln>
        </p:spPr>
      </p:pic>
      <p:sp>
        <p:nvSpPr>
          <p:cNvPr id="146" name="Google Shape;146;g244d23124c0_1_146"/>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147" name="Google Shape;147;g244d23124c0_1_146"/>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148" name="Google Shape;148;g244d23124c0_1_146"/>
          <p:cNvPicPr preferRelativeResize="0"/>
          <p:nvPr/>
        </p:nvPicPr>
        <p:blipFill rotWithShape="1">
          <a:blip r:embed="rId3">
            <a:alphaModFix/>
          </a:blip>
          <a:srcRect/>
          <a:stretch/>
        </p:blipFill>
        <p:spPr>
          <a:xfrm>
            <a:off x="295874" y="683275"/>
            <a:ext cx="3757725" cy="825875"/>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158"/>
        <p:cNvGrpSpPr/>
        <p:nvPr/>
      </p:nvGrpSpPr>
      <p:grpSpPr>
        <a:xfrm>
          <a:off x="0" y="0"/>
          <a:ext cx="0" cy="0"/>
          <a:chOff x="0" y="0"/>
          <a:chExt cx="0" cy="0"/>
        </a:xfrm>
      </p:grpSpPr>
      <p:sp>
        <p:nvSpPr>
          <p:cNvPr id="159" name="Google Shape;159;g10ee00f67ea_0_104"/>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160" name="Google Shape;160;g10ee00f67ea_0_104" descr="A close up of a logo&#10;&#10;Description automatically generated"/>
          <p:cNvPicPr preferRelativeResize="0"/>
          <p:nvPr/>
        </p:nvPicPr>
        <p:blipFill rotWithShape="1">
          <a:blip r:embed="rId2">
            <a:alphaModFix/>
          </a:blip>
          <a:srcRect l="42816" t="18358" r="37293" b="19149"/>
          <a:stretch/>
        </p:blipFill>
        <p:spPr>
          <a:xfrm>
            <a:off x="6052536" y="514443"/>
            <a:ext cx="2095112" cy="3703320"/>
          </a:xfrm>
          <a:prstGeom prst="rect">
            <a:avLst/>
          </a:prstGeom>
          <a:noFill/>
          <a:ln>
            <a:noFill/>
          </a:ln>
        </p:spPr>
      </p:pic>
      <p:sp>
        <p:nvSpPr>
          <p:cNvPr id="161" name="Google Shape;161;g10ee00f67ea_0_104"/>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162" name="Google Shape;162;g10ee00f67ea_0_104"/>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163" name="Google Shape;163;g10ee00f67ea_0_104"/>
          <p:cNvPicPr preferRelativeResize="0"/>
          <p:nvPr/>
        </p:nvPicPr>
        <p:blipFill rotWithShape="1">
          <a:blip r:embed="rId3">
            <a:alphaModFix/>
          </a:blip>
          <a:srcRect/>
          <a:stretch/>
        </p:blipFill>
        <p:spPr>
          <a:xfrm>
            <a:off x="421875" y="769949"/>
            <a:ext cx="3071452" cy="1261275"/>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4"/>
        <p:cNvGrpSpPr/>
        <p:nvPr/>
      </p:nvGrpSpPr>
      <p:grpSpPr>
        <a:xfrm>
          <a:off x="0" y="0"/>
          <a:ext cx="0" cy="0"/>
          <a:chOff x="0" y="0"/>
          <a:chExt cx="0" cy="0"/>
        </a:xfrm>
      </p:grpSpPr>
      <p:sp>
        <p:nvSpPr>
          <p:cNvPr id="165" name="Google Shape;165;g10ee00f67ea_0_71"/>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66" name="Google Shape;166;g10ee00f67ea_0_71"/>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7"/>
        <p:cNvGrpSpPr/>
        <p:nvPr/>
      </p:nvGrpSpPr>
      <p:grpSpPr>
        <a:xfrm>
          <a:off x="0" y="0"/>
          <a:ext cx="0" cy="0"/>
          <a:chOff x="0" y="0"/>
          <a:chExt cx="0" cy="0"/>
        </a:xfrm>
      </p:grpSpPr>
      <p:sp>
        <p:nvSpPr>
          <p:cNvPr id="168" name="Google Shape;168;g10ee00f67ea_0_7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169" name="Google Shape;169;g10ee00f67ea_0_7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0"/>
        <p:cNvGrpSpPr/>
        <p:nvPr/>
      </p:nvGrpSpPr>
      <p:grpSpPr>
        <a:xfrm>
          <a:off x="0" y="0"/>
          <a:ext cx="0" cy="0"/>
          <a:chOff x="0" y="0"/>
          <a:chExt cx="0" cy="0"/>
        </a:xfrm>
      </p:grpSpPr>
      <p:sp>
        <p:nvSpPr>
          <p:cNvPr id="171" name="Google Shape;171;g10ee00f67ea_0_7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72" name="Google Shape;172;g10ee00f67ea_0_77"/>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173" name="Google Shape;173;g10ee00f67ea_0_7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174"/>
        <p:cNvGrpSpPr/>
        <p:nvPr/>
      </p:nvGrpSpPr>
      <p:grpSpPr>
        <a:xfrm>
          <a:off x="0" y="0"/>
          <a:ext cx="0" cy="0"/>
          <a:chOff x="0" y="0"/>
          <a:chExt cx="0" cy="0"/>
        </a:xfrm>
      </p:grpSpPr>
      <p:sp>
        <p:nvSpPr>
          <p:cNvPr id="175" name="Google Shape;175;g10ee00f67ea_0_81"/>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176" name="Google Shape;176;g10ee00f67ea_0_81"/>
          <p:cNvGraphicFramePr/>
          <p:nvPr/>
        </p:nvGraphicFramePr>
        <p:xfrm>
          <a:off x="201942" y="833662"/>
          <a:ext cx="3000000" cy="3000000"/>
        </p:xfrm>
        <a:graphic>
          <a:graphicData uri="http://schemas.openxmlformats.org/drawingml/2006/table">
            <a:tbl>
              <a:tblPr firstRow="1" bandRow="1">
                <a:noFill/>
                <a:tableStyleId>{C1344643-9A85-4DB7-9F01-8C1698141E30}</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177" name="Google Shape;177;g10ee00f67ea_0_8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8"/>
        <p:cNvGrpSpPr/>
        <p:nvPr/>
      </p:nvGrpSpPr>
      <p:grpSpPr>
        <a:xfrm>
          <a:off x="0" y="0"/>
          <a:ext cx="0" cy="0"/>
          <a:chOff x="0" y="0"/>
          <a:chExt cx="0" cy="0"/>
        </a:xfrm>
      </p:grpSpPr>
      <p:sp>
        <p:nvSpPr>
          <p:cNvPr id="179" name="Google Shape;179;g10ee00f67ea_0_85"/>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80" name="Google Shape;180;g10ee00f67ea_0_8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81" name="Google Shape;181;g10ee00f67ea_0_8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82" name="Google Shape;182;g10ee00f67ea_0_8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3"/>
        <p:cNvGrpSpPr/>
        <p:nvPr/>
      </p:nvGrpSpPr>
      <p:grpSpPr>
        <a:xfrm>
          <a:off x="0" y="0"/>
          <a:ext cx="0" cy="0"/>
          <a:chOff x="0" y="0"/>
          <a:chExt cx="0" cy="0"/>
        </a:xfrm>
      </p:grpSpPr>
      <p:sp>
        <p:nvSpPr>
          <p:cNvPr id="184" name="Google Shape;184;g10ee00f67ea_0_90"/>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85" name="Google Shape;185;g10ee00f67ea_0_9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6"/>
        <p:cNvGrpSpPr/>
        <p:nvPr/>
      </p:nvGrpSpPr>
      <p:grpSpPr>
        <a:xfrm>
          <a:off x="0" y="0"/>
          <a:ext cx="0" cy="0"/>
          <a:chOff x="0" y="0"/>
          <a:chExt cx="0" cy="0"/>
        </a:xfrm>
      </p:grpSpPr>
      <p:sp>
        <p:nvSpPr>
          <p:cNvPr id="187" name="Google Shape;187;g10ee00f67ea_0_93"/>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88" name="Google Shape;188;g10ee00f67ea_0_9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89"/>
        <p:cNvGrpSpPr/>
        <p:nvPr/>
      </p:nvGrpSpPr>
      <p:grpSpPr>
        <a:xfrm>
          <a:off x="0" y="0"/>
          <a:ext cx="0" cy="0"/>
          <a:chOff x="0" y="0"/>
          <a:chExt cx="0" cy="0"/>
        </a:xfrm>
      </p:grpSpPr>
      <p:sp>
        <p:nvSpPr>
          <p:cNvPr id="190" name="Google Shape;190;g10ee00f67ea_0_9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g10ee00f67ea_0_96"/>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92" name="Google Shape;192;g10ee00f67ea_0_96"/>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93" name="Google Shape;193;g10ee00f67ea_0_96"/>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194" name="Google Shape;194;g10ee00f67ea_0_9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95"/>
        <p:cNvGrpSpPr/>
        <p:nvPr/>
      </p:nvGrpSpPr>
      <p:grpSpPr>
        <a:xfrm>
          <a:off x="0" y="0"/>
          <a:ext cx="0" cy="0"/>
          <a:chOff x="0" y="0"/>
          <a:chExt cx="0" cy="0"/>
        </a:xfrm>
      </p:grpSpPr>
      <p:sp>
        <p:nvSpPr>
          <p:cNvPr id="196" name="Google Shape;196;g10ee00f67ea_0_10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theme" Target="../theme/theme3.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image" Target="../media/image1.png"/><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theme" Target="../theme/theme4.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ge1a9588eba_0_0"/>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7" name="Google Shape;7;ge1a9588eba_0_0"/>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8" name="Google Shape;8;ge1a9588eba_0_0"/>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9" name="Google Shape;9;ge1a9588eba_0_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10" name="Google Shape;10;ge1a9588eba_0_0"/>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11" name="Google Shape;11;ge1a9588eba_0_0"/>
          <p:cNvGrpSpPr/>
          <p:nvPr/>
        </p:nvGrpSpPr>
        <p:grpSpPr>
          <a:xfrm>
            <a:off x="6593" y="10"/>
            <a:ext cx="175500" cy="709221"/>
            <a:chOff x="6593" y="10"/>
            <a:chExt cx="175500" cy="709221"/>
          </a:xfrm>
        </p:grpSpPr>
        <p:sp>
          <p:nvSpPr>
            <p:cNvPr id="12" name="Google Shape;12;ge1a9588eba_0_0"/>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ge1a9588eba_0_0"/>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3"/>
        <p:cNvGrpSpPr/>
        <p:nvPr/>
      </p:nvGrpSpPr>
      <p:grpSpPr>
        <a:xfrm>
          <a:off x="0" y="0"/>
          <a:ext cx="0" cy="0"/>
          <a:chOff x="0" y="0"/>
          <a:chExt cx="0" cy="0"/>
        </a:xfrm>
      </p:grpSpPr>
      <p:sp>
        <p:nvSpPr>
          <p:cNvPr id="54" name="Google Shape;54;g2419b7728cb_0_71"/>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55" name="Google Shape;55;g2419b7728cb_0_71"/>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56" name="Google Shape;56;g2419b7728cb_0_71"/>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57" name="Google Shape;57;g2419b7728cb_0_7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58" name="Google Shape;58;g2419b7728cb_0_71"/>
          <p:cNvPicPr preferRelativeResize="0"/>
          <p:nvPr/>
        </p:nvPicPr>
        <p:blipFill rotWithShape="1">
          <a:blip r:embed="rId12">
            <a:alphaModFix/>
          </a:blip>
          <a:srcRect/>
          <a:stretch/>
        </p:blipFill>
        <p:spPr>
          <a:xfrm>
            <a:off x="7669500" y="68264"/>
            <a:ext cx="1395475" cy="572700"/>
          </a:xfrm>
          <a:prstGeom prst="rect">
            <a:avLst/>
          </a:prstGeom>
          <a:noFill/>
          <a:ln>
            <a:noFill/>
          </a:ln>
        </p:spPr>
      </p:pic>
      <p:grpSp>
        <p:nvGrpSpPr>
          <p:cNvPr id="59" name="Google Shape;59;g2419b7728cb_0_71"/>
          <p:cNvGrpSpPr/>
          <p:nvPr/>
        </p:nvGrpSpPr>
        <p:grpSpPr>
          <a:xfrm>
            <a:off x="6593" y="10"/>
            <a:ext cx="175500" cy="709221"/>
            <a:chOff x="6593" y="10"/>
            <a:chExt cx="175500" cy="709221"/>
          </a:xfrm>
        </p:grpSpPr>
        <p:sp>
          <p:nvSpPr>
            <p:cNvPr id="60" name="Google Shape;60;g2419b7728cb_0_71"/>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g2419b7728cb_0_71"/>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01"/>
        <p:cNvGrpSpPr/>
        <p:nvPr/>
      </p:nvGrpSpPr>
      <p:grpSpPr>
        <a:xfrm>
          <a:off x="0" y="0"/>
          <a:ext cx="0" cy="0"/>
          <a:chOff x="0" y="0"/>
          <a:chExt cx="0" cy="0"/>
        </a:xfrm>
      </p:grpSpPr>
      <p:sp>
        <p:nvSpPr>
          <p:cNvPr id="102" name="Google Shape;102;g244d23124c0_1_104"/>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103" name="Google Shape;103;g244d23124c0_1_104"/>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104" name="Google Shape;104;g244d23124c0_1_104"/>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105" name="Google Shape;105;g244d23124c0_1_10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106" name="Google Shape;106;g244d23124c0_1_104"/>
          <p:cNvPicPr preferRelativeResize="0"/>
          <p:nvPr/>
        </p:nvPicPr>
        <p:blipFill rotWithShape="1">
          <a:blip r:embed="rId12">
            <a:alphaModFix/>
          </a:blip>
          <a:srcRect/>
          <a:stretch/>
        </p:blipFill>
        <p:spPr>
          <a:xfrm>
            <a:off x="7669500" y="68264"/>
            <a:ext cx="1395475" cy="572700"/>
          </a:xfrm>
          <a:prstGeom prst="rect">
            <a:avLst/>
          </a:prstGeom>
          <a:noFill/>
          <a:ln>
            <a:noFill/>
          </a:ln>
        </p:spPr>
      </p:pic>
      <p:grpSp>
        <p:nvGrpSpPr>
          <p:cNvPr id="107" name="Google Shape;107;g244d23124c0_1_104"/>
          <p:cNvGrpSpPr/>
          <p:nvPr/>
        </p:nvGrpSpPr>
        <p:grpSpPr>
          <a:xfrm>
            <a:off x="6593" y="10"/>
            <a:ext cx="175500" cy="709221"/>
            <a:chOff x="6593" y="10"/>
            <a:chExt cx="175500" cy="709221"/>
          </a:xfrm>
        </p:grpSpPr>
        <p:sp>
          <p:nvSpPr>
            <p:cNvPr id="108" name="Google Shape;108;g244d23124c0_1_104"/>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g244d23124c0_1_104"/>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49"/>
        <p:cNvGrpSpPr/>
        <p:nvPr/>
      </p:nvGrpSpPr>
      <p:grpSpPr>
        <a:xfrm>
          <a:off x="0" y="0"/>
          <a:ext cx="0" cy="0"/>
          <a:chOff x="0" y="0"/>
          <a:chExt cx="0" cy="0"/>
        </a:xfrm>
      </p:grpSpPr>
      <p:sp>
        <p:nvSpPr>
          <p:cNvPr id="150" name="Google Shape;150;g10ee00f67ea_0_62"/>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151" name="Google Shape;151;g10ee00f67ea_0_62"/>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152" name="Google Shape;152;g10ee00f67ea_0_62"/>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153" name="Google Shape;153;g10ee00f67ea_0_6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154" name="Google Shape;154;g10ee00f67ea_0_62"/>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155" name="Google Shape;155;g10ee00f67ea_0_62"/>
          <p:cNvGrpSpPr/>
          <p:nvPr/>
        </p:nvGrpSpPr>
        <p:grpSpPr>
          <a:xfrm>
            <a:off x="6593" y="10"/>
            <a:ext cx="175500" cy="709221"/>
            <a:chOff x="6593" y="10"/>
            <a:chExt cx="175500" cy="709221"/>
          </a:xfrm>
        </p:grpSpPr>
        <p:sp>
          <p:nvSpPr>
            <p:cNvPr id="156" name="Google Shape;156;g10ee00f67ea_0_62"/>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 name="Google Shape;157;g10ee00f67ea_0_62"/>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Lst>
  <mc:AlternateContent xmlns:mc="http://schemas.openxmlformats.org/markup-compatibility/2006" xmlns:p14="http://schemas.microsoft.com/office/powerpoint/2010/main">
    <mc:Choice Requires="p14">
      <p:transition p14:dur="0">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
          <p:cNvSpPr txBox="1">
            <a:spLocks noGrp="1"/>
          </p:cNvSpPr>
          <p:nvPr>
            <p:ph type="ctrTitle"/>
          </p:nvPr>
        </p:nvSpPr>
        <p:spPr>
          <a:xfrm>
            <a:off x="619200" y="1113200"/>
            <a:ext cx="8105400" cy="133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3300">
                <a:latin typeface="Century Gothic"/>
                <a:ea typeface="Century Gothic"/>
                <a:cs typeface="Century Gothic"/>
                <a:sym typeface="Century Gothic"/>
              </a:rPr>
              <a:t>Hotel Booking Cancellation Prediction</a:t>
            </a:r>
            <a:endParaRPr sz="3300">
              <a:latin typeface="Century Gothic"/>
              <a:ea typeface="Century Gothic"/>
              <a:cs typeface="Century Gothic"/>
              <a:sym typeface="Century Gothic"/>
            </a:endParaRPr>
          </a:p>
        </p:txBody>
      </p:sp>
      <p:sp>
        <p:nvSpPr>
          <p:cNvPr id="202" name="Google Shape;202;p1"/>
          <p:cNvSpPr txBox="1">
            <a:spLocks noGrp="1"/>
          </p:cNvSpPr>
          <p:nvPr>
            <p:ph type="ctrTitle"/>
          </p:nvPr>
        </p:nvSpPr>
        <p:spPr>
          <a:xfrm>
            <a:off x="619200" y="2450950"/>
            <a:ext cx="7905600" cy="5817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4800"/>
              <a:buNone/>
            </a:pPr>
            <a:r>
              <a:rPr lang="en" sz="3000" b="0">
                <a:latin typeface="Century Gothic"/>
                <a:ea typeface="Century Gothic"/>
                <a:cs typeface="Century Gothic"/>
                <a:sym typeface="Century Gothic"/>
              </a:rPr>
              <a:t>Decision Systems</a:t>
            </a:r>
            <a:endParaRPr sz="3000" b="0">
              <a:latin typeface="Century Gothic"/>
              <a:ea typeface="Century Gothic"/>
              <a:cs typeface="Century Gothic"/>
              <a:sym typeface="Century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g158837adcbf_0_5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chemeClr val="lt2"/>
                </a:solidFill>
                <a:latin typeface="Century Gothic"/>
                <a:ea typeface="Century Gothic"/>
                <a:cs typeface="Century Gothic"/>
                <a:sym typeface="Century Gothic"/>
              </a:rPr>
              <a:t>Contents / Agenda</a:t>
            </a:r>
            <a:endParaRPr>
              <a:solidFill>
                <a:schemeClr val="lt2"/>
              </a:solidFill>
              <a:latin typeface="Century Gothic"/>
              <a:ea typeface="Century Gothic"/>
              <a:cs typeface="Century Gothic"/>
              <a:sym typeface="Century Gothic"/>
            </a:endParaRPr>
          </a:p>
        </p:txBody>
      </p:sp>
      <p:sp>
        <p:nvSpPr>
          <p:cNvPr id="208" name="Google Shape;208;g158837adcbf_0_53"/>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Data Dictionary</a:t>
            </a:r>
            <a:endParaRPr sz="1400">
              <a:solidFill>
                <a:schemeClr val="dk1"/>
              </a:solidFill>
              <a:latin typeface="Century Gothic"/>
              <a:ea typeface="Century Gothic"/>
              <a:cs typeface="Century Gothic"/>
              <a:sym typeface="Century Gothic"/>
            </a:endParaRPr>
          </a:p>
          <a:p>
            <a:pPr marL="457200" lvl="0" indent="-317500" algn="l" rtl="0">
              <a:lnSpc>
                <a:spcPct val="115000"/>
              </a:lnSpc>
              <a:spcBef>
                <a:spcPts val="100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Business Problem Overview and Solution Approach</a:t>
            </a:r>
            <a:endParaRPr sz="1400">
              <a:solidFill>
                <a:schemeClr val="dk1"/>
              </a:solidFill>
              <a:latin typeface="Century Gothic"/>
              <a:ea typeface="Century Gothic"/>
              <a:cs typeface="Century Gothic"/>
              <a:sym typeface="Century Gothic"/>
            </a:endParaRPr>
          </a:p>
          <a:p>
            <a:pPr marL="457200" lvl="0" indent="-317500" algn="l" rtl="0">
              <a:lnSpc>
                <a:spcPct val="115000"/>
              </a:lnSpc>
              <a:spcBef>
                <a:spcPts val="100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EDA Results</a:t>
            </a:r>
            <a:endParaRPr sz="1400">
              <a:solidFill>
                <a:schemeClr val="dk1"/>
              </a:solidFill>
              <a:latin typeface="Century Gothic"/>
              <a:ea typeface="Century Gothic"/>
              <a:cs typeface="Century Gothic"/>
              <a:sym typeface="Century Gothic"/>
            </a:endParaRPr>
          </a:p>
          <a:p>
            <a:pPr marL="457200" lvl="0" indent="-317500" algn="l" rtl="0">
              <a:lnSpc>
                <a:spcPct val="115000"/>
              </a:lnSpc>
              <a:spcBef>
                <a:spcPts val="100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Data Preprocessing </a:t>
            </a:r>
            <a:endParaRPr sz="1400">
              <a:solidFill>
                <a:schemeClr val="dk1"/>
              </a:solidFill>
              <a:latin typeface="Century Gothic"/>
              <a:ea typeface="Century Gothic"/>
              <a:cs typeface="Century Gothic"/>
              <a:sym typeface="Century Gothic"/>
            </a:endParaRPr>
          </a:p>
          <a:p>
            <a:pPr marL="457200" lvl="0" indent="-317500" algn="l" rtl="0">
              <a:lnSpc>
                <a:spcPct val="115000"/>
              </a:lnSpc>
              <a:spcBef>
                <a:spcPts val="100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Model Performance Summary</a:t>
            </a:r>
            <a:endParaRPr sz="1400">
              <a:solidFill>
                <a:schemeClr val="dk1"/>
              </a:solidFill>
              <a:latin typeface="Century Gothic"/>
              <a:ea typeface="Century Gothic"/>
              <a:cs typeface="Century Gothic"/>
              <a:sym typeface="Century Gothic"/>
            </a:endParaRPr>
          </a:p>
          <a:p>
            <a:pPr marL="457200" lvl="0" indent="-317500" algn="l" rtl="0">
              <a:lnSpc>
                <a:spcPct val="115000"/>
              </a:lnSpc>
              <a:spcBef>
                <a:spcPts val="100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Conclusions and Recommendations</a:t>
            </a:r>
            <a:endParaRPr sz="1400">
              <a:solidFill>
                <a:schemeClr val="dk1"/>
              </a:solidFill>
              <a:latin typeface="Century Gothic"/>
              <a:ea typeface="Century Gothic"/>
              <a:cs typeface="Century Gothic"/>
              <a:sym typeface="Century Gothic"/>
            </a:endParaRPr>
          </a:p>
          <a:p>
            <a:pPr marL="457200" lvl="0" indent="-317500" algn="l" rtl="0">
              <a:lnSpc>
                <a:spcPct val="115000"/>
              </a:lnSpc>
              <a:spcBef>
                <a:spcPts val="1000"/>
              </a:spcBef>
              <a:spcAft>
                <a:spcPts val="100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Appendix</a:t>
            </a:r>
            <a:endParaRPr sz="1400">
              <a:solidFill>
                <a:schemeClr val="dk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g245c43bb502_0_48"/>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chemeClr val="lt2"/>
                </a:solidFill>
                <a:latin typeface="Century Gothic"/>
                <a:ea typeface="Century Gothic"/>
                <a:cs typeface="Century Gothic"/>
                <a:sym typeface="Century Gothic"/>
              </a:rPr>
              <a:t>Data Dictionary</a:t>
            </a:r>
            <a:endParaRPr>
              <a:solidFill>
                <a:schemeClr val="lt2"/>
              </a:solidFill>
              <a:latin typeface="Century Gothic"/>
              <a:ea typeface="Century Gothic"/>
              <a:cs typeface="Century Gothic"/>
              <a:sym typeface="Century Gothic"/>
            </a:endParaRPr>
          </a:p>
        </p:txBody>
      </p:sp>
      <p:sp>
        <p:nvSpPr>
          <p:cNvPr id="214" name="Google Shape;214;g245c43bb502_0_48"/>
          <p:cNvSpPr txBox="1">
            <a:spLocks noGrp="1"/>
          </p:cNvSpPr>
          <p:nvPr>
            <p:ph type="body" idx="1"/>
          </p:nvPr>
        </p:nvSpPr>
        <p:spPr>
          <a:xfrm>
            <a:off x="311750" y="861975"/>
            <a:ext cx="8520600" cy="3706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1000"/>
              </a:spcBef>
              <a:spcAft>
                <a:spcPts val="0"/>
              </a:spcAft>
              <a:buNone/>
            </a:pPr>
            <a:r>
              <a:rPr lang="en" sz="1200">
                <a:solidFill>
                  <a:schemeClr val="dk1"/>
                </a:solidFill>
                <a:latin typeface="Century Gothic"/>
                <a:ea typeface="Century Gothic"/>
                <a:cs typeface="Century Gothic"/>
                <a:sym typeface="Century Gothic"/>
              </a:rPr>
              <a:t>The data contains the different attributes of</a:t>
            </a:r>
            <a:r>
              <a:rPr lang="en" sz="1200" b="1">
                <a:solidFill>
                  <a:schemeClr val="dk1"/>
                </a:solidFill>
                <a:latin typeface="Century Gothic"/>
                <a:ea typeface="Century Gothic"/>
                <a:cs typeface="Century Gothic"/>
                <a:sym typeface="Century Gothic"/>
              </a:rPr>
              <a:t> customers' booking details</a:t>
            </a:r>
            <a:r>
              <a:rPr lang="en" sz="1200">
                <a:solidFill>
                  <a:schemeClr val="dk1"/>
                </a:solidFill>
                <a:latin typeface="Century Gothic"/>
                <a:ea typeface="Century Gothic"/>
                <a:cs typeface="Century Gothic"/>
                <a:sym typeface="Century Gothic"/>
              </a:rPr>
              <a:t>. The detailed data dictionary is given below:</a:t>
            </a:r>
            <a:endParaRPr sz="1200">
              <a:solidFill>
                <a:schemeClr val="dk1"/>
              </a:solidFill>
              <a:latin typeface="Century Gothic"/>
              <a:ea typeface="Century Gothic"/>
              <a:cs typeface="Century Gothic"/>
              <a:sym typeface="Century Gothic"/>
            </a:endParaRPr>
          </a:p>
          <a:p>
            <a:pPr marL="457200" lvl="0" indent="-304800" algn="l" rtl="0">
              <a:lnSpc>
                <a:spcPct val="150000"/>
              </a:lnSpc>
              <a:spcBef>
                <a:spcPts val="1000"/>
              </a:spcBef>
              <a:spcAft>
                <a:spcPts val="0"/>
              </a:spcAft>
              <a:buClr>
                <a:schemeClr val="dk1"/>
              </a:buClr>
              <a:buSzPts val="1200"/>
              <a:buFont typeface="Century Gothic"/>
              <a:buChar char="●"/>
            </a:pPr>
            <a:r>
              <a:rPr lang="en" sz="1200" b="1">
                <a:solidFill>
                  <a:schemeClr val="dk1"/>
                </a:solidFill>
                <a:latin typeface="Century Gothic"/>
                <a:ea typeface="Century Gothic"/>
                <a:cs typeface="Century Gothic"/>
                <a:sym typeface="Century Gothic"/>
              </a:rPr>
              <a:t>Booking_ID: </a:t>
            </a:r>
            <a:r>
              <a:rPr lang="en" sz="1200">
                <a:solidFill>
                  <a:schemeClr val="dk1"/>
                </a:solidFill>
                <a:latin typeface="Century Gothic"/>
                <a:ea typeface="Century Gothic"/>
                <a:cs typeface="Century Gothic"/>
                <a:sym typeface="Century Gothic"/>
              </a:rPr>
              <a:t>the unique identifier of each booking</a:t>
            </a:r>
            <a:endParaRPr sz="1200">
              <a:solidFill>
                <a:schemeClr val="dk1"/>
              </a:solidFill>
              <a:latin typeface="Century Gothic"/>
              <a:ea typeface="Century Gothic"/>
              <a:cs typeface="Century Gothic"/>
              <a:sym typeface="Century Gothic"/>
            </a:endParaRPr>
          </a:p>
          <a:p>
            <a:pPr marL="457200" lvl="0" indent="-304800" algn="l" rtl="0">
              <a:lnSpc>
                <a:spcPct val="150000"/>
              </a:lnSpc>
              <a:spcBef>
                <a:spcPts val="0"/>
              </a:spcBef>
              <a:spcAft>
                <a:spcPts val="0"/>
              </a:spcAft>
              <a:buClr>
                <a:schemeClr val="dk1"/>
              </a:buClr>
              <a:buSzPts val="1200"/>
              <a:buFont typeface="Century Gothic"/>
              <a:buChar char="●"/>
            </a:pPr>
            <a:r>
              <a:rPr lang="en" sz="1200" b="1">
                <a:solidFill>
                  <a:schemeClr val="dk1"/>
                </a:solidFill>
                <a:latin typeface="Century Gothic"/>
                <a:ea typeface="Century Gothic"/>
                <a:cs typeface="Century Gothic"/>
                <a:sym typeface="Century Gothic"/>
              </a:rPr>
              <a:t>no_of_adults: </a:t>
            </a:r>
            <a:r>
              <a:rPr lang="en" sz="1200">
                <a:solidFill>
                  <a:schemeClr val="dk1"/>
                </a:solidFill>
                <a:latin typeface="Century Gothic"/>
                <a:ea typeface="Century Gothic"/>
                <a:cs typeface="Century Gothic"/>
                <a:sym typeface="Century Gothic"/>
              </a:rPr>
              <a:t>Number of adults</a:t>
            </a:r>
            <a:endParaRPr sz="1200">
              <a:solidFill>
                <a:schemeClr val="dk1"/>
              </a:solidFill>
              <a:latin typeface="Century Gothic"/>
              <a:ea typeface="Century Gothic"/>
              <a:cs typeface="Century Gothic"/>
              <a:sym typeface="Century Gothic"/>
            </a:endParaRPr>
          </a:p>
          <a:p>
            <a:pPr marL="457200" lvl="0" indent="-304800" algn="l" rtl="0">
              <a:lnSpc>
                <a:spcPct val="150000"/>
              </a:lnSpc>
              <a:spcBef>
                <a:spcPts val="0"/>
              </a:spcBef>
              <a:spcAft>
                <a:spcPts val="0"/>
              </a:spcAft>
              <a:buClr>
                <a:schemeClr val="dk1"/>
              </a:buClr>
              <a:buSzPts val="1200"/>
              <a:buFont typeface="Century Gothic"/>
              <a:buChar char="●"/>
            </a:pPr>
            <a:r>
              <a:rPr lang="en" sz="1200" b="1">
                <a:solidFill>
                  <a:schemeClr val="dk1"/>
                </a:solidFill>
                <a:latin typeface="Century Gothic"/>
                <a:ea typeface="Century Gothic"/>
                <a:cs typeface="Century Gothic"/>
                <a:sym typeface="Century Gothic"/>
              </a:rPr>
              <a:t>no_of_children:</a:t>
            </a:r>
            <a:r>
              <a:rPr lang="en" sz="1200">
                <a:solidFill>
                  <a:schemeClr val="dk1"/>
                </a:solidFill>
                <a:latin typeface="Century Gothic"/>
                <a:ea typeface="Century Gothic"/>
                <a:cs typeface="Century Gothic"/>
                <a:sym typeface="Century Gothic"/>
              </a:rPr>
              <a:t> Number of Children</a:t>
            </a:r>
            <a:endParaRPr sz="1200">
              <a:solidFill>
                <a:schemeClr val="dk1"/>
              </a:solidFill>
              <a:latin typeface="Century Gothic"/>
              <a:ea typeface="Century Gothic"/>
              <a:cs typeface="Century Gothic"/>
              <a:sym typeface="Century Gothic"/>
            </a:endParaRPr>
          </a:p>
          <a:p>
            <a:pPr marL="457200" lvl="0" indent="-304800" algn="l" rtl="0">
              <a:lnSpc>
                <a:spcPct val="150000"/>
              </a:lnSpc>
              <a:spcBef>
                <a:spcPts val="0"/>
              </a:spcBef>
              <a:spcAft>
                <a:spcPts val="0"/>
              </a:spcAft>
              <a:buClr>
                <a:schemeClr val="dk1"/>
              </a:buClr>
              <a:buSzPts val="1200"/>
              <a:buFont typeface="Century Gothic"/>
              <a:buChar char="●"/>
            </a:pPr>
            <a:r>
              <a:rPr lang="en" sz="1200" b="1">
                <a:solidFill>
                  <a:schemeClr val="dk1"/>
                </a:solidFill>
                <a:latin typeface="Century Gothic"/>
                <a:ea typeface="Century Gothic"/>
                <a:cs typeface="Century Gothic"/>
                <a:sym typeface="Century Gothic"/>
              </a:rPr>
              <a:t>no_of_weekend_nights:</a:t>
            </a:r>
            <a:r>
              <a:rPr lang="en" sz="1200">
                <a:solidFill>
                  <a:schemeClr val="dk1"/>
                </a:solidFill>
                <a:latin typeface="Century Gothic"/>
                <a:ea typeface="Century Gothic"/>
                <a:cs typeface="Century Gothic"/>
                <a:sym typeface="Century Gothic"/>
              </a:rPr>
              <a:t> Number of weekend nights (Saturday or Sunday) the guest stayed or booked to stay at the hotel</a:t>
            </a:r>
            <a:endParaRPr sz="1200">
              <a:solidFill>
                <a:schemeClr val="dk1"/>
              </a:solidFill>
              <a:latin typeface="Century Gothic"/>
              <a:ea typeface="Century Gothic"/>
              <a:cs typeface="Century Gothic"/>
              <a:sym typeface="Century Gothic"/>
            </a:endParaRPr>
          </a:p>
          <a:p>
            <a:pPr marL="457200" lvl="0" indent="-304800" algn="l" rtl="0">
              <a:lnSpc>
                <a:spcPct val="150000"/>
              </a:lnSpc>
              <a:spcBef>
                <a:spcPts val="0"/>
              </a:spcBef>
              <a:spcAft>
                <a:spcPts val="0"/>
              </a:spcAft>
              <a:buClr>
                <a:schemeClr val="dk1"/>
              </a:buClr>
              <a:buSzPts val="1200"/>
              <a:buFont typeface="Century Gothic"/>
              <a:buChar char="●"/>
            </a:pPr>
            <a:r>
              <a:rPr lang="en" sz="1200" b="1">
                <a:solidFill>
                  <a:schemeClr val="dk1"/>
                </a:solidFill>
                <a:latin typeface="Century Gothic"/>
                <a:ea typeface="Century Gothic"/>
                <a:cs typeface="Century Gothic"/>
                <a:sym typeface="Century Gothic"/>
              </a:rPr>
              <a:t>no_of_week_nights:</a:t>
            </a:r>
            <a:r>
              <a:rPr lang="en" sz="1200">
                <a:solidFill>
                  <a:schemeClr val="dk1"/>
                </a:solidFill>
                <a:latin typeface="Century Gothic"/>
                <a:ea typeface="Century Gothic"/>
                <a:cs typeface="Century Gothic"/>
                <a:sym typeface="Century Gothic"/>
              </a:rPr>
              <a:t> Number of weeknights (Monday to Friday) the guest stayed or booked to stay at the hotel</a:t>
            </a:r>
            <a:endParaRPr sz="1200">
              <a:solidFill>
                <a:schemeClr val="dk1"/>
              </a:solidFill>
              <a:latin typeface="Century Gothic"/>
              <a:ea typeface="Century Gothic"/>
              <a:cs typeface="Century Gothic"/>
              <a:sym typeface="Century Gothic"/>
            </a:endParaRPr>
          </a:p>
          <a:p>
            <a:pPr marL="457200" lvl="0" indent="-304800" algn="l" rtl="0">
              <a:lnSpc>
                <a:spcPct val="150000"/>
              </a:lnSpc>
              <a:spcBef>
                <a:spcPts val="0"/>
              </a:spcBef>
              <a:spcAft>
                <a:spcPts val="0"/>
              </a:spcAft>
              <a:buClr>
                <a:schemeClr val="dk1"/>
              </a:buClr>
              <a:buSzPts val="1200"/>
              <a:buFont typeface="Century Gothic"/>
              <a:buChar char="●"/>
            </a:pPr>
            <a:r>
              <a:rPr lang="en" sz="1200" b="1">
                <a:solidFill>
                  <a:schemeClr val="dk1"/>
                </a:solidFill>
                <a:latin typeface="Century Gothic"/>
                <a:ea typeface="Century Gothic"/>
                <a:cs typeface="Century Gothic"/>
                <a:sym typeface="Century Gothic"/>
              </a:rPr>
              <a:t>required_car_parking_space:</a:t>
            </a:r>
            <a:r>
              <a:rPr lang="en" sz="1200">
                <a:solidFill>
                  <a:schemeClr val="dk1"/>
                </a:solidFill>
                <a:latin typeface="Century Gothic"/>
                <a:ea typeface="Century Gothic"/>
                <a:cs typeface="Century Gothic"/>
                <a:sym typeface="Century Gothic"/>
              </a:rPr>
              <a:t> Does the customer require a car parking space? (0 - No, 1- Yes)</a:t>
            </a:r>
            <a:endParaRPr sz="1200">
              <a:solidFill>
                <a:schemeClr val="dk1"/>
              </a:solidFill>
              <a:latin typeface="Century Gothic"/>
              <a:ea typeface="Century Gothic"/>
              <a:cs typeface="Century Gothic"/>
              <a:sym typeface="Century Gothic"/>
            </a:endParaRPr>
          </a:p>
          <a:p>
            <a:pPr marL="457200" lvl="0" indent="-304800" algn="l" rtl="0">
              <a:lnSpc>
                <a:spcPct val="150000"/>
              </a:lnSpc>
              <a:spcBef>
                <a:spcPts val="0"/>
              </a:spcBef>
              <a:spcAft>
                <a:spcPts val="0"/>
              </a:spcAft>
              <a:buClr>
                <a:schemeClr val="dk1"/>
              </a:buClr>
              <a:buSzPts val="1200"/>
              <a:buFont typeface="Century Gothic"/>
              <a:buChar char="●"/>
            </a:pPr>
            <a:r>
              <a:rPr lang="en" sz="1200" b="1">
                <a:solidFill>
                  <a:srgbClr val="2D3B45"/>
                </a:solidFill>
                <a:highlight>
                  <a:srgbClr val="FFFFFF"/>
                </a:highlight>
                <a:latin typeface="Century Gothic"/>
                <a:ea typeface="Century Gothic"/>
                <a:cs typeface="Century Gothic"/>
                <a:sym typeface="Century Gothic"/>
              </a:rPr>
              <a:t>room_type_reserved:</a:t>
            </a:r>
            <a:r>
              <a:rPr lang="en" sz="1200">
                <a:solidFill>
                  <a:srgbClr val="2D3B45"/>
                </a:solidFill>
                <a:highlight>
                  <a:srgbClr val="FFFFFF"/>
                </a:highlight>
                <a:latin typeface="Century Gothic"/>
                <a:ea typeface="Century Gothic"/>
                <a:cs typeface="Century Gothic"/>
                <a:sym typeface="Century Gothic"/>
              </a:rPr>
              <a:t> Type of room reserved by the customer. The values are ciphered (encoded) by INN Hotels Group</a:t>
            </a:r>
            <a:endParaRPr sz="1200">
              <a:solidFill>
                <a:srgbClr val="2D3B45"/>
              </a:solidFill>
              <a:highlight>
                <a:srgbClr val="FFFFFF"/>
              </a:highlight>
              <a:latin typeface="Century Gothic"/>
              <a:ea typeface="Century Gothic"/>
              <a:cs typeface="Century Gothic"/>
              <a:sym typeface="Century Gothic"/>
            </a:endParaRPr>
          </a:p>
          <a:p>
            <a:pPr marL="0" lvl="0" indent="0" algn="l" rtl="0">
              <a:lnSpc>
                <a:spcPct val="150000"/>
              </a:lnSpc>
              <a:spcBef>
                <a:spcPts val="1000"/>
              </a:spcBef>
              <a:spcAft>
                <a:spcPts val="0"/>
              </a:spcAft>
              <a:buNone/>
            </a:pPr>
            <a:endParaRPr sz="1200">
              <a:solidFill>
                <a:schemeClr val="dk1"/>
              </a:solidFill>
              <a:latin typeface="Century Gothic"/>
              <a:ea typeface="Century Gothic"/>
              <a:cs typeface="Century Gothic"/>
              <a:sym typeface="Century Gothic"/>
            </a:endParaRPr>
          </a:p>
          <a:p>
            <a:pPr marL="457200" lvl="0" indent="0" algn="l" rtl="0">
              <a:lnSpc>
                <a:spcPct val="150000"/>
              </a:lnSpc>
              <a:spcBef>
                <a:spcPts val="1000"/>
              </a:spcBef>
              <a:spcAft>
                <a:spcPts val="0"/>
              </a:spcAft>
              <a:buNone/>
            </a:pPr>
            <a:endParaRPr sz="1400">
              <a:solidFill>
                <a:schemeClr val="dk1"/>
              </a:solidFill>
              <a:latin typeface="Century Gothic"/>
              <a:ea typeface="Century Gothic"/>
              <a:cs typeface="Century Gothic"/>
              <a:sym typeface="Century Gothic"/>
            </a:endParaRPr>
          </a:p>
          <a:p>
            <a:pPr marL="0" lvl="0" indent="0" algn="l" rtl="0">
              <a:lnSpc>
                <a:spcPct val="150000"/>
              </a:lnSpc>
              <a:spcBef>
                <a:spcPts val="1000"/>
              </a:spcBef>
              <a:spcAft>
                <a:spcPts val="0"/>
              </a:spcAft>
              <a:buNone/>
            </a:pPr>
            <a:endParaRPr sz="1200">
              <a:solidFill>
                <a:schemeClr val="dk1"/>
              </a:solidFill>
              <a:latin typeface="Century Gothic"/>
              <a:ea typeface="Century Gothic"/>
              <a:cs typeface="Century Gothic"/>
              <a:sym typeface="Century Gothic"/>
            </a:endParaRPr>
          </a:p>
          <a:p>
            <a:pPr marL="457200" lvl="0" indent="0" algn="l" rtl="0">
              <a:lnSpc>
                <a:spcPct val="150000"/>
              </a:lnSpc>
              <a:spcBef>
                <a:spcPts val="1000"/>
              </a:spcBef>
              <a:spcAft>
                <a:spcPts val="1000"/>
              </a:spcAft>
              <a:buNone/>
            </a:pPr>
            <a:endParaRPr sz="1200">
              <a:solidFill>
                <a:schemeClr val="dk1"/>
              </a:solidFill>
              <a:latin typeface="Century Gothic"/>
              <a:ea typeface="Century Gothic"/>
              <a:cs typeface="Century Gothic"/>
              <a:sym typeface="Century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g245c43bb502_0_5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chemeClr val="lt2"/>
                </a:solidFill>
                <a:latin typeface="Century Gothic"/>
                <a:ea typeface="Century Gothic"/>
                <a:cs typeface="Century Gothic"/>
                <a:sym typeface="Century Gothic"/>
              </a:rPr>
              <a:t>Data Dictionary</a:t>
            </a:r>
            <a:endParaRPr>
              <a:solidFill>
                <a:schemeClr val="lt2"/>
              </a:solidFill>
              <a:latin typeface="Century Gothic"/>
              <a:ea typeface="Century Gothic"/>
              <a:cs typeface="Century Gothic"/>
              <a:sym typeface="Century Gothic"/>
            </a:endParaRPr>
          </a:p>
        </p:txBody>
      </p:sp>
      <p:sp>
        <p:nvSpPr>
          <p:cNvPr id="220" name="Google Shape;220;g245c43bb502_0_53"/>
          <p:cNvSpPr txBox="1">
            <a:spLocks noGrp="1"/>
          </p:cNvSpPr>
          <p:nvPr>
            <p:ph type="body" idx="1"/>
          </p:nvPr>
        </p:nvSpPr>
        <p:spPr>
          <a:xfrm>
            <a:off x="311750" y="861975"/>
            <a:ext cx="8520600" cy="3706800"/>
          </a:xfrm>
          <a:prstGeom prst="rect">
            <a:avLst/>
          </a:prstGeom>
          <a:noFill/>
          <a:ln>
            <a:noFill/>
          </a:ln>
        </p:spPr>
        <p:txBody>
          <a:bodyPr spcFirstLastPara="1" wrap="square" lIns="91425" tIns="91425" rIns="91425" bIns="91425" anchor="t" anchorCtr="0">
            <a:noAutofit/>
          </a:bodyPr>
          <a:lstStyle/>
          <a:p>
            <a:pPr marL="914400" lvl="0" indent="-304800" algn="l" rtl="0">
              <a:spcBef>
                <a:spcPts val="1000"/>
              </a:spcBef>
              <a:spcAft>
                <a:spcPts val="0"/>
              </a:spcAft>
              <a:buClr>
                <a:srgbClr val="2D3B45"/>
              </a:buClr>
              <a:buSzPts val="1200"/>
              <a:buFont typeface="Century Gothic"/>
              <a:buChar char="●"/>
            </a:pPr>
            <a:r>
              <a:rPr lang="en" sz="1200" b="1">
                <a:solidFill>
                  <a:srgbClr val="2D3B45"/>
                </a:solidFill>
                <a:highlight>
                  <a:srgbClr val="FFFFFF"/>
                </a:highlight>
                <a:latin typeface="Century Gothic"/>
                <a:ea typeface="Century Gothic"/>
                <a:cs typeface="Century Gothic"/>
                <a:sym typeface="Century Gothic"/>
              </a:rPr>
              <a:t>lead_time: </a:t>
            </a:r>
            <a:r>
              <a:rPr lang="en" sz="1200">
                <a:solidFill>
                  <a:srgbClr val="2D3B45"/>
                </a:solidFill>
                <a:highlight>
                  <a:srgbClr val="FFFFFF"/>
                </a:highlight>
                <a:latin typeface="Century Gothic"/>
                <a:ea typeface="Century Gothic"/>
                <a:cs typeface="Century Gothic"/>
                <a:sym typeface="Century Gothic"/>
              </a:rPr>
              <a:t>Number of days between the date of booking and the arrival date</a:t>
            </a:r>
            <a:endParaRPr sz="1200">
              <a:solidFill>
                <a:srgbClr val="2D3B45"/>
              </a:solidFill>
              <a:highlight>
                <a:srgbClr val="FFFFFF"/>
              </a:highlight>
              <a:latin typeface="Century Gothic"/>
              <a:ea typeface="Century Gothic"/>
              <a:cs typeface="Century Gothic"/>
              <a:sym typeface="Century Gothic"/>
            </a:endParaRPr>
          </a:p>
          <a:p>
            <a:pPr marL="914400" lvl="0" indent="-304800" algn="l" rtl="0">
              <a:spcBef>
                <a:spcPts val="1000"/>
              </a:spcBef>
              <a:spcAft>
                <a:spcPts val="0"/>
              </a:spcAft>
              <a:buClr>
                <a:srgbClr val="2D3B45"/>
              </a:buClr>
              <a:buSzPts val="1200"/>
              <a:buFont typeface="Century Gothic"/>
              <a:buChar char="●"/>
            </a:pPr>
            <a:r>
              <a:rPr lang="en" sz="1200" b="1">
                <a:solidFill>
                  <a:srgbClr val="2D3B45"/>
                </a:solidFill>
                <a:highlight>
                  <a:srgbClr val="FFFFFF"/>
                </a:highlight>
                <a:latin typeface="Century Gothic"/>
                <a:ea typeface="Century Gothic"/>
                <a:cs typeface="Century Gothic"/>
                <a:sym typeface="Century Gothic"/>
              </a:rPr>
              <a:t>arrival_year:</a:t>
            </a:r>
            <a:r>
              <a:rPr lang="en" sz="1200">
                <a:solidFill>
                  <a:srgbClr val="2D3B45"/>
                </a:solidFill>
                <a:highlight>
                  <a:srgbClr val="FFFFFF"/>
                </a:highlight>
                <a:latin typeface="Century Gothic"/>
                <a:ea typeface="Century Gothic"/>
                <a:cs typeface="Century Gothic"/>
                <a:sym typeface="Century Gothic"/>
              </a:rPr>
              <a:t> Year of arrival date</a:t>
            </a:r>
            <a:endParaRPr sz="1200">
              <a:solidFill>
                <a:srgbClr val="2D3B45"/>
              </a:solidFill>
              <a:highlight>
                <a:srgbClr val="FFFFFF"/>
              </a:highlight>
              <a:latin typeface="Century Gothic"/>
              <a:ea typeface="Century Gothic"/>
              <a:cs typeface="Century Gothic"/>
              <a:sym typeface="Century Gothic"/>
            </a:endParaRPr>
          </a:p>
          <a:p>
            <a:pPr marL="914400" lvl="0" indent="-304800" algn="l" rtl="0">
              <a:spcBef>
                <a:spcPts val="1000"/>
              </a:spcBef>
              <a:spcAft>
                <a:spcPts val="0"/>
              </a:spcAft>
              <a:buClr>
                <a:srgbClr val="2D3B45"/>
              </a:buClr>
              <a:buSzPts val="1200"/>
              <a:buFont typeface="Century Gothic"/>
              <a:buChar char="●"/>
            </a:pPr>
            <a:r>
              <a:rPr lang="en" sz="1200" b="1">
                <a:solidFill>
                  <a:srgbClr val="2D3B45"/>
                </a:solidFill>
                <a:highlight>
                  <a:srgbClr val="FFFFFF"/>
                </a:highlight>
                <a:latin typeface="Century Gothic"/>
                <a:ea typeface="Century Gothic"/>
                <a:cs typeface="Century Gothic"/>
                <a:sym typeface="Century Gothic"/>
              </a:rPr>
              <a:t>arrival_month:</a:t>
            </a:r>
            <a:r>
              <a:rPr lang="en" sz="1200">
                <a:solidFill>
                  <a:srgbClr val="2D3B45"/>
                </a:solidFill>
                <a:highlight>
                  <a:srgbClr val="FFFFFF"/>
                </a:highlight>
                <a:latin typeface="Century Gothic"/>
                <a:ea typeface="Century Gothic"/>
                <a:cs typeface="Century Gothic"/>
                <a:sym typeface="Century Gothic"/>
              </a:rPr>
              <a:t> Month of arrival date</a:t>
            </a:r>
            <a:endParaRPr sz="1200">
              <a:solidFill>
                <a:srgbClr val="2D3B45"/>
              </a:solidFill>
              <a:highlight>
                <a:srgbClr val="FFFFFF"/>
              </a:highlight>
              <a:latin typeface="Century Gothic"/>
              <a:ea typeface="Century Gothic"/>
              <a:cs typeface="Century Gothic"/>
              <a:sym typeface="Century Gothic"/>
            </a:endParaRPr>
          </a:p>
          <a:p>
            <a:pPr marL="914400" lvl="0" indent="-304800" algn="l" rtl="0">
              <a:spcBef>
                <a:spcPts val="1000"/>
              </a:spcBef>
              <a:spcAft>
                <a:spcPts val="0"/>
              </a:spcAft>
              <a:buClr>
                <a:srgbClr val="2D3B45"/>
              </a:buClr>
              <a:buSzPts val="1200"/>
              <a:buFont typeface="Century Gothic"/>
              <a:buChar char="●"/>
            </a:pPr>
            <a:r>
              <a:rPr lang="en" sz="1200" b="1">
                <a:solidFill>
                  <a:srgbClr val="2D3B45"/>
                </a:solidFill>
                <a:highlight>
                  <a:srgbClr val="FFFFFF"/>
                </a:highlight>
                <a:latin typeface="Century Gothic"/>
                <a:ea typeface="Century Gothic"/>
                <a:cs typeface="Century Gothic"/>
                <a:sym typeface="Century Gothic"/>
              </a:rPr>
              <a:t>arrival_date:</a:t>
            </a:r>
            <a:r>
              <a:rPr lang="en" sz="1200">
                <a:solidFill>
                  <a:srgbClr val="2D3B45"/>
                </a:solidFill>
                <a:highlight>
                  <a:srgbClr val="FFFFFF"/>
                </a:highlight>
                <a:latin typeface="Century Gothic"/>
                <a:ea typeface="Century Gothic"/>
                <a:cs typeface="Century Gothic"/>
                <a:sym typeface="Century Gothic"/>
              </a:rPr>
              <a:t> Date of the month</a:t>
            </a:r>
            <a:endParaRPr sz="1200">
              <a:solidFill>
                <a:srgbClr val="2D3B45"/>
              </a:solidFill>
              <a:highlight>
                <a:srgbClr val="FFFFFF"/>
              </a:highlight>
              <a:latin typeface="Century Gothic"/>
              <a:ea typeface="Century Gothic"/>
              <a:cs typeface="Century Gothic"/>
              <a:sym typeface="Century Gothic"/>
            </a:endParaRPr>
          </a:p>
          <a:p>
            <a:pPr marL="914400" lvl="0" indent="-304800" algn="l" rtl="0">
              <a:spcBef>
                <a:spcPts val="1000"/>
              </a:spcBef>
              <a:spcAft>
                <a:spcPts val="0"/>
              </a:spcAft>
              <a:buClr>
                <a:srgbClr val="2D3B45"/>
              </a:buClr>
              <a:buSzPts val="1200"/>
              <a:buFont typeface="Century Gothic"/>
              <a:buChar char="●"/>
            </a:pPr>
            <a:r>
              <a:rPr lang="en" sz="1200" b="1">
                <a:solidFill>
                  <a:srgbClr val="2D3B45"/>
                </a:solidFill>
                <a:highlight>
                  <a:srgbClr val="FFFFFF"/>
                </a:highlight>
                <a:latin typeface="Century Gothic"/>
                <a:ea typeface="Century Gothic"/>
                <a:cs typeface="Century Gothic"/>
                <a:sym typeface="Century Gothic"/>
              </a:rPr>
              <a:t>market_segment_type:</a:t>
            </a:r>
            <a:r>
              <a:rPr lang="en" sz="1200">
                <a:solidFill>
                  <a:srgbClr val="2D3B45"/>
                </a:solidFill>
                <a:highlight>
                  <a:srgbClr val="FFFFFF"/>
                </a:highlight>
                <a:latin typeface="Century Gothic"/>
                <a:ea typeface="Century Gothic"/>
                <a:cs typeface="Century Gothic"/>
                <a:sym typeface="Century Gothic"/>
              </a:rPr>
              <a:t> Market segment designation.</a:t>
            </a:r>
            <a:endParaRPr sz="1200">
              <a:solidFill>
                <a:srgbClr val="2D3B45"/>
              </a:solidFill>
              <a:highlight>
                <a:srgbClr val="FFFFFF"/>
              </a:highlight>
              <a:latin typeface="Century Gothic"/>
              <a:ea typeface="Century Gothic"/>
              <a:cs typeface="Century Gothic"/>
              <a:sym typeface="Century Gothic"/>
            </a:endParaRPr>
          </a:p>
          <a:p>
            <a:pPr marL="914400" lvl="0" indent="-304800" algn="l" rtl="0">
              <a:spcBef>
                <a:spcPts val="1000"/>
              </a:spcBef>
              <a:spcAft>
                <a:spcPts val="0"/>
              </a:spcAft>
              <a:buClr>
                <a:srgbClr val="2D3B45"/>
              </a:buClr>
              <a:buSzPts val="1200"/>
              <a:buFont typeface="Century Gothic"/>
              <a:buChar char="●"/>
            </a:pPr>
            <a:r>
              <a:rPr lang="en" sz="1200" b="1">
                <a:solidFill>
                  <a:srgbClr val="2D3B45"/>
                </a:solidFill>
                <a:highlight>
                  <a:srgbClr val="FFFFFF"/>
                </a:highlight>
                <a:latin typeface="Century Gothic"/>
                <a:ea typeface="Century Gothic"/>
                <a:cs typeface="Century Gothic"/>
                <a:sym typeface="Century Gothic"/>
              </a:rPr>
              <a:t>repeated_guest:</a:t>
            </a:r>
            <a:r>
              <a:rPr lang="en" sz="1200">
                <a:solidFill>
                  <a:srgbClr val="2D3B45"/>
                </a:solidFill>
                <a:highlight>
                  <a:srgbClr val="FFFFFF"/>
                </a:highlight>
                <a:latin typeface="Century Gothic"/>
                <a:ea typeface="Century Gothic"/>
                <a:cs typeface="Century Gothic"/>
                <a:sym typeface="Century Gothic"/>
              </a:rPr>
              <a:t> Is the customer a repeated guest? (0 - No, 1- Yes)</a:t>
            </a:r>
            <a:endParaRPr sz="1200">
              <a:solidFill>
                <a:srgbClr val="2D3B45"/>
              </a:solidFill>
              <a:highlight>
                <a:srgbClr val="FFFFFF"/>
              </a:highlight>
              <a:latin typeface="Century Gothic"/>
              <a:ea typeface="Century Gothic"/>
              <a:cs typeface="Century Gothic"/>
              <a:sym typeface="Century Gothic"/>
            </a:endParaRPr>
          </a:p>
          <a:p>
            <a:pPr marL="914400" lvl="0" indent="-304800" algn="l" rtl="0">
              <a:spcBef>
                <a:spcPts val="1000"/>
              </a:spcBef>
              <a:spcAft>
                <a:spcPts val="0"/>
              </a:spcAft>
              <a:buClr>
                <a:srgbClr val="2D3B45"/>
              </a:buClr>
              <a:buSzPts val="1200"/>
              <a:buFont typeface="Century Gothic"/>
              <a:buChar char="●"/>
            </a:pPr>
            <a:r>
              <a:rPr lang="en" sz="1200" b="1">
                <a:solidFill>
                  <a:srgbClr val="2D3B45"/>
                </a:solidFill>
                <a:highlight>
                  <a:srgbClr val="FFFFFF"/>
                </a:highlight>
                <a:latin typeface="Century Gothic"/>
                <a:ea typeface="Century Gothic"/>
                <a:cs typeface="Century Gothic"/>
                <a:sym typeface="Century Gothic"/>
              </a:rPr>
              <a:t>no_of_previous_cancellations:</a:t>
            </a:r>
            <a:r>
              <a:rPr lang="en" sz="1200">
                <a:solidFill>
                  <a:srgbClr val="2D3B45"/>
                </a:solidFill>
                <a:highlight>
                  <a:srgbClr val="FFFFFF"/>
                </a:highlight>
                <a:latin typeface="Century Gothic"/>
                <a:ea typeface="Century Gothic"/>
                <a:cs typeface="Century Gothic"/>
                <a:sym typeface="Century Gothic"/>
              </a:rPr>
              <a:t> Number of previous bookings that were canceled by the customer prior to the current booking</a:t>
            </a:r>
            <a:endParaRPr sz="1200">
              <a:solidFill>
                <a:srgbClr val="2D3B45"/>
              </a:solidFill>
              <a:highlight>
                <a:srgbClr val="FFFFFF"/>
              </a:highlight>
              <a:latin typeface="Century Gothic"/>
              <a:ea typeface="Century Gothic"/>
              <a:cs typeface="Century Gothic"/>
              <a:sym typeface="Century Gothic"/>
            </a:endParaRPr>
          </a:p>
          <a:p>
            <a:pPr marL="914400" lvl="0" indent="-304800" algn="l" rtl="0">
              <a:spcBef>
                <a:spcPts val="1000"/>
              </a:spcBef>
              <a:spcAft>
                <a:spcPts val="0"/>
              </a:spcAft>
              <a:buClr>
                <a:srgbClr val="2D3B45"/>
              </a:buClr>
              <a:buSzPts val="1200"/>
              <a:buFont typeface="Century Gothic"/>
              <a:buChar char="●"/>
            </a:pPr>
            <a:r>
              <a:rPr lang="en" sz="1200" b="1">
                <a:solidFill>
                  <a:srgbClr val="2D3B45"/>
                </a:solidFill>
                <a:highlight>
                  <a:srgbClr val="FFFFFF"/>
                </a:highlight>
                <a:latin typeface="Century Gothic"/>
                <a:ea typeface="Century Gothic"/>
                <a:cs typeface="Century Gothic"/>
                <a:sym typeface="Century Gothic"/>
              </a:rPr>
              <a:t>no_of_previous_bookings_not_canceled:</a:t>
            </a:r>
            <a:r>
              <a:rPr lang="en" sz="1200">
                <a:solidFill>
                  <a:srgbClr val="2D3B45"/>
                </a:solidFill>
                <a:highlight>
                  <a:srgbClr val="FFFFFF"/>
                </a:highlight>
                <a:latin typeface="Century Gothic"/>
                <a:ea typeface="Century Gothic"/>
                <a:cs typeface="Century Gothic"/>
                <a:sym typeface="Century Gothic"/>
              </a:rPr>
              <a:t> Number of previous bookings not canceled by the customer prior to the current booking</a:t>
            </a:r>
            <a:endParaRPr sz="1200">
              <a:solidFill>
                <a:schemeClr val="dk1"/>
              </a:solidFill>
              <a:latin typeface="Century Gothic"/>
              <a:ea typeface="Century Gothic"/>
              <a:cs typeface="Century Gothic"/>
              <a:sym typeface="Century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g244c62e8fd3_0_5"/>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chemeClr val="lt2"/>
                </a:solidFill>
                <a:latin typeface="Century Gothic"/>
                <a:ea typeface="Century Gothic"/>
                <a:cs typeface="Century Gothic"/>
                <a:sym typeface="Century Gothic"/>
              </a:rPr>
              <a:t>How to use this deck?</a:t>
            </a:r>
            <a:endParaRPr>
              <a:solidFill>
                <a:schemeClr val="lt2"/>
              </a:solidFill>
              <a:latin typeface="Century Gothic"/>
              <a:ea typeface="Century Gothic"/>
              <a:cs typeface="Century Gothic"/>
              <a:sym typeface="Century Gothic"/>
            </a:endParaRPr>
          </a:p>
        </p:txBody>
      </p:sp>
      <p:sp>
        <p:nvSpPr>
          <p:cNvPr id="226" name="Google Shape;226;g244c62e8fd3_0_5"/>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50000"/>
              </a:lnSpc>
              <a:spcBef>
                <a:spcPts val="100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This slide deck serves as a comprehensive template for your project submission</a:t>
            </a:r>
            <a:endParaRPr sz="1400">
              <a:solidFill>
                <a:schemeClr val="dk1"/>
              </a:solidFill>
              <a:latin typeface="Century Gothic"/>
              <a:ea typeface="Century Gothic"/>
              <a:cs typeface="Century Gothic"/>
              <a:sym typeface="Century Gothic"/>
            </a:endParaRPr>
          </a:p>
          <a:p>
            <a:pPr marL="457200" lvl="0" indent="-317500" algn="l" rtl="0">
              <a:lnSpc>
                <a:spcPct val="150000"/>
              </a:lnSpc>
              <a:spcBef>
                <a:spcPts val="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Within this deck, you will come across various questions that are intended to test your ability to understand data visualizations, discover patterns / insights and postulate hypothesis. Think thoroughly and provide answers to these questions</a:t>
            </a:r>
            <a:endParaRPr sz="1400">
              <a:solidFill>
                <a:schemeClr val="dk1"/>
              </a:solidFill>
              <a:latin typeface="Century Gothic"/>
              <a:ea typeface="Century Gothic"/>
              <a:cs typeface="Century Gothic"/>
              <a:sym typeface="Century Gothic"/>
            </a:endParaRPr>
          </a:p>
          <a:p>
            <a:pPr marL="457200" lvl="0" indent="-317500" algn="l" rtl="0">
              <a:lnSpc>
                <a:spcPct val="150000"/>
              </a:lnSpc>
              <a:spcBef>
                <a:spcPts val="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You are encouraged to modify this deck as required, by replacing the questions with suitable answers</a:t>
            </a:r>
            <a:endParaRPr sz="1400">
              <a:solidFill>
                <a:schemeClr val="dk1"/>
              </a:solidFill>
              <a:latin typeface="Century Gothic"/>
              <a:ea typeface="Century Gothic"/>
              <a:cs typeface="Century Gothic"/>
              <a:sym typeface="Century Gothic"/>
            </a:endParaRPr>
          </a:p>
          <a:p>
            <a:pPr marL="457200" lvl="0" indent="-317500" algn="l" rtl="0">
              <a:lnSpc>
                <a:spcPct val="150000"/>
              </a:lnSpc>
              <a:spcBef>
                <a:spcPts val="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Please feel free to incorporate additional points if you deem necessary</a:t>
            </a:r>
            <a:endParaRPr sz="1400">
              <a:solidFill>
                <a:schemeClr val="dk1"/>
              </a:solidFill>
              <a:latin typeface="Century Gothic"/>
              <a:ea typeface="Century Gothic"/>
              <a:cs typeface="Century Gothic"/>
              <a:sym typeface="Century Gothic"/>
            </a:endParaRPr>
          </a:p>
          <a:p>
            <a:pPr marL="0" lvl="0" indent="0" algn="l" rtl="0">
              <a:lnSpc>
                <a:spcPct val="150000"/>
              </a:lnSpc>
              <a:spcBef>
                <a:spcPts val="1000"/>
              </a:spcBef>
              <a:spcAft>
                <a:spcPts val="0"/>
              </a:spcAft>
              <a:buNone/>
            </a:pPr>
            <a:r>
              <a:rPr lang="en" sz="1300" b="1">
                <a:solidFill>
                  <a:schemeClr val="dk1"/>
                </a:solidFill>
                <a:latin typeface="Century Gothic"/>
                <a:ea typeface="Century Gothic"/>
                <a:cs typeface="Century Gothic"/>
                <a:sym typeface="Century Gothic"/>
              </a:rPr>
              <a:t>Note: </a:t>
            </a:r>
            <a:r>
              <a:rPr lang="en" sz="1300">
                <a:solidFill>
                  <a:schemeClr val="dk1"/>
                </a:solidFill>
                <a:latin typeface="Century Gothic"/>
                <a:ea typeface="Century Gothic"/>
                <a:cs typeface="Century Gothic"/>
                <a:sym typeface="Century Gothic"/>
              </a:rPr>
              <a:t>The data visualizations you see in this deck are obtained from RapidMiner</a:t>
            </a:r>
            <a:endParaRPr sz="1300">
              <a:solidFill>
                <a:schemeClr val="dk1"/>
              </a:solidFill>
              <a:latin typeface="Century Gothic"/>
              <a:ea typeface="Century Gothic"/>
              <a:cs typeface="Century Gothic"/>
              <a:sym typeface="Century Gothic"/>
            </a:endParaRPr>
          </a:p>
          <a:p>
            <a:pPr marL="0" lvl="0" indent="0" algn="l" rtl="0">
              <a:lnSpc>
                <a:spcPct val="150000"/>
              </a:lnSpc>
              <a:spcBef>
                <a:spcPts val="1000"/>
              </a:spcBef>
              <a:spcAft>
                <a:spcPts val="0"/>
              </a:spcAft>
              <a:buNone/>
            </a:pPr>
            <a:endParaRPr sz="1400">
              <a:solidFill>
                <a:schemeClr val="dk1"/>
              </a:solidFill>
              <a:latin typeface="Century Gothic"/>
              <a:ea typeface="Century Gothic"/>
              <a:cs typeface="Century Gothic"/>
              <a:sym typeface="Century Gothic"/>
            </a:endParaRPr>
          </a:p>
          <a:p>
            <a:pPr marL="457200" lvl="0" indent="0" algn="l" rtl="0">
              <a:lnSpc>
                <a:spcPct val="150000"/>
              </a:lnSpc>
              <a:spcBef>
                <a:spcPts val="1000"/>
              </a:spcBef>
              <a:spcAft>
                <a:spcPts val="1000"/>
              </a:spcAft>
              <a:buNone/>
            </a:pPr>
            <a:endParaRPr sz="1400">
              <a:solidFill>
                <a:schemeClr val="dk1"/>
              </a:solidFill>
              <a:latin typeface="Century Gothic"/>
              <a:ea typeface="Century Gothic"/>
              <a:cs typeface="Century Gothic"/>
              <a:sym typeface="Century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chemeClr val="lt2"/>
                </a:solidFill>
                <a:latin typeface="Century Gothic"/>
                <a:ea typeface="Century Gothic"/>
                <a:cs typeface="Century Gothic"/>
                <a:sym typeface="Century Gothic"/>
              </a:rPr>
              <a:t>Business Problem Overview and Solution Approach</a:t>
            </a:r>
            <a:endParaRPr>
              <a:solidFill>
                <a:schemeClr val="lt2"/>
              </a:solidFill>
              <a:latin typeface="Century Gothic"/>
              <a:ea typeface="Century Gothic"/>
              <a:cs typeface="Century Gothic"/>
              <a:sym typeface="Century Gothic"/>
            </a:endParaRPr>
          </a:p>
        </p:txBody>
      </p:sp>
      <p:sp>
        <p:nvSpPr>
          <p:cNvPr id="232" name="Google Shape;232;p3"/>
          <p:cNvSpPr txBox="1">
            <a:spLocks noGrp="1"/>
          </p:cNvSpPr>
          <p:nvPr>
            <p:ph type="body" idx="1"/>
          </p:nvPr>
        </p:nvSpPr>
        <p:spPr>
          <a:xfrm>
            <a:off x="202550" y="861975"/>
            <a:ext cx="8629800" cy="7764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100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Please define the problem</a:t>
            </a:r>
            <a:endParaRPr sz="1400">
              <a:solidFill>
                <a:schemeClr val="dk1"/>
              </a:solidFill>
              <a:latin typeface="Century Gothic"/>
              <a:ea typeface="Century Gothic"/>
              <a:cs typeface="Century Gothic"/>
              <a:sym typeface="Century Gothic"/>
            </a:endParaRPr>
          </a:p>
          <a:p>
            <a:pPr marL="457200" lvl="0" indent="-317500" algn="l" rtl="0">
              <a:lnSpc>
                <a:spcPct val="115000"/>
              </a:lnSpc>
              <a:spcBef>
                <a:spcPts val="1000"/>
              </a:spcBef>
              <a:spcAft>
                <a:spcPts val="100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Please mention the solution approach / methodology</a:t>
            </a:r>
            <a:endParaRPr sz="1400">
              <a:solidFill>
                <a:schemeClr val="dk1"/>
              </a:solidFill>
              <a:latin typeface="Century Gothic"/>
              <a:ea typeface="Century Gothic"/>
              <a:cs typeface="Century Gothic"/>
              <a:sym typeface="Century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g15886a1dc9e_0_1"/>
          <p:cNvSpPr txBox="1">
            <a:spLocks noGrp="1"/>
          </p:cNvSpPr>
          <p:nvPr>
            <p:ph type="body" idx="1"/>
          </p:nvPr>
        </p:nvSpPr>
        <p:spPr>
          <a:xfrm>
            <a:off x="202550" y="1012025"/>
            <a:ext cx="3999900" cy="25983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Explore strategies to effectively manage and accommodate the increased demand</a:t>
            </a:r>
            <a:endParaRPr sz="1400">
              <a:solidFill>
                <a:schemeClr val="dk1"/>
              </a:solidFill>
              <a:latin typeface="Century Gothic"/>
              <a:ea typeface="Century Gothic"/>
              <a:cs typeface="Century Gothic"/>
              <a:sym typeface="Century Gothic"/>
            </a:endParaRPr>
          </a:p>
        </p:txBody>
      </p:sp>
      <p:sp>
        <p:nvSpPr>
          <p:cNvPr id="238" name="Google Shape;238;g15886a1dc9e_0_1"/>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 sz="2200" b="1" i="0" u="none" strike="noStrike" cap="none">
                <a:solidFill>
                  <a:schemeClr val="lt2"/>
                </a:solidFill>
                <a:latin typeface="Century Gothic"/>
                <a:ea typeface="Century Gothic"/>
                <a:cs typeface="Century Gothic"/>
                <a:sym typeface="Century Gothic"/>
              </a:rPr>
              <a:t>EDA - Univariate Analysis</a:t>
            </a:r>
            <a:endParaRPr sz="2200" b="1" i="0" u="none" strike="noStrike" cap="none">
              <a:solidFill>
                <a:schemeClr val="lt2"/>
              </a:solidFill>
              <a:latin typeface="Century Gothic"/>
              <a:ea typeface="Century Gothic"/>
              <a:cs typeface="Century Gothic"/>
              <a:sym typeface="Century Gothic"/>
            </a:endParaRPr>
          </a:p>
        </p:txBody>
      </p:sp>
      <p:pic>
        <p:nvPicPr>
          <p:cNvPr id="239" name="Google Shape;239;g15886a1dc9e_0_1"/>
          <p:cNvPicPr preferRelativeResize="0"/>
          <p:nvPr/>
        </p:nvPicPr>
        <p:blipFill rotWithShape="1">
          <a:blip r:embed="rId3">
            <a:alphaModFix/>
          </a:blip>
          <a:srcRect/>
          <a:stretch/>
        </p:blipFill>
        <p:spPr>
          <a:xfrm>
            <a:off x="4202300" y="1012025"/>
            <a:ext cx="4581225" cy="2982575"/>
          </a:xfrm>
          <a:prstGeom prst="rect">
            <a:avLst/>
          </a:prstGeom>
          <a:noFill/>
          <a:ln>
            <a:noFill/>
          </a:ln>
        </p:spPr>
      </p:pic>
      <p:sp>
        <p:nvSpPr>
          <p:cNvPr id="240" name="Google Shape;240;g15886a1dc9e_0_1"/>
          <p:cNvSpPr txBox="1"/>
          <p:nvPr/>
        </p:nvSpPr>
        <p:spPr>
          <a:xfrm>
            <a:off x="5223025" y="3994600"/>
            <a:ext cx="3088800" cy="692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b="1">
                <a:solidFill>
                  <a:srgbClr val="1155CC"/>
                </a:solidFill>
                <a:latin typeface="Nunito"/>
                <a:ea typeface="Nunito"/>
                <a:cs typeface="Nunito"/>
                <a:sym typeface="Nunito"/>
              </a:rPr>
              <a:t>X-axis:</a:t>
            </a:r>
            <a:r>
              <a:rPr lang="en" sz="1000" b="1">
                <a:solidFill>
                  <a:srgbClr val="1155CC"/>
                </a:solidFill>
                <a:latin typeface="Nunito"/>
                <a:ea typeface="Nunito"/>
                <a:cs typeface="Nunito"/>
                <a:sym typeface="Nunito"/>
              </a:rPr>
              <a:t> </a:t>
            </a:r>
            <a:r>
              <a:rPr lang="en" sz="900">
                <a:solidFill>
                  <a:srgbClr val="1155CC"/>
                </a:solidFill>
                <a:latin typeface="Nunito"/>
                <a:ea typeface="Nunito"/>
                <a:cs typeface="Nunito"/>
                <a:sym typeface="Nunito"/>
              </a:rPr>
              <a:t>Arrival month</a:t>
            </a:r>
            <a:endParaRPr sz="900">
              <a:solidFill>
                <a:srgbClr val="1155CC"/>
              </a:solidFill>
              <a:latin typeface="Nunito"/>
              <a:ea typeface="Nunito"/>
              <a:cs typeface="Nunito"/>
              <a:sym typeface="Nunito"/>
            </a:endParaRPr>
          </a:p>
          <a:p>
            <a:pPr marL="0" lvl="0" indent="0" algn="l" rtl="0">
              <a:spcBef>
                <a:spcPts val="0"/>
              </a:spcBef>
              <a:spcAft>
                <a:spcPts val="0"/>
              </a:spcAft>
              <a:buNone/>
            </a:pPr>
            <a:r>
              <a:rPr lang="en" sz="1100" b="1">
                <a:solidFill>
                  <a:srgbClr val="1155CC"/>
                </a:solidFill>
                <a:latin typeface="Nunito"/>
                <a:ea typeface="Nunito"/>
                <a:cs typeface="Nunito"/>
                <a:sym typeface="Nunito"/>
              </a:rPr>
              <a:t>Y-axis:</a:t>
            </a:r>
            <a:r>
              <a:rPr lang="en" sz="1000">
                <a:solidFill>
                  <a:srgbClr val="1155CC"/>
                </a:solidFill>
                <a:latin typeface="Nunito"/>
                <a:ea typeface="Nunito"/>
                <a:cs typeface="Nunito"/>
                <a:sym typeface="Nunito"/>
              </a:rPr>
              <a:t> </a:t>
            </a:r>
            <a:r>
              <a:rPr lang="en" sz="900">
                <a:solidFill>
                  <a:srgbClr val="1155CC"/>
                </a:solidFill>
                <a:latin typeface="Nunito"/>
                <a:ea typeface="Nunito"/>
                <a:cs typeface="Nunito"/>
                <a:sym typeface="Nunito"/>
              </a:rPr>
              <a:t>Number of bookings</a:t>
            </a:r>
            <a:endParaRPr sz="900">
              <a:solidFill>
                <a:srgbClr val="1155CC"/>
              </a:solidFill>
              <a:latin typeface="Nunito"/>
              <a:ea typeface="Nunito"/>
              <a:cs typeface="Nunito"/>
              <a:sym typeface="Nunito"/>
            </a:endParaRPr>
          </a:p>
          <a:p>
            <a:pPr marL="0" lvl="0" indent="0" algn="l" rtl="0">
              <a:spcBef>
                <a:spcPts val="0"/>
              </a:spcBef>
              <a:spcAft>
                <a:spcPts val="0"/>
              </a:spcAft>
              <a:buNone/>
            </a:pPr>
            <a:r>
              <a:rPr lang="en" sz="1100" b="1">
                <a:solidFill>
                  <a:srgbClr val="1155CC"/>
                </a:solidFill>
                <a:latin typeface="Nunito"/>
                <a:ea typeface="Nunito"/>
                <a:cs typeface="Nunito"/>
                <a:sym typeface="Nunito"/>
              </a:rPr>
              <a:t>Description:</a:t>
            </a:r>
            <a:r>
              <a:rPr lang="en" sz="1000">
                <a:solidFill>
                  <a:srgbClr val="1155CC"/>
                </a:solidFill>
                <a:latin typeface="Nunito"/>
                <a:ea typeface="Nunito"/>
                <a:cs typeface="Nunito"/>
                <a:sym typeface="Nunito"/>
              </a:rPr>
              <a:t> </a:t>
            </a:r>
            <a:r>
              <a:rPr lang="en" sz="900">
                <a:solidFill>
                  <a:srgbClr val="1155CC"/>
                </a:solidFill>
                <a:latin typeface="Nunito"/>
                <a:ea typeface="Nunito"/>
                <a:cs typeface="Nunito"/>
                <a:sym typeface="Nunito"/>
              </a:rPr>
              <a:t>Number of bookings per month</a:t>
            </a:r>
            <a:endParaRPr sz="900">
              <a:solidFill>
                <a:srgbClr val="1155CC"/>
              </a:solidFill>
              <a:latin typeface="Nunito"/>
              <a:ea typeface="Nunito"/>
              <a:cs typeface="Nunito"/>
              <a:sym typeface="Nuni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g2419b7728cb_0_120"/>
          <p:cNvSpPr txBox="1">
            <a:spLocks noGrp="1"/>
          </p:cNvSpPr>
          <p:nvPr>
            <p:ph type="body" idx="1"/>
          </p:nvPr>
        </p:nvSpPr>
        <p:spPr>
          <a:xfrm>
            <a:off x="202550" y="1012025"/>
            <a:ext cx="3999900" cy="1922100"/>
          </a:xfrm>
          <a:prstGeom prst="rect">
            <a:avLst/>
          </a:prstGeom>
          <a:noFill/>
          <a:ln>
            <a:noFill/>
          </a:ln>
        </p:spPr>
        <p:txBody>
          <a:bodyPr spcFirstLastPara="1" wrap="square" lIns="91425" tIns="91425" rIns="91425" bIns="91425" anchor="t" anchorCtr="0">
            <a:noAutofit/>
          </a:bodyPr>
          <a:lstStyle/>
          <a:p>
            <a:pPr marL="457200" lvl="0" indent="-336550" algn="just" rtl="0">
              <a:lnSpc>
                <a:spcPct val="100000"/>
              </a:lnSpc>
              <a:spcBef>
                <a:spcPts val="1200"/>
              </a:spcBef>
              <a:spcAft>
                <a:spcPts val="0"/>
              </a:spcAft>
              <a:buClr>
                <a:schemeClr val="dk1"/>
              </a:buClr>
              <a:buSzPts val="1700"/>
              <a:buFont typeface="Century Gothic"/>
              <a:buChar char="●"/>
            </a:pPr>
            <a:r>
              <a:rPr lang="en" sz="1400">
                <a:solidFill>
                  <a:schemeClr val="dk1"/>
                </a:solidFill>
                <a:latin typeface="Century Gothic"/>
                <a:ea typeface="Century Gothic"/>
                <a:cs typeface="Century Gothic"/>
                <a:sym typeface="Century Gothic"/>
              </a:rPr>
              <a:t>Identify the percentage of bookings made online versus offline and highlight any trends or insights that can inform business strategies.</a:t>
            </a:r>
            <a:endParaRPr sz="1400">
              <a:solidFill>
                <a:schemeClr val="dk1"/>
              </a:solidFill>
              <a:latin typeface="Century Gothic"/>
              <a:ea typeface="Century Gothic"/>
              <a:cs typeface="Century Gothic"/>
              <a:sym typeface="Century Gothic"/>
            </a:endParaRPr>
          </a:p>
        </p:txBody>
      </p:sp>
      <p:sp>
        <p:nvSpPr>
          <p:cNvPr id="246" name="Google Shape;246;g2419b7728cb_0_120"/>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 sz="2200" b="1" i="0" u="none" strike="noStrike" cap="none">
                <a:solidFill>
                  <a:schemeClr val="lt2"/>
                </a:solidFill>
                <a:latin typeface="Century Gothic"/>
                <a:ea typeface="Century Gothic"/>
                <a:cs typeface="Century Gothic"/>
                <a:sym typeface="Century Gothic"/>
              </a:rPr>
              <a:t>EDA - Univariate Analysis</a:t>
            </a:r>
            <a:endParaRPr sz="2200" b="1" i="0" u="none" strike="noStrike" cap="none">
              <a:solidFill>
                <a:schemeClr val="lt2"/>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rgbClr val="000000"/>
              </a:buClr>
              <a:buSzPts val="2200"/>
              <a:buFont typeface="Arial"/>
              <a:buNone/>
            </a:pPr>
            <a:endParaRPr sz="2200" b="1" i="0" u="none" strike="noStrike" cap="none">
              <a:solidFill>
                <a:schemeClr val="lt2"/>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rgbClr val="000000"/>
              </a:buClr>
              <a:buSzPts val="2200"/>
              <a:buFont typeface="Arial"/>
              <a:buNone/>
            </a:pPr>
            <a:endParaRPr sz="2200" b="1" i="0" u="none" strike="noStrike" cap="none">
              <a:solidFill>
                <a:schemeClr val="lt2"/>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rgbClr val="000000"/>
              </a:buClr>
              <a:buSzPts val="2200"/>
              <a:buFont typeface="Arial"/>
              <a:buNone/>
            </a:pPr>
            <a:endParaRPr sz="2200" b="1" i="0" u="none" strike="noStrike" cap="none">
              <a:solidFill>
                <a:schemeClr val="lt2"/>
              </a:solidFill>
              <a:latin typeface="Century Gothic"/>
              <a:ea typeface="Century Gothic"/>
              <a:cs typeface="Century Gothic"/>
              <a:sym typeface="Century Gothic"/>
            </a:endParaRPr>
          </a:p>
        </p:txBody>
      </p:sp>
      <p:pic>
        <p:nvPicPr>
          <p:cNvPr id="247" name="Google Shape;247;g2419b7728cb_0_120"/>
          <p:cNvPicPr preferRelativeResize="0"/>
          <p:nvPr/>
        </p:nvPicPr>
        <p:blipFill rotWithShape="1">
          <a:blip r:embed="rId3">
            <a:alphaModFix/>
          </a:blip>
          <a:srcRect/>
          <a:stretch/>
        </p:blipFill>
        <p:spPr>
          <a:xfrm>
            <a:off x="4162595" y="1004425"/>
            <a:ext cx="4516875" cy="2738300"/>
          </a:xfrm>
          <a:prstGeom prst="rect">
            <a:avLst/>
          </a:prstGeom>
          <a:noFill/>
          <a:ln>
            <a:noFill/>
          </a:ln>
        </p:spPr>
      </p:pic>
      <p:sp>
        <p:nvSpPr>
          <p:cNvPr id="248" name="Google Shape;248;g2419b7728cb_0_120"/>
          <p:cNvSpPr txBox="1"/>
          <p:nvPr/>
        </p:nvSpPr>
        <p:spPr>
          <a:xfrm>
            <a:off x="5118476" y="3742725"/>
            <a:ext cx="35610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b="1">
                <a:solidFill>
                  <a:srgbClr val="1155CC"/>
                </a:solidFill>
                <a:latin typeface="Nunito"/>
                <a:ea typeface="Nunito"/>
                <a:cs typeface="Nunito"/>
                <a:sym typeface="Nunito"/>
              </a:rPr>
              <a:t>X-axis:</a:t>
            </a:r>
            <a:r>
              <a:rPr lang="en" sz="1000">
                <a:solidFill>
                  <a:srgbClr val="1155CC"/>
                </a:solidFill>
                <a:latin typeface="Nunito"/>
                <a:ea typeface="Nunito"/>
                <a:cs typeface="Nunito"/>
                <a:sym typeface="Nunito"/>
              </a:rPr>
              <a:t> </a:t>
            </a:r>
            <a:r>
              <a:rPr lang="en" sz="900">
                <a:solidFill>
                  <a:srgbClr val="1155CC"/>
                </a:solidFill>
                <a:latin typeface="Nunito"/>
                <a:ea typeface="Nunito"/>
                <a:cs typeface="Nunito"/>
                <a:sym typeface="Nunito"/>
              </a:rPr>
              <a:t>Market Segment Type</a:t>
            </a:r>
            <a:endParaRPr sz="900">
              <a:solidFill>
                <a:srgbClr val="1155CC"/>
              </a:solidFill>
              <a:latin typeface="Nunito"/>
              <a:ea typeface="Nunito"/>
              <a:cs typeface="Nunito"/>
              <a:sym typeface="Nunito"/>
            </a:endParaRPr>
          </a:p>
          <a:p>
            <a:pPr marL="0" lvl="0" indent="0" algn="l" rtl="0">
              <a:spcBef>
                <a:spcPts val="0"/>
              </a:spcBef>
              <a:spcAft>
                <a:spcPts val="0"/>
              </a:spcAft>
              <a:buNone/>
            </a:pPr>
            <a:r>
              <a:rPr lang="en" sz="1100" b="1">
                <a:solidFill>
                  <a:srgbClr val="1155CC"/>
                </a:solidFill>
                <a:latin typeface="Nunito"/>
                <a:ea typeface="Nunito"/>
                <a:cs typeface="Nunito"/>
                <a:sym typeface="Nunito"/>
              </a:rPr>
              <a:t>Y-axis:</a:t>
            </a:r>
            <a:r>
              <a:rPr lang="en" sz="1000">
                <a:solidFill>
                  <a:srgbClr val="1155CC"/>
                </a:solidFill>
                <a:latin typeface="Nunito"/>
                <a:ea typeface="Nunito"/>
                <a:cs typeface="Nunito"/>
                <a:sym typeface="Nunito"/>
              </a:rPr>
              <a:t> </a:t>
            </a:r>
            <a:r>
              <a:rPr lang="en" sz="900">
                <a:solidFill>
                  <a:srgbClr val="1155CC"/>
                </a:solidFill>
                <a:latin typeface="Nunito"/>
                <a:ea typeface="Nunito"/>
                <a:cs typeface="Nunito"/>
                <a:sym typeface="Nunito"/>
              </a:rPr>
              <a:t>Number of customers</a:t>
            </a:r>
            <a:endParaRPr sz="900">
              <a:solidFill>
                <a:srgbClr val="1155CC"/>
              </a:solidFill>
              <a:latin typeface="Nunito"/>
              <a:ea typeface="Nunito"/>
              <a:cs typeface="Nunito"/>
              <a:sym typeface="Nunito"/>
            </a:endParaRPr>
          </a:p>
          <a:p>
            <a:pPr marL="0" lvl="0" indent="0" algn="l" rtl="0">
              <a:spcBef>
                <a:spcPts val="0"/>
              </a:spcBef>
              <a:spcAft>
                <a:spcPts val="0"/>
              </a:spcAft>
              <a:buNone/>
            </a:pPr>
            <a:r>
              <a:rPr lang="en" sz="1100" b="1">
                <a:solidFill>
                  <a:srgbClr val="1155CC"/>
                </a:solidFill>
                <a:latin typeface="Nunito"/>
                <a:ea typeface="Nunito"/>
                <a:cs typeface="Nunito"/>
                <a:sym typeface="Nunito"/>
              </a:rPr>
              <a:t>Description:</a:t>
            </a:r>
            <a:r>
              <a:rPr lang="en" sz="900" b="1">
                <a:solidFill>
                  <a:srgbClr val="1155CC"/>
                </a:solidFill>
                <a:latin typeface="Nunito"/>
                <a:ea typeface="Nunito"/>
                <a:cs typeface="Nunito"/>
                <a:sym typeface="Nunito"/>
              </a:rPr>
              <a:t> </a:t>
            </a:r>
            <a:r>
              <a:rPr lang="en" sz="900">
                <a:solidFill>
                  <a:srgbClr val="1155CC"/>
                </a:solidFill>
                <a:latin typeface="Nunito"/>
                <a:ea typeface="Nunito"/>
                <a:cs typeface="Nunito"/>
                <a:sym typeface="Nunito"/>
              </a:rPr>
              <a:t>Number of Bookings received in each market segment</a:t>
            </a:r>
            <a:endParaRPr sz="900">
              <a:solidFill>
                <a:srgbClr val="1155CC"/>
              </a:solidFill>
              <a:latin typeface="Nunito"/>
              <a:ea typeface="Nunito"/>
              <a:cs typeface="Nunito"/>
              <a:sym typeface="Nuni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g2419b7728cb_0_127"/>
          <p:cNvSpPr txBox="1">
            <a:spLocks noGrp="1"/>
          </p:cNvSpPr>
          <p:nvPr>
            <p:ph type="body" idx="1"/>
          </p:nvPr>
        </p:nvSpPr>
        <p:spPr>
          <a:xfrm>
            <a:off x="202550" y="1012025"/>
            <a:ext cx="3708300" cy="1922100"/>
          </a:xfrm>
          <a:prstGeom prst="rect">
            <a:avLst/>
          </a:prstGeom>
          <a:noFill/>
          <a:ln>
            <a:noFill/>
          </a:ln>
        </p:spPr>
        <p:txBody>
          <a:bodyPr spcFirstLastPara="1" wrap="square" lIns="91425" tIns="91425" rIns="91425" bIns="91425" anchor="t" anchorCtr="0">
            <a:noAutofit/>
          </a:bodyPr>
          <a:lstStyle/>
          <a:p>
            <a:pPr marL="457200" lvl="0" indent="-336550" algn="just" rtl="0">
              <a:lnSpc>
                <a:spcPct val="100000"/>
              </a:lnSpc>
              <a:spcBef>
                <a:spcPts val="1200"/>
              </a:spcBef>
              <a:spcAft>
                <a:spcPts val="1200"/>
              </a:spcAft>
              <a:buClr>
                <a:schemeClr val="dk1"/>
              </a:buClr>
              <a:buSzPts val="1700"/>
              <a:buFont typeface="Century Gothic"/>
              <a:buChar char="●"/>
            </a:pPr>
            <a:r>
              <a:rPr lang="en" sz="1400">
                <a:solidFill>
                  <a:schemeClr val="dk1"/>
                </a:solidFill>
                <a:latin typeface="Century Gothic"/>
                <a:ea typeface="Century Gothic"/>
                <a:cs typeface="Century Gothic"/>
                <a:sym typeface="Century Gothic"/>
              </a:rPr>
              <a:t>Analyze the percentage of bookings that are cancelled. Are the cancellation trends a serious issue that needs to be looked at? If so, what potential solutions can be implemented to address this problem?</a:t>
            </a:r>
            <a:endParaRPr sz="1400">
              <a:solidFill>
                <a:schemeClr val="dk1"/>
              </a:solidFill>
              <a:latin typeface="Century Gothic"/>
              <a:ea typeface="Century Gothic"/>
              <a:cs typeface="Century Gothic"/>
              <a:sym typeface="Century Gothic"/>
            </a:endParaRPr>
          </a:p>
        </p:txBody>
      </p:sp>
      <p:sp>
        <p:nvSpPr>
          <p:cNvPr id="254" name="Google Shape;254;g2419b7728cb_0_127"/>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 sz="2200" b="1" i="0" u="none" strike="noStrike" cap="none">
                <a:solidFill>
                  <a:schemeClr val="lt2"/>
                </a:solidFill>
                <a:latin typeface="Century Gothic"/>
                <a:ea typeface="Century Gothic"/>
                <a:cs typeface="Century Gothic"/>
                <a:sym typeface="Century Gothic"/>
              </a:rPr>
              <a:t>EDA - Univariate Analysis</a:t>
            </a:r>
            <a:endParaRPr sz="2200" b="1" i="0" u="none" strike="noStrike" cap="none">
              <a:solidFill>
                <a:schemeClr val="lt2"/>
              </a:solidFill>
              <a:latin typeface="Century Gothic"/>
              <a:ea typeface="Century Gothic"/>
              <a:cs typeface="Century Gothic"/>
              <a:sym typeface="Century Gothic"/>
            </a:endParaRPr>
          </a:p>
        </p:txBody>
      </p:sp>
      <p:pic>
        <p:nvPicPr>
          <p:cNvPr id="255" name="Google Shape;255;g2419b7728cb_0_127"/>
          <p:cNvPicPr preferRelativeResize="0"/>
          <p:nvPr/>
        </p:nvPicPr>
        <p:blipFill rotWithShape="1">
          <a:blip r:embed="rId3">
            <a:alphaModFix/>
          </a:blip>
          <a:srcRect/>
          <a:stretch/>
        </p:blipFill>
        <p:spPr>
          <a:xfrm>
            <a:off x="4209200" y="861975"/>
            <a:ext cx="4590050" cy="2734950"/>
          </a:xfrm>
          <a:prstGeom prst="rect">
            <a:avLst/>
          </a:prstGeom>
          <a:noFill/>
          <a:ln>
            <a:noFill/>
          </a:ln>
        </p:spPr>
      </p:pic>
      <p:sp>
        <p:nvSpPr>
          <p:cNvPr id="256" name="Google Shape;256;g2419b7728cb_0_127"/>
          <p:cNvSpPr txBox="1"/>
          <p:nvPr/>
        </p:nvSpPr>
        <p:spPr>
          <a:xfrm>
            <a:off x="4572000" y="3596925"/>
            <a:ext cx="4151100" cy="743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100" b="1">
                <a:solidFill>
                  <a:srgbClr val="1155CC"/>
                </a:solidFill>
                <a:latin typeface="Nunito"/>
                <a:ea typeface="Nunito"/>
                <a:cs typeface="Nunito"/>
                <a:sym typeface="Nunito"/>
              </a:rPr>
              <a:t>X-axis:</a:t>
            </a:r>
            <a:r>
              <a:rPr lang="en" sz="1000" b="1">
                <a:solidFill>
                  <a:srgbClr val="1155CC"/>
                </a:solidFill>
                <a:latin typeface="Nunito"/>
                <a:ea typeface="Nunito"/>
                <a:cs typeface="Nunito"/>
                <a:sym typeface="Nunito"/>
              </a:rPr>
              <a:t> </a:t>
            </a:r>
            <a:r>
              <a:rPr lang="en" sz="900">
                <a:solidFill>
                  <a:srgbClr val="1155CC"/>
                </a:solidFill>
                <a:latin typeface="Nunito"/>
                <a:ea typeface="Nunito"/>
                <a:cs typeface="Nunito"/>
                <a:sym typeface="Nunito"/>
              </a:rPr>
              <a:t>Booking status</a:t>
            </a:r>
            <a:endParaRPr sz="900">
              <a:solidFill>
                <a:srgbClr val="1155CC"/>
              </a:solidFill>
              <a:latin typeface="Nunito"/>
              <a:ea typeface="Nunito"/>
              <a:cs typeface="Nunito"/>
              <a:sym typeface="Nunito"/>
            </a:endParaRPr>
          </a:p>
          <a:p>
            <a:pPr marL="0" lvl="0" indent="0" algn="l" rtl="0">
              <a:lnSpc>
                <a:spcPct val="115000"/>
              </a:lnSpc>
              <a:spcBef>
                <a:spcPts val="0"/>
              </a:spcBef>
              <a:spcAft>
                <a:spcPts val="0"/>
              </a:spcAft>
              <a:buNone/>
            </a:pPr>
            <a:r>
              <a:rPr lang="en" sz="1100" b="1">
                <a:solidFill>
                  <a:srgbClr val="1155CC"/>
                </a:solidFill>
                <a:latin typeface="Nunito"/>
                <a:ea typeface="Nunito"/>
                <a:cs typeface="Nunito"/>
                <a:sym typeface="Nunito"/>
              </a:rPr>
              <a:t>Y-axis:</a:t>
            </a:r>
            <a:r>
              <a:rPr lang="en" sz="1000" b="1">
                <a:solidFill>
                  <a:srgbClr val="1155CC"/>
                </a:solidFill>
                <a:latin typeface="Nunito"/>
                <a:ea typeface="Nunito"/>
                <a:cs typeface="Nunito"/>
                <a:sym typeface="Nunito"/>
              </a:rPr>
              <a:t> </a:t>
            </a:r>
            <a:r>
              <a:rPr lang="en" sz="900">
                <a:solidFill>
                  <a:srgbClr val="1155CC"/>
                </a:solidFill>
                <a:latin typeface="Nunito"/>
                <a:ea typeface="Nunito"/>
                <a:cs typeface="Nunito"/>
                <a:sym typeface="Nunito"/>
              </a:rPr>
              <a:t>Number of bookings</a:t>
            </a:r>
            <a:endParaRPr sz="900">
              <a:solidFill>
                <a:srgbClr val="1155CC"/>
              </a:solidFill>
              <a:latin typeface="Nunito"/>
              <a:ea typeface="Nunito"/>
              <a:cs typeface="Nunito"/>
              <a:sym typeface="Nunito"/>
            </a:endParaRPr>
          </a:p>
          <a:p>
            <a:pPr marL="0" lvl="0" indent="0" algn="l" rtl="0">
              <a:lnSpc>
                <a:spcPct val="115000"/>
              </a:lnSpc>
              <a:spcBef>
                <a:spcPts val="0"/>
              </a:spcBef>
              <a:spcAft>
                <a:spcPts val="0"/>
              </a:spcAft>
              <a:buNone/>
            </a:pPr>
            <a:r>
              <a:rPr lang="en" sz="1100" b="1">
                <a:solidFill>
                  <a:srgbClr val="1155CC"/>
                </a:solidFill>
                <a:latin typeface="Nunito"/>
                <a:ea typeface="Nunito"/>
                <a:cs typeface="Nunito"/>
                <a:sym typeface="Nunito"/>
              </a:rPr>
              <a:t>Description:</a:t>
            </a:r>
            <a:r>
              <a:rPr lang="en" sz="1000">
                <a:solidFill>
                  <a:srgbClr val="1155CC"/>
                </a:solidFill>
                <a:latin typeface="Nunito"/>
                <a:ea typeface="Nunito"/>
                <a:cs typeface="Nunito"/>
                <a:sym typeface="Nunito"/>
              </a:rPr>
              <a:t> </a:t>
            </a:r>
            <a:r>
              <a:rPr lang="en" sz="900">
                <a:solidFill>
                  <a:srgbClr val="1155CC"/>
                </a:solidFill>
                <a:latin typeface="Nunito"/>
                <a:ea typeface="Nunito"/>
                <a:cs typeface="Nunito"/>
                <a:sym typeface="Nunito"/>
              </a:rPr>
              <a:t>Count of bookings that are Cancelled v/s Not Cancelled</a:t>
            </a:r>
            <a:endParaRPr sz="900">
              <a:solidFill>
                <a:srgbClr val="1155CC"/>
              </a:solidFill>
              <a:latin typeface="Nunito"/>
              <a:ea typeface="Nunito"/>
              <a:cs typeface="Nunito"/>
              <a:sym typeface="Nuni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g2419b7728cb_0_137"/>
          <p:cNvSpPr txBox="1">
            <a:spLocks noGrp="1"/>
          </p:cNvSpPr>
          <p:nvPr>
            <p:ph type="body" idx="1"/>
          </p:nvPr>
        </p:nvSpPr>
        <p:spPr>
          <a:xfrm>
            <a:off x="202550" y="1012025"/>
            <a:ext cx="3999900" cy="2584800"/>
          </a:xfrm>
          <a:prstGeom prst="rect">
            <a:avLst/>
          </a:prstGeom>
          <a:noFill/>
          <a:ln>
            <a:noFill/>
          </a:ln>
        </p:spPr>
        <p:txBody>
          <a:bodyPr spcFirstLastPara="1" wrap="square" lIns="91425" tIns="91425" rIns="91425" bIns="91425" anchor="t" anchorCtr="0">
            <a:noAutofit/>
          </a:bodyPr>
          <a:lstStyle/>
          <a:p>
            <a:pPr marL="457200" lvl="0" indent="-336550" algn="just" rtl="0">
              <a:lnSpc>
                <a:spcPct val="100000"/>
              </a:lnSpc>
              <a:spcBef>
                <a:spcPts val="1200"/>
              </a:spcBef>
              <a:spcAft>
                <a:spcPts val="1200"/>
              </a:spcAft>
              <a:buClr>
                <a:schemeClr val="dk1"/>
              </a:buClr>
              <a:buSzPts val="1700"/>
              <a:buFont typeface="Century Gothic"/>
              <a:buChar char="●"/>
            </a:pPr>
            <a:r>
              <a:rPr lang="en" sz="1400">
                <a:solidFill>
                  <a:schemeClr val="dk1"/>
                </a:solidFill>
                <a:latin typeface="Century Gothic"/>
                <a:ea typeface="Century Gothic"/>
                <a:cs typeface="Century Gothic"/>
                <a:sym typeface="Century Gothic"/>
              </a:rPr>
              <a:t>To what extent are customers returning to the hotel? Is this indication considered positive or negative, and what factors may be influencing this behavior? Furthermore, what strategies can be implemented to address and potentially improve this situation?</a:t>
            </a:r>
            <a:endParaRPr sz="1400">
              <a:solidFill>
                <a:schemeClr val="dk1"/>
              </a:solidFill>
              <a:latin typeface="Century Gothic"/>
              <a:ea typeface="Century Gothic"/>
              <a:cs typeface="Century Gothic"/>
              <a:sym typeface="Century Gothic"/>
            </a:endParaRPr>
          </a:p>
        </p:txBody>
      </p:sp>
      <p:sp>
        <p:nvSpPr>
          <p:cNvPr id="262" name="Google Shape;262;g2419b7728cb_0_137"/>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 sz="2200" b="1" i="0" u="none" strike="noStrike" cap="none">
                <a:solidFill>
                  <a:schemeClr val="lt2"/>
                </a:solidFill>
                <a:latin typeface="Century Gothic"/>
                <a:ea typeface="Century Gothic"/>
                <a:cs typeface="Century Gothic"/>
                <a:sym typeface="Century Gothic"/>
              </a:rPr>
              <a:t>EDA - Univariate Analysis</a:t>
            </a:r>
            <a:endParaRPr sz="2200" b="1" i="0" u="none" strike="noStrike" cap="none">
              <a:solidFill>
                <a:schemeClr val="lt2"/>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rgbClr val="000000"/>
              </a:buClr>
              <a:buSzPts val="2200"/>
              <a:buFont typeface="Arial"/>
              <a:buNone/>
            </a:pPr>
            <a:endParaRPr sz="2200" b="1" i="0" u="none" strike="noStrike" cap="none">
              <a:solidFill>
                <a:schemeClr val="lt2"/>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rgbClr val="000000"/>
              </a:buClr>
              <a:buSzPts val="2200"/>
              <a:buFont typeface="Arial"/>
              <a:buNone/>
            </a:pPr>
            <a:endParaRPr sz="2200" b="1" i="0" u="none" strike="noStrike" cap="none">
              <a:solidFill>
                <a:schemeClr val="lt2"/>
              </a:solidFill>
              <a:latin typeface="Century Gothic"/>
              <a:ea typeface="Century Gothic"/>
              <a:cs typeface="Century Gothic"/>
              <a:sym typeface="Century Gothic"/>
            </a:endParaRPr>
          </a:p>
        </p:txBody>
      </p:sp>
      <p:pic>
        <p:nvPicPr>
          <p:cNvPr id="263" name="Google Shape;263;g2419b7728cb_0_137"/>
          <p:cNvPicPr preferRelativeResize="0"/>
          <p:nvPr/>
        </p:nvPicPr>
        <p:blipFill rotWithShape="1">
          <a:blip r:embed="rId3">
            <a:alphaModFix/>
          </a:blip>
          <a:srcRect/>
          <a:stretch/>
        </p:blipFill>
        <p:spPr>
          <a:xfrm>
            <a:off x="4202450" y="861975"/>
            <a:ext cx="4520700" cy="2717739"/>
          </a:xfrm>
          <a:prstGeom prst="rect">
            <a:avLst/>
          </a:prstGeom>
          <a:noFill/>
          <a:ln>
            <a:noFill/>
          </a:ln>
        </p:spPr>
      </p:pic>
      <p:sp>
        <p:nvSpPr>
          <p:cNvPr id="264" name="Google Shape;264;g2419b7728cb_0_137"/>
          <p:cNvSpPr txBox="1"/>
          <p:nvPr/>
        </p:nvSpPr>
        <p:spPr>
          <a:xfrm>
            <a:off x="4572000" y="3596925"/>
            <a:ext cx="4151100" cy="90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100" b="1">
                <a:solidFill>
                  <a:srgbClr val="1155CC"/>
                </a:solidFill>
                <a:latin typeface="Nunito"/>
                <a:ea typeface="Nunito"/>
                <a:cs typeface="Nunito"/>
                <a:sym typeface="Nunito"/>
              </a:rPr>
              <a:t>X-axis:</a:t>
            </a:r>
            <a:r>
              <a:rPr lang="en" sz="1000" b="1">
                <a:solidFill>
                  <a:srgbClr val="1155CC"/>
                </a:solidFill>
                <a:latin typeface="Nunito"/>
                <a:ea typeface="Nunito"/>
                <a:cs typeface="Nunito"/>
                <a:sym typeface="Nunito"/>
              </a:rPr>
              <a:t> </a:t>
            </a:r>
            <a:r>
              <a:rPr lang="en" sz="900">
                <a:solidFill>
                  <a:srgbClr val="1155CC"/>
                </a:solidFill>
                <a:latin typeface="Nunito"/>
                <a:ea typeface="Nunito"/>
                <a:cs typeface="Nunito"/>
                <a:sym typeface="Nunito"/>
              </a:rPr>
              <a:t>Repeated guests</a:t>
            </a:r>
            <a:endParaRPr sz="900">
              <a:solidFill>
                <a:srgbClr val="1155CC"/>
              </a:solidFill>
              <a:latin typeface="Nunito"/>
              <a:ea typeface="Nunito"/>
              <a:cs typeface="Nunito"/>
              <a:sym typeface="Nunito"/>
            </a:endParaRPr>
          </a:p>
          <a:p>
            <a:pPr marL="0" lvl="0" indent="0" algn="l" rtl="0">
              <a:lnSpc>
                <a:spcPct val="115000"/>
              </a:lnSpc>
              <a:spcBef>
                <a:spcPts val="0"/>
              </a:spcBef>
              <a:spcAft>
                <a:spcPts val="0"/>
              </a:spcAft>
              <a:buNone/>
            </a:pPr>
            <a:r>
              <a:rPr lang="en" sz="1100" b="1">
                <a:solidFill>
                  <a:srgbClr val="1155CC"/>
                </a:solidFill>
                <a:latin typeface="Nunito"/>
                <a:ea typeface="Nunito"/>
                <a:cs typeface="Nunito"/>
                <a:sym typeface="Nunito"/>
              </a:rPr>
              <a:t>Y-axis:</a:t>
            </a:r>
            <a:r>
              <a:rPr lang="en" sz="1000" b="1">
                <a:solidFill>
                  <a:srgbClr val="1155CC"/>
                </a:solidFill>
                <a:latin typeface="Nunito"/>
                <a:ea typeface="Nunito"/>
                <a:cs typeface="Nunito"/>
                <a:sym typeface="Nunito"/>
              </a:rPr>
              <a:t> </a:t>
            </a:r>
            <a:r>
              <a:rPr lang="en" sz="900">
                <a:solidFill>
                  <a:srgbClr val="1155CC"/>
                </a:solidFill>
                <a:latin typeface="Nunito"/>
                <a:ea typeface="Nunito"/>
                <a:cs typeface="Nunito"/>
                <a:sym typeface="Nunito"/>
              </a:rPr>
              <a:t>Number of Guests</a:t>
            </a:r>
            <a:endParaRPr sz="900">
              <a:solidFill>
                <a:srgbClr val="1155CC"/>
              </a:solidFill>
              <a:latin typeface="Nunito"/>
              <a:ea typeface="Nunito"/>
              <a:cs typeface="Nunito"/>
              <a:sym typeface="Nunito"/>
            </a:endParaRPr>
          </a:p>
          <a:p>
            <a:pPr marL="0" lvl="0" indent="0" algn="l" rtl="0">
              <a:lnSpc>
                <a:spcPct val="115000"/>
              </a:lnSpc>
              <a:spcBef>
                <a:spcPts val="0"/>
              </a:spcBef>
              <a:spcAft>
                <a:spcPts val="0"/>
              </a:spcAft>
              <a:buNone/>
            </a:pPr>
            <a:r>
              <a:rPr lang="en" sz="1100" b="1">
                <a:solidFill>
                  <a:srgbClr val="1155CC"/>
                </a:solidFill>
                <a:latin typeface="Nunito"/>
                <a:ea typeface="Nunito"/>
                <a:cs typeface="Nunito"/>
                <a:sym typeface="Nunito"/>
              </a:rPr>
              <a:t>Description:</a:t>
            </a:r>
            <a:r>
              <a:rPr lang="en" sz="1000">
                <a:solidFill>
                  <a:srgbClr val="1155CC"/>
                </a:solidFill>
                <a:latin typeface="Nunito"/>
                <a:ea typeface="Nunito"/>
                <a:cs typeface="Nunito"/>
                <a:sym typeface="Nunito"/>
              </a:rPr>
              <a:t> </a:t>
            </a:r>
            <a:r>
              <a:rPr lang="en" sz="900">
                <a:solidFill>
                  <a:srgbClr val="1155CC"/>
                </a:solidFill>
                <a:latin typeface="Nunito"/>
                <a:ea typeface="Nunito"/>
                <a:cs typeface="Nunito"/>
                <a:sym typeface="Nunito"/>
              </a:rPr>
              <a:t>Customers who have visited the hotel more than once vs customers who have visited the hotel only once</a:t>
            </a:r>
            <a:endParaRPr sz="900">
              <a:solidFill>
                <a:srgbClr val="1155CC"/>
              </a:solidFill>
              <a:latin typeface="Nunito"/>
              <a:ea typeface="Nunito"/>
              <a:cs typeface="Nunito"/>
              <a:sym typeface="Nuni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g15886a1dc9e_0_116"/>
          <p:cNvSpPr txBox="1">
            <a:spLocks noGrp="1"/>
          </p:cNvSpPr>
          <p:nvPr>
            <p:ph type="body" idx="1"/>
          </p:nvPr>
        </p:nvSpPr>
        <p:spPr>
          <a:xfrm>
            <a:off x="202550" y="861975"/>
            <a:ext cx="3641100" cy="1477500"/>
          </a:xfrm>
          <a:prstGeom prst="rect">
            <a:avLst/>
          </a:prstGeom>
          <a:noFill/>
          <a:ln>
            <a:noFill/>
          </a:ln>
        </p:spPr>
        <p:txBody>
          <a:bodyPr spcFirstLastPara="1" wrap="square" lIns="91425" tIns="91425" rIns="91425" bIns="91425" anchor="t" anchorCtr="0">
            <a:spAutoFit/>
          </a:bodyPr>
          <a:lstStyle/>
          <a:p>
            <a:pPr marL="457200" lvl="0" indent="-317500" algn="l" rtl="0">
              <a:lnSpc>
                <a:spcPct val="100000"/>
              </a:lnSpc>
              <a:spcBef>
                <a:spcPts val="1200"/>
              </a:spcBef>
              <a:spcAft>
                <a:spcPts val="120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Explore how hotels can optimize their revenue management strategies considering the significant price variations observed across different market segments</a:t>
            </a:r>
            <a:endParaRPr sz="1400">
              <a:solidFill>
                <a:schemeClr val="dk1"/>
              </a:solidFill>
              <a:latin typeface="Century Gothic"/>
              <a:ea typeface="Century Gothic"/>
              <a:cs typeface="Century Gothic"/>
              <a:sym typeface="Century Gothic"/>
            </a:endParaRPr>
          </a:p>
        </p:txBody>
      </p:sp>
      <p:sp>
        <p:nvSpPr>
          <p:cNvPr id="270" name="Google Shape;270;g15886a1dc9e_0_116"/>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 sz="2200" b="1" i="0" u="none" strike="noStrike" cap="none">
                <a:solidFill>
                  <a:schemeClr val="lt2"/>
                </a:solidFill>
                <a:latin typeface="Century Gothic"/>
                <a:ea typeface="Century Gothic"/>
                <a:cs typeface="Century Gothic"/>
                <a:sym typeface="Century Gothic"/>
              </a:rPr>
              <a:t>EDA - Univariate Analysis</a:t>
            </a:r>
            <a:endParaRPr sz="2200" b="1" i="0" u="none" strike="noStrike" cap="none">
              <a:solidFill>
                <a:schemeClr val="lt2"/>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rgbClr val="000000"/>
              </a:buClr>
              <a:buSzPts val="2200"/>
              <a:buFont typeface="Arial"/>
              <a:buNone/>
            </a:pPr>
            <a:endParaRPr sz="2200" b="1" i="0" u="none" strike="noStrike" cap="none">
              <a:solidFill>
                <a:schemeClr val="lt2"/>
              </a:solidFill>
              <a:latin typeface="Century Gothic"/>
              <a:ea typeface="Century Gothic"/>
              <a:cs typeface="Century Gothic"/>
              <a:sym typeface="Century Gothic"/>
            </a:endParaRPr>
          </a:p>
        </p:txBody>
      </p:sp>
      <p:pic>
        <p:nvPicPr>
          <p:cNvPr id="271" name="Google Shape;271;g15886a1dc9e_0_116"/>
          <p:cNvPicPr preferRelativeResize="0"/>
          <p:nvPr/>
        </p:nvPicPr>
        <p:blipFill>
          <a:blip r:embed="rId3">
            <a:alphaModFix/>
          </a:blip>
          <a:stretch>
            <a:fillRect/>
          </a:stretch>
        </p:blipFill>
        <p:spPr>
          <a:xfrm>
            <a:off x="3843650" y="1006698"/>
            <a:ext cx="3990574" cy="2504349"/>
          </a:xfrm>
          <a:prstGeom prst="rect">
            <a:avLst/>
          </a:prstGeom>
          <a:noFill/>
          <a:ln>
            <a:noFill/>
          </a:ln>
        </p:spPr>
      </p:pic>
      <p:sp>
        <p:nvSpPr>
          <p:cNvPr id="272" name="Google Shape;272;g15886a1dc9e_0_116"/>
          <p:cNvSpPr txBox="1"/>
          <p:nvPr/>
        </p:nvSpPr>
        <p:spPr>
          <a:xfrm>
            <a:off x="3965100" y="3583425"/>
            <a:ext cx="4151100" cy="743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100" b="1">
                <a:solidFill>
                  <a:srgbClr val="1155CC"/>
                </a:solidFill>
                <a:latin typeface="Nunito"/>
                <a:ea typeface="Nunito"/>
                <a:cs typeface="Nunito"/>
                <a:sym typeface="Nunito"/>
              </a:rPr>
              <a:t>X-axis:</a:t>
            </a:r>
            <a:r>
              <a:rPr lang="en" sz="1000" b="1">
                <a:solidFill>
                  <a:srgbClr val="1155CC"/>
                </a:solidFill>
                <a:latin typeface="Nunito"/>
                <a:ea typeface="Nunito"/>
                <a:cs typeface="Nunito"/>
                <a:sym typeface="Nunito"/>
              </a:rPr>
              <a:t> </a:t>
            </a:r>
            <a:r>
              <a:rPr lang="en" sz="900">
                <a:solidFill>
                  <a:srgbClr val="1155CC"/>
                </a:solidFill>
                <a:latin typeface="Nunito"/>
                <a:ea typeface="Nunito"/>
                <a:cs typeface="Nunito"/>
                <a:sym typeface="Nunito"/>
              </a:rPr>
              <a:t>Market segment type</a:t>
            </a:r>
            <a:endParaRPr sz="900">
              <a:solidFill>
                <a:srgbClr val="1155CC"/>
              </a:solidFill>
              <a:latin typeface="Nunito"/>
              <a:ea typeface="Nunito"/>
              <a:cs typeface="Nunito"/>
              <a:sym typeface="Nunito"/>
            </a:endParaRPr>
          </a:p>
          <a:p>
            <a:pPr marL="0" lvl="0" indent="0" algn="l" rtl="0">
              <a:lnSpc>
                <a:spcPct val="115000"/>
              </a:lnSpc>
              <a:spcBef>
                <a:spcPts val="0"/>
              </a:spcBef>
              <a:spcAft>
                <a:spcPts val="0"/>
              </a:spcAft>
              <a:buNone/>
            </a:pPr>
            <a:r>
              <a:rPr lang="en" sz="1100" b="1">
                <a:solidFill>
                  <a:srgbClr val="1155CC"/>
                </a:solidFill>
                <a:latin typeface="Nunito"/>
                <a:ea typeface="Nunito"/>
                <a:cs typeface="Nunito"/>
                <a:sym typeface="Nunito"/>
              </a:rPr>
              <a:t>Y-axis:</a:t>
            </a:r>
            <a:r>
              <a:rPr lang="en" sz="1000" b="1">
                <a:solidFill>
                  <a:srgbClr val="1155CC"/>
                </a:solidFill>
                <a:latin typeface="Nunito"/>
                <a:ea typeface="Nunito"/>
                <a:cs typeface="Nunito"/>
                <a:sym typeface="Nunito"/>
              </a:rPr>
              <a:t> </a:t>
            </a:r>
            <a:r>
              <a:rPr lang="en" sz="1000">
                <a:solidFill>
                  <a:srgbClr val="1155CC"/>
                </a:solidFill>
                <a:latin typeface="Nunito"/>
                <a:ea typeface="Nunito"/>
                <a:cs typeface="Nunito"/>
                <a:sym typeface="Nunito"/>
              </a:rPr>
              <a:t>Average price per room</a:t>
            </a:r>
            <a:endParaRPr sz="900">
              <a:solidFill>
                <a:srgbClr val="1155CC"/>
              </a:solidFill>
              <a:latin typeface="Nunito"/>
              <a:ea typeface="Nunito"/>
              <a:cs typeface="Nunito"/>
              <a:sym typeface="Nunito"/>
            </a:endParaRPr>
          </a:p>
          <a:p>
            <a:pPr marL="0" lvl="0" indent="0" algn="l" rtl="0">
              <a:lnSpc>
                <a:spcPct val="115000"/>
              </a:lnSpc>
              <a:spcBef>
                <a:spcPts val="0"/>
              </a:spcBef>
              <a:spcAft>
                <a:spcPts val="0"/>
              </a:spcAft>
              <a:buNone/>
            </a:pPr>
            <a:r>
              <a:rPr lang="en" sz="1100" b="1">
                <a:solidFill>
                  <a:srgbClr val="1155CC"/>
                </a:solidFill>
                <a:latin typeface="Nunito"/>
                <a:ea typeface="Nunito"/>
                <a:cs typeface="Nunito"/>
                <a:sym typeface="Nunito"/>
              </a:rPr>
              <a:t>Description:</a:t>
            </a:r>
            <a:r>
              <a:rPr lang="en" sz="1000">
                <a:solidFill>
                  <a:srgbClr val="1155CC"/>
                </a:solidFill>
                <a:latin typeface="Nunito"/>
                <a:ea typeface="Nunito"/>
                <a:cs typeface="Nunito"/>
                <a:sym typeface="Nunito"/>
              </a:rPr>
              <a:t> </a:t>
            </a:r>
            <a:r>
              <a:rPr lang="en" sz="900">
                <a:solidFill>
                  <a:srgbClr val="1155CC"/>
                </a:solidFill>
                <a:latin typeface="Nunito"/>
                <a:ea typeface="Nunito"/>
                <a:cs typeface="Nunito"/>
                <a:sym typeface="Nunito"/>
              </a:rPr>
              <a:t>Price per room across various  market segments</a:t>
            </a:r>
            <a:endParaRPr sz="900">
              <a:solidFill>
                <a:srgbClr val="1155CC"/>
              </a:solidFill>
              <a:latin typeface="Nunito"/>
              <a:ea typeface="Nunito"/>
              <a:cs typeface="Nunito"/>
              <a:sym typeface="Nuni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g2419b7728cb_0_65"/>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chemeClr val="lt2"/>
                </a:solidFill>
                <a:latin typeface="Century Gothic"/>
                <a:ea typeface="Century Gothic"/>
                <a:cs typeface="Century Gothic"/>
                <a:sym typeface="Century Gothic"/>
              </a:rPr>
              <a:t>Results EDA - Univariate Analysis</a:t>
            </a:r>
            <a:endParaRPr>
              <a:solidFill>
                <a:schemeClr val="lt2"/>
              </a:solidFill>
              <a:latin typeface="Century Gothic"/>
              <a:ea typeface="Century Gothic"/>
              <a:cs typeface="Century Gothic"/>
              <a:sym typeface="Century Gothic"/>
            </a:endParaRPr>
          </a:p>
        </p:txBody>
      </p:sp>
      <p:sp>
        <p:nvSpPr>
          <p:cNvPr id="278" name="Google Shape;278;g2419b7728cb_0_65"/>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Provide a concise overview of the discoveries derived from the Univariate Analysis.</a:t>
            </a:r>
            <a:endParaRPr sz="1400">
              <a:solidFill>
                <a:schemeClr val="dk1"/>
              </a:solidFill>
              <a:latin typeface="Century Gothic"/>
              <a:ea typeface="Century Gothic"/>
              <a:cs typeface="Century Gothic"/>
              <a:sym typeface="Century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g2419b7728cb_0_155"/>
          <p:cNvSpPr txBox="1">
            <a:spLocks noGrp="1"/>
          </p:cNvSpPr>
          <p:nvPr>
            <p:ph type="body" idx="1"/>
          </p:nvPr>
        </p:nvSpPr>
        <p:spPr>
          <a:xfrm>
            <a:off x="202550" y="861975"/>
            <a:ext cx="4094700" cy="1262100"/>
          </a:xfrm>
          <a:prstGeom prst="rect">
            <a:avLst/>
          </a:prstGeom>
          <a:noFill/>
          <a:ln>
            <a:noFill/>
          </a:ln>
        </p:spPr>
        <p:txBody>
          <a:bodyPr spcFirstLastPara="1" wrap="square" lIns="91425" tIns="91425" rIns="91425" bIns="91425" anchor="t" anchorCtr="0">
            <a:spAutoFit/>
          </a:bodyPr>
          <a:lstStyle/>
          <a:p>
            <a:pPr marL="457200" lvl="0" indent="-317500" algn="l" rtl="0">
              <a:lnSpc>
                <a:spcPct val="100000"/>
              </a:lnSpc>
              <a:spcBef>
                <a:spcPts val="120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Explore strategies to mitigate cancellations and consider how these insights can be leveraged to reduce cancellations across different booking channels</a:t>
            </a:r>
            <a:endParaRPr sz="1400">
              <a:solidFill>
                <a:schemeClr val="dk1"/>
              </a:solidFill>
              <a:latin typeface="Century Gothic"/>
              <a:ea typeface="Century Gothic"/>
              <a:cs typeface="Century Gothic"/>
              <a:sym typeface="Century Gothic"/>
            </a:endParaRPr>
          </a:p>
        </p:txBody>
      </p:sp>
      <p:sp>
        <p:nvSpPr>
          <p:cNvPr id="284" name="Google Shape;284;g2419b7728cb_0_155"/>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 sz="2200" b="1" i="0" u="none" strike="noStrike" cap="none">
                <a:solidFill>
                  <a:schemeClr val="lt2"/>
                </a:solidFill>
                <a:latin typeface="Century Gothic"/>
                <a:ea typeface="Century Gothic"/>
                <a:cs typeface="Century Gothic"/>
                <a:sym typeface="Century Gothic"/>
              </a:rPr>
              <a:t>EDA - Bivariate Analysis</a:t>
            </a:r>
            <a:endParaRPr sz="2200" b="1" i="0" u="none" strike="noStrike" cap="none">
              <a:solidFill>
                <a:schemeClr val="lt2"/>
              </a:solidFill>
              <a:latin typeface="Century Gothic"/>
              <a:ea typeface="Century Gothic"/>
              <a:cs typeface="Century Gothic"/>
              <a:sym typeface="Century Gothic"/>
            </a:endParaRPr>
          </a:p>
        </p:txBody>
      </p:sp>
      <p:pic>
        <p:nvPicPr>
          <p:cNvPr id="285" name="Google Shape;285;g2419b7728cb_0_155"/>
          <p:cNvPicPr preferRelativeResize="0"/>
          <p:nvPr/>
        </p:nvPicPr>
        <p:blipFill rotWithShape="1">
          <a:blip r:embed="rId3">
            <a:alphaModFix/>
          </a:blip>
          <a:srcRect/>
          <a:stretch/>
        </p:blipFill>
        <p:spPr>
          <a:xfrm>
            <a:off x="4297100" y="1014178"/>
            <a:ext cx="4224375" cy="2768325"/>
          </a:xfrm>
          <a:prstGeom prst="rect">
            <a:avLst/>
          </a:prstGeom>
          <a:noFill/>
          <a:ln>
            <a:noFill/>
          </a:ln>
        </p:spPr>
      </p:pic>
      <p:sp>
        <p:nvSpPr>
          <p:cNvPr id="286" name="Google Shape;286;g2419b7728cb_0_155"/>
          <p:cNvSpPr txBox="1"/>
          <p:nvPr/>
        </p:nvSpPr>
        <p:spPr>
          <a:xfrm>
            <a:off x="4571988" y="3861825"/>
            <a:ext cx="4151100" cy="90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100" b="1">
                <a:solidFill>
                  <a:srgbClr val="1155CC"/>
                </a:solidFill>
                <a:latin typeface="Nunito"/>
                <a:ea typeface="Nunito"/>
                <a:cs typeface="Nunito"/>
                <a:sym typeface="Nunito"/>
              </a:rPr>
              <a:t>X-axis:</a:t>
            </a:r>
            <a:r>
              <a:rPr lang="en" sz="1000" b="1">
                <a:solidFill>
                  <a:srgbClr val="1155CC"/>
                </a:solidFill>
                <a:latin typeface="Nunito"/>
                <a:ea typeface="Nunito"/>
                <a:cs typeface="Nunito"/>
                <a:sym typeface="Nunito"/>
              </a:rPr>
              <a:t> </a:t>
            </a:r>
            <a:r>
              <a:rPr lang="en" sz="900">
                <a:solidFill>
                  <a:srgbClr val="1155CC"/>
                </a:solidFill>
                <a:latin typeface="Nunito"/>
                <a:ea typeface="Nunito"/>
                <a:cs typeface="Nunito"/>
                <a:sym typeface="Nunito"/>
              </a:rPr>
              <a:t>Market Segment type</a:t>
            </a:r>
            <a:endParaRPr sz="900">
              <a:solidFill>
                <a:srgbClr val="1155CC"/>
              </a:solidFill>
              <a:latin typeface="Nunito"/>
              <a:ea typeface="Nunito"/>
              <a:cs typeface="Nunito"/>
              <a:sym typeface="Nunito"/>
            </a:endParaRPr>
          </a:p>
          <a:p>
            <a:pPr marL="0" lvl="0" indent="0" algn="l" rtl="0">
              <a:lnSpc>
                <a:spcPct val="115000"/>
              </a:lnSpc>
              <a:spcBef>
                <a:spcPts val="0"/>
              </a:spcBef>
              <a:spcAft>
                <a:spcPts val="0"/>
              </a:spcAft>
              <a:buNone/>
            </a:pPr>
            <a:r>
              <a:rPr lang="en" sz="1100" b="1">
                <a:solidFill>
                  <a:srgbClr val="1155CC"/>
                </a:solidFill>
                <a:latin typeface="Nunito"/>
                <a:ea typeface="Nunito"/>
                <a:cs typeface="Nunito"/>
                <a:sym typeface="Nunito"/>
              </a:rPr>
              <a:t>Y-axis:</a:t>
            </a:r>
            <a:r>
              <a:rPr lang="en" sz="1000" b="1">
                <a:solidFill>
                  <a:srgbClr val="1155CC"/>
                </a:solidFill>
                <a:latin typeface="Nunito"/>
                <a:ea typeface="Nunito"/>
                <a:cs typeface="Nunito"/>
                <a:sym typeface="Nunito"/>
              </a:rPr>
              <a:t> </a:t>
            </a:r>
            <a:r>
              <a:rPr lang="en" sz="1000">
                <a:solidFill>
                  <a:srgbClr val="1155CC"/>
                </a:solidFill>
                <a:latin typeface="Nunito"/>
                <a:ea typeface="Nunito"/>
                <a:cs typeface="Nunito"/>
                <a:sym typeface="Nunito"/>
              </a:rPr>
              <a:t>Number of customers</a:t>
            </a:r>
            <a:endParaRPr sz="900">
              <a:solidFill>
                <a:srgbClr val="1155CC"/>
              </a:solidFill>
              <a:latin typeface="Nunito"/>
              <a:ea typeface="Nunito"/>
              <a:cs typeface="Nunito"/>
              <a:sym typeface="Nunito"/>
            </a:endParaRPr>
          </a:p>
          <a:p>
            <a:pPr marL="0" lvl="0" indent="0" algn="l" rtl="0">
              <a:lnSpc>
                <a:spcPct val="115000"/>
              </a:lnSpc>
              <a:spcBef>
                <a:spcPts val="0"/>
              </a:spcBef>
              <a:spcAft>
                <a:spcPts val="0"/>
              </a:spcAft>
              <a:buNone/>
            </a:pPr>
            <a:r>
              <a:rPr lang="en" sz="1100" b="1">
                <a:solidFill>
                  <a:srgbClr val="1155CC"/>
                </a:solidFill>
                <a:latin typeface="Nunito"/>
                <a:ea typeface="Nunito"/>
                <a:cs typeface="Nunito"/>
                <a:sym typeface="Nunito"/>
              </a:rPr>
              <a:t>Description:</a:t>
            </a:r>
            <a:r>
              <a:rPr lang="en" sz="1000">
                <a:solidFill>
                  <a:srgbClr val="1155CC"/>
                </a:solidFill>
                <a:latin typeface="Nunito"/>
                <a:ea typeface="Nunito"/>
                <a:cs typeface="Nunito"/>
                <a:sym typeface="Nunito"/>
              </a:rPr>
              <a:t> </a:t>
            </a:r>
            <a:r>
              <a:rPr lang="en" sz="900">
                <a:solidFill>
                  <a:srgbClr val="1155CC"/>
                </a:solidFill>
                <a:latin typeface="Nunito"/>
                <a:ea typeface="Nunito"/>
                <a:cs typeface="Nunito"/>
                <a:sym typeface="Nunito"/>
              </a:rPr>
              <a:t>Number of booking that are cancelled vs not cancelled across various market segments</a:t>
            </a:r>
            <a:endParaRPr sz="900">
              <a:solidFill>
                <a:srgbClr val="1155CC"/>
              </a:solidFill>
              <a:latin typeface="Nunito"/>
              <a:ea typeface="Nunito"/>
              <a:cs typeface="Nunito"/>
              <a:sym typeface="Nuni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g15886a1dc9e_0_174"/>
          <p:cNvSpPr txBox="1"/>
          <p:nvPr/>
        </p:nvSpPr>
        <p:spPr>
          <a:xfrm>
            <a:off x="202550" y="955700"/>
            <a:ext cx="3342300" cy="1523700"/>
          </a:xfrm>
          <a:prstGeom prst="rect">
            <a:avLst/>
          </a:prstGeom>
          <a:noFill/>
          <a:ln>
            <a:noFill/>
          </a:ln>
        </p:spPr>
        <p:txBody>
          <a:bodyPr spcFirstLastPara="1" wrap="square" lIns="91425" tIns="91425" rIns="91425" bIns="91425" anchor="t" anchorCtr="0">
            <a:spAutoFit/>
          </a:bodyPr>
          <a:lstStyle/>
          <a:p>
            <a:pPr marL="457200" marR="0" lvl="0" indent="-336550" algn="just" rtl="0">
              <a:lnSpc>
                <a:spcPct val="100000"/>
              </a:lnSpc>
              <a:spcBef>
                <a:spcPts val="0"/>
              </a:spcBef>
              <a:spcAft>
                <a:spcPts val="0"/>
              </a:spcAft>
              <a:buClr>
                <a:schemeClr val="dk1"/>
              </a:buClr>
              <a:buSzPts val="1700"/>
              <a:buFont typeface="Century Gothic"/>
              <a:buChar char="●"/>
            </a:pPr>
            <a:r>
              <a:rPr lang="en">
                <a:solidFill>
                  <a:schemeClr val="dk1"/>
                </a:solidFill>
                <a:latin typeface="Century Gothic"/>
                <a:ea typeface="Century Gothic"/>
                <a:cs typeface="Century Gothic"/>
                <a:sym typeface="Century Gothic"/>
              </a:rPr>
              <a:t>Examine the influence of special requests on booking cancellations and devise effective strategies to mitigate cancellation rates when customers make such requests.</a:t>
            </a:r>
            <a:endParaRPr sz="1400" b="0" i="0" u="none" strike="noStrike" cap="none">
              <a:solidFill>
                <a:schemeClr val="dk1"/>
              </a:solidFill>
              <a:latin typeface="Century Gothic"/>
              <a:ea typeface="Century Gothic"/>
              <a:cs typeface="Century Gothic"/>
              <a:sym typeface="Century Gothic"/>
            </a:endParaRPr>
          </a:p>
        </p:txBody>
      </p:sp>
      <p:sp>
        <p:nvSpPr>
          <p:cNvPr id="292" name="Google Shape;292;g15886a1dc9e_0_174"/>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 sz="2200" b="1" i="0" u="none" strike="noStrike" cap="none">
                <a:solidFill>
                  <a:schemeClr val="lt2"/>
                </a:solidFill>
                <a:latin typeface="Century Gothic"/>
                <a:ea typeface="Century Gothic"/>
                <a:cs typeface="Century Gothic"/>
                <a:sym typeface="Century Gothic"/>
              </a:rPr>
              <a:t>EDA - Bivariate Analysis</a:t>
            </a:r>
            <a:endParaRPr sz="2200" b="1" i="0" u="none" strike="noStrike" cap="none">
              <a:solidFill>
                <a:schemeClr val="lt2"/>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rgbClr val="000000"/>
              </a:buClr>
              <a:buSzPts val="2200"/>
              <a:buFont typeface="Arial"/>
              <a:buNone/>
            </a:pPr>
            <a:endParaRPr sz="2200" b="1" i="0" u="none" strike="noStrike" cap="none">
              <a:solidFill>
                <a:schemeClr val="lt2"/>
              </a:solidFill>
              <a:latin typeface="Century Gothic"/>
              <a:ea typeface="Century Gothic"/>
              <a:cs typeface="Century Gothic"/>
              <a:sym typeface="Century Gothic"/>
            </a:endParaRPr>
          </a:p>
        </p:txBody>
      </p:sp>
      <p:pic>
        <p:nvPicPr>
          <p:cNvPr id="293" name="Google Shape;293;g15886a1dc9e_0_174"/>
          <p:cNvPicPr preferRelativeResize="0"/>
          <p:nvPr/>
        </p:nvPicPr>
        <p:blipFill rotWithShape="1">
          <a:blip r:embed="rId3">
            <a:alphaModFix/>
          </a:blip>
          <a:srcRect/>
          <a:stretch/>
        </p:blipFill>
        <p:spPr>
          <a:xfrm>
            <a:off x="3544875" y="1014375"/>
            <a:ext cx="5324100" cy="358901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g15886a1dc9e_0_231"/>
          <p:cNvSpPr txBox="1">
            <a:spLocks noGrp="1"/>
          </p:cNvSpPr>
          <p:nvPr>
            <p:ph type="body" idx="1"/>
          </p:nvPr>
        </p:nvSpPr>
        <p:spPr>
          <a:xfrm>
            <a:off x="311700" y="929425"/>
            <a:ext cx="7072200" cy="738900"/>
          </a:xfrm>
          <a:prstGeom prst="rect">
            <a:avLst/>
          </a:prstGeom>
          <a:noFill/>
          <a:ln>
            <a:noFill/>
          </a:ln>
        </p:spPr>
        <p:txBody>
          <a:bodyPr spcFirstLastPara="1" wrap="square" lIns="91425" tIns="91425" rIns="91425" bIns="91425" anchor="t" anchorCtr="0">
            <a:spAutoFit/>
          </a:bodyPr>
          <a:lstStyle/>
          <a:p>
            <a:pPr marL="457200" lvl="0" indent="-304800" algn="just" rtl="0">
              <a:lnSpc>
                <a:spcPct val="100000"/>
              </a:lnSpc>
              <a:spcBef>
                <a:spcPts val="1200"/>
              </a:spcBef>
              <a:spcAft>
                <a:spcPts val="1200"/>
              </a:spcAft>
              <a:buClr>
                <a:srgbClr val="000000"/>
              </a:buClr>
              <a:buSzPts val="1200"/>
              <a:buFont typeface="Century Gothic"/>
              <a:buChar char="●"/>
            </a:pPr>
            <a:r>
              <a:rPr lang="en" sz="1200">
                <a:solidFill>
                  <a:srgbClr val="000000"/>
                </a:solidFill>
                <a:latin typeface="Century Gothic"/>
                <a:ea typeface="Century Gothic"/>
                <a:cs typeface="Century Gothic"/>
                <a:sym typeface="Century Gothic"/>
              </a:rPr>
              <a:t>What insights can be gained from the lead time of canceled bookings, and how can we leverage this information to improve our booking system and enhance customer satisfaction?</a:t>
            </a:r>
            <a:endParaRPr sz="1200">
              <a:solidFill>
                <a:srgbClr val="000000"/>
              </a:solidFill>
              <a:latin typeface="Century Gothic"/>
              <a:ea typeface="Century Gothic"/>
              <a:cs typeface="Century Gothic"/>
              <a:sym typeface="Century Gothic"/>
            </a:endParaRPr>
          </a:p>
        </p:txBody>
      </p:sp>
      <p:sp>
        <p:nvSpPr>
          <p:cNvPr id="299" name="Google Shape;299;g15886a1dc9e_0_231"/>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 sz="2200" b="1" i="0" u="none" strike="noStrike" cap="none">
                <a:solidFill>
                  <a:schemeClr val="lt2"/>
                </a:solidFill>
                <a:latin typeface="Century Gothic"/>
                <a:ea typeface="Century Gothic"/>
                <a:cs typeface="Century Gothic"/>
                <a:sym typeface="Century Gothic"/>
              </a:rPr>
              <a:t>EDA - Bivariate Analysis</a:t>
            </a:r>
            <a:endParaRPr sz="2200" b="1" i="0" u="none" strike="noStrike" cap="none">
              <a:solidFill>
                <a:schemeClr val="lt2"/>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rgbClr val="000000"/>
              </a:buClr>
              <a:buSzPts val="2200"/>
              <a:buFont typeface="Arial"/>
              <a:buNone/>
            </a:pPr>
            <a:endParaRPr sz="2200" b="1" i="0" u="none" strike="noStrike" cap="none">
              <a:solidFill>
                <a:schemeClr val="lt2"/>
              </a:solidFill>
              <a:latin typeface="Century Gothic"/>
              <a:ea typeface="Century Gothic"/>
              <a:cs typeface="Century Gothic"/>
              <a:sym typeface="Century Gothic"/>
            </a:endParaRPr>
          </a:p>
        </p:txBody>
      </p:sp>
      <p:sp>
        <p:nvSpPr>
          <p:cNvPr id="300" name="Google Shape;300;g15886a1dc9e_0_231"/>
          <p:cNvSpPr txBox="1"/>
          <p:nvPr/>
        </p:nvSpPr>
        <p:spPr>
          <a:xfrm>
            <a:off x="6104225" y="2491025"/>
            <a:ext cx="2541600" cy="90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100" b="1">
                <a:solidFill>
                  <a:srgbClr val="1155CC"/>
                </a:solidFill>
                <a:latin typeface="Nunito"/>
                <a:ea typeface="Nunito"/>
                <a:cs typeface="Nunito"/>
                <a:sym typeface="Nunito"/>
              </a:rPr>
              <a:t>X-axis:</a:t>
            </a:r>
            <a:r>
              <a:rPr lang="en" sz="1000" b="1">
                <a:solidFill>
                  <a:srgbClr val="1155CC"/>
                </a:solidFill>
                <a:latin typeface="Nunito"/>
                <a:ea typeface="Nunito"/>
                <a:cs typeface="Nunito"/>
                <a:sym typeface="Nunito"/>
              </a:rPr>
              <a:t> </a:t>
            </a:r>
            <a:r>
              <a:rPr lang="en" sz="1000">
                <a:solidFill>
                  <a:srgbClr val="1155CC"/>
                </a:solidFill>
                <a:latin typeface="Nunito"/>
                <a:ea typeface="Nunito"/>
                <a:cs typeface="Nunito"/>
                <a:sym typeface="Nunito"/>
              </a:rPr>
              <a:t>Lead time</a:t>
            </a:r>
            <a:endParaRPr sz="1000">
              <a:solidFill>
                <a:srgbClr val="1155CC"/>
              </a:solidFill>
              <a:latin typeface="Nunito"/>
              <a:ea typeface="Nunito"/>
              <a:cs typeface="Nunito"/>
              <a:sym typeface="Nunito"/>
            </a:endParaRPr>
          </a:p>
          <a:p>
            <a:pPr marL="0" lvl="0" indent="0" algn="l" rtl="0">
              <a:lnSpc>
                <a:spcPct val="115000"/>
              </a:lnSpc>
              <a:spcBef>
                <a:spcPts val="0"/>
              </a:spcBef>
              <a:spcAft>
                <a:spcPts val="0"/>
              </a:spcAft>
              <a:buNone/>
            </a:pPr>
            <a:r>
              <a:rPr lang="en" sz="1100" b="1">
                <a:solidFill>
                  <a:srgbClr val="1155CC"/>
                </a:solidFill>
                <a:latin typeface="Nunito"/>
                <a:ea typeface="Nunito"/>
                <a:cs typeface="Nunito"/>
                <a:sym typeface="Nunito"/>
              </a:rPr>
              <a:t>Y-axis:</a:t>
            </a:r>
            <a:r>
              <a:rPr lang="en" sz="1000" b="1">
                <a:solidFill>
                  <a:srgbClr val="1155CC"/>
                </a:solidFill>
                <a:latin typeface="Nunito"/>
                <a:ea typeface="Nunito"/>
                <a:cs typeface="Nunito"/>
                <a:sym typeface="Nunito"/>
              </a:rPr>
              <a:t> </a:t>
            </a:r>
            <a:r>
              <a:rPr lang="en" sz="1000">
                <a:solidFill>
                  <a:srgbClr val="1155CC"/>
                </a:solidFill>
                <a:latin typeface="Nunito"/>
                <a:ea typeface="Nunito"/>
                <a:cs typeface="Nunito"/>
                <a:sym typeface="Nunito"/>
              </a:rPr>
              <a:t>Number of bookings</a:t>
            </a:r>
            <a:endParaRPr sz="900">
              <a:solidFill>
                <a:srgbClr val="1155CC"/>
              </a:solidFill>
              <a:latin typeface="Nunito"/>
              <a:ea typeface="Nunito"/>
              <a:cs typeface="Nunito"/>
              <a:sym typeface="Nunito"/>
            </a:endParaRPr>
          </a:p>
          <a:p>
            <a:pPr marL="0" lvl="0" indent="0" algn="l" rtl="0">
              <a:lnSpc>
                <a:spcPct val="115000"/>
              </a:lnSpc>
              <a:spcBef>
                <a:spcPts val="0"/>
              </a:spcBef>
              <a:spcAft>
                <a:spcPts val="0"/>
              </a:spcAft>
              <a:buNone/>
            </a:pPr>
            <a:r>
              <a:rPr lang="en" sz="1100" b="1">
                <a:solidFill>
                  <a:srgbClr val="1155CC"/>
                </a:solidFill>
                <a:latin typeface="Nunito"/>
                <a:ea typeface="Nunito"/>
                <a:cs typeface="Nunito"/>
                <a:sym typeface="Nunito"/>
              </a:rPr>
              <a:t>Description:</a:t>
            </a:r>
            <a:r>
              <a:rPr lang="en" sz="1000">
                <a:solidFill>
                  <a:srgbClr val="1155CC"/>
                </a:solidFill>
                <a:latin typeface="Nunito"/>
                <a:ea typeface="Nunito"/>
                <a:cs typeface="Nunito"/>
                <a:sym typeface="Nunito"/>
              </a:rPr>
              <a:t> </a:t>
            </a:r>
            <a:r>
              <a:rPr lang="en" sz="900">
                <a:solidFill>
                  <a:srgbClr val="1155CC"/>
                </a:solidFill>
                <a:latin typeface="Nunito"/>
                <a:ea typeface="Nunito"/>
                <a:cs typeface="Nunito"/>
                <a:sym typeface="Nunito"/>
              </a:rPr>
              <a:t>Lead time of the bookings that were cancelled</a:t>
            </a:r>
            <a:endParaRPr sz="900">
              <a:solidFill>
                <a:srgbClr val="1155CC"/>
              </a:solidFill>
              <a:latin typeface="Nunito"/>
              <a:ea typeface="Nunito"/>
              <a:cs typeface="Nunito"/>
              <a:sym typeface="Nunito"/>
            </a:endParaRPr>
          </a:p>
        </p:txBody>
      </p:sp>
      <p:pic>
        <p:nvPicPr>
          <p:cNvPr id="301" name="Google Shape;301;g15886a1dc9e_0_231"/>
          <p:cNvPicPr preferRelativeResize="0"/>
          <p:nvPr/>
        </p:nvPicPr>
        <p:blipFill>
          <a:blip r:embed="rId3">
            <a:alphaModFix/>
          </a:blip>
          <a:stretch>
            <a:fillRect/>
          </a:stretch>
        </p:blipFill>
        <p:spPr>
          <a:xfrm>
            <a:off x="606800" y="1668325"/>
            <a:ext cx="5497437" cy="31703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g15886a1dc9e_0_293"/>
          <p:cNvSpPr txBox="1">
            <a:spLocks noGrp="1"/>
          </p:cNvSpPr>
          <p:nvPr>
            <p:ph type="body" idx="1"/>
          </p:nvPr>
        </p:nvSpPr>
        <p:spPr>
          <a:xfrm>
            <a:off x="202558" y="861975"/>
            <a:ext cx="8520600" cy="615600"/>
          </a:xfrm>
          <a:prstGeom prst="rect">
            <a:avLst/>
          </a:prstGeom>
          <a:noFill/>
          <a:ln>
            <a:noFill/>
          </a:ln>
        </p:spPr>
        <p:txBody>
          <a:bodyPr spcFirstLastPara="1" wrap="square" lIns="91425" tIns="91425" rIns="91425" bIns="91425" anchor="t" anchorCtr="0">
            <a:spAutoFit/>
          </a:bodyPr>
          <a:lstStyle/>
          <a:p>
            <a:pPr marL="457200" lvl="0" indent="-317500" algn="just" rtl="0">
              <a:lnSpc>
                <a:spcPct val="100000"/>
              </a:lnSpc>
              <a:spcBef>
                <a:spcPts val="1200"/>
              </a:spcBef>
              <a:spcAft>
                <a:spcPts val="120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Analyze the cancellation rate for each month and compare it to other months to determine any patterns or reasons for variation.</a:t>
            </a:r>
            <a:endParaRPr sz="1400">
              <a:solidFill>
                <a:schemeClr val="dk1"/>
              </a:solidFill>
              <a:latin typeface="Century Gothic"/>
              <a:ea typeface="Century Gothic"/>
              <a:cs typeface="Century Gothic"/>
              <a:sym typeface="Century Gothic"/>
            </a:endParaRPr>
          </a:p>
        </p:txBody>
      </p:sp>
      <p:sp>
        <p:nvSpPr>
          <p:cNvPr id="307" name="Google Shape;307;g15886a1dc9e_0_293"/>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 sz="2200" b="1" i="0" u="none" strike="noStrike" cap="none">
                <a:solidFill>
                  <a:schemeClr val="lt2"/>
                </a:solidFill>
                <a:latin typeface="Century Gothic"/>
                <a:ea typeface="Century Gothic"/>
                <a:cs typeface="Century Gothic"/>
                <a:sym typeface="Century Gothic"/>
              </a:rPr>
              <a:t>EDA - Bivariate Analysis</a:t>
            </a:r>
            <a:endParaRPr sz="2200" b="1" i="0" u="none" strike="noStrike" cap="none">
              <a:solidFill>
                <a:schemeClr val="lt2"/>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rgbClr val="000000"/>
              </a:buClr>
              <a:buSzPts val="2200"/>
              <a:buFont typeface="Arial"/>
              <a:buNone/>
            </a:pPr>
            <a:endParaRPr sz="2200" b="1" i="0" u="none" strike="noStrike" cap="none">
              <a:solidFill>
                <a:schemeClr val="lt2"/>
              </a:solidFill>
              <a:latin typeface="Century Gothic"/>
              <a:ea typeface="Century Gothic"/>
              <a:cs typeface="Century Gothic"/>
              <a:sym typeface="Century Gothic"/>
            </a:endParaRPr>
          </a:p>
        </p:txBody>
      </p:sp>
      <p:pic>
        <p:nvPicPr>
          <p:cNvPr id="308" name="Google Shape;308;g15886a1dc9e_0_293"/>
          <p:cNvPicPr preferRelativeResize="0"/>
          <p:nvPr/>
        </p:nvPicPr>
        <p:blipFill rotWithShape="1">
          <a:blip r:embed="rId3">
            <a:alphaModFix/>
          </a:blip>
          <a:srcRect/>
          <a:stretch/>
        </p:blipFill>
        <p:spPr>
          <a:xfrm>
            <a:off x="4440575" y="2224825"/>
            <a:ext cx="3894725" cy="2591675"/>
          </a:xfrm>
          <a:prstGeom prst="rect">
            <a:avLst/>
          </a:prstGeom>
          <a:noFill/>
          <a:ln>
            <a:noFill/>
          </a:ln>
        </p:spPr>
      </p:pic>
      <p:pic>
        <p:nvPicPr>
          <p:cNvPr id="309" name="Google Shape;309;g15886a1dc9e_0_293"/>
          <p:cNvPicPr preferRelativeResize="0"/>
          <p:nvPr/>
        </p:nvPicPr>
        <p:blipFill rotWithShape="1">
          <a:blip r:embed="rId4">
            <a:alphaModFix/>
          </a:blip>
          <a:srcRect/>
          <a:stretch/>
        </p:blipFill>
        <p:spPr>
          <a:xfrm>
            <a:off x="337975" y="2296225"/>
            <a:ext cx="4099958" cy="25202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g244d23124c0_1_11"/>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chemeClr val="lt2"/>
                </a:solidFill>
                <a:latin typeface="Century Gothic"/>
                <a:ea typeface="Century Gothic"/>
                <a:cs typeface="Century Gothic"/>
                <a:sym typeface="Century Gothic"/>
              </a:rPr>
              <a:t>Results EDA - Bivariate Analysis</a:t>
            </a:r>
            <a:endParaRPr>
              <a:solidFill>
                <a:schemeClr val="lt2"/>
              </a:solidFill>
              <a:latin typeface="Century Gothic"/>
              <a:ea typeface="Century Gothic"/>
              <a:cs typeface="Century Gothic"/>
              <a:sym typeface="Century Gothic"/>
            </a:endParaRPr>
          </a:p>
        </p:txBody>
      </p:sp>
      <p:sp>
        <p:nvSpPr>
          <p:cNvPr id="315" name="Google Shape;315;g244d23124c0_1_11"/>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Provide a concise overview of the discoveries derived from the Bivariate Analysis.</a:t>
            </a:r>
            <a:endParaRPr sz="1400">
              <a:solidFill>
                <a:schemeClr val="dk1"/>
              </a:solidFill>
              <a:latin typeface="Century Gothic"/>
              <a:ea typeface="Century Gothic"/>
              <a:cs typeface="Century Gothic"/>
              <a:sym typeface="Century Gothic"/>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g244d23124c0_1_15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chemeClr val="lt2"/>
                </a:solidFill>
                <a:latin typeface="Century Gothic"/>
                <a:ea typeface="Century Gothic"/>
                <a:cs typeface="Century Gothic"/>
                <a:sym typeface="Century Gothic"/>
              </a:rPr>
              <a:t>Model Performance Evaluation Decision Tree</a:t>
            </a:r>
            <a:endParaRPr>
              <a:solidFill>
                <a:schemeClr val="lt2"/>
              </a:solidFill>
              <a:latin typeface="Century Gothic"/>
              <a:ea typeface="Century Gothic"/>
              <a:cs typeface="Century Gothic"/>
              <a:sym typeface="Century Gothic"/>
            </a:endParaRPr>
          </a:p>
        </p:txBody>
      </p:sp>
      <p:sp>
        <p:nvSpPr>
          <p:cNvPr id="321" name="Google Shape;321;g244d23124c0_1_153"/>
          <p:cNvSpPr txBox="1">
            <a:spLocks noGrp="1"/>
          </p:cNvSpPr>
          <p:nvPr>
            <p:ph type="body" idx="1"/>
          </p:nvPr>
        </p:nvSpPr>
        <p:spPr>
          <a:xfrm>
            <a:off x="202550" y="861975"/>
            <a:ext cx="8307900" cy="10647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Please comment on the model performance of the Decision Tree </a:t>
            </a:r>
            <a:r>
              <a:rPr lang="en" sz="1400">
                <a:solidFill>
                  <a:schemeClr val="dk1"/>
                </a:solidFill>
                <a:latin typeface="Century Gothic"/>
                <a:ea typeface="Century Gothic"/>
                <a:cs typeface="Century Gothic"/>
                <a:sym typeface="Century Gothic"/>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0"/>
                  </a:ext>
                </a:extLst>
              </a:rPr>
              <a:t>Model</a:t>
            </a:r>
            <a:endParaRPr sz="1400">
              <a:solidFill>
                <a:schemeClr val="dk1"/>
              </a:solidFill>
              <a:latin typeface="Century Gothic"/>
              <a:ea typeface="Century Gothic"/>
              <a:cs typeface="Century Gothic"/>
              <a:sym typeface="Century Gothic"/>
            </a:endParaRPr>
          </a:p>
        </p:txBody>
      </p:sp>
      <p:graphicFrame>
        <p:nvGraphicFramePr>
          <p:cNvPr id="322" name="Google Shape;322;g244d23124c0_1_153"/>
          <p:cNvGraphicFramePr/>
          <p:nvPr/>
        </p:nvGraphicFramePr>
        <p:xfrm>
          <a:off x="1375725" y="1860336"/>
          <a:ext cx="6392525" cy="848325"/>
        </p:xfrm>
        <a:graphic>
          <a:graphicData uri="http://schemas.openxmlformats.org/drawingml/2006/table">
            <a:tbl>
              <a:tblPr firstRow="1" bandRow="1">
                <a:noFill/>
                <a:tableStyleId>{DC789D89-7B42-48A2-8941-39F5C445BB0A}</a:tableStyleId>
              </a:tblPr>
              <a:tblGrid>
                <a:gridCol w="1232750">
                  <a:extLst>
                    <a:ext uri="{9D8B030D-6E8A-4147-A177-3AD203B41FA5}">
                      <a16:colId xmlns:a16="http://schemas.microsoft.com/office/drawing/2014/main" val="20000"/>
                    </a:ext>
                  </a:extLst>
                </a:gridCol>
                <a:gridCol w="799025">
                  <a:extLst>
                    <a:ext uri="{9D8B030D-6E8A-4147-A177-3AD203B41FA5}">
                      <a16:colId xmlns:a16="http://schemas.microsoft.com/office/drawing/2014/main" val="20001"/>
                    </a:ext>
                  </a:extLst>
                </a:gridCol>
                <a:gridCol w="826250">
                  <a:extLst>
                    <a:ext uri="{9D8B030D-6E8A-4147-A177-3AD203B41FA5}">
                      <a16:colId xmlns:a16="http://schemas.microsoft.com/office/drawing/2014/main" val="20002"/>
                    </a:ext>
                  </a:extLst>
                </a:gridCol>
                <a:gridCol w="794825">
                  <a:extLst>
                    <a:ext uri="{9D8B030D-6E8A-4147-A177-3AD203B41FA5}">
                      <a16:colId xmlns:a16="http://schemas.microsoft.com/office/drawing/2014/main" val="20003"/>
                    </a:ext>
                  </a:extLst>
                </a:gridCol>
                <a:gridCol w="913225">
                  <a:extLst>
                    <a:ext uri="{9D8B030D-6E8A-4147-A177-3AD203B41FA5}">
                      <a16:colId xmlns:a16="http://schemas.microsoft.com/office/drawing/2014/main" val="20004"/>
                    </a:ext>
                  </a:extLst>
                </a:gridCol>
                <a:gridCol w="913225">
                  <a:extLst>
                    <a:ext uri="{9D8B030D-6E8A-4147-A177-3AD203B41FA5}">
                      <a16:colId xmlns:a16="http://schemas.microsoft.com/office/drawing/2014/main" val="20005"/>
                    </a:ext>
                  </a:extLst>
                </a:gridCol>
                <a:gridCol w="913225">
                  <a:extLst>
                    <a:ext uri="{9D8B030D-6E8A-4147-A177-3AD203B41FA5}">
                      <a16:colId xmlns:a16="http://schemas.microsoft.com/office/drawing/2014/main" val="20006"/>
                    </a:ext>
                  </a:extLst>
                </a:gridCol>
              </a:tblGrid>
              <a:tr h="340150">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Model</a:t>
                      </a:r>
                      <a:endParaRPr sz="1000" u="none" strike="noStrike" cap="none">
                        <a:latin typeface="Century Gothic"/>
                        <a:ea typeface="Century Gothic"/>
                        <a:cs typeface="Century Gothic"/>
                        <a:sym typeface="Century Gothic"/>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Train Accuracy</a:t>
                      </a:r>
                      <a:endParaRPr sz="1000" u="none" strike="noStrike" cap="none">
                        <a:latin typeface="Century Gothic"/>
                        <a:ea typeface="Century Gothic"/>
                        <a:cs typeface="Century Gothic"/>
                        <a:sym typeface="Century Gothic"/>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Test Accuracy</a:t>
                      </a:r>
                      <a:endParaRPr sz="1000" u="none" strike="noStrike" cap="none">
                        <a:latin typeface="Century Gothic"/>
                        <a:ea typeface="Century Gothic"/>
                        <a:cs typeface="Century Gothic"/>
                        <a:sym typeface="Century Gothic"/>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Train Recall</a:t>
                      </a:r>
                      <a:endParaRPr sz="1000" u="none" strike="noStrike" cap="none">
                        <a:latin typeface="Century Gothic"/>
                        <a:ea typeface="Century Gothic"/>
                        <a:cs typeface="Century Gothic"/>
                        <a:sym typeface="Century Gothic"/>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Test Recall</a:t>
                      </a:r>
                      <a:endParaRPr sz="1000" u="none" strike="noStrike" cap="none">
                        <a:latin typeface="Century Gothic"/>
                        <a:ea typeface="Century Gothic"/>
                        <a:cs typeface="Century Gothic"/>
                        <a:sym typeface="Century Gothic"/>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Train Precision</a:t>
                      </a:r>
                      <a:endParaRPr sz="1000" u="none" strike="noStrike" cap="none">
                        <a:latin typeface="Century Gothic"/>
                        <a:ea typeface="Century Gothic"/>
                        <a:cs typeface="Century Gothic"/>
                        <a:sym typeface="Century Gothic"/>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Test Precision</a:t>
                      </a:r>
                      <a:endParaRPr sz="1000" u="none" strike="noStrike" cap="none">
                        <a:latin typeface="Century Gothic"/>
                        <a:ea typeface="Century Gothic"/>
                        <a:cs typeface="Century Gothic"/>
                        <a:sym typeface="Century Gothic"/>
                      </a:endParaRPr>
                    </a:p>
                  </a:txBody>
                  <a:tcPr marL="91450" marR="91450" marT="45725" marB="45725" anchor="ctr">
                    <a:solidFill>
                      <a:schemeClr val="lt2"/>
                    </a:solidFill>
                  </a:tcPr>
                </a:tc>
                <a:extLst>
                  <a:ext uri="{0D108BD9-81ED-4DB2-BD59-A6C34878D82A}">
                    <a16:rowId xmlns:a16="http://schemas.microsoft.com/office/drawing/2014/main" val="10000"/>
                  </a:ext>
                </a:extLst>
              </a:tr>
              <a:tr h="452075">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Decision Tree</a:t>
                      </a:r>
                      <a:endParaRPr sz="1000" u="none" strike="noStrike" cap="none">
                        <a:latin typeface="Century Gothic"/>
                        <a:ea typeface="Century Gothic"/>
                        <a:cs typeface="Century Gothic"/>
                        <a:sym typeface="Century Gothic"/>
                      </a:endParaRPr>
                    </a:p>
                  </a:txBody>
                  <a:tcPr marL="91450" marR="91450" marT="45725" marB="457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99.65</a:t>
                      </a:r>
                      <a:endParaRPr sz="1000" u="none" strike="noStrike" cap="none">
                        <a:latin typeface="Century Gothic"/>
                        <a:ea typeface="Century Gothic"/>
                        <a:cs typeface="Century Gothic"/>
                        <a:sym typeface="Century Gothic"/>
                      </a:endParaRPr>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83.20</a:t>
                      </a:r>
                      <a:endParaRPr sz="1000" u="none" strike="noStrike" cap="none">
                        <a:latin typeface="Century Gothic"/>
                        <a:ea typeface="Century Gothic"/>
                        <a:cs typeface="Century Gothic"/>
                        <a:sym typeface="Century Gothic"/>
                      </a:endParaRPr>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99.47</a:t>
                      </a:r>
                      <a:endParaRPr sz="1000" u="none" strike="noStrike" cap="none">
                        <a:latin typeface="Century Gothic"/>
                        <a:ea typeface="Century Gothic"/>
                        <a:cs typeface="Century Gothic"/>
                        <a:sym typeface="Century Gothic"/>
                      </a:endParaRPr>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76.77</a:t>
                      </a:r>
                      <a:endParaRPr sz="1000" u="none" strike="noStrike" cap="none">
                        <a:latin typeface="Century Gothic"/>
                        <a:ea typeface="Century Gothic"/>
                        <a:cs typeface="Century Gothic"/>
                        <a:sym typeface="Century Gothic"/>
                      </a:endParaRPr>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99.47</a:t>
                      </a:r>
                      <a:endParaRPr sz="1000" u="none" strike="noStrike" cap="none">
                        <a:latin typeface="Century Gothic"/>
                        <a:ea typeface="Century Gothic"/>
                        <a:cs typeface="Century Gothic"/>
                        <a:sym typeface="Century Gothic"/>
                      </a:endParaRPr>
                    </a:p>
                  </a:txBody>
                  <a:tcPr marL="91425" marR="91425" marT="91425" marB="914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73.23</a:t>
                      </a:r>
                      <a:endParaRPr sz="1000" u="none" strike="noStrike" cap="none">
                        <a:latin typeface="Century Gothic"/>
                        <a:ea typeface="Century Gothic"/>
                        <a:cs typeface="Century Gothic"/>
                        <a:sym typeface="Century Gothic"/>
                      </a:endParaRPr>
                    </a:p>
                  </a:txBody>
                  <a:tcPr marL="91425" marR="91425" marT="91425" marB="91425" anchor="ctr"/>
                </a:tc>
                <a:extLst>
                  <a:ext uri="{0D108BD9-81ED-4DB2-BD59-A6C34878D82A}">
                    <a16:rowId xmlns:a16="http://schemas.microsoft.com/office/drawing/2014/main" val="10001"/>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g24937ead0e2_0_20"/>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chemeClr val="lt2"/>
                </a:solidFill>
                <a:latin typeface="Century Gothic"/>
                <a:ea typeface="Century Gothic"/>
                <a:cs typeface="Century Gothic"/>
                <a:sym typeface="Century Gothic"/>
              </a:rPr>
              <a:t>Model Performance Evaluation Decision Tree</a:t>
            </a:r>
            <a:endParaRPr>
              <a:solidFill>
                <a:schemeClr val="lt2"/>
              </a:solidFill>
              <a:latin typeface="Century Gothic"/>
              <a:ea typeface="Century Gothic"/>
              <a:cs typeface="Century Gothic"/>
              <a:sym typeface="Century Gothic"/>
            </a:endParaRPr>
          </a:p>
        </p:txBody>
      </p:sp>
      <p:sp>
        <p:nvSpPr>
          <p:cNvPr id="328" name="Google Shape;328;g24937ead0e2_0_20"/>
          <p:cNvSpPr txBox="1">
            <a:spLocks noGrp="1"/>
          </p:cNvSpPr>
          <p:nvPr>
            <p:ph type="body" idx="1"/>
          </p:nvPr>
        </p:nvSpPr>
        <p:spPr>
          <a:xfrm>
            <a:off x="202550" y="861975"/>
            <a:ext cx="8307900" cy="1064700"/>
          </a:xfrm>
          <a:prstGeom prst="rect">
            <a:avLst/>
          </a:prstGeom>
          <a:noFill/>
          <a:ln>
            <a:noFill/>
          </a:ln>
        </p:spPr>
        <p:txBody>
          <a:bodyPr spcFirstLastPara="1" wrap="square" lIns="91425" tIns="91425" rIns="91425" bIns="91425" anchor="t" anchorCtr="0">
            <a:noAutofit/>
          </a:bodyPr>
          <a:lstStyle/>
          <a:p>
            <a:pPr marL="457200" lvl="0" indent="-317500" algn="l" rtl="0">
              <a:spcBef>
                <a:spcPts val="100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To what extent and in what ways have the attribute weights influenced the overall performance of the model?</a:t>
            </a:r>
            <a:endParaRPr sz="140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0"/>
              </a:spcAft>
              <a:buSzPts val="1500"/>
              <a:buNone/>
            </a:pPr>
            <a:endParaRPr sz="140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1000"/>
              </a:spcAft>
              <a:buSzPts val="1500"/>
              <a:buNone/>
            </a:pPr>
            <a:endParaRPr sz="1400">
              <a:solidFill>
                <a:schemeClr val="dk1"/>
              </a:solidFill>
              <a:latin typeface="Century Gothic"/>
              <a:ea typeface="Century Gothic"/>
              <a:cs typeface="Century Gothic"/>
              <a:sym typeface="Century Gothic"/>
            </a:endParaRPr>
          </a:p>
        </p:txBody>
      </p:sp>
      <p:pic>
        <p:nvPicPr>
          <p:cNvPr id="329" name="Google Shape;329;g24937ead0e2_0_20"/>
          <p:cNvPicPr preferRelativeResize="0"/>
          <p:nvPr/>
        </p:nvPicPr>
        <p:blipFill rotWithShape="1">
          <a:blip r:embed="rId3">
            <a:alphaModFix/>
          </a:blip>
          <a:srcRect/>
          <a:stretch/>
        </p:blipFill>
        <p:spPr>
          <a:xfrm>
            <a:off x="1155777" y="1648300"/>
            <a:ext cx="5686749" cy="30886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g244d23124c0_1_181"/>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chemeClr val="lt2"/>
                </a:solidFill>
                <a:latin typeface="Century Gothic"/>
                <a:ea typeface="Century Gothic"/>
                <a:cs typeface="Century Gothic"/>
                <a:sym typeface="Century Gothic"/>
              </a:rPr>
              <a:t>Model Performance Evaluation Pruned Decision Tree</a:t>
            </a:r>
            <a:endParaRPr>
              <a:solidFill>
                <a:schemeClr val="lt2"/>
              </a:solidFill>
              <a:latin typeface="Century Gothic"/>
              <a:ea typeface="Century Gothic"/>
              <a:cs typeface="Century Gothic"/>
              <a:sym typeface="Century Gothic"/>
            </a:endParaRPr>
          </a:p>
        </p:txBody>
      </p:sp>
      <p:sp>
        <p:nvSpPr>
          <p:cNvPr id="335" name="Google Shape;335;g244d23124c0_1_181"/>
          <p:cNvSpPr txBox="1">
            <a:spLocks noGrp="1"/>
          </p:cNvSpPr>
          <p:nvPr>
            <p:ph type="body" idx="1"/>
          </p:nvPr>
        </p:nvSpPr>
        <p:spPr>
          <a:xfrm>
            <a:off x="202550" y="861975"/>
            <a:ext cx="8307900" cy="8526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Based on the evaluation metrics obtained from a pruned decision tree, do you perceive any notable enhancements in performance? What factors do you believe contributed to this improved performance compared to the previous version?</a:t>
            </a:r>
            <a:endParaRPr sz="140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0"/>
              </a:spcAft>
              <a:buSzPts val="1500"/>
              <a:buNone/>
            </a:pPr>
            <a:endParaRPr sz="140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1000"/>
              </a:spcAft>
              <a:buSzPts val="1500"/>
              <a:buNone/>
            </a:pPr>
            <a:endParaRPr sz="1400">
              <a:solidFill>
                <a:schemeClr val="dk1"/>
              </a:solidFill>
              <a:latin typeface="Century Gothic"/>
              <a:ea typeface="Century Gothic"/>
              <a:cs typeface="Century Gothic"/>
              <a:sym typeface="Century Gothic"/>
            </a:endParaRPr>
          </a:p>
        </p:txBody>
      </p:sp>
      <p:graphicFrame>
        <p:nvGraphicFramePr>
          <p:cNvPr id="336" name="Google Shape;336;g244d23124c0_1_181"/>
          <p:cNvGraphicFramePr/>
          <p:nvPr/>
        </p:nvGraphicFramePr>
        <p:xfrm>
          <a:off x="1375738" y="2103086"/>
          <a:ext cx="6392525" cy="1474250"/>
        </p:xfrm>
        <a:graphic>
          <a:graphicData uri="http://schemas.openxmlformats.org/drawingml/2006/table">
            <a:tbl>
              <a:tblPr firstRow="1" bandRow="1">
                <a:noFill/>
                <a:tableStyleId>{DC789D89-7B42-48A2-8941-39F5C445BB0A}</a:tableStyleId>
              </a:tblPr>
              <a:tblGrid>
                <a:gridCol w="1232750">
                  <a:extLst>
                    <a:ext uri="{9D8B030D-6E8A-4147-A177-3AD203B41FA5}">
                      <a16:colId xmlns:a16="http://schemas.microsoft.com/office/drawing/2014/main" val="20000"/>
                    </a:ext>
                  </a:extLst>
                </a:gridCol>
                <a:gridCol w="799025">
                  <a:extLst>
                    <a:ext uri="{9D8B030D-6E8A-4147-A177-3AD203B41FA5}">
                      <a16:colId xmlns:a16="http://schemas.microsoft.com/office/drawing/2014/main" val="20001"/>
                    </a:ext>
                  </a:extLst>
                </a:gridCol>
                <a:gridCol w="826250">
                  <a:extLst>
                    <a:ext uri="{9D8B030D-6E8A-4147-A177-3AD203B41FA5}">
                      <a16:colId xmlns:a16="http://schemas.microsoft.com/office/drawing/2014/main" val="20002"/>
                    </a:ext>
                  </a:extLst>
                </a:gridCol>
                <a:gridCol w="794825">
                  <a:extLst>
                    <a:ext uri="{9D8B030D-6E8A-4147-A177-3AD203B41FA5}">
                      <a16:colId xmlns:a16="http://schemas.microsoft.com/office/drawing/2014/main" val="20003"/>
                    </a:ext>
                  </a:extLst>
                </a:gridCol>
                <a:gridCol w="913225">
                  <a:extLst>
                    <a:ext uri="{9D8B030D-6E8A-4147-A177-3AD203B41FA5}">
                      <a16:colId xmlns:a16="http://schemas.microsoft.com/office/drawing/2014/main" val="20004"/>
                    </a:ext>
                  </a:extLst>
                </a:gridCol>
                <a:gridCol w="913225">
                  <a:extLst>
                    <a:ext uri="{9D8B030D-6E8A-4147-A177-3AD203B41FA5}">
                      <a16:colId xmlns:a16="http://schemas.microsoft.com/office/drawing/2014/main" val="20005"/>
                    </a:ext>
                  </a:extLst>
                </a:gridCol>
                <a:gridCol w="913225">
                  <a:extLst>
                    <a:ext uri="{9D8B030D-6E8A-4147-A177-3AD203B41FA5}">
                      <a16:colId xmlns:a16="http://schemas.microsoft.com/office/drawing/2014/main" val="20006"/>
                    </a:ext>
                  </a:extLst>
                </a:gridCol>
              </a:tblGrid>
              <a:tr h="340150">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
                            </a:ext>
                          </a:extLst>
                        </a:rPr>
                        <a:t>Model </a:t>
                      </a:r>
                      <a:endParaRPr sz="1000" u="none" strike="noStrike" cap="none">
                        <a:latin typeface="Century Gothic"/>
                        <a:ea typeface="Century Gothic"/>
                        <a:cs typeface="Century Gothic"/>
                        <a:sym typeface="Century Gothic"/>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Train Accuracy</a:t>
                      </a:r>
                      <a:endParaRPr sz="1000" u="none" strike="noStrike" cap="none">
                        <a:latin typeface="Century Gothic"/>
                        <a:ea typeface="Century Gothic"/>
                        <a:cs typeface="Century Gothic"/>
                        <a:sym typeface="Century Gothic"/>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Test Accuracy</a:t>
                      </a:r>
                      <a:endParaRPr sz="1000" u="none" strike="noStrike" cap="none">
                        <a:latin typeface="Century Gothic"/>
                        <a:ea typeface="Century Gothic"/>
                        <a:cs typeface="Century Gothic"/>
                        <a:sym typeface="Century Gothic"/>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Train Recall</a:t>
                      </a:r>
                      <a:endParaRPr sz="1000" u="none" strike="noStrike" cap="none">
                        <a:latin typeface="Century Gothic"/>
                        <a:ea typeface="Century Gothic"/>
                        <a:cs typeface="Century Gothic"/>
                        <a:sym typeface="Century Gothic"/>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Test Recall</a:t>
                      </a:r>
                      <a:endParaRPr sz="1000" u="none" strike="noStrike" cap="none">
                        <a:latin typeface="Century Gothic"/>
                        <a:ea typeface="Century Gothic"/>
                        <a:cs typeface="Century Gothic"/>
                        <a:sym typeface="Century Gothic"/>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Train Precision</a:t>
                      </a:r>
                      <a:endParaRPr sz="1000" u="none" strike="noStrike" cap="none">
                        <a:latin typeface="Century Gothic"/>
                        <a:ea typeface="Century Gothic"/>
                        <a:cs typeface="Century Gothic"/>
                        <a:sym typeface="Century Gothic"/>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Test Precision</a:t>
                      </a:r>
                      <a:endParaRPr sz="1000" u="none" strike="noStrike" cap="none">
                        <a:latin typeface="Century Gothic"/>
                        <a:ea typeface="Century Gothic"/>
                        <a:cs typeface="Century Gothic"/>
                        <a:sym typeface="Century Gothic"/>
                      </a:endParaRPr>
                    </a:p>
                  </a:txBody>
                  <a:tcPr marL="91450" marR="91450" marT="45725" marB="45725" anchor="ctr">
                    <a:solidFill>
                      <a:schemeClr val="lt2"/>
                    </a:solidFill>
                  </a:tcPr>
                </a:tc>
                <a:extLst>
                  <a:ext uri="{0D108BD9-81ED-4DB2-BD59-A6C34878D82A}">
                    <a16:rowId xmlns:a16="http://schemas.microsoft.com/office/drawing/2014/main" val="10000"/>
                  </a:ext>
                </a:extLst>
              </a:tr>
              <a:tr h="452075">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Decision Tree</a:t>
                      </a:r>
                      <a:endParaRPr sz="1000" u="none" strike="noStrike" cap="none">
                        <a:latin typeface="Century Gothic"/>
                        <a:ea typeface="Century Gothic"/>
                        <a:cs typeface="Century Gothic"/>
                        <a:sym typeface="Century Gothic"/>
                      </a:endParaRPr>
                    </a:p>
                  </a:txBody>
                  <a:tcPr marL="91450" marR="91450" marT="45725" marB="457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99.65</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83.20</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99.47</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76.77</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99.47</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73.23</a:t>
                      </a:r>
                      <a:endParaRPr sz="1000" u="none" strike="noStrike" cap="none">
                        <a:latin typeface="Century Gothic"/>
                        <a:ea typeface="Century Gothic"/>
                        <a:cs typeface="Century Gothic"/>
                        <a:sym typeface="Century Gothic"/>
                      </a:endParaRPr>
                    </a:p>
                  </a:txBody>
                  <a:tcPr marL="91425" marR="91425" marT="91425" marB="91425"/>
                </a:tc>
                <a:extLst>
                  <a:ext uri="{0D108BD9-81ED-4DB2-BD59-A6C34878D82A}">
                    <a16:rowId xmlns:a16="http://schemas.microsoft.com/office/drawing/2014/main" val="10001"/>
                  </a:ext>
                </a:extLst>
              </a:tr>
              <a:tr h="625925">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Decision Tree - Pruned</a:t>
                      </a:r>
                      <a:endParaRPr sz="1000" u="none" strike="noStrike" cap="none">
                        <a:latin typeface="Century Gothic"/>
                        <a:ea typeface="Century Gothic"/>
                        <a:cs typeface="Century Gothic"/>
                        <a:sym typeface="Century Gothic"/>
                      </a:endParaRPr>
                    </a:p>
                  </a:txBody>
                  <a:tcPr marL="91450" marR="91450" marT="45725" marB="457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95.64</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84.34</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90.77</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76.09</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95.69</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76.09</a:t>
                      </a:r>
                      <a:endParaRPr sz="1000" u="none" strike="noStrike" cap="none">
                        <a:latin typeface="Century Gothic"/>
                        <a:ea typeface="Century Gothic"/>
                        <a:cs typeface="Century Gothic"/>
                        <a:sym typeface="Century Gothic"/>
                      </a:endParaRPr>
                    </a:p>
                  </a:txBody>
                  <a:tcPr marL="91425" marR="91425" marT="91425" marB="91425"/>
                </a:tc>
                <a:extLst>
                  <a:ext uri="{0D108BD9-81ED-4DB2-BD59-A6C34878D82A}">
                    <a16:rowId xmlns:a16="http://schemas.microsoft.com/office/drawing/2014/main" val="10002"/>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g244d23124c0_1_16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chemeClr val="lt2"/>
                </a:solidFill>
                <a:latin typeface="Century Gothic"/>
                <a:ea typeface="Century Gothic"/>
                <a:cs typeface="Century Gothic"/>
                <a:sym typeface="Century Gothic"/>
              </a:rPr>
              <a:t>Model Performance Evaluation Random Forest</a:t>
            </a:r>
            <a:endParaRPr>
              <a:solidFill>
                <a:schemeClr val="lt2"/>
              </a:solidFill>
              <a:latin typeface="Century Gothic"/>
              <a:ea typeface="Century Gothic"/>
              <a:cs typeface="Century Gothic"/>
              <a:sym typeface="Century Gothic"/>
            </a:endParaRPr>
          </a:p>
        </p:txBody>
      </p:sp>
      <p:sp>
        <p:nvSpPr>
          <p:cNvPr id="342" name="Google Shape;342;g244d23124c0_1_167"/>
          <p:cNvSpPr txBox="1">
            <a:spLocks noGrp="1"/>
          </p:cNvSpPr>
          <p:nvPr>
            <p:ph type="body" idx="1"/>
          </p:nvPr>
        </p:nvSpPr>
        <p:spPr>
          <a:xfrm>
            <a:off x="202550" y="861975"/>
            <a:ext cx="8307900" cy="8526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While the Random Forest model demonstrates high accuracy and precision on both the training and test sets, it appears to have a noticeable drop in recall on the test set compared to the training set. What potential factors could contribute to this difference in recall, and how might it impact the model's overall performance and practical applications?</a:t>
            </a:r>
            <a:endParaRPr sz="140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0"/>
              </a:spcAft>
              <a:buSzPts val="1500"/>
              <a:buNone/>
            </a:pPr>
            <a:endParaRPr sz="140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1000"/>
              </a:spcAft>
              <a:buSzPts val="1500"/>
              <a:buNone/>
            </a:pPr>
            <a:endParaRPr sz="1400">
              <a:solidFill>
                <a:schemeClr val="dk1"/>
              </a:solidFill>
              <a:latin typeface="Century Gothic"/>
              <a:ea typeface="Century Gothic"/>
              <a:cs typeface="Century Gothic"/>
              <a:sym typeface="Century Gothic"/>
            </a:endParaRPr>
          </a:p>
        </p:txBody>
      </p:sp>
      <p:graphicFrame>
        <p:nvGraphicFramePr>
          <p:cNvPr id="343" name="Google Shape;343;g244d23124c0_1_167"/>
          <p:cNvGraphicFramePr/>
          <p:nvPr/>
        </p:nvGraphicFramePr>
        <p:xfrm>
          <a:off x="1160225" y="2444288"/>
          <a:ext cx="6392525" cy="848325"/>
        </p:xfrm>
        <a:graphic>
          <a:graphicData uri="http://schemas.openxmlformats.org/drawingml/2006/table">
            <a:tbl>
              <a:tblPr firstRow="1" bandRow="1">
                <a:noFill/>
                <a:tableStyleId>{DC789D89-7B42-48A2-8941-39F5C445BB0A}</a:tableStyleId>
              </a:tblPr>
              <a:tblGrid>
                <a:gridCol w="1232750">
                  <a:extLst>
                    <a:ext uri="{9D8B030D-6E8A-4147-A177-3AD203B41FA5}">
                      <a16:colId xmlns:a16="http://schemas.microsoft.com/office/drawing/2014/main" val="20000"/>
                    </a:ext>
                  </a:extLst>
                </a:gridCol>
                <a:gridCol w="799025">
                  <a:extLst>
                    <a:ext uri="{9D8B030D-6E8A-4147-A177-3AD203B41FA5}">
                      <a16:colId xmlns:a16="http://schemas.microsoft.com/office/drawing/2014/main" val="20001"/>
                    </a:ext>
                  </a:extLst>
                </a:gridCol>
                <a:gridCol w="826250">
                  <a:extLst>
                    <a:ext uri="{9D8B030D-6E8A-4147-A177-3AD203B41FA5}">
                      <a16:colId xmlns:a16="http://schemas.microsoft.com/office/drawing/2014/main" val="20002"/>
                    </a:ext>
                  </a:extLst>
                </a:gridCol>
                <a:gridCol w="794825">
                  <a:extLst>
                    <a:ext uri="{9D8B030D-6E8A-4147-A177-3AD203B41FA5}">
                      <a16:colId xmlns:a16="http://schemas.microsoft.com/office/drawing/2014/main" val="20003"/>
                    </a:ext>
                  </a:extLst>
                </a:gridCol>
                <a:gridCol w="913225">
                  <a:extLst>
                    <a:ext uri="{9D8B030D-6E8A-4147-A177-3AD203B41FA5}">
                      <a16:colId xmlns:a16="http://schemas.microsoft.com/office/drawing/2014/main" val="20004"/>
                    </a:ext>
                  </a:extLst>
                </a:gridCol>
                <a:gridCol w="913225">
                  <a:extLst>
                    <a:ext uri="{9D8B030D-6E8A-4147-A177-3AD203B41FA5}">
                      <a16:colId xmlns:a16="http://schemas.microsoft.com/office/drawing/2014/main" val="20005"/>
                    </a:ext>
                  </a:extLst>
                </a:gridCol>
                <a:gridCol w="913225">
                  <a:extLst>
                    <a:ext uri="{9D8B030D-6E8A-4147-A177-3AD203B41FA5}">
                      <a16:colId xmlns:a16="http://schemas.microsoft.com/office/drawing/2014/main" val="20006"/>
                    </a:ext>
                  </a:extLst>
                </a:gridCol>
              </a:tblGrid>
              <a:tr h="340150">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Model</a:t>
                      </a:r>
                      <a:endParaRPr sz="1000" u="none" strike="noStrike" cap="none">
                        <a:latin typeface="Century Gothic"/>
                        <a:ea typeface="Century Gothic"/>
                        <a:cs typeface="Century Gothic"/>
                        <a:sym typeface="Century Gothic"/>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Train Accuracy</a:t>
                      </a:r>
                      <a:endParaRPr sz="1000" u="none" strike="noStrike" cap="none">
                        <a:latin typeface="Century Gothic"/>
                        <a:ea typeface="Century Gothic"/>
                        <a:cs typeface="Century Gothic"/>
                        <a:sym typeface="Century Gothic"/>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Test Accuracy</a:t>
                      </a:r>
                      <a:endParaRPr sz="1000" u="none" strike="noStrike" cap="none">
                        <a:latin typeface="Century Gothic"/>
                        <a:ea typeface="Century Gothic"/>
                        <a:cs typeface="Century Gothic"/>
                        <a:sym typeface="Century Gothic"/>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Train Recall</a:t>
                      </a:r>
                      <a:endParaRPr sz="1000" u="none" strike="noStrike" cap="none">
                        <a:latin typeface="Century Gothic"/>
                        <a:ea typeface="Century Gothic"/>
                        <a:cs typeface="Century Gothic"/>
                        <a:sym typeface="Century Gothic"/>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Test Recall</a:t>
                      </a:r>
                      <a:endParaRPr sz="1000" u="none" strike="noStrike" cap="none">
                        <a:latin typeface="Century Gothic"/>
                        <a:ea typeface="Century Gothic"/>
                        <a:cs typeface="Century Gothic"/>
                        <a:sym typeface="Century Gothic"/>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Train Precision</a:t>
                      </a:r>
                      <a:endParaRPr sz="1000" u="none" strike="noStrike" cap="none">
                        <a:latin typeface="Century Gothic"/>
                        <a:ea typeface="Century Gothic"/>
                        <a:cs typeface="Century Gothic"/>
                        <a:sym typeface="Century Gothic"/>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Test Precision</a:t>
                      </a:r>
                      <a:endParaRPr sz="1000" u="none" strike="noStrike" cap="none">
                        <a:latin typeface="Century Gothic"/>
                        <a:ea typeface="Century Gothic"/>
                        <a:cs typeface="Century Gothic"/>
                        <a:sym typeface="Century Gothic"/>
                      </a:endParaRPr>
                    </a:p>
                  </a:txBody>
                  <a:tcPr marL="91450" marR="91450" marT="45725" marB="45725" anchor="ctr">
                    <a:solidFill>
                      <a:schemeClr val="lt2"/>
                    </a:solidFill>
                  </a:tcPr>
                </a:tc>
                <a:extLst>
                  <a:ext uri="{0D108BD9-81ED-4DB2-BD59-A6C34878D82A}">
                    <a16:rowId xmlns:a16="http://schemas.microsoft.com/office/drawing/2014/main" val="10000"/>
                  </a:ext>
                </a:extLst>
              </a:tr>
              <a:tr h="452075">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Random Forest</a:t>
                      </a:r>
                      <a:endParaRPr sz="1000" u="none" strike="noStrike" cap="none">
                        <a:latin typeface="Century Gothic"/>
                        <a:ea typeface="Century Gothic"/>
                        <a:cs typeface="Century Gothic"/>
                        <a:sym typeface="Century Gothic"/>
                      </a:endParaRPr>
                    </a:p>
                  </a:txBody>
                  <a:tcPr marL="91450" marR="91450" marT="45725" marB="45725" anchor="ctr">
                    <a:lnB w="1270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98.47</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87.94</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96.44</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77.10</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98.87</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84.71</a:t>
                      </a:r>
                      <a:endParaRPr sz="1000" u="none" strike="noStrike" cap="none">
                        <a:latin typeface="Century Gothic"/>
                        <a:ea typeface="Century Gothic"/>
                        <a:cs typeface="Century Gothic"/>
                        <a:sym typeface="Century Gothic"/>
                      </a:endParaRPr>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g24937ead0e2_0_30"/>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chemeClr val="lt2"/>
                </a:solidFill>
                <a:latin typeface="Century Gothic"/>
                <a:ea typeface="Century Gothic"/>
                <a:cs typeface="Century Gothic"/>
                <a:sym typeface="Century Gothic"/>
              </a:rPr>
              <a:t>Model Performance Evaluation Random Forest</a:t>
            </a:r>
            <a:endParaRPr>
              <a:solidFill>
                <a:schemeClr val="lt2"/>
              </a:solidFill>
              <a:latin typeface="Century Gothic"/>
              <a:ea typeface="Century Gothic"/>
              <a:cs typeface="Century Gothic"/>
              <a:sym typeface="Century Gothic"/>
            </a:endParaRPr>
          </a:p>
        </p:txBody>
      </p:sp>
      <p:sp>
        <p:nvSpPr>
          <p:cNvPr id="349" name="Google Shape;349;g24937ead0e2_0_30"/>
          <p:cNvSpPr txBox="1">
            <a:spLocks noGrp="1"/>
          </p:cNvSpPr>
          <p:nvPr>
            <p:ph type="body" idx="1"/>
          </p:nvPr>
        </p:nvSpPr>
        <p:spPr>
          <a:xfrm>
            <a:off x="202550" y="861975"/>
            <a:ext cx="8307900" cy="8526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To what extent and in what ways have the attribute weights influenced the overall performance of the model?</a:t>
            </a:r>
            <a:endParaRPr sz="140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0"/>
              </a:spcAft>
              <a:buSzPts val="1500"/>
              <a:buNone/>
            </a:pPr>
            <a:endParaRPr sz="140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1000"/>
              </a:spcAft>
              <a:buSzPts val="1500"/>
              <a:buNone/>
            </a:pPr>
            <a:endParaRPr sz="1400">
              <a:solidFill>
                <a:schemeClr val="dk1"/>
              </a:solidFill>
              <a:latin typeface="Century Gothic"/>
              <a:ea typeface="Century Gothic"/>
              <a:cs typeface="Century Gothic"/>
              <a:sym typeface="Century Gothic"/>
            </a:endParaRPr>
          </a:p>
        </p:txBody>
      </p:sp>
      <p:pic>
        <p:nvPicPr>
          <p:cNvPr id="350" name="Google Shape;350;g24937ead0e2_0_30"/>
          <p:cNvPicPr preferRelativeResize="0"/>
          <p:nvPr/>
        </p:nvPicPr>
        <p:blipFill rotWithShape="1">
          <a:blip r:embed="rId3">
            <a:alphaModFix/>
          </a:blip>
          <a:srcRect/>
          <a:stretch/>
        </p:blipFill>
        <p:spPr>
          <a:xfrm>
            <a:off x="1495951" y="1442750"/>
            <a:ext cx="5463675" cy="335972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g244d23124c0_1_174"/>
          <p:cNvSpPr txBox="1">
            <a:spLocks noGrp="1"/>
          </p:cNvSpPr>
          <p:nvPr>
            <p:ph type="title"/>
          </p:nvPr>
        </p:nvSpPr>
        <p:spPr>
          <a:xfrm>
            <a:off x="202550" y="1368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chemeClr val="lt2"/>
                </a:solidFill>
                <a:latin typeface="Century Gothic"/>
                <a:ea typeface="Century Gothic"/>
                <a:cs typeface="Century Gothic"/>
                <a:sym typeface="Century Gothic"/>
              </a:rPr>
              <a:t>Model Performance Evaluation Pruned Random Forest</a:t>
            </a:r>
            <a:endParaRPr>
              <a:solidFill>
                <a:schemeClr val="lt2"/>
              </a:solidFill>
              <a:latin typeface="Century Gothic"/>
              <a:ea typeface="Century Gothic"/>
              <a:cs typeface="Century Gothic"/>
              <a:sym typeface="Century Gothic"/>
            </a:endParaRPr>
          </a:p>
        </p:txBody>
      </p:sp>
      <p:sp>
        <p:nvSpPr>
          <p:cNvPr id="356" name="Google Shape;356;g244d23124c0_1_174"/>
          <p:cNvSpPr txBox="1">
            <a:spLocks noGrp="1"/>
          </p:cNvSpPr>
          <p:nvPr>
            <p:ph type="body" idx="1"/>
          </p:nvPr>
        </p:nvSpPr>
        <p:spPr>
          <a:xfrm>
            <a:off x="202550" y="709575"/>
            <a:ext cx="8307900" cy="852600"/>
          </a:xfrm>
          <a:prstGeom prst="rect">
            <a:avLst/>
          </a:prstGeom>
          <a:noFill/>
          <a:ln>
            <a:noFill/>
          </a:ln>
        </p:spPr>
        <p:txBody>
          <a:bodyPr spcFirstLastPara="1" wrap="square" lIns="91425" tIns="91425" rIns="91425" bIns="91425" anchor="t" anchorCtr="0">
            <a:noAutofit/>
          </a:bodyPr>
          <a:lstStyle/>
          <a:p>
            <a:pPr marL="457200" lvl="0" indent="-317500" algn="l" rtl="0">
              <a:spcBef>
                <a:spcPts val="100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Based on the evaluation metrics obtained from a pruned Random Forest, do you perceive any notable enhancements in performance? What factors do you believe contributed to this improved performance compared to the previous version?</a:t>
            </a:r>
            <a:endParaRPr sz="140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1000"/>
              </a:spcAft>
              <a:buSzPts val="1500"/>
              <a:buNone/>
            </a:pPr>
            <a:endParaRPr sz="1400">
              <a:solidFill>
                <a:schemeClr val="dk1"/>
              </a:solidFill>
              <a:latin typeface="Century Gothic"/>
              <a:ea typeface="Century Gothic"/>
              <a:cs typeface="Century Gothic"/>
              <a:sym typeface="Century Gothic"/>
            </a:endParaRPr>
          </a:p>
        </p:txBody>
      </p:sp>
      <p:graphicFrame>
        <p:nvGraphicFramePr>
          <p:cNvPr id="357" name="Google Shape;357;g244d23124c0_1_174"/>
          <p:cNvGraphicFramePr/>
          <p:nvPr/>
        </p:nvGraphicFramePr>
        <p:xfrm>
          <a:off x="1375738" y="2103086"/>
          <a:ext cx="6392525" cy="1474250"/>
        </p:xfrm>
        <a:graphic>
          <a:graphicData uri="http://schemas.openxmlformats.org/drawingml/2006/table">
            <a:tbl>
              <a:tblPr firstRow="1" bandRow="1">
                <a:noFill/>
                <a:tableStyleId>{DC789D89-7B42-48A2-8941-39F5C445BB0A}</a:tableStyleId>
              </a:tblPr>
              <a:tblGrid>
                <a:gridCol w="1232750">
                  <a:extLst>
                    <a:ext uri="{9D8B030D-6E8A-4147-A177-3AD203B41FA5}">
                      <a16:colId xmlns:a16="http://schemas.microsoft.com/office/drawing/2014/main" val="20000"/>
                    </a:ext>
                  </a:extLst>
                </a:gridCol>
                <a:gridCol w="799025">
                  <a:extLst>
                    <a:ext uri="{9D8B030D-6E8A-4147-A177-3AD203B41FA5}">
                      <a16:colId xmlns:a16="http://schemas.microsoft.com/office/drawing/2014/main" val="20001"/>
                    </a:ext>
                  </a:extLst>
                </a:gridCol>
                <a:gridCol w="826250">
                  <a:extLst>
                    <a:ext uri="{9D8B030D-6E8A-4147-A177-3AD203B41FA5}">
                      <a16:colId xmlns:a16="http://schemas.microsoft.com/office/drawing/2014/main" val="20002"/>
                    </a:ext>
                  </a:extLst>
                </a:gridCol>
                <a:gridCol w="794825">
                  <a:extLst>
                    <a:ext uri="{9D8B030D-6E8A-4147-A177-3AD203B41FA5}">
                      <a16:colId xmlns:a16="http://schemas.microsoft.com/office/drawing/2014/main" val="20003"/>
                    </a:ext>
                  </a:extLst>
                </a:gridCol>
                <a:gridCol w="913225">
                  <a:extLst>
                    <a:ext uri="{9D8B030D-6E8A-4147-A177-3AD203B41FA5}">
                      <a16:colId xmlns:a16="http://schemas.microsoft.com/office/drawing/2014/main" val="20004"/>
                    </a:ext>
                  </a:extLst>
                </a:gridCol>
                <a:gridCol w="913225">
                  <a:extLst>
                    <a:ext uri="{9D8B030D-6E8A-4147-A177-3AD203B41FA5}">
                      <a16:colId xmlns:a16="http://schemas.microsoft.com/office/drawing/2014/main" val="20005"/>
                    </a:ext>
                  </a:extLst>
                </a:gridCol>
                <a:gridCol w="913225">
                  <a:extLst>
                    <a:ext uri="{9D8B030D-6E8A-4147-A177-3AD203B41FA5}">
                      <a16:colId xmlns:a16="http://schemas.microsoft.com/office/drawing/2014/main" val="20006"/>
                    </a:ext>
                  </a:extLst>
                </a:gridCol>
              </a:tblGrid>
              <a:tr h="340150">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
                            </a:ext>
                          </a:extLst>
                        </a:rPr>
                        <a:t>Model </a:t>
                      </a:r>
                      <a:endParaRPr sz="1000" u="none" strike="noStrike" cap="none">
                        <a:latin typeface="Century Gothic"/>
                        <a:ea typeface="Century Gothic"/>
                        <a:cs typeface="Century Gothic"/>
                        <a:sym typeface="Century Gothic"/>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Train Accuracy</a:t>
                      </a:r>
                      <a:endParaRPr sz="1000" u="none" strike="noStrike" cap="none">
                        <a:latin typeface="Century Gothic"/>
                        <a:ea typeface="Century Gothic"/>
                        <a:cs typeface="Century Gothic"/>
                        <a:sym typeface="Century Gothic"/>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Test Accuracy</a:t>
                      </a:r>
                      <a:endParaRPr sz="1000" u="none" strike="noStrike" cap="none">
                        <a:latin typeface="Century Gothic"/>
                        <a:ea typeface="Century Gothic"/>
                        <a:cs typeface="Century Gothic"/>
                        <a:sym typeface="Century Gothic"/>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Train Recall</a:t>
                      </a:r>
                      <a:endParaRPr sz="1000" u="none" strike="noStrike" cap="none">
                        <a:latin typeface="Century Gothic"/>
                        <a:ea typeface="Century Gothic"/>
                        <a:cs typeface="Century Gothic"/>
                        <a:sym typeface="Century Gothic"/>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Test Recall</a:t>
                      </a:r>
                      <a:endParaRPr sz="1000" u="none" strike="noStrike" cap="none">
                        <a:latin typeface="Century Gothic"/>
                        <a:ea typeface="Century Gothic"/>
                        <a:cs typeface="Century Gothic"/>
                        <a:sym typeface="Century Gothic"/>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Train Precision</a:t>
                      </a:r>
                      <a:endParaRPr sz="1000" u="none" strike="noStrike" cap="none">
                        <a:latin typeface="Century Gothic"/>
                        <a:ea typeface="Century Gothic"/>
                        <a:cs typeface="Century Gothic"/>
                        <a:sym typeface="Century Gothic"/>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Test Precision</a:t>
                      </a:r>
                      <a:endParaRPr sz="1000" u="none" strike="noStrike" cap="none">
                        <a:latin typeface="Century Gothic"/>
                        <a:ea typeface="Century Gothic"/>
                        <a:cs typeface="Century Gothic"/>
                        <a:sym typeface="Century Gothic"/>
                      </a:endParaRPr>
                    </a:p>
                  </a:txBody>
                  <a:tcPr marL="91450" marR="91450" marT="45725" marB="45725" anchor="ctr">
                    <a:solidFill>
                      <a:schemeClr val="lt2"/>
                    </a:solidFill>
                  </a:tcPr>
                </a:tc>
                <a:extLst>
                  <a:ext uri="{0D108BD9-81ED-4DB2-BD59-A6C34878D82A}">
                    <a16:rowId xmlns:a16="http://schemas.microsoft.com/office/drawing/2014/main" val="10000"/>
                  </a:ext>
                </a:extLst>
              </a:tr>
              <a:tr h="452075">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Random Forest</a:t>
                      </a:r>
                      <a:endParaRPr sz="1000" u="none" strike="noStrike" cap="none">
                        <a:latin typeface="Century Gothic"/>
                        <a:ea typeface="Century Gothic"/>
                        <a:cs typeface="Century Gothic"/>
                        <a:sym typeface="Century Gothic"/>
                      </a:endParaRPr>
                    </a:p>
                  </a:txBody>
                  <a:tcPr marL="91450" marR="91450" marT="45725" marB="45725" anchor="ctr">
                    <a:lnB w="1270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98.47</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87.94</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96.44</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77.10</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98.87</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84.71</a:t>
                      </a:r>
                      <a:endParaRPr sz="1000" u="none" strike="noStrike" cap="none">
                        <a:latin typeface="Century Gothic"/>
                        <a:ea typeface="Century Gothic"/>
                        <a:cs typeface="Century Gothic"/>
                        <a:sym typeface="Century Gothic"/>
                      </a:endParaRPr>
                    </a:p>
                  </a:txBody>
                  <a:tcPr marL="91425" marR="91425" marT="91425" marB="91425"/>
                </a:tc>
                <a:extLst>
                  <a:ext uri="{0D108BD9-81ED-4DB2-BD59-A6C34878D82A}">
                    <a16:rowId xmlns:a16="http://schemas.microsoft.com/office/drawing/2014/main" val="10001"/>
                  </a:ext>
                </a:extLst>
              </a:tr>
              <a:tr h="625925">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Random Forest - Pruned</a:t>
                      </a:r>
                      <a:endParaRPr sz="1000" u="none" strike="noStrike" cap="none">
                        <a:latin typeface="Century Gothic"/>
                        <a:ea typeface="Century Gothic"/>
                        <a:cs typeface="Century Gothic"/>
                        <a:sym typeface="Century Gothic"/>
                      </a:endParaRPr>
                    </a:p>
                  </a:txBody>
                  <a:tcPr marL="91450" marR="91450" marT="45725" marB="45725" anchor="ctr">
                    <a:lnL w="12700" cap="flat" cmpd="sng">
                      <a:solidFill>
                        <a:schemeClr val="lt1"/>
                      </a:solidFill>
                      <a:prstDash val="solid"/>
                      <a:round/>
                      <a:headEnd type="none" w="sm" len="sm"/>
                      <a:tailEnd type="none" w="sm" len="sm"/>
                    </a:lnL>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EFEFEF"/>
                    </a:solidFill>
                  </a:tcPr>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87.32</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85.04</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69.86</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66.22</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89.09</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84.77</a:t>
                      </a:r>
                      <a:endParaRPr sz="1000" u="none" strike="noStrike" cap="none">
                        <a:latin typeface="Century Gothic"/>
                        <a:ea typeface="Century Gothic"/>
                        <a:cs typeface="Century Gothic"/>
                        <a:sym typeface="Century Gothic"/>
                      </a:endParaRPr>
                    </a:p>
                  </a:txBody>
                  <a:tcPr marL="91425" marR="91425" marT="91425" marB="91425"/>
                </a:tc>
                <a:extLst>
                  <a:ext uri="{0D108BD9-81ED-4DB2-BD59-A6C34878D82A}">
                    <a16:rowId xmlns:a16="http://schemas.microsoft.com/office/drawing/2014/main" val="10002"/>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g24937ead0e2_0_38"/>
          <p:cNvSpPr txBox="1">
            <a:spLocks noGrp="1"/>
          </p:cNvSpPr>
          <p:nvPr>
            <p:ph type="title"/>
          </p:nvPr>
        </p:nvSpPr>
        <p:spPr>
          <a:xfrm>
            <a:off x="202550" y="1368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chemeClr val="lt2"/>
                </a:solidFill>
                <a:latin typeface="Century Gothic"/>
                <a:ea typeface="Century Gothic"/>
                <a:cs typeface="Century Gothic"/>
                <a:sym typeface="Century Gothic"/>
              </a:rPr>
              <a:t>Model Performance Evaluation Pruned Random Forest</a:t>
            </a:r>
            <a:endParaRPr>
              <a:solidFill>
                <a:schemeClr val="lt2"/>
              </a:solidFill>
              <a:latin typeface="Century Gothic"/>
              <a:ea typeface="Century Gothic"/>
              <a:cs typeface="Century Gothic"/>
              <a:sym typeface="Century Gothic"/>
            </a:endParaRPr>
          </a:p>
        </p:txBody>
      </p:sp>
      <p:sp>
        <p:nvSpPr>
          <p:cNvPr id="363" name="Google Shape;363;g24937ead0e2_0_38"/>
          <p:cNvSpPr txBox="1">
            <a:spLocks noGrp="1"/>
          </p:cNvSpPr>
          <p:nvPr>
            <p:ph type="body" idx="1"/>
          </p:nvPr>
        </p:nvSpPr>
        <p:spPr>
          <a:xfrm>
            <a:off x="202550" y="709575"/>
            <a:ext cx="8307900" cy="852600"/>
          </a:xfrm>
          <a:prstGeom prst="rect">
            <a:avLst/>
          </a:prstGeom>
          <a:noFill/>
          <a:ln>
            <a:noFill/>
          </a:ln>
        </p:spPr>
        <p:txBody>
          <a:bodyPr spcFirstLastPara="1" wrap="square" lIns="91425" tIns="91425" rIns="91425" bIns="91425" anchor="t" anchorCtr="0">
            <a:noAutofit/>
          </a:bodyPr>
          <a:lstStyle/>
          <a:p>
            <a:pPr marL="457200" lvl="0" indent="-317500" algn="l" rtl="0">
              <a:spcBef>
                <a:spcPts val="100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To what extent and in what ways have the attribute weights influenced the overall performance of the model?</a:t>
            </a:r>
            <a:endParaRPr sz="140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1000"/>
              </a:spcAft>
              <a:buSzPts val="1500"/>
              <a:buNone/>
            </a:pPr>
            <a:endParaRPr sz="1400">
              <a:solidFill>
                <a:schemeClr val="dk1"/>
              </a:solidFill>
              <a:latin typeface="Century Gothic"/>
              <a:ea typeface="Century Gothic"/>
              <a:cs typeface="Century Gothic"/>
              <a:sym typeface="Century Gothic"/>
            </a:endParaRPr>
          </a:p>
        </p:txBody>
      </p:sp>
      <p:pic>
        <p:nvPicPr>
          <p:cNvPr id="364" name="Google Shape;364;g24937ead0e2_0_38"/>
          <p:cNvPicPr preferRelativeResize="0"/>
          <p:nvPr/>
        </p:nvPicPr>
        <p:blipFill rotWithShape="1">
          <a:blip r:embed="rId3">
            <a:alphaModFix/>
          </a:blip>
          <a:srcRect/>
          <a:stretch/>
        </p:blipFill>
        <p:spPr>
          <a:xfrm>
            <a:off x="1636038" y="1747675"/>
            <a:ext cx="5440913" cy="312191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g15886a1dc9e_0_403"/>
          <p:cNvSpPr txBox="1">
            <a:spLocks noGrp="1"/>
          </p:cNvSpPr>
          <p:nvPr>
            <p:ph type="body" idx="1"/>
          </p:nvPr>
        </p:nvSpPr>
        <p:spPr>
          <a:xfrm>
            <a:off x="202550" y="861975"/>
            <a:ext cx="8629800" cy="12411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SzPts val="1400"/>
              <a:buFont typeface="Century Gothic"/>
              <a:buChar char="●"/>
            </a:pPr>
            <a:r>
              <a:rPr lang="en" sz="1400">
                <a:latin typeface="Century Gothic"/>
                <a:ea typeface="Century Gothic"/>
                <a:cs typeface="Century Gothic"/>
                <a:sym typeface="Century Gothic"/>
              </a:rPr>
              <a:t>Description of the ML model that best fits the business objective. Also state which evaluation metric (such as accuracy, recall or precision) is important to achieve the business objective and why?</a:t>
            </a:r>
            <a:endParaRPr sz="1400">
              <a:latin typeface="Century Gothic"/>
              <a:ea typeface="Century Gothic"/>
              <a:cs typeface="Century Gothic"/>
              <a:sym typeface="Century Gothic"/>
            </a:endParaRPr>
          </a:p>
          <a:p>
            <a:pPr marL="457200" lvl="0" indent="-317500" algn="l" rtl="0">
              <a:lnSpc>
                <a:spcPct val="115000"/>
              </a:lnSpc>
              <a:spcBef>
                <a:spcPts val="1000"/>
              </a:spcBef>
              <a:spcAft>
                <a:spcPts val="0"/>
              </a:spcAft>
              <a:buSzPts val="1400"/>
              <a:buFont typeface="Century Gothic"/>
              <a:buChar char="●"/>
            </a:pPr>
            <a:r>
              <a:rPr lang="en" sz="1400">
                <a:latin typeface="Century Gothic"/>
                <a:ea typeface="Century Gothic"/>
                <a:cs typeface="Century Gothic"/>
                <a:sym typeface="Century Gothic"/>
              </a:rPr>
              <a:t>Synopsis of the key features employed by the ML model to make predictions.</a:t>
            </a:r>
            <a:endParaRPr sz="1400">
              <a:latin typeface="Century Gothic"/>
              <a:ea typeface="Century Gothic"/>
              <a:cs typeface="Century Gothic"/>
              <a:sym typeface="Century Gothic"/>
            </a:endParaRPr>
          </a:p>
          <a:p>
            <a:pPr marL="457200" lvl="0" indent="-317500" algn="l" rtl="0">
              <a:lnSpc>
                <a:spcPct val="115000"/>
              </a:lnSpc>
              <a:spcBef>
                <a:spcPts val="1000"/>
              </a:spcBef>
              <a:spcAft>
                <a:spcPts val="0"/>
              </a:spcAft>
              <a:buSzPts val="1400"/>
              <a:buFont typeface="Century Gothic"/>
              <a:buChar char="●"/>
            </a:pPr>
            <a:r>
              <a:rPr lang="en" sz="1400">
                <a:latin typeface="Century Gothic"/>
                <a:ea typeface="Century Gothic"/>
                <a:cs typeface="Century Gothic"/>
                <a:sym typeface="Century Gothic"/>
              </a:rPr>
              <a:t>Offer suggestions and advice for the hotel based on the gathered insights.</a:t>
            </a:r>
            <a:endParaRPr sz="1400">
              <a:latin typeface="Century Gothic"/>
              <a:ea typeface="Century Gothic"/>
              <a:cs typeface="Century Gothic"/>
              <a:sym typeface="Century Gothic"/>
            </a:endParaRPr>
          </a:p>
        </p:txBody>
      </p:sp>
      <p:graphicFrame>
        <p:nvGraphicFramePr>
          <p:cNvPr id="370" name="Google Shape;370;g15886a1dc9e_0_403"/>
          <p:cNvGraphicFramePr/>
          <p:nvPr/>
        </p:nvGraphicFramePr>
        <p:xfrm>
          <a:off x="1165188" y="2571711"/>
          <a:ext cx="6120825" cy="2340700"/>
        </p:xfrm>
        <a:graphic>
          <a:graphicData uri="http://schemas.openxmlformats.org/drawingml/2006/table">
            <a:tbl>
              <a:tblPr firstRow="1" bandRow="1">
                <a:noFill/>
                <a:tableStyleId>{DC789D89-7B42-48A2-8941-39F5C445BB0A}</a:tableStyleId>
              </a:tblPr>
              <a:tblGrid>
                <a:gridCol w="1180375">
                  <a:extLst>
                    <a:ext uri="{9D8B030D-6E8A-4147-A177-3AD203B41FA5}">
                      <a16:colId xmlns:a16="http://schemas.microsoft.com/office/drawing/2014/main" val="20000"/>
                    </a:ext>
                  </a:extLst>
                </a:gridCol>
                <a:gridCol w="765075">
                  <a:extLst>
                    <a:ext uri="{9D8B030D-6E8A-4147-A177-3AD203B41FA5}">
                      <a16:colId xmlns:a16="http://schemas.microsoft.com/office/drawing/2014/main" val="20001"/>
                    </a:ext>
                  </a:extLst>
                </a:gridCol>
                <a:gridCol w="791125">
                  <a:extLst>
                    <a:ext uri="{9D8B030D-6E8A-4147-A177-3AD203B41FA5}">
                      <a16:colId xmlns:a16="http://schemas.microsoft.com/office/drawing/2014/main" val="20002"/>
                    </a:ext>
                  </a:extLst>
                </a:gridCol>
                <a:gridCol w="761050">
                  <a:extLst>
                    <a:ext uri="{9D8B030D-6E8A-4147-A177-3AD203B41FA5}">
                      <a16:colId xmlns:a16="http://schemas.microsoft.com/office/drawing/2014/main" val="20003"/>
                    </a:ext>
                  </a:extLst>
                </a:gridCol>
                <a:gridCol w="874400">
                  <a:extLst>
                    <a:ext uri="{9D8B030D-6E8A-4147-A177-3AD203B41FA5}">
                      <a16:colId xmlns:a16="http://schemas.microsoft.com/office/drawing/2014/main" val="20004"/>
                    </a:ext>
                  </a:extLst>
                </a:gridCol>
                <a:gridCol w="874400">
                  <a:extLst>
                    <a:ext uri="{9D8B030D-6E8A-4147-A177-3AD203B41FA5}">
                      <a16:colId xmlns:a16="http://schemas.microsoft.com/office/drawing/2014/main" val="20005"/>
                    </a:ext>
                  </a:extLst>
                </a:gridCol>
                <a:gridCol w="874400">
                  <a:extLst>
                    <a:ext uri="{9D8B030D-6E8A-4147-A177-3AD203B41FA5}">
                      <a16:colId xmlns:a16="http://schemas.microsoft.com/office/drawing/2014/main" val="20006"/>
                    </a:ext>
                  </a:extLst>
                </a:gridCol>
              </a:tblGrid>
              <a:tr h="538100">
                <a:tc>
                  <a:txBody>
                    <a:bodyPr/>
                    <a:lstStyle/>
                    <a:p>
                      <a:pPr marL="0" marR="0" lvl="0" indent="0" algn="ctr" rtl="0">
                        <a:lnSpc>
                          <a:spcPct val="100000"/>
                        </a:lnSpc>
                        <a:spcBef>
                          <a:spcPts val="0"/>
                        </a:spcBef>
                        <a:spcAft>
                          <a:spcPts val="0"/>
                        </a:spcAft>
                        <a:buClr>
                          <a:srgbClr val="000000"/>
                        </a:buClr>
                        <a:buSzPts val="1200"/>
                        <a:buFont typeface="Arial"/>
                        <a:buNone/>
                      </a:pPr>
                      <a:r>
                        <a:rPr lang="en" sz="900" u="none" strike="noStrike" cap="none">
                          <a:latin typeface="Century Gothic"/>
                          <a:ea typeface="Century Gothic"/>
                          <a:cs typeface="Century Gothic"/>
                          <a:sym typeface="Century Gothic"/>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
                            </a:ext>
                          </a:extLst>
                        </a:rPr>
                        <a:t>Model </a:t>
                      </a:r>
                      <a:endParaRPr sz="900" u="none" strike="noStrike" cap="none">
                        <a:latin typeface="Century Gothic"/>
                        <a:ea typeface="Century Gothic"/>
                        <a:cs typeface="Century Gothic"/>
                        <a:sym typeface="Century Gothic"/>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900" u="none" strike="noStrike" cap="none">
                          <a:latin typeface="Century Gothic"/>
                          <a:ea typeface="Century Gothic"/>
                          <a:cs typeface="Century Gothic"/>
                          <a:sym typeface="Century Gothic"/>
                        </a:rPr>
                        <a:t>Train Accuracy</a:t>
                      </a:r>
                      <a:endParaRPr sz="900" u="none" strike="noStrike" cap="none">
                        <a:latin typeface="Century Gothic"/>
                        <a:ea typeface="Century Gothic"/>
                        <a:cs typeface="Century Gothic"/>
                        <a:sym typeface="Century Gothic"/>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900" u="none" strike="noStrike" cap="none">
                          <a:latin typeface="Century Gothic"/>
                          <a:ea typeface="Century Gothic"/>
                          <a:cs typeface="Century Gothic"/>
                          <a:sym typeface="Century Gothic"/>
                        </a:rPr>
                        <a:t>Test Accuracy</a:t>
                      </a:r>
                      <a:endParaRPr sz="900" u="none" strike="noStrike" cap="none">
                        <a:latin typeface="Century Gothic"/>
                        <a:ea typeface="Century Gothic"/>
                        <a:cs typeface="Century Gothic"/>
                        <a:sym typeface="Century Gothic"/>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900" u="none" strike="noStrike" cap="none">
                          <a:latin typeface="Century Gothic"/>
                          <a:ea typeface="Century Gothic"/>
                          <a:cs typeface="Century Gothic"/>
                          <a:sym typeface="Century Gothic"/>
                        </a:rPr>
                        <a:t>Train Recall</a:t>
                      </a:r>
                      <a:endParaRPr sz="900" u="none" strike="noStrike" cap="none">
                        <a:latin typeface="Century Gothic"/>
                        <a:ea typeface="Century Gothic"/>
                        <a:cs typeface="Century Gothic"/>
                        <a:sym typeface="Century Gothic"/>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900" u="none" strike="noStrike" cap="none">
                          <a:latin typeface="Century Gothic"/>
                          <a:ea typeface="Century Gothic"/>
                          <a:cs typeface="Century Gothic"/>
                          <a:sym typeface="Century Gothic"/>
                        </a:rPr>
                        <a:t>Test Recall</a:t>
                      </a:r>
                      <a:endParaRPr sz="900" u="none" strike="noStrike" cap="none">
                        <a:latin typeface="Century Gothic"/>
                        <a:ea typeface="Century Gothic"/>
                        <a:cs typeface="Century Gothic"/>
                        <a:sym typeface="Century Gothic"/>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900" u="none" strike="noStrike" cap="none">
                          <a:latin typeface="Century Gothic"/>
                          <a:ea typeface="Century Gothic"/>
                          <a:cs typeface="Century Gothic"/>
                          <a:sym typeface="Century Gothic"/>
                        </a:rPr>
                        <a:t>Train Precision</a:t>
                      </a:r>
                      <a:endParaRPr sz="900" u="none" strike="noStrike" cap="none">
                        <a:latin typeface="Century Gothic"/>
                        <a:ea typeface="Century Gothic"/>
                        <a:cs typeface="Century Gothic"/>
                        <a:sym typeface="Century Gothic"/>
                      </a:endParaRPr>
                    </a:p>
                  </a:txBody>
                  <a:tcPr marL="91450" marR="91450" marT="45725" marB="45725" anchor="ctr">
                    <a:solidFill>
                      <a:schemeClr val="l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900" u="none" strike="noStrike" cap="none">
                          <a:latin typeface="Century Gothic"/>
                          <a:ea typeface="Century Gothic"/>
                          <a:cs typeface="Century Gothic"/>
                          <a:sym typeface="Century Gothic"/>
                        </a:rPr>
                        <a:t>Test Precision</a:t>
                      </a:r>
                      <a:endParaRPr sz="900" u="none" strike="noStrike" cap="none">
                        <a:latin typeface="Century Gothic"/>
                        <a:ea typeface="Century Gothic"/>
                        <a:cs typeface="Century Gothic"/>
                        <a:sym typeface="Century Gothic"/>
                      </a:endParaRPr>
                    </a:p>
                  </a:txBody>
                  <a:tcPr marL="91450" marR="91450" marT="45725" marB="45725" anchor="ctr">
                    <a:solidFill>
                      <a:schemeClr val="lt2"/>
                    </a:solidFill>
                  </a:tcPr>
                </a:tc>
                <a:extLst>
                  <a:ext uri="{0D108BD9-81ED-4DB2-BD59-A6C34878D82A}">
                    <a16:rowId xmlns:a16="http://schemas.microsoft.com/office/drawing/2014/main" val="10000"/>
                  </a:ext>
                </a:extLst>
              </a:tr>
              <a:tr h="377975">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Decision Tree</a:t>
                      </a:r>
                      <a:endParaRPr sz="1000" u="none" strike="noStrike" cap="none">
                        <a:latin typeface="Century Gothic"/>
                        <a:ea typeface="Century Gothic"/>
                        <a:cs typeface="Century Gothic"/>
                        <a:sym typeface="Century Gothic"/>
                      </a:endParaRPr>
                    </a:p>
                  </a:txBody>
                  <a:tcPr marL="91450" marR="91450" marT="45725" marB="457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99.65</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83.20</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99.47</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76.77</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99.47</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73.23</a:t>
                      </a:r>
                      <a:endParaRPr sz="1000" u="none" strike="noStrike" cap="none">
                        <a:latin typeface="Century Gothic"/>
                        <a:ea typeface="Century Gothic"/>
                        <a:cs typeface="Century Gothic"/>
                        <a:sym typeface="Century Gothic"/>
                      </a:endParaRPr>
                    </a:p>
                  </a:txBody>
                  <a:tcPr marL="91425" marR="91425" marT="91425" marB="91425"/>
                </a:tc>
                <a:extLst>
                  <a:ext uri="{0D108BD9-81ED-4DB2-BD59-A6C34878D82A}">
                    <a16:rowId xmlns:a16="http://schemas.microsoft.com/office/drawing/2014/main" val="10001"/>
                  </a:ext>
                </a:extLst>
              </a:tr>
              <a:tr h="523325">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Decision Tree - Pruned</a:t>
                      </a:r>
                      <a:endParaRPr sz="1000" u="none" strike="noStrike" cap="none">
                        <a:latin typeface="Century Gothic"/>
                        <a:ea typeface="Century Gothic"/>
                        <a:cs typeface="Century Gothic"/>
                        <a:sym typeface="Century Gothic"/>
                      </a:endParaRPr>
                    </a:p>
                  </a:txBody>
                  <a:tcPr marL="91450" marR="91450" marT="45725" marB="45725" anchor="ctr"/>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95.64</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84.34</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90.77</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76.09</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95.69</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76.09</a:t>
                      </a:r>
                      <a:endParaRPr sz="1000" u="none" strike="noStrike" cap="none">
                        <a:latin typeface="Century Gothic"/>
                        <a:ea typeface="Century Gothic"/>
                        <a:cs typeface="Century Gothic"/>
                        <a:sym typeface="Century Gothic"/>
                      </a:endParaRPr>
                    </a:p>
                  </a:txBody>
                  <a:tcPr marL="91425" marR="91425" marT="91425" marB="91425"/>
                </a:tc>
                <a:extLst>
                  <a:ext uri="{0D108BD9-81ED-4DB2-BD59-A6C34878D82A}">
                    <a16:rowId xmlns:a16="http://schemas.microsoft.com/office/drawing/2014/main" val="10002"/>
                  </a:ext>
                </a:extLst>
              </a:tr>
              <a:tr h="377975">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Random Forest</a:t>
                      </a:r>
                      <a:endParaRPr sz="1000" u="none" strike="noStrike" cap="none">
                        <a:latin typeface="Century Gothic"/>
                        <a:ea typeface="Century Gothic"/>
                        <a:cs typeface="Century Gothic"/>
                        <a:sym typeface="Century Gothic"/>
                      </a:endParaRPr>
                    </a:p>
                  </a:txBody>
                  <a:tcPr marL="91450" marR="91450" marT="45725" marB="45725" anchor="ctr">
                    <a:lnB w="12700" cap="flat" cmpd="sng">
                      <a:solidFill>
                        <a:schemeClr val="lt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98.47</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87.94</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96.44</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77.10</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98.87</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84.71</a:t>
                      </a:r>
                      <a:endParaRPr sz="1000" u="none" strike="noStrike" cap="none">
                        <a:latin typeface="Century Gothic"/>
                        <a:ea typeface="Century Gothic"/>
                        <a:cs typeface="Century Gothic"/>
                        <a:sym typeface="Century Gothic"/>
                      </a:endParaRPr>
                    </a:p>
                  </a:txBody>
                  <a:tcPr marL="91425" marR="91425" marT="91425" marB="91425"/>
                </a:tc>
                <a:extLst>
                  <a:ext uri="{0D108BD9-81ED-4DB2-BD59-A6C34878D82A}">
                    <a16:rowId xmlns:a16="http://schemas.microsoft.com/office/drawing/2014/main" val="10003"/>
                  </a:ext>
                </a:extLst>
              </a:tr>
              <a:tr h="523325">
                <a:tc>
                  <a:txBody>
                    <a:bodyPr/>
                    <a:lstStyle/>
                    <a:p>
                      <a:pPr marL="0" marR="0" lvl="0" indent="0" algn="ctr" rtl="0">
                        <a:lnSpc>
                          <a:spcPct val="100000"/>
                        </a:lnSpc>
                        <a:spcBef>
                          <a:spcPts val="0"/>
                        </a:spcBef>
                        <a:spcAft>
                          <a:spcPts val="0"/>
                        </a:spcAft>
                        <a:buClr>
                          <a:srgbClr val="000000"/>
                        </a:buClr>
                        <a:buSzPts val="1200"/>
                        <a:buFont typeface="Arial"/>
                        <a:buNone/>
                      </a:pPr>
                      <a:r>
                        <a:rPr lang="en" sz="1000" u="none" strike="noStrike" cap="none">
                          <a:latin typeface="Century Gothic"/>
                          <a:ea typeface="Century Gothic"/>
                          <a:cs typeface="Century Gothic"/>
                          <a:sym typeface="Century Gothic"/>
                        </a:rPr>
                        <a:t>Random Forest - Pruned</a:t>
                      </a:r>
                      <a:endParaRPr sz="1000" u="none" strike="noStrike" cap="none">
                        <a:latin typeface="Century Gothic"/>
                        <a:ea typeface="Century Gothic"/>
                        <a:cs typeface="Century Gothic"/>
                        <a:sym typeface="Century Gothic"/>
                      </a:endParaRPr>
                    </a:p>
                  </a:txBody>
                  <a:tcPr marL="91450" marR="91450" marT="45725" marB="45725" anchor="ctr">
                    <a:lnL w="12700" cap="flat" cmpd="sng">
                      <a:solidFill>
                        <a:schemeClr val="lt1"/>
                      </a:solidFill>
                      <a:prstDash val="solid"/>
                      <a:round/>
                      <a:headEnd type="none" w="sm" len="sm"/>
                      <a:tailEnd type="none" w="sm" len="sm"/>
                    </a:lnL>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EFEFEF"/>
                    </a:solidFill>
                  </a:tcPr>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87.32</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85.04</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69.86</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66.22</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89.09</a:t>
                      </a:r>
                      <a:endParaRPr sz="1000" u="none" strike="noStrike" cap="none">
                        <a:latin typeface="Century Gothic"/>
                        <a:ea typeface="Century Gothic"/>
                        <a:cs typeface="Century Gothic"/>
                        <a:sym typeface="Century Gothic"/>
                      </a:endParaRPr>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a:buNone/>
                      </a:pPr>
                      <a:r>
                        <a:rPr lang="en" sz="1000" u="none" strike="noStrike" cap="none">
                          <a:latin typeface="Century Gothic"/>
                          <a:ea typeface="Century Gothic"/>
                          <a:cs typeface="Century Gothic"/>
                          <a:sym typeface="Century Gothic"/>
                        </a:rPr>
                        <a:t>84.77</a:t>
                      </a:r>
                      <a:endParaRPr sz="1000" u="none" strike="noStrike" cap="none">
                        <a:latin typeface="Century Gothic"/>
                        <a:ea typeface="Century Gothic"/>
                        <a:cs typeface="Century Gothic"/>
                        <a:sym typeface="Century Gothic"/>
                      </a:endParaRPr>
                    </a:p>
                  </a:txBody>
                  <a:tcPr marL="91425" marR="91425" marT="91425" marB="91425"/>
                </a:tc>
                <a:extLst>
                  <a:ext uri="{0D108BD9-81ED-4DB2-BD59-A6C34878D82A}">
                    <a16:rowId xmlns:a16="http://schemas.microsoft.com/office/drawing/2014/main" val="10004"/>
                  </a:ext>
                </a:extLst>
              </a:tr>
            </a:tbl>
          </a:graphicData>
        </a:graphic>
      </p:graphicFrame>
      <p:sp>
        <p:nvSpPr>
          <p:cNvPr id="371" name="Google Shape;371;g15886a1dc9e_0_403"/>
          <p:cNvSpPr txBox="1"/>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 sz="2200" b="1" i="0" u="none" strike="noStrike" cap="none">
                <a:solidFill>
                  <a:schemeClr val="lt2"/>
                </a:solidFill>
                <a:latin typeface="Century Gothic"/>
                <a:ea typeface="Century Gothic"/>
                <a:cs typeface="Century Gothic"/>
                <a:sym typeface="Century Gothic"/>
              </a:rPr>
              <a:t>Model Performance Summary</a:t>
            </a:r>
            <a:endParaRPr sz="2200" b="1" i="0" u="none" strike="noStrike" cap="none">
              <a:solidFill>
                <a:schemeClr val="lt2"/>
              </a:solidFill>
              <a:latin typeface="Century Gothic"/>
              <a:ea typeface="Century Gothic"/>
              <a:cs typeface="Century Gothic"/>
              <a:sym typeface="Century Gothic"/>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g244c62e8fd3_0_10"/>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chemeClr val="lt2"/>
                </a:solidFill>
                <a:latin typeface="Century Gothic"/>
                <a:ea typeface="Century Gothic"/>
                <a:cs typeface="Century Gothic"/>
                <a:sym typeface="Century Gothic"/>
              </a:rPr>
              <a:t>Conclusions and Recommendations</a:t>
            </a:r>
            <a:endParaRPr>
              <a:solidFill>
                <a:schemeClr val="lt2"/>
              </a:solidFill>
              <a:latin typeface="Century Gothic"/>
              <a:ea typeface="Century Gothic"/>
              <a:cs typeface="Century Gothic"/>
              <a:sym typeface="Century Gothic"/>
            </a:endParaRPr>
          </a:p>
        </p:txBody>
      </p:sp>
      <p:sp>
        <p:nvSpPr>
          <p:cNvPr id="377" name="Google Shape;377;g244c62e8fd3_0_10"/>
          <p:cNvSpPr txBox="1">
            <a:spLocks noGrp="1"/>
          </p:cNvSpPr>
          <p:nvPr>
            <p:ph type="body" idx="1"/>
          </p:nvPr>
        </p:nvSpPr>
        <p:spPr>
          <a:xfrm>
            <a:off x="202550" y="861975"/>
            <a:ext cx="8629800" cy="29046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100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Please mention actionable insights &amp; recommendations</a:t>
            </a:r>
            <a:endParaRPr sz="1400">
              <a:solidFill>
                <a:schemeClr val="dk1"/>
              </a:solidFill>
              <a:latin typeface="Century Gothic"/>
              <a:ea typeface="Century Gothic"/>
              <a:cs typeface="Century Gothic"/>
              <a:sym typeface="Century Gothic"/>
            </a:endParaRPr>
          </a:p>
          <a:p>
            <a:pPr marL="457200" lvl="0" indent="-317500" algn="l" rtl="0">
              <a:lnSpc>
                <a:spcPct val="115000"/>
              </a:lnSpc>
              <a:spcBef>
                <a:spcPts val="100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Below are some useful pointers that can guide you :</a:t>
            </a:r>
            <a:endParaRPr sz="1400">
              <a:solidFill>
                <a:schemeClr val="dk1"/>
              </a:solidFill>
              <a:latin typeface="Century Gothic"/>
              <a:ea typeface="Century Gothic"/>
              <a:cs typeface="Century Gothic"/>
              <a:sym typeface="Century Gothic"/>
            </a:endParaRPr>
          </a:p>
          <a:p>
            <a:pPr marL="914400" lvl="1" indent="-317500" algn="l" rtl="0">
              <a:lnSpc>
                <a:spcPct val="115000"/>
              </a:lnSpc>
              <a:spcBef>
                <a:spcPts val="100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Identify the hotel's target market and booking patterns</a:t>
            </a:r>
            <a:endParaRPr sz="1400">
              <a:solidFill>
                <a:schemeClr val="dk1"/>
              </a:solidFill>
              <a:latin typeface="Century Gothic"/>
              <a:ea typeface="Century Gothic"/>
              <a:cs typeface="Century Gothic"/>
              <a:sym typeface="Century Gothic"/>
            </a:endParaRPr>
          </a:p>
          <a:p>
            <a:pPr marL="914400" lvl="1" indent="-317500" algn="l" rtl="0">
              <a:lnSpc>
                <a:spcPct val="115000"/>
              </a:lnSpc>
              <a:spcBef>
                <a:spcPts val="100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Analyze the booking trends and cancellations over a period of time</a:t>
            </a:r>
            <a:endParaRPr sz="1400">
              <a:solidFill>
                <a:schemeClr val="dk1"/>
              </a:solidFill>
              <a:latin typeface="Century Gothic"/>
              <a:ea typeface="Century Gothic"/>
              <a:cs typeface="Century Gothic"/>
              <a:sym typeface="Century Gothic"/>
            </a:endParaRPr>
          </a:p>
          <a:p>
            <a:pPr marL="914400" lvl="1" indent="-317500" algn="l" rtl="0">
              <a:lnSpc>
                <a:spcPct val="115000"/>
              </a:lnSpc>
              <a:spcBef>
                <a:spcPts val="100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Determine the impact of cancellations on hotel revenue and resources</a:t>
            </a:r>
            <a:endParaRPr sz="1400">
              <a:solidFill>
                <a:schemeClr val="dk1"/>
              </a:solidFill>
              <a:latin typeface="Century Gothic"/>
              <a:ea typeface="Century Gothic"/>
              <a:cs typeface="Century Gothic"/>
              <a:sym typeface="Century Gothic"/>
            </a:endParaRPr>
          </a:p>
          <a:p>
            <a:pPr marL="914400" lvl="1" indent="-317500" algn="l" rtl="0">
              <a:lnSpc>
                <a:spcPct val="115000"/>
              </a:lnSpc>
              <a:spcBef>
                <a:spcPts val="100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Evaluate the consistency of cancellation policies across market segments</a:t>
            </a:r>
            <a:endParaRPr sz="1400">
              <a:solidFill>
                <a:schemeClr val="dk1"/>
              </a:solidFill>
              <a:latin typeface="Century Gothic"/>
              <a:ea typeface="Century Gothic"/>
              <a:cs typeface="Century Gothic"/>
              <a:sym typeface="Century Gothic"/>
            </a:endParaRPr>
          </a:p>
          <a:p>
            <a:pPr marL="914400" lvl="1" indent="-317500" algn="l" rtl="0">
              <a:lnSpc>
                <a:spcPct val="115000"/>
              </a:lnSpc>
              <a:spcBef>
                <a:spcPts val="1000"/>
              </a:spcBef>
              <a:spcAft>
                <a:spcPts val="100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Determine how to improve the experience of repeated customers and attract new ones</a:t>
            </a:r>
            <a:endParaRPr sz="1400">
              <a:solidFill>
                <a:schemeClr val="dk1"/>
              </a:solidFill>
              <a:latin typeface="Century Gothic"/>
              <a:ea typeface="Century Gothic"/>
              <a:cs typeface="Century Gothic"/>
              <a:sym typeface="Century Gothic"/>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g10e9006cb6c_1_20"/>
          <p:cNvSpPr txBox="1">
            <a:spLocks noGrp="1"/>
          </p:cNvSpPr>
          <p:nvPr>
            <p:ph type="ctrTitle"/>
          </p:nvPr>
        </p:nvSpPr>
        <p:spPr>
          <a:xfrm>
            <a:off x="0" y="2820425"/>
            <a:ext cx="9144000" cy="581700"/>
          </a:xfrm>
          <a:prstGeom prst="rect">
            <a:avLst/>
          </a:prstGeom>
          <a:solidFill>
            <a:schemeClr val="lt2"/>
          </a:solid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3300">
                <a:solidFill>
                  <a:schemeClr val="lt1"/>
                </a:solidFill>
                <a:latin typeface="Century Gothic"/>
                <a:ea typeface="Century Gothic"/>
                <a:cs typeface="Century Gothic"/>
                <a:sym typeface="Century Gothic"/>
              </a:rPr>
              <a:t>APPENDIX</a:t>
            </a:r>
            <a:endParaRPr sz="3300">
              <a:solidFill>
                <a:schemeClr val="lt1"/>
              </a:solidFill>
              <a:latin typeface="Century Gothic"/>
              <a:ea typeface="Century Gothic"/>
              <a:cs typeface="Century Gothic"/>
              <a:sym typeface="Century Gothic"/>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g244d23124c0_1_99"/>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chemeClr val="lt2"/>
                </a:solidFill>
                <a:latin typeface="Century Gothic"/>
                <a:ea typeface="Century Gothic"/>
                <a:cs typeface="Century Gothic"/>
                <a:sym typeface="Century Gothic"/>
              </a:rPr>
              <a:t>Slide Header</a:t>
            </a:r>
            <a:endParaRPr>
              <a:solidFill>
                <a:schemeClr val="lt2"/>
              </a:solidFill>
              <a:latin typeface="Century Gothic"/>
              <a:ea typeface="Century Gothic"/>
              <a:cs typeface="Century Gothic"/>
              <a:sym typeface="Century Gothic"/>
            </a:endParaRPr>
          </a:p>
        </p:txBody>
      </p:sp>
      <p:sp>
        <p:nvSpPr>
          <p:cNvPr id="394" name="Google Shape;394;g244d23124c0_1_99"/>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100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Please add any other pointers (if needed)</a:t>
            </a:r>
            <a:endParaRPr sz="1400">
              <a:solidFill>
                <a:schemeClr val="dk1"/>
              </a:solidFill>
              <a:latin typeface="Century Gothic"/>
              <a:ea typeface="Century Gothic"/>
              <a:cs typeface="Century Gothic"/>
              <a:sym typeface="Century Gothic"/>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g10ee00f67ea_0_55"/>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p>
            <a:pPr marL="0" lvl="0" indent="0" algn="l" rtl="0">
              <a:lnSpc>
                <a:spcPct val="100000"/>
              </a:lnSpc>
              <a:spcBef>
                <a:spcPts val="0"/>
              </a:spcBef>
              <a:spcAft>
                <a:spcPts val="0"/>
              </a:spcAft>
              <a:buSzPts val="2200"/>
              <a:buNone/>
            </a:pPr>
            <a:endParaRPr/>
          </a:p>
        </p:txBody>
      </p:sp>
      <p:sp>
        <p:nvSpPr>
          <p:cNvPr id="402" name="Google Shape;402;g10ee00f67ea_0_55"/>
          <p:cNvSpPr txBox="1">
            <a:spLocks noGrp="1"/>
          </p:cNvSpPr>
          <p:nvPr>
            <p:ph type="sldNum" idx="4294967295"/>
          </p:nvPr>
        </p:nvSpPr>
        <p:spPr>
          <a:xfrm>
            <a:off x="8556784" y="4749851"/>
            <a:ext cx="548700" cy="393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00"/>
              <a:buNone/>
            </a:pPr>
            <a:fld id="{00000000-1234-1234-1234-123412341234}" type="slidenum">
              <a:rPr lang="en"/>
              <a:t>29</a:t>
            </a:fld>
            <a:endParaRPr/>
          </a:p>
        </p:txBody>
      </p:sp>
    </p:spTree>
  </p:cSld>
  <p:clrMapOvr>
    <a:masterClrMapping/>
  </p:clrMapOvr>
</p:sld>
</file>

<file path=ppt/theme/theme1.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1427</Words>
  <Application>Microsoft Office PowerPoint</Application>
  <PresentationFormat>On-screen Show (16:9)</PresentationFormat>
  <Paragraphs>220</Paragraphs>
  <Slides>29</Slides>
  <Notes>29</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29</vt:i4>
      </vt:variant>
    </vt:vector>
  </HeadingPairs>
  <TitlesOfParts>
    <vt:vector size="39" baseType="lpstr">
      <vt:lpstr>Century Gothic</vt:lpstr>
      <vt:lpstr>Nunito ExtraBold</vt:lpstr>
      <vt:lpstr>Nunito SemiBold</vt:lpstr>
      <vt:lpstr>Nunito</vt:lpstr>
      <vt:lpstr>Arial</vt:lpstr>
      <vt:lpstr>Calibri</vt:lpstr>
      <vt:lpstr>Just Logo</vt:lpstr>
      <vt:lpstr>Just Logo</vt:lpstr>
      <vt:lpstr>Just Logo</vt:lpstr>
      <vt:lpstr>Just Logo</vt:lpstr>
      <vt:lpstr>Hotel Booking Cancellation Prediction</vt:lpstr>
      <vt:lpstr>Contents / Agenda</vt:lpstr>
      <vt:lpstr>Data Dictionary</vt:lpstr>
      <vt:lpstr>Data Dictionary</vt:lpstr>
      <vt:lpstr>How to use this deck?</vt:lpstr>
      <vt:lpstr>Business Problem Overview and Solution Approach</vt:lpstr>
      <vt:lpstr>PowerPoint Presentation</vt:lpstr>
      <vt:lpstr>PowerPoint Presentation</vt:lpstr>
      <vt:lpstr>PowerPoint Presentation</vt:lpstr>
      <vt:lpstr>PowerPoint Presentation</vt:lpstr>
      <vt:lpstr>PowerPoint Presentation</vt:lpstr>
      <vt:lpstr>Results EDA - Univariate Analysis</vt:lpstr>
      <vt:lpstr>PowerPoint Presentation</vt:lpstr>
      <vt:lpstr>PowerPoint Presentation</vt:lpstr>
      <vt:lpstr>PowerPoint Presentation</vt:lpstr>
      <vt:lpstr>PowerPoint Presentation</vt:lpstr>
      <vt:lpstr>Results EDA - Bivariate Analysis</vt:lpstr>
      <vt:lpstr>Model Performance Evaluation Decision Tree</vt:lpstr>
      <vt:lpstr>Model Performance Evaluation Decision Tree</vt:lpstr>
      <vt:lpstr>Model Performance Evaluation Pruned Decision Tree</vt:lpstr>
      <vt:lpstr>Model Performance Evaluation Random Forest</vt:lpstr>
      <vt:lpstr>Model Performance Evaluation Random Forest</vt:lpstr>
      <vt:lpstr>Model Performance Evaluation Pruned Random Forest</vt:lpstr>
      <vt:lpstr>Model Performance Evaluation Pruned Random Forest</vt:lpstr>
      <vt:lpstr>PowerPoint Presentation</vt:lpstr>
      <vt:lpstr>Conclusions and Recommendations</vt:lpstr>
      <vt:lpstr>APPENDIX</vt:lpstr>
      <vt:lpstr>Slide Header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Hotel Booking Cancellation Prediction</dc:title>
  <cp:lastModifiedBy>Prashant Kumar</cp:lastModifiedBy>
  <cp:revision>2</cp:revision>
  <dcterms:modified xsi:type="dcterms:W3CDTF">2023-07-24T07:29:39Z</dcterms:modified>
</cp:coreProperties>
</file>