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31"/>
  </p:notesMasterIdLst>
  <p:sldIdLst>
    <p:sldId id="256" r:id="rId4"/>
    <p:sldId id="257" r:id="rId5"/>
    <p:sldId id="258" r:id="rId6"/>
    <p:sldId id="259" r:id="rId7"/>
    <p:sldId id="261" r:id="rId8"/>
    <p:sldId id="278" r:id="rId9"/>
    <p:sldId id="288" r:id="rId10"/>
    <p:sldId id="289" r:id="rId11"/>
    <p:sldId id="290" r:id="rId12"/>
    <p:sldId id="286" r:id="rId13"/>
    <p:sldId id="287"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Lst>
  <p:sldSz cx="9144000" cy="5143500" type="screen16x9"/>
  <p:notesSz cx="6858000" cy="9144000"/>
  <p:embeddedFontLst>
    <p:embeddedFont>
      <p:font typeface="Century Gothic" panose="020B0502020202020204" pitchFamily="34" charset="0"/>
      <p:regular r:id="rId32"/>
      <p:bold r:id="rId33"/>
      <p:italic r:id="rId34"/>
      <p:boldItalic r:id="rId35"/>
    </p:embeddedFont>
    <p:embeddedFont>
      <p:font typeface="Nunito" pitchFamily="2" charset="0"/>
      <p:regular r:id="rId36"/>
      <p:bold r:id="rId37"/>
      <p:italic r:id="rId38"/>
      <p:boldItalic r:id="rId39"/>
    </p:embeddedFont>
    <p:embeddedFont>
      <p:font typeface="Nunito ExtraBold" pitchFamily="2" charset="0"/>
      <p:bold r:id="rId40"/>
      <p:boldItalic r:id="rId41"/>
    </p:embeddedFont>
    <p:embeddedFont>
      <p:font typeface="Nunito SemiBold" pitchFamily="2"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8.fntdata"/><Relationship Id="rId21" Type="http://schemas.openxmlformats.org/officeDocument/2006/relationships/slide" Target="slides/slide18.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font" Target="fonts/font5.fntdata"/><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notesMaster" Target="notesMasters/notesMaster1.xml"/><Relationship Id="rId44" Type="http://schemas.openxmlformats.org/officeDocument/2006/relationships/font" Target="fonts/font13.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p1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4: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27</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Business Problem Overview &amp; Solution Approach</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Data Dictionary</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Exploratory Data Analysis (EDA) Results</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Data Preprocessing</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Model Performance Summary</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Best Model Selection</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Conclusions &amp; Recommendations</a:t>
            </a:r>
            <a:endParaRPr/>
          </a:p>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Appendix / Screenshots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BAD: Whether the client defaulted on the loan (0 = No, 1 = Yes)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LOAN: Amount of loan approved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MORTDUE: Amount due on the existing mortgage</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VALUE: Current value of the property</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REASON: Reason for the loan request (HomeImp = Home Improvement, DebtCon = Debt Consolidation)</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JOB: Type of job the applicant has (e.g., Manager, Self-employed)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YOJ: Years at present job</a:t>
            </a:r>
            <a:endParaRPr/>
          </a:p>
          <a:p>
            <a:pPr marL="457200" lvl="0" indent="0" algn="l" rtl="0">
              <a:lnSpc>
                <a:spcPct val="150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a:solidFill>
                <a:schemeClr val="dk1"/>
              </a:solidFill>
              <a:latin typeface="Century Gothic"/>
              <a:ea typeface="Century Gothic"/>
              <a:cs typeface="Century Gothic"/>
              <a:sym typeface="Century Goth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DEROG: Number of major derogatory reports (serious delinquency/late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DELINQ: Number of delinquent credit lines (past due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CLAGE: Age of the oldest credit line in months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NINQ: Number of recent credit inquiries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CLNO: Number of existing credit lines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DEBTINC: Debt-to-income ratio (all monthly debt payments divided by gross monthly income)</a:t>
            </a:r>
            <a:endParaRPr/>
          </a:p>
          <a:p>
            <a:pPr marL="914400" lvl="0" indent="-228600" algn="l" rtl="0">
              <a:lnSpc>
                <a:spcPct val="115000"/>
              </a:lnSpc>
              <a:spcBef>
                <a:spcPts val="1000"/>
              </a:spcBef>
              <a:spcAft>
                <a:spcPts val="0"/>
              </a:spcAft>
              <a:buClr>
                <a:srgbClr val="2D3B45"/>
              </a:buClr>
              <a:buSzPts val="1200"/>
              <a:buFont typeface="Century Gothic"/>
              <a:buNone/>
            </a:pPr>
            <a:endParaRPr sz="1200">
              <a:solidFill>
                <a:schemeClr val="dk1"/>
              </a:solidFill>
              <a:latin typeface="Century Gothic"/>
              <a:ea typeface="Century Gothic"/>
              <a:cs typeface="Century Gothic"/>
              <a:sym typeface="Century Goth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3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Business Problem Overview and Solution Approach</a:t>
            </a:r>
            <a:endParaRPr>
              <a:solidFill>
                <a:schemeClr val="lt2"/>
              </a:solidFill>
              <a:latin typeface="Century Gothic"/>
              <a:ea typeface="Century Gothic"/>
              <a:cs typeface="Century Gothic"/>
              <a:sym typeface="Century Gothic"/>
            </a:endParaRPr>
          </a:p>
        </p:txBody>
      </p:sp>
      <p:sp>
        <p:nvSpPr>
          <p:cNvPr id="183" name="Google Shape;183;p39"/>
          <p:cNvSpPr txBox="1">
            <a:spLocks noGrp="1"/>
          </p:cNvSpPr>
          <p:nvPr>
            <p:ph type="body" idx="1"/>
          </p:nvPr>
        </p:nvSpPr>
        <p:spPr>
          <a:xfrm>
            <a:off x="202550" y="861975"/>
            <a:ext cx="8629800" cy="7764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define the problem</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the solution approach / methodology</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1351955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a:t>
            </a:r>
            <a:r>
              <a:rPr lang="en-US" dirty="0" err="1"/>
              <a:t>scalibility</a:t>
            </a:r>
            <a:endParaRPr lang="en-US" dirty="0"/>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90733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a:t>
            </a:r>
            <a:r>
              <a:rPr lang="en-US"/>
              <a:t>model should provide </a:t>
            </a:r>
            <a:r>
              <a:rPr lang="en-US" dirty="0"/>
              <a:t>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10355722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Analyze the Existing Model</a:t>
            </a:r>
            <a:endParaRPr lang="en-US" dirty="0"/>
          </a:p>
          <a:p>
            <a:pPr lvl="0"/>
            <a:r>
              <a:rPr lang="en-US" sz="1200" dirty="0"/>
              <a:t>Evaluate the Rapid Miner Decision Tree and Random Forest models provided</a:t>
            </a:r>
          </a:p>
          <a:p>
            <a:pPr lvl="0"/>
            <a:r>
              <a:rPr lang="en-US" sz="1200" dirty="0"/>
              <a:t>Compare their performance and understand their predictions</a:t>
            </a:r>
          </a:p>
          <a:p>
            <a:pPr lvl="0"/>
            <a:r>
              <a:rPr lang="en-US" sz="1200" dirty="0"/>
              <a:t>Identify which model works better for this business problem</a:t>
            </a:r>
          </a:p>
          <a:p>
            <a:endParaRPr lang="en-US" sz="1000" b="1" dirty="0"/>
          </a:p>
          <a:p>
            <a:pPr marL="133350" indent="0">
              <a:buNone/>
            </a:pPr>
            <a:r>
              <a:rPr lang="en-US" b="1" dirty="0"/>
              <a:t>2. Identify Cancellation Drivers</a:t>
            </a:r>
            <a:endParaRPr lang="en-US" dirty="0"/>
          </a:p>
          <a:p>
            <a:pPr marL="133350" indent="0">
              <a:buNone/>
            </a:pPr>
            <a:r>
              <a:rPr lang="en-US" sz="1200" dirty="0"/>
              <a:t>Identify and analyze which factors most influence cancellations:</a:t>
            </a:r>
          </a:p>
          <a:p>
            <a:pPr lvl="0"/>
            <a:r>
              <a:rPr lang="en-US" sz="1200" dirty="0"/>
              <a:t>Lead time and booking advance period</a:t>
            </a:r>
          </a:p>
          <a:p>
            <a:pPr lvl="0"/>
            <a:r>
              <a:rPr lang="en-US" sz="1200" dirty="0"/>
              <a:t>Customer history (previous cancellations, repeat guests)</a:t>
            </a:r>
          </a:p>
          <a:p>
            <a:pPr lvl="0"/>
            <a:r>
              <a:rPr lang="en-US" sz="1200" dirty="0"/>
              <a:t>Price, special requests, and market segment</a:t>
            </a:r>
          </a:p>
          <a:p>
            <a:pPr lvl="0"/>
            <a:r>
              <a:rPr lang="en-US" sz="1200" dirty="0"/>
              <a:t>Room type and length of stay patterns</a:t>
            </a:r>
          </a:p>
          <a:p>
            <a:pPr lvl="0"/>
            <a:endParaRPr lang="en-US" sz="1000" dirty="0"/>
          </a:p>
          <a:p>
            <a:r>
              <a:rPr lang="en-US" b="1" dirty="0"/>
              <a:t>3. Develop Revenue Optimization Strategies</a:t>
            </a:r>
            <a:endParaRPr lang="en-US" dirty="0"/>
          </a:p>
          <a:p>
            <a:pPr marL="133350" indent="0">
              <a:buNone/>
            </a:pPr>
            <a:r>
              <a:rPr lang="en-US" sz="1200" dirty="0"/>
              <a:t>Based on model investigation and cancellation patterns, provide recommendations to:</a:t>
            </a:r>
          </a:p>
          <a:p>
            <a:pPr lvl="0"/>
            <a:r>
              <a:rPr lang="en-US" sz="1200" dirty="0"/>
              <a:t>Reduce cancellation-related revenue losses</a:t>
            </a:r>
          </a:p>
          <a:p>
            <a:pPr lvl="0"/>
            <a:r>
              <a:rPr lang="en-US" sz="1200" dirty="0"/>
              <a:t>Improve operational efficiency</a:t>
            </a:r>
          </a:p>
          <a:p>
            <a:pPr lvl="0"/>
            <a:r>
              <a:rPr lang="en-US" sz="1200" dirty="0"/>
              <a:t>Identify additional strategies for increasing the revenue stream (bookings)</a:t>
            </a:r>
          </a:p>
          <a:p>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393673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148364" y="1322561"/>
            <a:ext cx="8629800" cy="1989598"/>
          </a:xfrm>
        </p:spPr>
        <p:txBody>
          <a:bodyPr/>
          <a:lstStyle/>
          <a:p>
            <a:pPr lvl="0"/>
            <a:r>
              <a:rPr lang="en-US" b="1" dirty="0"/>
              <a:t>Improved revenue</a:t>
            </a:r>
            <a:r>
              <a:rPr lang="en-US" dirty="0"/>
              <a:t>: Better inventory management and optimized cancellation policies</a:t>
            </a:r>
          </a:p>
          <a:p>
            <a:pPr marL="133350" lvl="0" indent="0">
              <a:buNone/>
            </a:pPr>
            <a:endParaRPr lang="en-US" sz="400" dirty="0"/>
          </a:p>
          <a:p>
            <a:pPr lvl="0"/>
            <a:r>
              <a:rPr lang="en-US" b="1" dirty="0"/>
              <a:t>Reduced operational costs</a:t>
            </a:r>
            <a:r>
              <a:rPr lang="en-US" dirty="0"/>
              <a:t>: More efficient resource allocation</a:t>
            </a:r>
          </a:p>
          <a:p>
            <a:pPr marL="133350" lvl="0" indent="0">
              <a:buNone/>
            </a:pPr>
            <a:endParaRPr lang="en-US" sz="400" dirty="0"/>
          </a:p>
          <a:p>
            <a:pPr lvl="0"/>
            <a:r>
              <a:rPr lang="en-US" b="1" dirty="0"/>
              <a:t>Enhanced customer experience</a:t>
            </a:r>
            <a:r>
              <a:rPr lang="en-US" dirty="0"/>
              <a:t>: Customized policies for different risk segments</a:t>
            </a:r>
          </a:p>
          <a:p>
            <a:pPr marL="133350" lvl="0" indent="0">
              <a:buNone/>
            </a:pPr>
            <a:endParaRPr lang="en-US" sz="400" dirty="0"/>
          </a:p>
          <a:p>
            <a:pPr lvl="0"/>
            <a:r>
              <a:rPr lang="en-US" b="1" dirty="0"/>
              <a:t>Data-driven decision making</a:t>
            </a:r>
            <a:r>
              <a:rPr lang="en-US" dirty="0"/>
              <a:t>: Actionable insights for strategic planning</a:t>
            </a:r>
          </a:p>
          <a:p>
            <a:pPr marL="133350" lvl="0" indent="0">
              <a:buNone/>
            </a:pPr>
            <a:endParaRPr lang="en-US" sz="400" dirty="0"/>
          </a:p>
          <a:p>
            <a:r>
              <a:rPr lang="en-US" b="1" dirty="0"/>
              <a:t>Additional revenue streams: </a:t>
            </a:r>
            <a:r>
              <a:rPr lang="en-US" dirty="0"/>
              <a:t>Suggest new programs and strategies to capture untapped revenue streams</a:t>
            </a:r>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Statistics after Retrieve (Initial EDA):</a:t>
            </a:r>
            <a:endParaRPr sz="2200" b="1" i="0" u="none" strike="noStrike" cap="none">
              <a:solidFill>
                <a:schemeClr val="lt2"/>
              </a:solidFill>
              <a:latin typeface="Century Gothic"/>
              <a:ea typeface="Century Gothic"/>
              <a:cs typeface="Century Gothic"/>
              <a:sym typeface="Century Gothic"/>
            </a:endParaRPr>
          </a:p>
        </p:txBody>
      </p:sp>
      <p:pic>
        <p:nvPicPr>
          <p:cNvPr id="189" name="Google Shape;189;p40"/>
          <p:cNvPicPr preferRelativeResize="0"/>
          <p:nvPr/>
        </p:nvPicPr>
        <p:blipFill rotWithShape="1">
          <a:blip r:embed="rId3">
            <a:alphaModFix/>
          </a:blip>
          <a:srcRect/>
          <a:stretch/>
        </p:blipFill>
        <p:spPr>
          <a:xfrm>
            <a:off x="710763" y="1808801"/>
            <a:ext cx="7613375" cy="3381765"/>
          </a:xfrm>
          <a:prstGeom prst="rect">
            <a:avLst/>
          </a:prstGeom>
          <a:noFill/>
          <a:ln>
            <a:noFill/>
          </a:ln>
        </p:spPr>
      </p:pic>
      <p:sp>
        <p:nvSpPr>
          <p:cNvPr id="190" name="Google Shape;190;p40"/>
          <p:cNvSpPr txBox="1">
            <a:spLocks noGrp="1"/>
          </p:cNvSpPr>
          <p:nvPr>
            <p:ph type="body" idx="1"/>
          </p:nvPr>
        </p:nvSpPr>
        <p:spPr>
          <a:xfrm>
            <a:off x="202550" y="75264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725562" y="775254"/>
            <a:ext cx="7954612" cy="361697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04800" y="918978"/>
            <a:ext cx="8534400" cy="343436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 CLAGE, and CLNO to understand how these variables behave at each stage. Other attributes like DEBTINC, DELINQ, DEROG, JOB, LOAN, MORTDUE, NINQ, REASON, VALUE, and YOJ are also available in the dataset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Statistics after Preprocessing:</a:t>
            </a:r>
            <a:endParaRPr sz="2200" b="1" i="0" u="none" strike="noStrike" cap="none">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202550" y="728051"/>
            <a:ext cx="8629800" cy="11436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endParaRPr/>
          </a:p>
        </p:txBody>
      </p:sp>
      <p:pic>
        <p:nvPicPr>
          <p:cNvPr id="212" name="Google Shape;212;p44"/>
          <p:cNvPicPr preferRelativeResize="0"/>
          <p:nvPr/>
        </p:nvPicPr>
        <p:blipFill rotWithShape="1">
          <a:blip r:embed="rId3">
            <a:alphaModFix/>
          </a:blip>
          <a:srcRect/>
          <a:stretch/>
        </p:blipFill>
        <p:spPr>
          <a:xfrm>
            <a:off x="514293" y="1934950"/>
            <a:ext cx="7721936" cy="330246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219711" y="614922"/>
            <a:ext cx="8321315" cy="3913656"/>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BAD_nom, CLAGE, and CLNO to understand how these variables behave after preprocessing. Other attributes like DEBTINC, DELINQ, DEROG, JOB_Mgr, JOB_Office, JOB_Other, JOB_ProfExe, JOB_Sales, JOB_Self, LOAN, MORTDUE, NINQ, REASON_DebtCon, REASON_HomeImp, VALUE, and YOJ are also available in the dataset -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46852" y="801756"/>
            <a:ext cx="8411618" cy="3950181"/>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1: Basic Neural Network </a:t>
            </a:r>
            <a:endParaRPr/>
          </a:p>
        </p:txBody>
      </p:sp>
      <p:sp>
        <p:nvSpPr>
          <p:cNvPr id="233" name="Google Shape;233;p48"/>
          <p:cNvSpPr txBox="1">
            <a:spLocks noGrp="1"/>
          </p:cNvSpPr>
          <p:nvPr>
            <p:ph type="body" idx="1"/>
          </p:nvPr>
        </p:nvSpPr>
        <p:spPr>
          <a:xfrm>
            <a:off x="202550" y="861975"/>
            <a:ext cx="8307900" cy="4884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a:t>
            </a:r>
            <a:endParaRPr sz="1400">
              <a:solidFill>
                <a:schemeClr val="dk1"/>
              </a:solidFill>
              <a:latin typeface="Century Gothic"/>
              <a:ea typeface="Century Gothic"/>
              <a:cs typeface="Century Gothic"/>
              <a:sym typeface="Century Gothic"/>
            </a:endParaRPr>
          </a:p>
        </p:txBody>
      </p:sp>
      <p:graphicFrame>
        <p:nvGraphicFramePr>
          <p:cNvPr id="234" name="Google Shape;234;p48"/>
          <p:cNvGraphicFramePr/>
          <p:nvPr/>
        </p:nvGraphicFramePr>
        <p:xfrm>
          <a:off x="1364816" y="1751211"/>
          <a:ext cx="3000000" cy="3000000"/>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2: Neural Network With Parameter Tuning</a:t>
            </a:r>
            <a:endParaRPr/>
          </a:p>
        </p:txBody>
      </p:sp>
      <p:sp>
        <p:nvSpPr>
          <p:cNvPr id="240" name="Google Shape;240;p49"/>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of the </a:t>
            </a:r>
            <a:endParaRPr sz="1400">
              <a:solidFill>
                <a:schemeClr val="dk1"/>
              </a:solidFill>
              <a:latin typeface="Century Gothic"/>
              <a:ea typeface="Century Gothic"/>
              <a:cs typeface="Century Gothic"/>
              <a:sym typeface="Century Gothic"/>
            </a:endParaRPr>
          </a:p>
        </p:txBody>
      </p:sp>
      <p:graphicFrame>
        <p:nvGraphicFramePr>
          <p:cNvPr id="241" name="Google Shape;241;p49"/>
          <p:cNvGraphicFramePr/>
          <p:nvPr/>
        </p:nvGraphicFramePr>
        <p:xfrm>
          <a:off x="1364816" y="1765092"/>
          <a:ext cx="3000000" cy="3000000"/>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Neural Network with Parameter Tuning</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3: Neural Network Using Grid Search </a:t>
            </a:r>
            <a:endParaRPr/>
          </a:p>
        </p:txBody>
      </p:sp>
      <p:sp>
        <p:nvSpPr>
          <p:cNvPr id="247" name="Google Shape;247;p50"/>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a:t>
            </a:r>
            <a:endParaRPr sz="1400">
              <a:solidFill>
                <a:schemeClr val="dk1"/>
              </a:solidFill>
              <a:latin typeface="Century Gothic"/>
              <a:ea typeface="Century Gothic"/>
              <a:cs typeface="Century Gothic"/>
              <a:sym typeface="Century Gothic"/>
            </a:endParaRPr>
          </a:p>
        </p:txBody>
      </p:sp>
      <p:graphicFrame>
        <p:nvGraphicFramePr>
          <p:cNvPr id="248" name="Google Shape;248;p50"/>
          <p:cNvGraphicFramePr/>
          <p:nvPr/>
        </p:nvGraphicFramePr>
        <p:xfrm>
          <a:off x="1364816" y="1765092"/>
          <a:ext cx="3000000" cy="3000000"/>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1"/>
          <p:cNvSpPr txBox="1">
            <a:spLocks noGrp="1"/>
          </p:cNvSpPr>
          <p:nvPr>
            <p:ph type="body" idx="1"/>
          </p:nvPr>
        </p:nvSpPr>
        <p:spPr>
          <a:xfrm>
            <a:off x="202550" y="861975"/>
            <a:ext cx="8629800" cy="12411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model is best for predicting loan defaults, and which metric is most important to check?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metric is most important, and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What advice would you give the business from this model?</a:t>
            </a:r>
            <a:endParaRPr sz="1400">
              <a:latin typeface="Century Gothic"/>
              <a:ea typeface="Century Gothic"/>
              <a:cs typeface="Century Gothic"/>
              <a:sym typeface="Century Gothic"/>
            </a:endParaRPr>
          </a:p>
        </p:txBody>
      </p:sp>
      <p:sp>
        <p:nvSpPr>
          <p:cNvPr id="254" name="Google Shape;254;p5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Model Performance Summary</a:t>
            </a:r>
            <a:endParaRPr sz="2200" b="1" i="0" u="none" strike="noStrike" cap="none">
              <a:solidFill>
                <a:schemeClr val="lt2"/>
              </a:solidFill>
              <a:latin typeface="Century Gothic"/>
              <a:ea typeface="Century Gothic"/>
              <a:cs typeface="Century Gothic"/>
              <a:sym typeface="Century Gothic"/>
            </a:endParaRPr>
          </a:p>
        </p:txBody>
      </p:sp>
      <p:graphicFrame>
        <p:nvGraphicFramePr>
          <p:cNvPr id="255" name="Google Shape;255;p51"/>
          <p:cNvGraphicFramePr/>
          <p:nvPr/>
        </p:nvGraphicFramePr>
        <p:xfrm>
          <a:off x="1916213" y="2367750"/>
          <a:ext cx="3000000" cy="300000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27</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85</TotalTime>
  <Words>1288</Words>
  <Application>Microsoft Office PowerPoint</Application>
  <PresentationFormat>On-screen Show (16:9)</PresentationFormat>
  <Paragraphs>186</Paragraphs>
  <Slides>27</Slides>
  <Notes>25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27</vt:i4>
      </vt:variant>
    </vt:vector>
  </HeadingPairs>
  <TitlesOfParts>
    <vt:vector size="36" baseType="lpstr">
      <vt:lpstr>Calibri</vt:lpstr>
      <vt:lpstr>Arial</vt:lpstr>
      <vt:lpstr>Nunito</vt:lpstr>
      <vt:lpstr>Century Gothic</vt:lpstr>
      <vt:lpstr>Nunito ExtraBold</vt:lpstr>
      <vt:lpstr>Nunito SemiBold</vt:lpstr>
      <vt:lpstr>Just Logo</vt:lpstr>
      <vt:lpstr>Just Logo</vt:lpstr>
      <vt:lpstr>Just Logo</vt:lpstr>
      <vt:lpstr>Home Loan Defaults Prediction Methods - Neural Networks</vt:lpstr>
      <vt:lpstr>Contents / Agenda</vt:lpstr>
      <vt:lpstr>Data Dictionary</vt:lpstr>
      <vt:lpstr>Data Dictionary</vt:lpstr>
      <vt:lpstr>Business Problem Overview and Solution Approach</vt:lpstr>
      <vt:lpstr>Business Problem Overview</vt:lpstr>
      <vt:lpstr>Business Problem Overview</vt:lpstr>
      <vt:lpstr>Business Problem Overview</vt:lpstr>
      <vt:lpstr>Project Goals and Objective</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2: Neural Network With Parameter Tuning</vt:lpstr>
      <vt:lpstr>Scenario 3: Neural Network Using Grid Search </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27</cp:revision>
  <dcterms:modified xsi:type="dcterms:W3CDTF">2025-12-13T03:23:36Z</dcterms:modified>
</cp:coreProperties>
</file>