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5"/>
    <p:sldMasterId id="2147483679" r:id="rId6"/>
    <p:sldMasterId id="214748368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Lst>
  <p:sldSz cy="5143500" cx="9144000"/>
  <p:notesSz cx="6858000" cy="9144000"/>
  <p:embeddedFontLst>
    <p:embeddedFont>
      <p:font typeface="Nunito SemiBold"/>
      <p:regular r:id="rId31"/>
      <p:bold r:id="rId32"/>
      <p:italic r:id="rId33"/>
      <p:boldItalic r:id="rId34"/>
    </p:embeddedFont>
    <p:embeddedFont>
      <p:font typeface="Nunito"/>
      <p:regular r:id="rId35"/>
      <p:bold r:id="rId36"/>
      <p:italic r:id="rId37"/>
      <p:boldItalic r:id="rId38"/>
    </p:embeddedFont>
    <p:embeddedFont>
      <p:font typeface="Nunito ExtraBold"/>
      <p:bold r:id="rId39"/>
      <p:boldItalic r:id="rId40"/>
    </p:embeddedFont>
    <p:embeddedFont>
      <p:font typeface="Century Gothic"/>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FC87C6-1A0B-40AD-94C4-E44D0AB50E7B}">
  <a:tblStyle styleId="{4CFC87C6-1A0B-40AD-94C4-E44D0AB50E7B}"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36976CF4-DB81-4460-9A5E-51383ADFE053}"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BEEEF"/>
          </a:solidFill>
        </a:fill>
      </a:tcStyle>
    </a:wholeTbl>
    <a:band1H>
      <a:tcTxStyle b="off" i="off"/>
      <a:tcStyle>
        <a:fill>
          <a:solidFill>
            <a:srgbClr val="D5DBDE"/>
          </a:solidFill>
        </a:fill>
      </a:tcStyle>
    </a:band1H>
    <a:band2H>
      <a:tcTxStyle b="off" i="off"/>
    </a:band2H>
    <a:band1V>
      <a:tcTxStyle b="off" i="off"/>
      <a:tcStyle>
        <a:fill>
          <a:solidFill>
            <a:srgbClr val="D5DBDE"/>
          </a:solidFill>
        </a:fill>
      </a:tcStyle>
    </a:band1V>
    <a:band2V>
      <a:tcTxStyle b="off" i="off"/>
    </a:band2V>
    <a:lastCol>
      <a:tcTxStyle b="on" i="off">
        <a:font>
          <a:latin typeface="Arial"/>
          <a:ea typeface="Arial"/>
          <a:cs typeface="Arial"/>
        </a:font>
        <a:schemeClr val="lt1"/>
      </a:tcTxStyle>
      <a:tcStyle>
        <a:fill>
          <a:solidFill>
            <a:schemeClr val="accent3"/>
          </a:solidFill>
        </a:fill>
      </a:tcStyle>
    </a:lastCol>
    <a:firstCol>
      <a:tcTxStyle b="on" i="off">
        <a:font>
          <a:latin typeface="Arial"/>
          <a:ea typeface="Arial"/>
          <a:cs typeface="Arial"/>
        </a:font>
        <a:schemeClr val="lt1"/>
      </a:tcTxStyle>
      <a:tcStyle>
        <a:fill>
          <a:solidFill>
            <a:schemeClr val="accent3"/>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ExtraBold-boldItalic.fntdata"/><Relationship Id="rId20" Type="http://schemas.openxmlformats.org/officeDocument/2006/relationships/slide" Target="slides/slide12.xml"/><Relationship Id="rId42" Type="http://schemas.openxmlformats.org/officeDocument/2006/relationships/font" Target="fonts/CenturyGothic-bold.fntdata"/><Relationship Id="rId41" Type="http://schemas.openxmlformats.org/officeDocument/2006/relationships/font" Target="fonts/CenturyGothic-regular.fntdata"/><Relationship Id="rId22" Type="http://schemas.openxmlformats.org/officeDocument/2006/relationships/slide" Target="slides/slide14.xml"/><Relationship Id="rId44" Type="http://schemas.openxmlformats.org/officeDocument/2006/relationships/font" Target="fonts/CenturyGothic-boldItalic.fntdata"/><Relationship Id="rId21" Type="http://schemas.openxmlformats.org/officeDocument/2006/relationships/slide" Target="slides/slide13.xml"/><Relationship Id="rId43" Type="http://schemas.openxmlformats.org/officeDocument/2006/relationships/font" Target="fonts/CenturyGothic-italic.fntdata"/><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NunitoSemiBold-regular.fntdata"/><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font" Target="fonts/NunitoSemiBold-italic.fntdata"/><Relationship Id="rId10" Type="http://schemas.openxmlformats.org/officeDocument/2006/relationships/slide" Target="slides/slide2.xml"/><Relationship Id="rId32" Type="http://schemas.openxmlformats.org/officeDocument/2006/relationships/font" Target="fonts/NunitoSemiBold-bold.fntdata"/><Relationship Id="rId13" Type="http://schemas.openxmlformats.org/officeDocument/2006/relationships/slide" Target="slides/slide5.xml"/><Relationship Id="rId35" Type="http://schemas.openxmlformats.org/officeDocument/2006/relationships/font" Target="fonts/Nunito-regular.fntdata"/><Relationship Id="rId12" Type="http://schemas.openxmlformats.org/officeDocument/2006/relationships/slide" Target="slides/slide4.xml"/><Relationship Id="rId34" Type="http://schemas.openxmlformats.org/officeDocument/2006/relationships/font" Target="fonts/NunitoSemiBold-boldItalic.fntdata"/><Relationship Id="rId15" Type="http://schemas.openxmlformats.org/officeDocument/2006/relationships/slide" Target="slides/slide7.xml"/><Relationship Id="rId37" Type="http://schemas.openxmlformats.org/officeDocument/2006/relationships/font" Target="fonts/Nunito-italic.fntdata"/><Relationship Id="rId14" Type="http://schemas.openxmlformats.org/officeDocument/2006/relationships/slide" Target="slides/slide6.xml"/><Relationship Id="rId36" Type="http://schemas.openxmlformats.org/officeDocument/2006/relationships/font" Target="fonts/Nunito-bold.fntdata"/><Relationship Id="rId17" Type="http://schemas.openxmlformats.org/officeDocument/2006/relationships/slide" Target="slides/slide9.xml"/><Relationship Id="rId39" Type="http://schemas.openxmlformats.org/officeDocument/2006/relationships/font" Target="fonts/NunitoExtraBold-bold.fntdata"/><Relationship Id="rId16" Type="http://schemas.openxmlformats.org/officeDocument/2006/relationships/slide" Target="slides/slide8.xml"/><Relationship Id="rId38" Type="http://schemas.openxmlformats.org/officeDocument/2006/relationships/font" Target="fonts/Nunito-boldItalic.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85ad5efec9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85ad5efec9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277" name="Google Shape;277;p27: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6" name="Google Shape;16;p2"/>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9" name="Google Shape;19;p3"/>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20" name="Google Shape;20;p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3" name="Google Shape;23;p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24" name="Shape 24"/>
        <p:cNvGrpSpPr/>
        <p:nvPr/>
      </p:nvGrpSpPr>
      <p:grpSpPr>
        <a:xfrm>
          <a:off x="0" y="0"/>
          <a:ext cx="0" cy="0"/>
          <a:chOff x="0" y="0"/>
          <a:chExt cx="0" cy="0"/>
        </a:xfrm>
      </p:grpSpPr>
      <p:sp>
        <p:nvSpPr>
          <p:cNvPr id="25" name="Google Shape;25;p5"/>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26" name="Google Shape;26;p5"/>
          <p:cNvGraphicFramePr/>
          <p:nvPr/>
        </p:nvGraphicFramePr>
        <p:xfrm>
          <a:off x="201942" y="833662"/>
          <a:ext cx="3000000" cy="3000000"/>
        </p:xfrm>
        <a:graphic>
          <a:graphicData uri="http://schemas.openxmlformats.org/drawingml/2006/table">
            <a:tbl>
              <a:tblPr bandRow="1" firstRow="1">
                <a:noFill/>
                <a:tableStyleId>{4CFC87C6-1A0B-40AD-94C4-E44D0AB50E7B}</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27" name="Google Shape;27;p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6"/>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0" name="Google Shape;30;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7"/>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p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44" name="Google Shape;44;p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1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47"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49" name="Google Shape;49;p11"/>
          <p:cNvPicPr preferRelativeResize="0"/>
          <p:nvPr/>
        </p:nvPicPr>
        <p:blipFill rotWithShape="1">
          <a:blip r:embed="rId2">
            <a:alphaModFix/>
          </a:blip>
          <a:srcRect b="19149" l="42816" r="37293" t="18358"/>
          <a:stretch/>
        </p:blipFill>
        <p:spPr>
          <a:xfrm>
            <a:off x="6052536" y="514443"/>
            <a:ext cx="2095112" cy="3703320"/>
          </a:xfrm>
          <a:prstGeom prst="rect">
            <a:avLst/>
          </a:prstGeom>
          <a:noFill/>
          <a:ln>
            <a:noFill/>
          </a:ln>
        </p:spPr>
      </p:pic>
      <p:sp>
        <p:nvSpPr>
          <p:cNvPr id="50" name="Google Shape;50;p11"/>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51" name="Google Shape;51;p11"/>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US"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13"/>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64" name="Google Shape;64;p13"/>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65" name="Google Shape;65;p1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4"/>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68" name="Google Shape;68;p14"/>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71" name="Google Shape;71;p1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72" name="Shape 72"/>
        <p:cNvGrpSpPr/>
        <p:nvPr/>
      </p:nvGrpSpPr>
      <p:grpSpPr>
        <a:xfrm>
          <a:off x="0" y="0"/>
          <a:ext cx="0" cy="0"/>
          <a:chOff x="0" y="0"/>
          <a:chExt cx="0" cy="0"/>
        </a:xfrm>
      </p:grpSpPr>
      <p:sp>
        <p:nvSpPr>
          <p:cNvPr id="73" name="Google Shape;73;p16"/>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74" name="Google Shape;74;p16"/>
          <p:cNvGraphicFramePr/>
          <p:nvPr/>
        </p:nvGraphicFramePr>
        <p:xfrm>
          <a:off x="201942" y="833662"/>
          <a:ext cx="3000000" cy="3000000"/>
        </p:xfrm>
        <a:graphic>
          <a:graphicData uri="http://schemas.openxmlformats.org/drawingml/2006/table">
            <a:tbl>
              <a:tblPr bandRow="1" firstRow="1">
                <a:noFill/>
                <a:tableStyleId>{4CFC87C6-1A0B-40AD-94C4-E44D0AB50E7B}</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75" name="Google Shape;75;p1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6" name="Shape 76"/>
        <p:cNvGrpSpPr/>
        <p:nvPr/>
      </p:nvGrpSpPr>
      <p:grpSpPr>
        <a:xfrm>
          <a:off x="0" y="0"/>
          <a:ext cx="0" cy="0"/>
          <a:chOff x="0" y="0"/>
          <a:chExt cx="0" cy="0"/>
        </a:xfrm>
      </p:grpSpPr>
      <p:sp>
        <p:nvSpPr>
          <p:cNvPr id="77" name="Google Shape;77;p17"/>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8" name="Google Shape;78;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9" name="Google Shape;79;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0" name="Google Shape;80;p1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8"/>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3" name="Google Shape;83;p1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4" name="Shape 84"/>
        <p:cNvGrpSpPr/>
        <p:nvPr/>
      </p:nvGrpSpPr>
      <p:grpSpPr>
        <a:xfrm>
          <a:off x="0" y="0"/>
          <a:ext cx="0" cy="0"/>
          <a:chOff x="0" y="0"/>
          <a:chExt cx="0" cy="0"/>
        </a:xfrm>
      </p:grpSpPr>
      <p:sp>
        <p:nvSpPr>
          <p:cNvPr id="85" name="Google Shape;85;p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6" name="Google Shape;86;p1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7" name="Shape 87"/>
        <p:cNvGrpSpPr/>
        <p:nvPr/>
      </p:nvGrpSpPr>
      <p:grpSpPr>
        <a:xfrm>
          <a:off x="0" y="0"/>
          <a:ext cx="0" cy="0"/>
          <a:chOff x="0" y="0"/>
          <a:chExt cx="0" cy="0"/>
        </a:xfrm>
      </p:grpSpPr>
      <p:sp>
        <p:nvSpPr>
          <p:cNvPr id="88" name="Google Shape;88;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0" name="Google Shape;90;p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1" name="Google Shape;91;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92" name="Google Shape;92;p2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95" name="Shape 95"/>
        <p:cNvGrpSpPr/>
        <p:nvPr/>
      </p:nvGrpSpPr>
      <p:grpSpPr>
        <a:xfrm>
          <a:off x="0" y="0"/>
          <a:ext cx="0" cy="0"/>
          <a:chOff x="0" y="0"/>
          <a:chExt cx="0" cy="0"/>
        </a:xfrm>
      </p:grpSpPr>
      <p:sp>
        <p:nvSpPr>
          <p:cNvPr id="96" name="Google Shape;96;p22"/>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97" name="Google Shape;97;p22"/>
          <p:cNvPicPr preferRelativeResize="0"/>
          <p:nvPr/>
        </p:nvPicPr>
        <p:blipFill rotWithShape="1">
          <a:blip r:embed="rId2">
            <a:alphaModFix/>
          </a:blip>
          <a:srcRect b="19147" l="42816" r="37293" t="18360"/>
          <a:stretch/>
        </p:blipFill>
        <p:spPr>
          <a:xfrm>
            <a:off x="6052536" y="514443"/>
            <a:ext cx="2095112" cy="3703320"/>
          </a:xfrm>
          <a:prstGeom prst="rect">
            <a:avLst/>
          </a:prstGeom>
          <a:noFill/>
          <a:ln>
            <a:noFill/>
          </a:ln>
        </p:spPr>
      </p:pic>
      <p:sp>
        <p:nvSpPr>
          <p:cNvPr id="98" name="Google Shape;98;p22"/>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99" name="Google Shape;99;p22"/>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US"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100" name="Google Shape;100;p22"/>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10" name="Shape 110"/>
        <p:cNvGrpSpPr/>
        <p:nvPr/>
      </p:nvGrpSpPr>
      <p:grpSpPr>
        <a:xfrm>
          <a:off x="0" y="0"/>
          <a:ext cx="0" cy="0"/>
          <a:chOff x="0" y="0"/>
          <a:chExt cx="0" cy="0"/>
        </a:xfrm>
      </p:grpSpPr>
      <p:sp>
        <p:nvSpPr>
          <p:cNvPr id="111" name="Google Shape;111;p24"/>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112" name="Google Shape;112;p24"/>
          <p:cNvPicPr preferRelativeResize="0"/>
          <p:nvPr/>
        </p:nvPicPr>
        <p:blipFill rotWithShape="1">
          <a:blip r:embed="rId2">
            <a:alphaModFix/>
          </a:blip>
          <a:srcRect b="19149" l="42816" r="37293" t="18358"/>
          <a:stretch/>
        </p:blipFill>
        <p:spPr>
          <a:xfrm>
            <a:off x="6052536" y="514443"/>
            <a:ext cx="2095112" cy="3703320"/>
          </a:xfrm>
          <a:prstGeom prst="rect">
            <a:avLst/>
          </a:prstGeom>
          <a:noFill/>
          <a:ln>
            <a:noFill/>
          </a:ln>
        </p:spPr>
      </p:pic>
      <p:sp>
        <p:nvSpPr>
          <p:cNvPr id="113" name="Google Shape;113;p24"/>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114" name="Google Shape;114;p24"/>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US"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115" name="Google Shape;115;p24"/>
          <p:cNvPicPr preferRelativeResize="0"/>
          <p:nvPr/>
        </p:nvPicPr>
        <p:blipFill rotWithShape="1">
          <a:blip r:embed="rId3">
            <a:alphaModFix/>
          </a:blip>
          <a:srcRect b="0" l="0" r="0" t="0"/>
          <a:stretch/>
        </p:blipFill>
        <p:spPr>
          <a:xfrm>
            <a:off x="421875" y="769949"/>
            <a:ext cx="3071452" cy="12612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6" name="Shape 116"/>
        <p:cNvGrpSpPr/>
        <p:nvPr/>
      </p:nvGrpSpPr>
      <p:grpSpPr>
        <a:xfrm>
          <a:off x="0" y="0"/>
          <a:ext cx="0" cy="0"/>
          <a:chOff x="0" y="0"/>
          <a:chExt cx="0" cy="0"/>
        </a:xfrm>
      </p:grpSpPr>
      <p:sp>
        <p:nvSpPr>
          <p:cNvPr id="117" name="Google Shape;117;p25"/>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18" name="Google Shape;118;p25"/>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9" name="Shape 119"/>
        <p:cNvGrpSpPr/>
        <p:nvPr/>
      </p:nvGrpSpPr>
      <p:grpSpPr>
        <a:xfrm>
          <a:off x="0" y="0"/>
          <a:ext cx="0" cy="0"/>
          <a:chOff x="0" y="0"/>
          <a:chExt cx="0" cy="0"/>
        </a:xfrm>
      </p:grpSpPr>
      <p:sp>
        <p:nvSpPr>
          <p:cNvPr id="120" name="Google Shape;120;p2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121" name="Google Shape;121;p2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2" name="Shape 122"/>
        <p:cNvGrpSpPr/>
        <p:nvPr/>
      </p:nvGrpSpPr>
      <p:grpSpPr>
        <a:xfrm>
          <a:off x="0" y="0"/>
          <a:ext cx="0" cy="0"/>
          <a:chOff x="0" y="0"/>
          <a:chExt cx="0" cy="0"/>
        </a:xfrm>
      </p:grpSpPr>
      <p:sp>
        <p:nvSpPr>
          <p:cNvPr id="123" name="Google Shape;123;p27"/>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24" name="Google Shape;124;p27"/>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125" name="Google Shape;125;p2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126" name="Shape 126"/>
        <p:cNvGrpSpPr/>
        <p:nvPr/>
      </p:nvGrpSpPr>
      <p:grpSpPr>
        <a:xfrm>
          <a:off x="0" y="0"/>
          <a:ext cx="0" cy="0"/>
          <a:chOff x="0" y="0"/>
          <a:chExt cx="0" cy="0"/>
        </a:xfrm>
      </p:grpSpPr>
      <p:sp>
        <p:nvSpPr>
          <p:cNvPr id="127" name="Google Shape;127;p28"/>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128" name="Google Shape;128;p28"/>
          <p:cNvGraphicFramePr/>
          <p:nvPr/>
        </p:nvGraphicFramePr>
        <p:xfrm>
          <a:off x="201942" y="833662"/>
          <a:ext cx="3000000" cy="3000000"/>
        </p:xfrm>
        <a:graphic>
          <a:graphicData uri="http://schemas.openxmlformats.org/drawingml/2006/table">
            <a:tbl>
              <a:tblPr bandRow="1" firstRow="1">
                <a:noFill/>
                <a:tableStyleId>{4CFC87C6-1A0B-40AD-94C4-E44D0AB50E7B}</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129" name="Google Shape;129;p2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0" name="Shape 130"/>
        <p:cNvGrpSpPr/>
        <p:nvPr/>
      </p:nvGrpSpPr>
      <p:grpSpPr>
        <a:xfrm>
          <a:off x="0" y="0"/>
          <a:ext cx="0" cy="0"/>
          <a:chOff x="0" y="0"/>
          <a:chExt cx="0" cy="0"/>
        </a:xfrm>
      </p:grpSpPr>
      <p:sp>
        <p:nvSpPr>
          <p:cNvPr id="131" name="Google Shape;131;p29"/>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32" name="Google Shape;132;p2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33" name="Google Shape;133;p2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34" name="Google Shape;134;p2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 name="Shape 135"/>
        <p:cNvGrpSpPr/>
        <p:nvPr/>
      </p:nvGrpSpPr>
      <p:grpSpPr>
        <a:xfrm>
          <a:off x="0" y="0"/>
          <a:ext cx="0" cy="0"/>
          <a:chOff x="0" y="0"/>
          <a:chExt cx="0" cy="0"/>
        </a:xfrm>
      </p:grpSpPr>
      <p:sp>
        <p:nvSpPr>
          <p:cNvPr id="136" name="Google Shape;136;p30"/>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37" name="Google Shape;137;p3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8" name="Shape 138"/>
        <p:cNvGrpSpPr/>
        <p:nvPr/>
      </p:nvGrpSpPr>
      <p:grpSpPr>
        <a:xfrm>
          <a:off x="0" y="0"/>
          <a:ext cx="0" cy="0"/>
          <a:chOff x="0" y="0"/>
          <a:chExt cx="0" cy="0"/>
        </a:xfrm>
      </p:grpSpPr>
      <p:sp>
        <p:nvSpPr>
          <p:cNvPr id="139" name="Google Shape;139;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40" name="Google Shape;140;p3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1" name="Shape 141"/>
        <p:cNvGrpSpPr/>
        <p:nvPr/>
      </p:nvGrpSpPr>
      <p:grpSpPr>
        <a:xfrm>
          <a:off x="0" y="0"/>
          <a:ext cx="0" cy="0"/>
          <a:chOff x="0" y="0"/>
          <a:chExt cx="0" cy="0"/>
        </a:xfrm>
      </p:grpSpPr>
      <p:sp>
        <p:nvSpPr>
          <p:cNvPr id="142" name="Google Shape;142;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44" name="Google Shape;144;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45" name="Google Shape;145;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146" name="Google Shape;146;p3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7" name="Shape 147"/>
        <p:cNvGrpSpPr/>
        <p:nvPr/>
      </p:nvGrpSpPr>
      <p:grpSpPr>
        <a:xfrm>
          <a:off x="0" y="0"/>
          <a:ext cx="0" cy="0"/>
          <a:chOff x="0" y="0"/>
          <a:chExt cx="0" cy="0"/>
        </a:xfrm>
      </p:grpSpPr>
      <p:sp>
        <p:nvSpPr>
          <p:cNvPr id="148" name="Google Shape;148;p3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2.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11" Type="http://schemas.openxmlformats.org/officeDocument/2006/relationships/slideLayout" Target="../slideLayouts/slideLayout30.xml"/><Relationship Id="rId10" Type="http://schemas.openxmlformats.org/officeDocument/2006/relationships/slideLayout" Target="../slideLayouts/slideLayout29.xml"/><Relationship Id="rId12" Type="http://schemas.openxmlformats.org/officeDocument/2006/relationships/theme" Target="../theme/theme4.xml"/><Relationship Id="rId9" Type="http://schemas.openxmlformats.org/officeDocument/2006/relationships/slideLayout" Target="../slideLayouts/slideLayout28.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7" name="Google Shape;7;p1"/>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p1"/>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US"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p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pic>
        <p:nvPicPr>
          <p:cNvPr id="10" name="Google Shape;10;p1"/>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 name="Shape 53"/>
        <p:cNvGrpSpPr/>
        <p:nvPr/>
      </p:nvGrpSpPr>
      <p:grpSpPr>
        <a:xfrm>
          <a:off x="0" y="0"/>
          <a:ext cx="0" cy="0"/>
          <a:chOff x="0" y="0"/>
          <a:chExt cx="0" cy="0"/>
        </a:xfrm>
      </p:grpSpPr>
      <p:sp>
        <p:nvSpPr>
          <p:cNvPr id="54" name="Google Shape;54;p1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55" name="Google Shape;55;p12"/>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56" name="Google Shape;56;p12"/>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US"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57" name="Google Shape;57;p1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pic>
        <p:nvPicPr>
          <p:cNvPr id="58" name="Google Shape;58;p12"/>
          <p:cNvPicPr preferRelativeResize="0"/>
          <p:nvPr/>
        </p:nvPicPr>
        <p:blipFill rotWithShape="1">
          <a:blip r:embed="rId1">
            <a:alphaModFix/>
          </a:blip>
          <a:srcRect b="0" l="0" r="0" t="0"/>
          <a:stretch/>
        </p:blipFill>
        <p:spPr>
          <a:xfrm>
            <a:off x="7669500" y="68264"/>
            <a:ext cx="1395475" cy="572700"/>
          </a:xfrm>
          <a:prstGeom prst="rect">
            <a:avLst/>
          </a:prstGeom>
          <a:noFill/>
          <a:ln>
            <a:noFill/>
          </a:ln>
        </p:spPr>
      </p:pic>
      <p:grpSp>
        <p:nvGrpSpPr>
          <p:cNvPr id="59" name="Google Shape;59;p12"/>
          <p:cNvGrpSpPr/>
          <p:nvPr/>
        </p:nvGrpSpPr>
        <p:grpSpPr>
          <a:xfrm>
            <a:off x="6593" y="10"/>
            <a:ext cx="175500" cy="709221"/>
            <a:chOff x="6593" y="10"/>
            <a:chExt cx="175500" cy="709221"/>
          </a:xfrm>
        </p:grpSpPr>
        <p:sp>
          <p:nvSpPr>
            <p:cNvPr id="60" name="Google Shape;60;p12"/>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2"/>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1" name="Shape 101"/>
        <p:cNvGrpSpPr/>
        <p:nvPr/>
      </p:nvGrpSpPr>
      <p:grpSpPr>
        <a:xfrm>
          <a:off x="0" y="0"/>
          <a:ext cx="0" cy="0"/>
          <a:chOff x="0" y="0"/>
          <a:chExt cx="0" cy="0"/>
        </a:xfrm>
      </p:grpSpPr>
      <p:sp>
        <p:nvSpPr>
          <p:cNvPr id="102" name="Google Shape;102;p23"/>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103" name="Google Shape;103;p23"/>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104" name="Google Shape;104;p23"/>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US"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105" name="Google Shape;105;p2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US"/>
              <a:t>‹#›</a:t>
            </a:fld>
            <a:endParaRPr/>
          </a:p>
        </p:txBody>
      </p:sp>
      <p:pic>
        <p:nvPicPr>
          <p:cNvPr id="106" name="Google Shape;106;p23"/>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07" name="Google Shape;107;p23"/>
          <p:cNvGrpSpPr/>
          <p:nvPr/>
        </p:nvGrpSpPr>
        <p:grpSpPr>
          <a:xfrm>
            <a:off x="6593" y="10"/>
            <a:ext cx="175500" cy="709221"/>
            <a:chOff x="6593" y="10"/>
            <a:chExt cx="175500" cy="709221"/>
          </a:xfrm>
        </p:grpSpPr>
        <p:sp>
          <p:nvSpPr>
            <p:cNvPr id="108" name="Google Shape;108;p23"/>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3"/>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mc:AlternateContent>
    <mc:Choice Requires="p14">
      <p:transition p14:dur="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4"/>
          <p:cNvSpPr txBox="1"/>
          <p:nvPr>
            <p:ph type="ctrTitle"/>
          </p:nvPr>
        </p:nvSpPr>
        <p:spPr>
          <a:xfrm>
            <a:off x="650400" y="1902900"/>
            <a:ext cx="7843200" cy="133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US" sz="3300">
                <a:latin typeface="Century Gothic"/>
                <a:ea typeface="Century Gothic"/>
                <a:cs typeface="Century Gothic"/>
                <a:sym typeface="Century Gothic"/>
              </a:rPr>
              <a:t>Loan Default Prediction</a:t>
            </a:r>
            <a:endParaRPr sz="3300">
              <a:latin typeface="Century Gothic"/>
              <a:ea typeface="Century Gothic"/>
              <a:cs typeface="Century Gothic"/>
              <a:sym typeface="Century Gothic"/>
            </a:endParaRPr>
          </a:p>
          <a:p>
            <a:pPr indent="0" lvl="0" marL="0" rtl="0" algn="l">
              <a:lnSpc>
                <a:spcPct val="100000"/>
              </a:lnSpc>
              <a:spcBef>
                <a:spcPts val="0"/>
              </a:spcBef>
              <a:spcAft>
                <a:spcPts val="0"/>
              </a:spcAft>
              <a:buSzPts val="4800"/>
              <a:buNone/>
            </a:pPr>
            <a:r>
              <a:rPr b="0" lang="en-US" sz="3300">
                <a:latin typeface="Century Gothic"/>
                <a:ea typeface="Century Gothic"/>
                <a:cs typeface="Century Gothic"/>
                <a:sym typeface="Century Gothic"/>
              </a:rPr>
              <a:t>Prediction Methods - Neural Networks</a:t>
            </a:r>
            <a:endParaRPr b="0" sz="330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5"/>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Contents / Agenda</a:t>
            </a:r>
            <a:endParaRPr>
              <a:solidFill>
                <a:schemeClr val="lt2"/>
              </a:solidFill>
              <a:latin typeface="Century Gothic"/>
              <a:ea typeface="Century Gothic"/>
              <a:cs typeface="Century Gothic"/>
              <a:sym typeface="Century Gothic"/>
            </a:endParaRPr>
          </a:p>
        </p:txBody>
      </p:sp>
      <p:sp>
        <p:nvSpPr>
          <p:cNvPr id="159" name="Google Shape;159;p35"/>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Business Problem Overview &amp; Solution Approach</a:t>
            </a:r>
            <a:endParaRPr/>
          </a:p>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Data Dictionary</a:t>
            </a:r>
            <a:endParaRPr/>
          </a:p>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Exploratory Data Analysis (EDA) Results</a:t>
            </a:r>
            <a:endParaRPr/>
          </a:p>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Data Preprocessing</a:t>
            </a:r>
            <a:endParaRPr/>
          </a:p>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Model Performance Summary</a:t>
            </a:r>
            <a:endParaRPr/>
          </a:p>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Best Model Selection</a:t>
            </a:r>
            <a:endParaRPr/>
          </a:p>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Conclusions &amp; Recommendations</a:t>
            </a:r>
            <a:endParaRPr/>
          </a:p>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Appendix / Screenshots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6"/>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Data Dictionary</a:t>
            </a:r>
            <a:endParaRPr>
              <a:solidFill>
                <a:schemeClr val="lt2"/>
              </a:solidFill>
              <a:latin typeface="Century Gothic"/>
              <a:ea typeface="Century Gothic"/>
              <a:cs typeface="Century Gothic"/>
              <a:sym typeface="Century Gothic"/>
            </a:endParaRPr>
          </a:p>
        </p:txBody>
      </p:sp>
      <p:sp>
        <p:nvSpPr>
          <p:cNvPr id="165" name="Google Shape;165;p36"/>
          <p:cNvSpPr txBox="1"/>
          <p:nvPr>
            <p:ph idx="1" type="body"/>
          </p:nvPr>
        </p:nvSpPr>
        <p:spPr>
          <a:xfrm>
            <a:off x="311750" y="861975"/>
            <a:ext cx="8520600" cy="3706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000"/>
              </a:spcBef>
              <a:spcAft>
                <a:spcPts val="0"/>
              </a:spcAft>
              <a:buSzPts val="1500"/>
              <a:buNone/>
            </a:pPr>
            <a:r>
              <a:rPr lang="en-US" sz="1200">
                <a:solidFill>
                  <a:schemeClr val="dk1"/>
                </a:solidFill>
                <a:latin typeface="Century Gothic"/>
                <a:ea typeface="Century Gothic"/>
                <a:cs typeface="Century Gothic"/>
                <a:sym typeface="Century Gothic"/>
              </a:rPr>
              <a:t>The data contains different attributes of customers’ loan and credit details. The detailed data dictionary is given below:</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BAD: Whether the client defaulted on the loan (0 = No, 1 = Yes)</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LOAN: Amount of loan approved</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MORTDUE: Amount due on the existing mortgage</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VALUE: Current value of the property</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REASON: Reason for the loan request (HomeImp = Home Improvement, DebtCon = Debt Consolidation)</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JOB: Type of job the applicant has (e.g., Manager, Self-employed)</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YOJ: Years at present job</a:t>
            </a:r>
            <a:endParaRPr/>
          </a:p>
          <a:p>
            <a:pPr indent="0" lvl="0" marL="457200" rtl="0" algn="l">
              <a:lnSpc>
                <a:spcPct val="150000"/>
              </a:lnSpc>
              <a:spcBef>
                <a:spcPts val="1000"/>
              </a:spcBef>
              <a:spcAft>
                <a:spcPts val="0"/>
              </a:spcAft>
              <a:buSzPts val="1500"/>
              <a:buNone/>
            </a:pPr>
            <a:r>
              <a:t/>
            </a:r>
            <a:endParaRPr sz="1400">
              <a:solidFill>
                <a:schemeClr val="dk1"/>
              </a:solidFill>
              <a:latin typeface="Century Gothic"/>
              <a:ea typeface="Century Gothic"/>
              <a:cs typeface="Century Gothic"/>
              <a:sym typeface="Century Gothic"/>
            </a:endParaRPr>
          </a:p>
          <a:p>
            <a:pPr indent="0" lvl="0" marL="0" rtl="0" algn="l">
              <a:lnSpc>
                <a:spcPct val="150000"/>
              </a:lnSpc>
              <a:spcBef>
                <a:spcPts val="1000"/>
              </a:spcBef>
              <a:spcAft>
                <a:spcPts val="0"/>
              </a:spcAft>
              <a:buSzPts val="1500"/>
              <a:buNone/>
            </a:pPr>
            <a:r>
              <a:t/>
            </a:r>
            <a:endParaRPr sz="1200">
              <a:solidFill>
                <a:schemeClr val="dk1"/>
              </a:solidFill>
              <a:latin typeface="Century Gothic"/>
              <a:ea typeface="Century Gothic"/>
              <a:cs typeface="Century Gothic"/>
              <a:sym typeface="Century Gothic"/>
            </a:endParaRPr>
          </a:p>
          <a:p>
            <a:pPr indent="0" lvl="0" marL="457200" rtl="0" algn="l">
              <a:lnSpc>
                <a:spcPct val="150000"/>
              </a:lnSpc>
              <a:spcBef>
                <a:spcPts val="1000"/>
              </a:spcBef>
              <a:spcAft>
                <a:spcPts val="1000"/>
              </a:spcAft>
              <a:buSzPts val="1500"/>
              <a:buNone/>
            </a:pPr>
            <a:r>
              <a:t/>
            </a: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7"/>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Data Dictionary</a:t>
            </a:r>
            <a:endParaRPr>
              <a:solidFill>
                <a:schemeClr val="lt2"/>
              </a:solidFill>
              <a:latin typeface="Century Gothic"/>
              <a:ea typeface="Century Gothic"/>
              <a:cs typeface="Century Gothic"/>
              <a:sym typeface="Century Gothic"/>
            </a:endParaRPr>
          </a:p>
        </p:txBody>
      </p:sp>
      <p:sp>
        <p:nvSpPr>
          <p:cNvPr id="171" name="Google Shape;171;p37"/>
          <p:cNvSpPr txBox="1"/>
          <p:nvPr>
            <p:ph idx="1" type="body"/>
          </p:nvPr>
        </p:nvSpPr>
        <p:spPr>
          <a:xfrm>
            <a:off x="311750" y="861975"/>
            <a:ext cx="8520600" cy="3706800"/>
          </a:xfrm>
          <a:prstGeom prst="rect">
            <a:avLst/>
          </a:prstGeom>
          <a:noFill/>
          <a:ln>
            <a:noFill/>
          </a:ln>
        </p:spPr>
        <p:txBody>
          <a:bodyPr anchorCtr="0" anchor="t" bIns="91425" lIns="91425" spcFirstLastPara="1" rIns="91425" wrap="square" tIns="91425">
            <a:noAutofit/>
          </a:bodyPr>
          <a:lstStyle/>
          <a:p>
            <a:pPr indent="-228600" lvl="0" marL="457200" rtl="0" algn="l">
              <a:lnSpc>
                <a:spcPct val="150000"/>
              </a:lnSpc>
              <a:spcBef>
                <a:spcPts val="1000"/>
              </a:spcBef>
              <a:spcAft>
                <a:spcPts val="0"/>
              </a:spcAft>
              <a:buClr>
                <a:schemeClr val="dk1"/>
              </a:buClr>
              <a:buSzPts val="1200"/>
              <a:buFont typeface="Century Gothic"/>
              <a:buNone/>
            </a:pPr>
            <a:r>
              <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DEROG: Number of major derogatory reports (serious delinquency/late payments)</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DELINQ: Number of delinquent credit lines (past due payments)</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CLAGE: Age of the oldest credit line in months</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NINQ: Number of recent credit inquiries</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CLNO: Number of existing credit lines</a:t>
            </a:r>
            <a:endParaRPr/>
          </a:p>
          <a:p>
            <a:pPr indent="-304800" lvl="0" marL="457200" rtl="0" algn="l">
              <a:lnSpc>
                <a:spcPct val="150000"/>
              </a:lnSpc>
              <a:spcBef>
                <a:spcPts val="1000"/>
              </a:spcBef>
              <a:spcAft>
                <a:spcPts val="0"/>
              </a:spcAft>
              <a:buClr>
                <a:schemeClr val="dk1"/>
              </a:buClr>
              <a:buSzPts val="1200"/>
              <a:buFont typeface="Century Gothic"/>
              <a:buChar char="●"/>
            </a:pPr>
            <a:r>
              <a:rPr lang="en-US" sz="1200">
                <a:solidFill>
                  <a:schemeClr val="dk1"/>
                </a:solidFill>
                <a:latin typeface="Century Gothic"/>
                <a:ea typeface="Century Gothic"/>
                <a:cs typeface="Century Gothic"/>
                <a:sym typeface="Century Gothic"/>
              </a:rPr>
              <a:t>DEBTINC: Debt-to-income ratio (all monthly debt payments divided by gross monthly income)</a:t>
            </a:r>
            <a:endParaRPr/>
          </a:p>
          <a:p>
            <a:pPr indent="-228600" lvl="0" marL="914400" rtl="0" algn="l">
              <a:lnSpc>
                <a:spcPct val="115000"/>
              </a:lnSpc>
              <a:spcBef>
                <a:spcPts val="1000"/>
              </a:spcBef>
              <a:spcAft>
                <a:spcPts val="0"/>
              </a:spcAft>
              <a:buClr>
                <a:srgbClr val="2D3B45"/>
              </a:buClr>
              <a:buSzPts val="1200"/>
              <a:buFont typeface="Century Gothic"/>
              <a:buNone/>
            </a:pPr>
            <a:r>
              <a:t/>
            </a: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8"/>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How to use this deck?</a:t>
            </a:r>
            <a:endParaRPr>
              <a:solidFill>
                <a:schemeClr val="lt2"/>
              </a:solidFill>
              <a:latin typeface="Century Gothic"/>
              <a:ea typeface="Century Gothic"/>
              <a:cs typeface="Century Gothic"/>
              <a:sym typeface="Century Gothic"/>
            </a:endParaRPr>
          </a:p>
        </p:txBody>
      </p:sp>
      <p:sp>
        <p:nvSpPr>
          <p:cNvPr id="177" name="Google Shape;177;p38"/>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just">
              <a:lnSpc>
                <a:spcPct val="150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This slide deck serves as a comprehensive template for your project submission</a:t>
            </a:r>
            <a:endParaRPr sz="1400">
              <a:solidFill>
                <a:schemeClr val="dk1"/>
              </a:solidFill>
              <a:latin typeface="Century Gothic"/>
              <a:ea typeface="Century Gothic"/>
              <a:cs typeface="Century Gothic"/>
              <a:sym typeface="Century Gothic"/>
            </a:endParaRPr>
          </a:p>
          <a:p>
            <a:pPr indent="-317500" lvl="0" marL="457200" rtl="0" algn="just">
              <a:lnSpc>
                <a:spcPct val="150000"/>
              </a:lnSpc>
              <a:spcBef>
                <a:spcPts val="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Within this deck, you will come across various questions that are intended to test your ability to understand data visualizations, discover patterns / insights and postulate hypothesis. Think thoroughly and provide answers to these questions</a:t>
            </a:r>
            <a:endParaRPr sz="1400">
              <a:solidFill>
                <a:schemeClr val="dk1"/>
              </a:solidFill>
              <a:latin typeface="Century Gothic"/>
              <a:ea typeface="Century Gothic"/>
              <a:cs typeface="Century Gothic"/>
              <a:sym typeface="Century Gothic"/>
            </a:endParaRPr>
          </a:p>
          <a:p>
            <a:pPr indent="-317500" lvl="0" marL="457200" rtl="0" algn="just">
              <a:lnSpc>
                <a:spcPct val="150000"/>
              </a:lnSpc>
              <a:spcBef>
                <a:spcPts val="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You are encouraged to modify this deck as required, by replacing the questions with suitable answers</a:t>
            </a:r>
            <a:endParaRPr sz="1400">
              <a:solidFill>
                <a:schemeClr val="dk1"/>
              </a:solidFill>
              <a:latin typeface="Century Gothic"/>
              <a:ea typeface="Century Gothic"/>
              <a:cs typeface="Century Gothic"/>
              <a:sym typeface="Century Gothic"/>
            </a:endParaRPr>
          </a:p>
          <a:p>
            <a:pPr indent="-317500" lvl="0" marL="457200" rtl="0" algn="just">
              <a:lnSpc>
                <a:spcPct val="150000"/>
              </a:lnSpc>
              <a:spcBef>
                <a:spcPts val="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feel free to incorporate additional points if you deem necessary</a:t>
            </a:r>
            <a:endParaRPr sz="1400">
              <a:solidFill>
                <a:schemeClr val="dk1"/>
              </a:solidFill>
              <a:latin typeface="Century Gothic"/>
              <a:ea typeface="Century Gothic"/>
              <a:cs typeface="Century Gothic"/>
              <a:sym typeface="Century Gothic"/>
            </a:endParaRPr>
          </a:p>
          <a:p>
            <a:pPr indent="0" lvl="0" marL="0" rtl="0" algn="just">
              <a:lnSpc>
                <a:spcPct val="150000"/>
              </a:lnSpc>
              <a:spcBef>
                <a:spcPts val="1000"/>
              </a:spcBef>
              <a:spcAft>
                <a:spcPts val="0"/>
              </a:spcAft>
              <a:buSzPts val="1500"/>
              <a:buNone/>
            </a:pPr>
            <a:r>
              <a:rPr b="1" lang="en-US" sz="1300">
                <a:solidFill>
                  <a:schemeClr val="dk1"/>
                </a:solidFill>
                <a:latin typeface="Century Gothic"/>
                <a:ea typeface="Century Gothic"/>
                <a:cs typeface="Century Gothic"/>
                <a:sym typeface="Century Gothic"/>
              </a:rPr>
              <a:t>Note: </a:t>
            </a:r>
            <a:r>
              <a:rPr lang="en-US" sz="1300">
                <a:solidFill>
                  <a:schemeClr val="dk1"/>
                </a:solidFill>
                <a:latin typeface="Century Gothic"/>
                <a:ea typeface="Century Gothic"/>
                <a:cs typeface="Century Gothic"/>
                <a:sym typeface="Century Gothic"/>
              </a:rPr>
              <a:t>The data visualizations you see in this deck are obtained from RapidMiner</a:t>
            </a:r>
            <a:endParaRPr sz="1300">
              <a:solidFill>
                <a:schemeClr val="dk1"/>
              </a:solidFill>
              <a:latin typeface="Century Gothic"/>
              <a:ea typeface="Century Gothic"/>
              <a:cs typeface="Century Gothic"/>
              <a:sym typeface="Century Gothic"/>
            </a:endParaRPr>
          </a:p>
          <a:p>
            <a:pPr indent="0" lvl="0" marL="0" rtl="0" algn="l">
              <a:lnSpc>
                <a:spcPct val="150000"/>
              </a:lnSpc>
              <a:spcBef>
                <a:spcPts val="1000"/>
              </a:spcBef>
              <a:spcAft>
                <a:spcPts val="0"/>
              </a:spcAft>
              <a:buSzPts val="1500"/>
              <a:buNone/>
            </a:pPr>
            <a:r>
              <a:t/>
            </a:r>
            <a:endParaRPr sz="1400">
              <a:solidFill>
                <a:schemeClr val="dk1"/>
              </a:solidFill>
              <a:latin typeface="Century Gothic"/>
              <a:ea typeface="Century Gothic"/>
              <a:cs typeface="Century Gothic"/>
              <a:sym typeface="Century Gothic"/>
            </a:endParaRPr>
          </a:p>
          <a:p>
            <a:pPr indent="0" lvl="0" marL="457200" rtl="0" algn="l">
              <a:lnSpc>
                <a:spcPct val="150000"/>
              </a:lnSpc>
              <a:spcBef>
                <a:spcPts val="1000"/>
              </a:spcBef>
              <a:spcAft>
                <a:spcPts val="1000"/>
              </a:spcAft>
              <a:buSzPts val="1500"/>
              <a:buNone/>
            </a:pPr>
            <a:r>
              <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9"/>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Business Problem Overview and Solution Approach</a:t>
            </a:r>
            <a:endParaRPr>
              <a:solidFill>
                <a:schemeClr val="lt2"/>
              </a:solidFill>
              <a:latin typeface="Century Gothic"/>
              <a:ea typeface="Century Gothic"/>
              <a:cs typeface="Century Gothic"/>
              <a:sym typeface="Century Gothic"/>
            </a:endParaRPr>
          </a:p>
        </p:txBody>
      </p:sp>
      <p:sp>
        <p:nvSpPr>
          <p:cNvPr id="183" name="Google Shape;183;p39"/>
          <p:cNvSpPr txBox="1"/>
          <p:nvPr>
            <p:ph idx="1" type="body"/>
          </p:nvPr>
        </p:nvSpPr>
        <p:spPr>
          <a:xfrm>
            <a:off x="202550" y="861975"/>
            <a:ext cx="8629800" cy="776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define the problem</a:t>
            </a:r>
            <a:endParaRPr sz="1400">
              <a:solidFill>
                <a:schemeClr val="dk1"/>
              </a:solidFill>
              <a:latin typeface="Century Gothic"/>
              <a:ea typeface="Century Gothic"/>
              <a:cs typeface="Century Gothic"/>
              <a:sym typeface="Century Gothic"/>
            </a:endParaRPr>
          </a:p>
          <a:p>
            <a:pPr indent="-317500" lvl="0" marL="457200" rtl="0" algn="l">
              <a:lnSpc>
                <a:spcPct val="115000"/>
              </a:lnSpc>
              <a:spcBef>
                <a:spcPts val="1000"/>
              </a:spcBef>
              <a:spcAft>
                <a:spcPts val="100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mention the solution approach / methodology</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0"/>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lt2"/>
                </a:solidFill>
                <a:latin typeface="Century Gothic"/>
                <a:ea typeface="Century Gothic"/>
                <a:cs typeface="Century Gothic"/>
                <a:sym typeface="Century Gothic"/>
              </a:rPr>
              <a:t>Statistics after Retrieve (Initial EDA):</a:t>
            </a:r>
            <a:endParaRPr b="1" i="0" sz="2200" u="none" cap="none" strike="noStrike">
              <a:solidFill>
                <a:schemeClr val="lt2"/>
              </a:solidFill>
              <a:latin typeface="Century Gothic"/>
              <a:ea typeface="Century Gothic"/>
              <a:cs typeface="Century Gothic"/>
              <a:sym typeface="Century Gothic"/>
            </a:endParaRPr>
          </a:p>
        </p:txBody>
      </p:sp>
      <p:pic>
        <p:nvPicPr>
          <p:cNvPr id="189" name="Google Shape;189;p40"/>
          <p:cNvPicPr preferRelativeResize="0"/>
          <p:nvPr/>
        </p:nvPicPr>
        <p:blipFill rotWithShape="1">
          <a:blip r:embed="rId3">
            <a:alphaModFix/>
          </a:blip>
          <a:srcRect b="0" l="0" r="0" t="0"/>
          <a:stretch/>
        </p:blipFill>
        <p:spPr>
          <a:xfrm>
            <a:off x="710763" y="1808801"/>
            <a:ext cx="7613375" cy="3381765"/>
          </a:xfrm>
          <a:prstGeom prst="rect">
            <a:avLst/>
          </a:prstGeom>
          <a:noFill/>
          <a:ln>
            <a:noFill/>
          </a:ln>
        </p:spPr>
      </p:pic>
      <p:sp>
        <p:nvSpPr>
          <p:cNvPr id="190" name="Google Shape;190;p40"/>
          <p:cNvSpPr txBox="1"/>
          <p:nvPr>
            <p:ph idx="1" type="body"/>
          </p:nvPr>
        </p:nvSpPr>
        <p:spPr>
          <a:xfrm>
            <a:off x="202550" y="752645"/>
            <a:ext cx="8629800" cy="8958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At this stage, the statistics were used to understand the raw data before any modifications. This helped in identifying missing values, data types, and the overall distribution of features. It represents the initial univariate exploratory data analysis (EDA).</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41"/>
          <p:cNvPicPr preferRelativeResize="0"/>
          <p:nvPr/>
        </p:nvPicPr>
        <p:blipFill rotWithShape="1">
          <a:blip r:embed="rId3">
            <a:alphaModFix/>
          </a:blip>
          <a:srcRect b="0" l="0" r="0" t="0"/>
          <a:stretch/>
        </p:blipFill>
        <p:spPr>
          <a:xfrm>
            <a:off x="725562" y="775254"/>
            <a:ext cx="7954612" cy="36169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42"/>
          <p:cNvPicPr preferRelativeResize="0"/>
          <p:nvPr/>
        </p:nvPicPr>
        <p:blipFill rotWithShape="1">
          <a:blip r:embed="rId3">
            <a:alphaModFix/>
          </a:blip>
          <a:srcRect b="0" l="0" r="0" t="0"/>
          <a:stretch/>
        </p:blipFill>
        <p:spPr>
          <a:xfrm>
            <a:off x="304800" y="918978"/>
            <a:ext cx="8534400" cy="34343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3"/>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SzPts val="1400"/>
              <a:buFont typeface="Nunito"/>
              <a:buChar char="●"/>
            </a:pPr>
            <a:r>
              <a:rPr lang="en-US" sz="1400"/>
              <a:t>The Statistics give insights into different attributes of the dataset. We have shown the results for BAD, CLAGE, and CLNO to understand how these variables behave at each stage. Other attributes like DEBTINC, DELINQ, DEROG, JOB, LOAN, MORTDUE, NINQ, REASON, VALUE, and YOJ are also available in the dataset you can explore them in the same way using the Statistics operator to understand their patterns and values.</a:t>
            </a:r>
            <a:endParaRPr sz="1400"/>
          </a:p>
          <a:p>
            <a:pPr indent="-317500" lvl="0" marL="457200" rtl="0" algn="just">
              <a:lnSpc>
                <a:spcPct val="115000"/>
              </a:lnSpc>
              <a:spcBef>
                <a:spcPts val="0"/>
              </a:spcBef>
              <a:spcAft>
                <a:spcPts val="0"/>
              </a:spcAft>
              <a:buSzPts val="1400"/>
              <a:buChar char="●"/>
            </a:pPr>
            <a:r>
              <a:rPr lang="en-US" sz="1400"/>
              <a:t>Add</a:t>
            </a:r>
            <a:r>
              <a:rPr lang="en-US" sz="1400"/>
              <a:t> your insights and observations regarding the attributes you analyze in order to gain a deeper understanding of the data.</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4"/>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lt2"/>
                </a:solidFill>
                <a:latin typeface="Century Gothic"/>
                <a:ea typeface="Century Gothic"/>
                <a:cs typeface="Century Gothic"/>
                <a:sym typeface="Century Gothic"/>
              </a:rPr>
              <a:t>Statistics after Preprocessing:</a:t>
            </a:r>
            <a:endParaRPr b="1" i="0" sz="2200" u="none" cap="none" strike="noStrike">
              <a:solidFill>
                <a:schemeClr val="lt2"/>
              </a:solidFill>
              <a:latin typeface="Century Gothic"/>
              <a:ea typeface="Century Gothic"/>
              <a:cs typeface="Century Gothic"/>
              <a:sym typeface="Century Gothic"/>
            </a:endParaRPr>
          </a:p>
        </p:txBody>
      </p:sp>
      <p:sp>
        <p:nvSpPr>
          <p:cNvPr id="211" name="Google Shape;211;p44"/>
          <p:cNvSpPr txBox="1"/>
          <p:nvPr>
            <p:ph idx="1" type="body"/>
          </p:nvPr>
        </p:nvSpPr>
        <p:spPr>
          <a:xfrm>
            <a:off x="202550" y="728051"/>
            <a:ext cx="8629800" cy="11436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After performing preprocessing steps such as missing value replacement, nominal-to-numerical conversion, and normalization, the statistics were again used to verify the changes and improvements. This helped confirm that data cleaning and transformations were applied correctly and that the dataset was now ready for modeling.</a:t>
            </a:r>
            <a:endParaRPr/>
          </a:p>
        </p:txBody>
      </p:sp>
      <p:pic>
        <p:nvPicPr>
          <p:cNvPr id="212" name="Google Shape;212;p44"/>
          <p:cNvPicPr preferRelativeResize="0"/>
          <p:nvPr/>
        </p:nvPicPr>
        <p:blipFill rotWithShape="1">
          <a:blip r:embed="rId3">
            <a:alphaModFix/>
          </a:blip>
          <a:srcRect b="0" l="0" r="0" t="0"/>
          <a:stretch/>
        </p:blipFill>
        <p:spPr>
          <a:xfrm>
            <a:off x="514293" y="1934950"/>
            <a:ext cx="7721936" cy="33024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45"/>
          <p:cNvPicPr preferRelativeResize="0"/>
          <p:nvPr/>
        </p:nvPicPr>
        <p:blipFill rotWithShape="1">
          <a:blip r:embed="rId3">
            <a:alphaModFix/>
          </a:blip>
          <a:srcRect b="0" l="0" r="0" t="0"/>
          <a:stretch/>
        </p:blipFill>
        <p:spPr>
          <a:xfrm>
            <a:off x="219711" y="614922"/>
            <a:ext cx="8321315" cy="39136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6"/>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just">
              <a:lnSpc>
                <a:spcPct val="115000"/>
              </a:lnSpc>
              <a:spcBef>
                <a:spcPts val="0"/>
              </a:spcBef>
              <a:spcAft>
                <a:spcPts val="0"/>
              </a:spcAft>
              <a:buSzPts val="1400"/>
              <a:buFont typeface="Nunito"/>
              <a:buChar char="●"/>
            </a:pPr>
            <a:r>
              <a:rPr lang="en-US" sz="1400"/>
              <a:t>The Statistics give insights into different attributes of the dataset. We have shown the results for BAD_nom, CLAGE, and CLNO to understand how these variables behave after preprocessing. Other attributes like DEBTINC, DELINQ, DEROG, JOB_Mgr, JOB_Office, JOB_Other, JOB_ProfExe, JOB_Sales, JOB_Self, LOAN, MORTDUE, NINQ, REASON_DebtCon, REASON_HomeImp, VALUE, and YOJ are also available in the dataset - you can explore them in the same way using the Statistics operator to understand their patterns and values.</a:t>
            </a:r>
            <a:endParaRPr sz="1400"/>
          </a:p>
          <a:p>
            <a:pPr indent="-317500" lvl="0" marL="457200" rtl="0" algn="just">
              <a:lnSpc>
                <a:spcPct val="115000"/>
              </a:lnSpc>
              <a:spcBef>
                <a:spcPts val="0"/>
              </a:spcBef>
              <a:spcAft>
                <a:spcPts val="0"/>
              </a:spcAft>
              <a:buSzPts val="1400"/>
              <a:buChar char="●"/>
            </a:pPr>
            <a:r>
              <a:rPr lang="en-US" sz="1400"/>
              <a:t>Add your insights and observations regarding the attributes you analyze in order to gain a deeper understanding of the data.</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47"/>
          <p:cNvPicPr preferRelativeResize="0"/>
          <p:nvPr/>
        </p:nvPicPr>
        <p:blipFill rotWithShape="1">
          <a:blip r:embed="rId3">
            <a:alphaModFix/>
          </a:blip>
          <a:srcRect b="0" l="0" r="0" t="0"/>
          <a:stretch/>
        </p:blipFill>
        <p:spPr>
          <a:xfrm>
            <a:off x="546852" y="801756"/>
            <a:ext cx="8411618" cy="39501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8"/>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Scenario 1: Basic Neural Network </a:t>
            </a:r>
            <a:endParaRPr/>
          </a:p>
        </p:txBody>
      </p:sp>
      <p:sp>
        <p:nvSpPr>
          <p:cNvPr id="233" name="Google Shape;233;p48"/>
          <p:cNvSpPr txBox="1"/>
          <p:nvPr>
            <p:ph idx="1" type="body"/>
          </p:nvPr>
        </p:nvSpPr>
        <p:spPr>
          <a:xfrm>
            <a:off x="202550" y="861975"/>
            <a:ext cx="8307900" cy="488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comment on the model performance </a:t>
            </a:r>
            <a:endParaRPr sz="1400">
              <a:solidFill>
                <a:schemeClr val="dk1"/>
              </a:solidFill>
              <a:latin typeface="Century Gothic"/>
              <a:ea typeface="Century Gothic"/>
              <a:cs typeface="Century Gothic"/>
              <a:sym typeface="Century Gothic"/>
            </a:endParaRPr>
          </a:p>
        </p:txBody>
      </p:sp>
      <p:graphicFrame>
        <p:nvGraphicFramePr>
          <p:cNvPr id="234" name="Google Shape;234;p48"/>
          <p:cNvGraphicFramePr/>
          <p:nvPr/>
        </p:nvGraphicFramePr>
        <p:xfrm>
          <a:off x="1364816" y="1751211"/>
          <a:ext cx="3000000" cy="3000000"/>
        </p:xfrm>
        <a:graphic>
          <a:graphicData uri="http://schemas.openxmlformats.org/drawingml/2006/table">
            <a:tbl>
              <a:tblPr bandRow="1" firstRow="1">
                <a:noFill/>
                <a:tableStyleId>{36976CF4-DB81-4460-9A5E-51383ADFE053}</a:tableStyleId>
              </a:tblPr>
              <a:tblGrid>
                <a:gridCol w="1615400"/>
                <a:gridCol w="1047025"/>
                <a:gridCol w="1082725"/>
                <a:gridCol w="1041525"/>
                <a:gridCol w="1196675"/>
              </a:tblGrid>
              <a:tr h="595000">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Metric</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Accuracy</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Kappa</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Weighted Recall</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Weighted Precision</a:t>
                      </a:r>
                      <a:endParaRPr sz="1200" u="none" cap="none" strike="noStrike">
                        <a:latin typeface="Nunito"/>
                        <a:ea typeface="Nunito"/>
                        <a:cs typeface="Nunito"/>
                        <a:sym typeface="Nunito"/>
                      </a:endParaRPr>
                    </a:p>
                  </a:txBody>
                  <a:tcPr marT="45725" marB="45725" marR="91450" marL="91450" anchor="ctr">
                    <a:solidFill>
                      <a:schemeClr val="lt2"/>
                    </a:solidFill>
                  </a:tcPr>
                </a:tc>
              </a:tr>
              <a:tr h="678825">
                <a:tc>
                  <a:txBody>
                    <a:bodyPr/>
                    <a:lstStyle/>
                    <a:p>
                      <a:pPr indent="0" lvl="0" marL="0" marR="0" rtl="0" algn="ctr">
                        <a:lnSpc>
                          <a:spcPct val="100000"/>
                        </a:lnSpc>
                        <a:spcBef>
                          <a:spcPts val="0"/>
                        </a:spcBef>
                        <a:spcAft>
                          <a:spcPts val="0"/>
                        </a:spcAft>
                        <a:buClr>
                          <a:srgbClr val="000000"/>
                        </a:buClr>
                        <a:buSzPts val="1200"/>
                        <a:buFont typeface="Arial"/>
                        <a:buNone/>
                      </a:pPr>
                      <a:r>
                        <a:rPr lang="en-US" sz="1200">
                          <a:latin typeface="Nunito"/>
                          <a:ea typeface="Nunito"/>
                          <a:cs typeface="Nunito"/>
                          <a:sym typeface="Nunito"/>
                        </a:rPr>
                        <a:t>Basic Neural Network</a:t>
                      </a:r>
                      <a:r>
                        <a:rPr lang="en-US" sz="1200">
                          <a:latin typeface="Nunito"/>
                          <a:ea typeface="Nunito"/>
                          <a:cs typeface="Nunito"/>
                          <a:sym typeface="Nunito"/>
                        </a:rPr>
                        <a:t> </a:t>
                      </a:r>
                      <a:endParaRPr sz="1200" u="none" cap="none" strike="noStrike">
                        <a:latin typeface="Nunito"/>
                        <a:ea typeface="Nunito"/>
                        <a:cs typeface="Nunito"/>
                        <a:sym typeface="Nunito"/>
                      </a:endParaRPr>
                    </a:p>
                  </a:txBody>
                  <a:tcPr marT="45725" marB="45725" marR="91450" marL="91450"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84.96</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0.507</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74.20</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76.71</a:t>
                      </a:r>
                      <a:endParaRPr sz="1200" u="none" cap="none" strike="noStrike">
                        <a:latin typeface="Nunito"/>
                        <a:ea typeface="Nunito"/>
                        <a:cs typeface="Nunito"/>
                        <a:sym typeface="Nunito"/>
                      </a:endParaRPr>
                    </a:p>
                  </a:txBody>
                  <a:tcPr marT="91425" marB="91425" marR="91425" marL="91425"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9"/>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Scenario 2: Neural Network With Parameter Tuning</a:t>
            </a:r>
            <a:endParaRPr/>
          </a:p>
        </p:txBody>
      </p:sp>
      <p:sp>
        <p:nvSpPr>
          <p:cNvPr id="240" name="Google Shape;240;p49"/>
          <p:cNvSpPr txBox="1"/>
          <p:nvPr>
            <p:ph idx="1" type="body"/>
          </p:nvPr>
        </p:nvSpPr>
        <p:spPr>
          <a:xfrm>
            <a:off x="202550" y="861975"/>
            <a:ext cx="8307900" cy="5727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comment on the model performance of the </a:t>
            </a:r>
            <a:endParaRPr sz="1400">
              <a:solidFill>
                <a:schemeClr val="dk1"/>
              </a:solidFill>
              <a:latin typeface="Century Gothic"/>
              <a:ea typeface="Century Gothic"/>
              <a:cs typeface="Century Gothic"/>
              <a:sym typeface="Century Gothic"/>
            </a:endParaRPr>
          </a:p>
        </p:txBody>
      </p:sp>
      <p:graphicFrame>
        <p:nvGraphicFramePr>
          <p:cNvPr id="241" name="Google Shape;241;p49"/>
          <p:cNvGraphicFramePr/>
          <p:nvPr/>
        </p:nvGraphicFramePr>
        <p:xfrm>
          <a:off x="1364816" y="1765092"/>
          <a:ext cx="3000000" cy="3000000"/>
        </p:xfrm>
        <a:graphic>
          <a:graphicData uri="http://schemas.openxmlformats.org/drawingml/2006/table">
            <a:tbl>
              <a:tblPr bandRow="1" firstRow="1">
                <a:noFill/>
                <a:tableStyleId>{36976CF4-DB81-4460-9A5E-51383ADFE053}</a:tableStyleId>
              </a:tblPr>
              <a:tblGrid>
                <a:gridCol w="1615400"/>
                <a:gridCol w="1047025"/>
                <a:gridCol w="1082725"/>
                <a:gridCol w="1041525"/>
                <a:gridCol w="1196675"/>
              </a:tblGrid>
              <a:tr h="595000">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Metric</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Accuracy</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Kappa</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Weighted Recall</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Weighted Precision</a:t>
                      </a:r>
                      <a:endParaRPr sz="1200" u="none" cap="none" strike="noStrike">
                        <a:latin typeface="Nunito"/>
                        <a:ea typeface="Nunito"/>
                        <a:cs typeface="Nunito"/>
                        <a:sym typeface="Nunito"/>
                      </a:endParaRPr>
                    </a:p>
                  </a:txBody>
                  <a:tcPr marT="45725" marB="45725" marR="91450" marL="91450" anchor="ctr">
                    <a:solidFill>
                      <a:schemeClr val="lt2"/>
                    </a:solidFill>
                  </a:tcPr>
                </a:tc>
              </a:tr>
              <a:tr h="678825">
                <a:tc>
                  <a:txBody>
                    <a:bodyPr/>
                    <a:lstStyle/>
                    <a:p>
                      <a:pPr indent="0" lvl="0" marL="0" marR="0" rtl="0" algn="ctr">
                        <a:lnSpc>
                          <a:spcPct val="100000"/>
                        </a:lnSpc>
                        <a:spcBef>
                          <a:spcPts val="0"/>
                        </a:spcBef>
                        <a:spcAft>
                          <a:spcPts val="0"/>
                        </a:spcAft>
                        <a:buClr>
                          <a:srgbClr val="000000"/>
                        </a:buClr>
                        <a:buSzPts val="1200"/>
                        <a:buFont typeface="Arial"/>
                        <a:buNone/>
                      </a:pPr>
                      <a:r>
                        <a:rPr lang="en-US" sz="1200">
                          <a:latin typeface="Nunito"/>
                          <a:ea typeface="Nunito"/>
                          <a:cs typeface="Nunito"/>
                          <a:sym typeface="Nunito"/>
                        </a:rPr>
                        <a:t>Neural Network with Parameter Tuning</a:t>
                      </a:r>
                      <a:endParaRPr sz="1200" u="none" cap="none" strike="noStrike">
                        <a:latin typeface="Nunito"/>
                        <a:ea typeface="Nunito"/>
                        <a:cs typeface="Nunito"/>
                        <a:sym typeface="Nunito"/>
                      </a:endParaRPr>
                    </a:p>
                  </a:txBody>
                  <a:tcPr marT="45725" marB="45725" marR="91450" marL="91450"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87.92</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0.583</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76.37</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83.17</a:t>
                      </a:r>
                      <a:endParaRPr sz="1200" u="none" cap="none" strike="noStrike">
                        <a:latin typeface="Nunito"/>
                        <a:ea typeface="Nunito"/>
                        <a:cs typeface="Nunito"/>
                        <a:sym typeface="Nunito"/>
                      </a:endParaRPr>
                    </a:p>
                  </a:txBody>
                  <a:tcPr marT="91425" marB="91425" marR="91425" marL="91425"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50"/>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Scenario 3: Neural Network Using Grid Search </a:t>
            </a:r>
            <a:endParaRPr/>
          </a:p>
        </p:txBody>
      </p:sp>
      <p:sp>
        <p:nvSpPr>
          <p:cNvPr id="247" name="Google Shape;247;p50"/>
          <p:cNvSpPr txBox="1"/>
          <p:nvPr>
            <p:ph idx="1" type="body"/>
          </p:nvPr>
        </p:nvSpPr>
        <p:spPr>
          <a:xfrm>
            <a:off x="202550" y="861975"/>
            <a:ext cx="8307900" cy="5727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comment on the model performance</a:t>
            </a:r>
            <a:endParaRPr sz="1400">
              <a:solidFill>
                <a:schemeClr val="dk1"/>
              </a:solidFill>
              <a:latin typeface="Century Gothic"/>
              <a:ea typeface="Century Gothic"/>
              <a:cs typeface="Century Gothic"/>
              <a:sym typeface="Century Gothic"/>
            </a:endParaRPr>
          </a:p>
        </p:txBody>
      </p:sp>
      <p:graphicFrame>
        <p:nvGraphicFramePr>
          <p:cNvPr id="248" name="Google Shape;248;p50"/>
          <p:cNvGraphicFramePr/>
          <p:nvPr/>
        </p:nvGraphicFramePr>
        <p:xfrm>
          <a:off x="1364816" y="1765092"/>
          <a:ext cx="3000000" cy="3000000"/>
        </p:xfrm>
        <a:graphic>
          <a:graphicData uri="http://schemas.openxmlformats.org/drawingml/2006/table">
            <a:tbl>
              <a:tblPr bandRow="1" firstRow="1">
                <a:noFill/>
                <a:tableStyleId>{36976CF4-DB81-4460-9A5E-51383ADFE053}</a:tableStyleId>
              </a:tblPr>
              <a:tblGrid>
                <a:gridCol w="1615400"/>
                <a:gridCol w="1047025"/>
                <a:gridCol w="1082725"/>
                <a:gridCol w="1041525"/>
                <a:gridCol w="1196675"/>
              </a:tblGrid>
              <a:tr h="595000">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Metric</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Accuracy</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Kappa</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Weighted Recall</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Weighted Precision</a:t>
                      </a:r>
                      <a:endParaRPr sz="1200" u="none" cap="none" strike="noStrike">
                        <a:latin typeface="Nunito"/>
                        <a:ea typeface="Nunito"/>
                        <a:cs typeface="Nunito"/>
                        <a:sym typeface="Nunito"/>
                      </a:endParaRPr>
                    </a:p>
                  </a:txBody>
                  <a:tcPr marT="45725" marB="45725" marR="91450" marL="91450" anchor="ctr">
                    <a:solidFill>
                      <a:schemeClr val="lt2"/>
                    </a:solidFill>
                  </a:tcPr>
                </a:tc>
              </a:tr>
              <a:tr h="678825">
                <a:tc>
                  <a:txBody>
                    <a:bodyPr/>
                    <a:lstStyle/>
                    <a:p>
                      <a:pPr indent="0" lvl="0" marL="0" marR="0" rtl="0" algn="ctr">
                        <a:lnSpc>
                          <a:spcPct val="100000"/>
                        </a:lnSpc>
                        <a:spcBef>
                          <a:spcPts val="0"/>
                        </a:spcBef>
                        <a:spcAft>
                          <a:spcPts val="0"/>
                        </a:spcAft>
                        <a:buClr>
                          <a:srgbClr val="000000"/>
                        </a:buClr>
                        <a:buSzPts val="1200"/>
                        <a:buFont typeface="Arial"/>
                        <a:buNone/>
                      </a:pPr>
                      <a:r>
                        <a:rPr lang="en-US" sz="1200">
                          <a:latin typeface="Nunito"/>
                          <a:ea typeface="Nunito"/>
                          <a:cs typeface="Nunito"/>
                          <a:sym typeface="Nunito"/>
                        </a:rPr>
                        <a:t>Grid Search Optimized Model</a:t>
                      </a:r>
                      <a:endParaRPr sz="1200" u="none" cap="none" strike="noStrike">
                        <a:latin typeface="Nunito"/>
                        <a:ea typeface="Nunito"/>
                        <a:cs typeface="Nunito"/>
                        <a:sym typeface="Nunito"/>
                      </a:endParaRPr>
                    </a:p>
                  </a:txBody>
                  <a:tcPr marT="45725" marB="45725" marR="91450" marL="91450"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a:t>
                      </a:r>
                      <a:r>
                        <a:rPr lang="en-US" sz="1200">
                          <a:latin typeface="Nunito"/>
                          <a:ea typeface="Nunito"/>
                          <a:cs typeface="Nunito"/>
                          <a:sym typeface="Nunito"/>
                        </a:rPr>
                        <a:t>8</a:t>
                      </a:r>
                      <a:r>
                        <a:rPr lang="en-US" sz="1200" u="none" cap="none" strike="noStrike">
                          <a:latin typeface="Nunito"/>
                          <a:ea typeface="Nunito"/>
                          <a:cs typeface="Nunito"/>
                          <a:sym typeface="Nunito"/>
                        </a:rPr>
                        <a:t>.</a:t>
                      </a:r>
                      <a:r>
                        <a:rPr lang="en-US" sz="1200">
                          <a:latin typeface="Nunito"/>
                          <a:ea typeface="Nunito"/>
                          <a:cs typeface="Nunito"/>
                          <a:sym typeface="Nunito"/>
                        </a:rPr>
                        <a:t>120</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0.5</a:t>
                      </a:r>
                      <a:r>
                        <a:rPr lang="en-US" sz="1200">
                          <a:latin typeface="Nunito"/>
                          <a:ea typeface="Nunito"/>
                          <a:cs typeface="Nunito"/>
                          <a:sym typeface="Nunito"/>
                        </a:rPr>
                        <a:t>46</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7</a:t>
                      </a:r>
                      <a:r>
                        <a:rPr lang="en-US" sz="1200">
                          <a:latin typeface="Nunito"/>
                          <a:ea typeface="Nunito"/>
                          <a:cs typeface="Nunito"/>
                          <a:sym typeface="Nunito"/>
                        </a:rPr>
                        <a:t>2</a:t>
                      </a:r>
                      <a:r>
                        <a:rPr lang="en-US" sz="1200" u="none" cap="none" strike="noStrike">
                          <a:latin typeface="Nunito"/>
                          <a:ea typeface="Nunito"/>
                          <a:cs typeface="Nunito"/>
                          <a:sym typeface="Nunito"/>
                        </a:rPr>
                        <a:t>.</a:t>
                      </a:r>
                      <a:r>
                        <a:rPr lang="en-US" sz="1200">
                          <a:latin typeface="Nunito"/>
                          <a:ea typeface="Nunito"/>
                          <a:cs typeface="Nunito"/>
                          <a:sym typeface="Nunito"/>
                        </a:rPr>
                        <a:t>24</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a:t>
                      </a:r>
                      <a:r>
                        <a:rPr lang="en-US" sz="1200">
                          <a:latin typeface="Nunito"/>
                          <a:ea typeface="Nunito"/>
                          <a:cs typeface="Nunito"/>
                          <a:sym typeface="Nunito"/>
                        </a:rPr>
                        <a:t>9</a:t>
                      </a:r>
                      <a:r>
                        <a:rPr lang="en-US" sz="1200" u="none" cap="none" strike="noStrike">
                          <a:latin typeface="Nunito"/>
                          <a:ea typeface="Nunito"/>
                          <a:cs typeface="Nunito"/>
                          <a:sym typeface="Nunito"/>
                        </a:rPr>
                        <a:t>.</a:t>
                      </a:r>
                      <a:r>
                        <a:rPr lang="en-US" sz="1200">
                          <a:latin typeface="Nunito"/>
                          <a:ea typeface="Nunito"/>
                          <a:cs typeface="Nunito"/>
                          <a:sym typeface="Nunito"/>
                        </a:rPr>
                        <a:t>25</a:t>
                      </a:r>
                      <a:endParaRPr sz="1200" u="none" cap="none" strike="noStrike">
                        <a:latin typeface="Nunito"/>
                        <a:ea typeface="Nunito"/>
                        <a:cs typeface="Nunito"/>
                        <a:sym typeface="Nunito"/>
                      </a:endParaRPr>
                    </a:p>
                  </a:txBody>
                  <a:tcPr marT="91425" marB="91425" marR="91425" marL="91425"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51"/>
          <p:cNvSpPr txBox="1"/>
          <p:nvPr>
            <p:ph idx="1" type="body"/>
          </p:nvPr>
        </p:nvSpPr>
        <p:spPr>
          <a:xfrm>
            <a:off x="202550" y="861975"/>
            <a:ext cx="8629800" cy="12411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SzPts val="1400"/>
              <a:buFont typeface="Century Gothic"/>
              <a:buChar char="●"/>
            </a:pPr>
            <a:r>
              <a:rPr lang="en-US" sz="1400">
                <a:latin typeface="Century Gothic"/>
                <a:ea typeface="Century Gothic"/>
                <a:cs typeface="Century Gothic"/>
                <a:sym typeface="Century Gothic"/>
              </a:rPr>
              <a:t>Which model is best for predicting loan defaults, and which metric is most important to check? Why?</a:t>
            </a:r>
            <a:endParaRPr/>
          </a:p>
          <a:p>
            <a:pPr indent="-317500" lvl="0" marL="457200" rtl="0" algn="l">
              <a:lnSpc>
                <a:spcPct val="115000"/>
              </a:lnSpc>
              <a:spcBef>
                <a:spcPts val="1000"/>
              </a:spcBef>
              <a:spcAft>
                <a:spcPts val="0"/>
              </a:spcAft>
              <a:buSzPts val="1400"/>
              <a:buFont typeface="Century Gothic"/>
              <a:buChar char="●"/>
            </a:pPr>
            <a:r>
              <a:rPr lang="en-US" sz="1400">
                <a:latin typeface="Century Gothic"/>
                <a:ea typeface="Century Gothic"/>
                <a:cs typeface="Century Gothic"/>
                <a:sym typeface="Century Gothic"/>
              </a:rPr>
              <a:t>Which metric is most important, and why?</a:t>
            </a:r>
            <a:endParaRPr/>
          </a:p>
          <a:p>
            <a:pPr indent="-317500" lvl="0" marL="457200" rtl="0" algn="l">
              <a:lnSpc>
                <a:spcPct val="115000"/>
              </a:lnSpc>
              <a:spcBef>
                <a:spcPts val="1000"/>
              </a:spcBef>
              <a:spcAft>
                <a:spcPts val="0"/>
              </a:spcAft>
              <a:buSzPts val="1400"/>
              <a:buFont typeface="Century Gothic"/>
              <a:buChar char="●"/>
            </a:pPr>
            <a:r>
              <a:rPr lang="en-US" sz="1400">
                <a:latin typeface="Century Gothic"/>
                <a:ea typeface="Century Gothic"/>
                <a:cs typeface="Century Gothic"/>
                <a:sym typeface="Century Gothic"/>
              </a:rPr>
              <a:t>What advice would you give the business from this model?</a:t>
            </a:r>
            <a:endParaRPr sz="1400">
              <a:latin typeface="Century Gothic"/>
              <a:ea typeface="Century Gothic"/>
              <a:cs typeface="Century Gothic"/>
              <a:sym typeface="Century Gothic"/>
            </a:endParaRPr>
          </a:p>
        </p:txBody>
      </p:sp>
      <p:sp>
        <p:nvSpPr>
          <p:cNvPr id="254" name="Google Shape;254;p51"/>
          <p:cNvSpPr txBox="1"/>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lt2"/>
                </a:solidFill>
                <a:latin typeface="Century Gothic"/>
                <a:ea typeface="Century Gothic"/>
                <a:cs typeface="Century Gothic"/>
                <a:sym typeface="Century Gothic"/>
              </a:rPr>
              <a:t>Model Performance Summary</a:t>
            </a:r>
            <a:endParaRPr b="1" i="0" sz="2200" u="none" cap="none" strike="noStrike">
              <a:solidFill>
                <a:schemeClr val="lt2"/>
              </a:solidFill>
              <a:latin typeface="Century Gothic"/>
              <a:ea typeface="Century Gothic"/>
              <a:cs typeface="Century Gothic"/>
              <a:sym typeface="Century Gothic"/>
            </a:endParaRPr>
          </a:p>
        </p:txBody>
      </p:sp>
      <p:graphicFrame>
        <p:nvGraphicFramePr>
          <p:cNvPr id="255" name="Google Shape;255;p51"/>
          <p:cNvGraphicFramePr/>
          <p:nvPr/>
        </p:nvGraphicFramePr>
        <p:xfrm>
          <a:off x="1916213" y="2367750"/>
          <a:ext cx="3000000" cy="3000000"/>
        </p:xfrm>
        <a:graphic>
          <a:graphicData uri="http://schemas.openxmlformats.org/drawingml/2006/table">
            <a:tbl>
              <a:tblPr bandRow="1" firstRow="1">
                <a:noFill/>
                <a:tableStyleId>{36976CF4-DB81-4460-9A5E-51383ADFE053}</a:tableStyleId>
              </a:tblPr>
              <a:tblGrid>
                <a:gridCol w="1434025"/>
                <a:gridCol w="929475"/>
                <a:gridCol w="961150"/>
                <a:gridCol w="924600"/>
                <a:gridCol w="1062325"/>
              </a:tblGrid>
              <a:tr h="365650">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Metric</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Accuracy</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Kappa</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Weighted Recall</a:t>
                      </a:r>
                      <a:endParaRPr sz="1200" u="none" cap="none" strike="noStrike">
                        <a:latin typeface="Nunito"/>
                        <a:ea typeface="Nunito"/>
                        <a:cs typeface="Nunito"/>
                        <a:sym typeface="Nunito"/>
                      </a:endParaRPr>
                    </a:p>
                  </a:txBody>
                  <a:tcPr marT="45725" marB="45725" marR="91450" marL="91450" anchor="ctr">
                    <a:solidFill>
                      <a:schemeClr val="lt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latin typeface="Nunito"/>
                          <a:ea typeface="Nunito"/>
                          <a:cs typeface="Nunito"/>
                          <a:sym typeface="Nunito"/>
                        </a:rPr>
                        <a:t>Weighted Precision</a:t>
                      </a:r>
                      <a:endParaRPr sz="1200" u="none" cap="none" strike="noStrike">
                        <a:latin typeface="Nunito"/>
                        <a:ea typeface="Nunito"/>
                        <a:cs typeface="Nunito"/>
                        <a:sym typeface="Nunito"/>
                      </a:endParaRPr>
                    </a:p>
                  </a:txBody>
                  <a:tcPr marT="45725" marB="45725" marR="91450" marL="91450" anchor="ctr">
                    <a:solidFill>
                      <a:schemeClr val="lt2"/>
                    </a:solidFill>
                  </a:tcPr>
                </a:tc>
              </a:tr>
              <a:tr h="417175">
                <a:tc>
                  <a:txBody>
                    <a:bodyPr/>
                    <a:lstStyle/>
                    <a:p>
                      <a:pPr indent="0" lvl="0" marL="0" rtl="0" algn="ctr">
                        <a:spcBef>
                          <a:spcPts val="0"/>
                        </a:spcBef>
                        <a:spcAft>
                          <a:spcPts val="0"/>
                        </a:spcAft>
                        <a:buClr>
                          <a:srgbClr val="000000"/>
                        </a:buClr>
                        <a:buSzPts val="1200"/>
                        <a:buFont typeface="Arial"/>
                        <a:buNone/>
                      </a:pPr>
                      <a:r>
                        <a:rPr lang="en-US" sz="1200">
                          <a:latin typeface="Nunito"/>
                          <a:ea typeface="Nunito"/>
                          <a:cs typeface="Nunito"/>
                          <a:sym typeface="Nunito"/>
                        </a:rPr>
                        <a:t>Without parameter tuning</a:t>
                      </a:r>
                      <a:endParaRPr sz="1200">
                        <a:latin typeface="Nunito"/>
                        <a:ea typeface="Nunito"/>
                        <a:cs typeface="Nunito"/>
                        <a:sym typeface="Nunito"/>
                      </a:endParaRPr>
                    </a:p>
                  </a:txBody>
                  <a:tcPr marT="45725" marB="45725" marR="91450" marL="91450"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84.96</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0.507</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74.20</a:t>
                      </a:r>
                      <a:endParaRPr sz="1200" u="none" cap="none" strike="noStrike">
                        <a:latin typeface="Nunito"/>
                        <a:ea typeface="Nunito"/>
                        <a:cs typeface="Nunito"/>
                        <a:sym typeface="Nunito"/>
                      </a:endParaRPr>
                    </a:p>
                  </a:txBody>
                  <a:tcPr marT="91425" marB="91425" marR="91425" marL="91425"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76.71</a:t>
                      </a:r>
                      <a:endParaRPr sz="1200" u="none" cap="none" strike="noStrike">
                        <a:latin typeface="Nunito"/>
                        <a:ea typeface="Nunito"/>
                        <a:cs typeface="Nunito"/>
                        <a:sym typeface="Nunito"/>
                      </a:endParaRPr>
                    </a:p>
                  </a:txBody>
                  <a:tcPr marT="91425" marB="91425" marR="91425" marL="91425" anchor="ctr"/>
                </a:tc>
              </a:tr>
              <a:tr h="417175">
                <a:tc>
                  <a:txBody>
                    <a:bodyPr/>
                    <a:lstStyle/>
                    <a:p>
                      <a:pPr indent="0" lvl="0" marL="0" rtl="0" algn="ctr">
                        <a:spcBef>
                          <a:spcPts val="0"/>
                        </a:spcBef>
                        <a:spcAft>
                          <a:spcPts val="0"/>
                        </a:spcAft>
                        <a:buClr>
                          <a:srgbClr val="000000"/>
                        </a:buClr>
                        <a:buSzPts val="1200"/>
                        <a:buFont typeface="Arial"/>
                        <a:buNone/>
                      </a:pPr>
                      <a:r>
                        <a:rPr lang="en-US" sz="1200">
                          <a:latin typeface="Nunito"/>
                          <a:ea typeface="Nunito"/>
                          <a:cs typeface="Nunito"/>
                          <a:sym typeface="Nunito"/>
                        </a:rPr>
                        <a:t>With parameter tuning</a:t>
                      </a:r>
                      <a:endParaRPr sz="1200">
                        <a:latin typeface="Nunito"/>
                        <a:ea typeface="Nunito"/>
                        <a:cs typeface="Nunito"/>
                        <a:sym typeface="Nunito"/>
                      </a:endParaRPr>
                    </a:p>
                  </a:txBody>
                  <a:tcPr marT="45725" marB="45725" marR="91450" marL="91450" anchor="ctr">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87.92</a:t>
                      </a:r>
                      <a:endParaRPr sz="1200" u="none" cap="none" strike="noStrike">
                        <a:latin typeface="Nunito"/>
                        <a:ea typeface="Nunito"/>
                        <a:cs typeface="Nunito"/>
                        <a:sym typeface="Nunito"/>
                      </a:endParaRPr>
                    </a:p>
                  </a:txBody>
                  <a:tcPr marT="91425" marB="91425" marR="91425" marL="91425" anchor="ctr">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0.583</a:t>
                      </a:r>
                      <a:endParaRPr sz="1200" u="none" cap="none" strike="noStrike">
                        <a:latin typeface="Nunito"/>
                        <a:ea typeface="Nunito"/>
                        <a:cs typeface="Nunito"/>
                        <a:sym typeface="Nunito"/>
                      </a:endParaRPr>
                    </a:p>
                  </a:txBody>
                  <a:tcPr marT="91425" marB="91425" marR="91425" marL="91425" anchor="ctr">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76.37</a:t>
                      </a:r>
                      <a:endParaRPr sz="1200" u="none" cap="none" strike="noStrike">
                        <a:latin typeface="Nunito"/>
                        <a:ea typeface="Nunito"/>
                        <a:cs typeface="Nunito"/>
                        <a:sym typeface="Nunito"/>
                      </a:endParaRPr>
                    </a:p>
                  </a:txBody>
                  <a:tcPr marT="91425" marB="91425" marR="91425" marL="91425" anchor="ctr">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83.17</a:t>
                      </a:r>
                      <a:endParaRPr sz="1200" u="none" cap="none" strike="noStrike">
                        <a:latin typeface="Nunito"/>
                        <a:ea typeface="Nunito"/>
                        <a:cs typeface="Nunito"/>
                        <a:sym typeface="Nunito"/>
                      </a:endParaRPr>
                    </a:p>
                  </a:txBody>
                  <a:tcPr marT="91425" marB="91425" marR="91425" marL="91425" anchor="ctr">
                    <a:lnB cap="flat" cmpd="sng" w="12700">
                      <a:solidFill>
                        <a:schemeClr val="lt1"/>
                      </a:solidFill>
                      <a:prstDash val="solid"/>
                      <a:round/>
                      <a:headEnd len="sm" w="sm" type="none"/>
                      <a:tailEnd len="sm" w="sm" type="none"/>
                    </a:lnB>
                  </a:tcPr>
                </a:tc>
              </a:tr>
              <a:tr h="417175">
                <a:tc>
                  <a:txBody>
                    <a:bodyPr/>
                    <a:lstStyle/>
                    <a:p>
                      <a:pPr indent="0" lvl="0" marL="0" marR="0" rtl="0" algn="ctr">
                        <a:lnSpc>
                          <a:spcPct val="100000"/>
                        </a:lnSpc>
                        <a:spcBef>
                          <a:spcPts val="0"/>
                        </a:spcBef>
                        <a:spcAft>
                          <a:spcPts val="0"/>
                        </a:spcAft>
                        <a:buClr>
                          <a:srgbClr val="000000"/>
                        </a:buClr>
                        <a:buSzPts val="1200"/>
                        <a:buFont typeface="Arial"/>
                        <a:buNone/>
                      </a:pPr>
                      <a:r>
                        <a:rPr lang="en-US" sz="1200">
                          <a:latin typeface="Nunito"/>
                          <a:ea typeface="Nunito"/>
                          <a:cs typeface="Nunito"/>
                          <a:sym typeface="Nunito"/>
                        </a:rPr>
                        <a:t>Grid Search Optimized Model</a:t>
                      </a:r>
                      <a:endParaRPr sz="1200" u="none" cap="none" strike="noStrike">
                        <a:latin typeface="Nunito"/>
                        <a:ea typeface="Nunito"/>
                        <a:cs typeface="Nunito"/>
                        <a:sym typeface="Nunito"/>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a:t>
                      </a:r>
                      <a:r>
                        <a:rPr lang="en-US" sz="1200">
                          <a:latin typeface="Nunito"/>
                          <a:ea typeface="Nunito"/>
                          <a:cs typeface="Nunito"/>
                          <a:sym typeface="Nunito"/>
                        </a:rPr>
                        <a:t>8</a:t>
                      </a:r>
                      <a:r>
                        <a:rPr lang="en-US" sz="1200" u="none" cap="none" strike="noStrike">
                          <a:latin typeface="Nunito"/>
                          <a:ea typeface="Nunito"/>
                          <a:cs typeface="Nunito"/>
                          <a:sym typeface="Nunito"/>
                        </a:rPr>
                        <a:t>.</a:t>
                      </a:r>
                      <a:r>
                        <a:rPr lang="en-US" sz="1200">
                          <a:latin typeface="Nunito"/>
                          <a:ea typeface="Nunito"/>
                          <a:cs typeface="Nunito"/>
                          <a:sym typeface="Nunito"/>
                        </a:rPr>
                        <a:t>120</a:t>
                      </a:r>
                      <a:endParaRPr sz="1200" u="none" cap="none" strike="noStrike">
                        <a:latin typeface="Nunito"/>
                        <a:ea typeface="Nunito"/>
                        <a:cs typeface="Nunito"/>
                        <a:sym typeface="Nunito"/>
                      </a:endParaRPr>
                    </a:p>
                  </a:txBody>
                  <a:tcPr marT="91425" marB="91425" marR="91425" marL="914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0.5</a:t>
                      </a:r>
                      <a:r>
                        <a:rPr lang="en-US" sz="1200">
                          <a:latin typeface="Nunito"/>
                          <a:ea typeface="Nunito"/>
                          <a:cs typeface="Nunito"/>
                          <a:sym typeface="Nunito"/>
                        </a:rPr>
                        <a:t>46</a:t>
                      </a:r>
                      <a:endParaRPr sz="1200" u="none" cap="none" strike="noStrike">
                        <a:latin typeface="Nunito"/>
                        <a:ea typeface="Nunito"/>
                        <a:cs typeface="Nunito"/>
                        <a:sym typeface="Nunito"/>
                      </a:endParaRPr>
                    </a:p>
                  </a:txBody>
                  <a:tcPr marT="91425" marB="91425" marR="91425" marL="914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7</a:t>
                      </a:r>
                      <a:r>
                        <a:rPr lang="en-US" sz="1200">
                          <a:latin typeface="Nunito"/>
                          <a:ea typeface="Nunito"/>
                          <a:cs typeface="Nunito"/>
                          <a:sym typeface="Nunito"/>
                        </a:rPr>
                        <a:t>2</a:t>
                      </a:r>
                      <a:r>
                        <a:rPr lang="en-US" sz="1200" u="none" cap="none" strike="noStrike">
                          <a:latin typeface="Nunito"/>
                          <a:ea typeface="Nunito"/>
                          <a:cs typeface="Nunito"/>
                          <a:sym typeface="Nunito"/>
                        </a:rPr>
                        <a:t>.</a:t>
                      </a:r>
                      <a:r>
                        <a:rPr lang="en-US" sz="1200">
                          <a:latin typeface="Nunito"/>
                          <a:ea typeface="Nunito"/>
                          <a:cs typeface="Nunito"/>
                          <a:sym typeface="Nunito"/>
                        </a:rPr>
                        <a:t>24</a:t>
                      </a:r>
                      <a:endParaRPr sz="1200" u="none" cap="none" strike="noStrike">
                        <a:latin typeface="Nunito"/>
                        <a:ea typeface="Nunito"/>
                        <a:cs typeface="Nunito"/>
                        <a:sym typeface="Nunito"/>
                      </a:endParaRPr>
                    </a:p>
                  </a:txBody>
                  <a:tcPr marT="91425" marB="91425" marR="91425" marL="914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200" u="none" cap="none" strike="noStrike">
                          <a:latin typeface="Nunito"/>
                          <a:ea typeface="Nunito"/>
                          <a:cs typeface="Nunito"/>
                          <a:sym typeface="Nunito"/>
                        </a:rPr>
                        <a:t>8</a:t>
                      </a:r>
                      <a:r>
                        <a:rPr lang="en-US" sz="1200">
                          <a:latin typeface="Nunito"/>
                          <a:ea typeface="Nunito"/>
                          <a:cs typeface="Nunito"/>
                          <a:sym typeface="Nunito"/>
                        </a:rPr>
                        <a:t>9</a:t>
                      </a:r>
                      <a:r>
                        <a:rPr lang="en-US" sz="1200" u="none" cap="none" strike="noStrike">
                          <a:latin typeface="Nunito"/>
                          <a:ea typeface="Nunito"/>
                          <a:cs typeface="Nunito"/>
                          <a:sym typeface="Nunito"/>
                        </a:rPr>
                        <a:t>.</a:t>
                      </a:r>
                      <a:r>
                        <a:rPr lang="en-US" sz="1200">
                          <a:latin typeface="Nunito"/>
                          <a:ea typeface="Nunito"/>
                          <a:cs typeface="Nunito"/>
                          <a:sym typeface="Nunito"/>
                        </a:rPr>
                        <a:t>25</a:t>
                      </a:r>
                      <a:endParaRPr sz="1200" u="none" cap="none" strike="noStrike">
                        <a:latin typeface="Nunito"/>
                        <a:ea typeface="Nunito"/>
                        <a:cs typeface="Nunito"/>
                        <a:sym typeface="Nunito"/>
                      </a:endParaRPr>
                    </a:p>
                  </a:txBody>
                  <a:tcPr marT="91425" marB="91425" marR="91425" marL="914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Conclusions and Recommendations</a:t>
            </a:r>
            <a:endParaRPr>
              <a:solidFill>
                <a:schemeClr val="lt2"/>
              </a:solidFill>
              <a:latin typeface="Century Gothic"/>
              <a:ea typeface="Century Gothic"/>
              <a:cs typeface="Century Gothic"/>
              <a:sym typeface="Century Gothic"/>
            </a:endParaRPr>
          </a:p>
        </p:txBody>
      </p:sp>
      <p:sp>
        <p:nvSpPr>
          <p:cNvPr id="261" name="Google Shape;261;p52"/>
          <p:cNvSpPr txBox="1"/>
          <p:nvPr>
            <p:ph idx="1" type="body"/>
          </p:nvPr>
        </p:nvSpPr>
        <p:spPr>
          <a:xfrm>
            <a:off x="202550" y="861975"/>
            <a:ext cx="8629800" cy="560636"/>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mention actionable insights &amp; recommendations</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3"/>
          <p:cNvSpPr txBox="1"/>
          <p:nvPr>
            <p:ph type="ctrTitle"/>
          </p:nvPr>
        </p:nvSpPr>
        <p:spPr>
          <a:xfrm>
            <a:off x="0" y="2820425"/>
            <a:ext cx="9144000" cy="581700"/>
          </a:xfrm>
          <a:prstGeom prst="rect">
            <a:avLst/>
          </a:prstGeom>
          <a:solidFill>
            <a:schemeClr val="lt2"/>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US" sz="3300">
                <a:solidFill>
                  <a:schemeClr val="lt1"/>
                </a:solidFill>
                <a:latin typeface="Century Gothic"/>
                <a:ea typeface="Century Gothic"/>
                <a:cs typeface="Century Gothic"/>
                <a:sym typeface="Century Gothic"/>
              </a:rPr>
              <a:t>APPENDIX</a:t>
            </a:r>
            <a:endParaRPr sz="3300">
              <a:solidFill>
                <a:schemeClr val="lt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54"/>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US">
                <a:solidFill>
                  <a:schemeClr val="lt2"/>
                </a:solidFill>
                <a:latin typeface="Century Gothic"/>
                <a:ea typeface="Century Gothic"/>
                <a:cs typeface="Century Gothic"/>
                <a:sym typeface="Century Gothic"/>
              </a:rPr>
              <a:t>Slide Header</a:t>
            </a:r>
            <a:endParaRPr>
              <a:solidFill>
                <a:schemeClr val="lt2"/>
              </a:solidFill>
              <a:latin typeface="Century Gothic"/>
              <a:ea typeface="Century Gothic"/>
              <a:cs typeface="Century Gothic"/>
              <a:sym typeface="Century Gothic"/>
            </a:endParaRPr>
          </a:p>
        </p:txBody>
      </p:sp>
      <p:sp>
        <p:nvSpPr>
          <p:cNvPr id="272" name="Google Shape;272;p54"/>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1000"/>
              </a:spcAft>
              <a:buClr>
                <a:schemeClr val="dk1"/>
              </a:buClr>
              <a:buSzPts val="1400"/>
              <a:buFont typeface="Century Gothic"/>
              <a:buChar char="●"/>
            </a:pPr>
            <a:r>
              <a:rPr lang="en-US" sz="1400">
                <a:solidFill>
                  <a:schemeClr val="dk1"/>
                </a:solidFill>
                <a:latin typeface="Century Gothic"/>
                <a:ea typeface="Century Gothic"/>
                <a:cs typeface="Century Gothic"/>
                <a:sym typeface="Century Gothic"/>
              </a:rPr>
              <a:t>Please add any other pointers (if needed)</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55"/>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280" name="Google Shape;280;p55"/>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