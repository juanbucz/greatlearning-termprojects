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53"/>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298" r:id="rId21"/>
    <p:sldId id="299" r:id="rId22"/>
    <p:sldId id="300" r:id="rId23"/>
    <p:sldId id="301" r:id="rId24"/>
    <p:sldId id="303" r:id="rId25"/>
    <p:sldId id="304" r:id="rId26"/>
    <p:sldId id="305" r:id="rId27"/>
    <p:sldId id="306" r:id="rId28"/>
    <p:sldId id="307" r:id="rId29"/>
    <p:sldId id="308" r:id="rId30"/>
    <p:sldId id="309" r:id="rId31"/>
    <p:sldId id="310" r:id="rId32"/>
    <p:sldId id="312" r:id="rId33"/>
    <p:sldId id="313" r:id="rId34"/>
    <p:sldId id="314" r:id="rId35"/>
    <p:sldId id="315" r:id="rId36"/>
    <p:sldId id="311"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Lst>
  <p:sldSz cx="9144000" cy="5143500" type="screen16x9"/>
  <p:notesSz cx="6858000" cy="9144000"/>
  <p:embeddedFontLst>
    <p:embeddedFont>
      <p:font typeface="Century Gothic" panose="020B0502020202020204" pitchFamily="34" charset="0"/>
      <p:regular r:id="rId54"/>
      <p:bold r:id="rId55"/>
      <p:italic r:id="rId56"/>
      <p:boldItalic r:id="rId57"/>
    </p:embeddedFont>
    <p:embeddedFont>
      <p:font typeface="Nunito" pitchFamily="2" charset="0"/>
      <p:regular r:id="rId58"/>
      <p:bold r:id="rId59"/>
      <p:italic r:id="rId60"/>
      <p:boldItalic r:id="rId61"/>
    </p:embeddedFont>
    <p:embeddedFont>
      <p:font typeface="Nunito ExtraBold" pitchFamily="2" charset="0"/>
      <p:bold r:id="rId62"/>
      <p:boldItalic r:id="rId63"/>
    </p:embeddedFont>
    <p:embeddedFont>
      <p:font typeface="Nunito SemiBold" pitchFamily="2" charset="0"/>
      <p:regular r:id="rId64"/>
      <p:bold r:id="rId65"/>
      <p:italic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918"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10.fntdata"/><Relationship Id="rId68"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notesMaster" Target="notesMasters/notesMaster1.xml"/><Relationship Id="rId58" Type="http://schemas.openxmlformats.org/officeDocument/2006/relationships/font" Target="fonts/font5.fntdata"/><Relationship Id="rId66" Type="http://schemas.openxmlformats.org/officeDocument/2006/relationships/font" Target="fonts/font13.fntdata"/><Relationship Id="rId5" Type="http://schemas.openxmlformats.org/officeDocument/2006/relationships/slide" Target="slides/slide2.xml"/><Relationship Id="rId61" Type="http://schemas.openxmlformats.org/officeDocument/2006/relationships/font" Target="fonts/font8.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6.fntdata"/><Relationship Id="rId67" Type="http://schemas.openxmlformats.org/officeDocument/2006/relationships/font" Target="fonts/font14.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1.fntdata"/><Relationship Id="rId62" Type="http://schemas.openxmlformats.org/officeDocument/2006/relationships/font" Target="fonts/font9.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font" Target="fonts/font4.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49</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Business Problem Overview &amp; Solution Approach</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Dictionary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Exploratory Data Analysis (EDA) Results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Preprocessing</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Model Performance Summary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Best Model Selection</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Conclusions &amp; Recommendations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Appendix / Screenshots</a:t>
            </a:r>
            <a:endParaRPr/>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BAD: Whether the client defaulted on the loan (0 = No, 1 = Yes)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LOAN: Amount of loan approved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MORTDUE: Amount due on the existing mortgage</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VALUE: Current value of the property</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REASON: Reason for the loan request (HomeImp = Home Improvement, DebtCon = Debt Consolidation)</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JOB: Type of job the applicant has (e.g., Manager, Self-employed)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YOJ: Years at present job</a:t>
            </a:r>
            <a:endParaRPr/>
          </a:p>
          <a:p>
            <a:pPr marL="457200" lvl="0" indent="0" algn="l" rtl="0">
              <a:lnSpc>
                <a:spcPct val="150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DEROG: Number of major derogatory reports (serious delinquency/late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DELINQ: Number of delinquent credit lines (past due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CLAGE: Age of the oldest credit line in months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NINQ: Number of recent credit inquiries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CLNO: Number of existing credit lines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DEBTINC: Debt-to-income ratio (all monthly debt payments divided by gross monthly income)</a:t>
            </a:r>
            <a:endParaRPr/>
          </a:p>
          <a:p>
            <a:pPr marL="914400" lvl="0" indent="-228600" algn="l" rtl="0">
              <a:lnSpc>
                <a:spcPct val="115000"/>
              </a:lnSpc>
              <a:spcBef>
                <a:spcPts val="1000"/>
              </a:spcBef>
              <a:spcAft>
                <a:spcPts val="0"/>
              </a:spcAft>
              <a:buClr>
                <a:srgbClr val="2D3B45"/>
              </a:buClr>
              <a:buSzPts val="1200"/>
              <a:buFont typeface="Century Gothic"/>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a:t>
            </a:r>
            <a:r>
              <a:rPr lang="en-US" dirty="0" err="1"/>
              <a:t>scalibility</a:t>
            </a:r>
            <a:endParaRPr lang="en-US" dirty="0"/>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a:t>
            </a:r>
            <a:r>
              <a:rPr lang="en-US"/>
              <a:t>model should provide </a:t>
            </a:r>
            <a:r>
              <a:rPr lang="en-US" dirty="0"/>
              <a:t>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148364" y="1322561"/>
            <a:ext cx="8629800" cy="1989598"/>
          </a:xfrm>
        </p:spPr>
        <p:txBody>
          <a:bodyPr/>
          <a:lstStyle/>
          <a:p>
            <a:pPr lvl="0"/>
            <a:r>
              <a:rPr lang="en-US" b="1" dirty="0"/>
              <a:t>Improved revenue</a:t>
            </a:r>
            <a:r>
              <a:rPr lang="en-US" dirty="0"/>
              <a:t>: Better inventory management and optimized cancellation policies</a:t>
            </a:r>
          </a:p>
          <a:p>
            <a:pPr marL="133350" lvl="0" indent="0">
              <a:buNone/>
            </a:pPr>
            <a:endParaRPr lang="en-US" sz="400" dirty="0"/>
          </a:p>
          <a:p>
            <a:pPr lvl="0"/>
            <a:r>
              <a:rPr lang="en-US" b="1" dirty="0"/>
              <a:t>Reduced operational costs</a:t>
            </a:r>
            <a:r>
              <a:rPr lang="en-US" dirty="0"/>
              <a:t>: More efficient resource allocation</a:t>
            </a:r>
          </a:p>
          <a:p>
            <a:pPr marL="133350" lvl="0" indent="0">
              <a:buNone/>
            </a:pPr>
            <a:endParaRPr lang="en-US" sz="400" dirty="0"/>
          </a:p>
          <a:p>
            <a:pPr lvl="0"/>
            <a:r>
              <a:rPr lang="en-US" b="1" dirty="0"/>
              <a:t>Enhanced customer experience</a:t>
            </a:r>
            <a:r>
              <a:rPr lang="en-US" dirty="0"/>
              <a:t>: Customized policies for different risk segments</a:t>
            </a:r>
          </a:p>
          <a:p>
            <a:pPr marL="133350" lvl="0" indent="0">
              <a:buNone/>
            </a:pPr>
            <a:endParaRPr lang="en-US" sz="400" dirty="0"/>
          </a:p>
          <a:p>
            <a:pPr lvl="0"/>
            <a:r>
              <a:rPr lang="en-US" b="1" dirty="0"/>
              <a:t>Data-driven decision making</a:t>
            </a:r>
            <a:r>
              <a:rPr lang="en-US" dirty="0"/>
              <a:t>: Actionable insights for strategic planning</a:t>
            </a:r>
          </a:p>
          <a:p>
            <a:pPr marL="133350" lvl="0" indent="0">
              <a:buNone/>
            </a:pPr>
            <a:endParaRPr lang="en-US" sz="400" dirty="0"/>
          </a:p>
          <a:p>
            <a:r>
              <a:rPr lang="en-US" b="1" dirty="0"/>
              <a:t>Additional revenue streams: </a:t>
            </a:r>
            <a:r>
              <a:rPr lang="en-US" dirty="0"/>
              <a:t>Suggest new programs and strategies to capture untapped revenue streams</a:t>
            </a:r>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916399"/>
            <a:ext cx="8783321" cy="103050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a:t>
            </a:r>
          </a:p>
          <a:p>
            <a:pPr marL="0" indent="0" algn="just">
              <a:spcBef>
                <a:spcPts val="400"/>
              </a:spcBef>
              <a:buClr>
                <a:schemeClr val="dk1"/>
              </a:buClr>
              <a:buSzPts val="1400"/>
              <a:buNone/>
            </a:pPr>
            <a:r>
              <a:rPr lang="en-US" sz="1400" dirty="0">
                <a:solidFill>
                  <a:schemeClr val="dk1"/>
                </a:solidFill>
                <a:latin typeface="Nunito" pitchFamily="2" charset="0"/>
                <a:ea typeface="Century Gothic"/>
                <a:cs typeface="Century Gothic"/>
                <a:sym typeface="Century Gothic"/>
              </a:rPr>
              <a:t>A lot of rows of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83244" y="706698"/>
            <a:ext cx="3212540" cy="3342133"/>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a:t>
            </a:r>
            <a:r>
              <a:rPr lang="en-US" sz="1200">
                <a:solidFill>
                  <a:schemeClr val="dk1"/>
                </a:solidFill>
                <a:latin typeface="Nunito" pitchFamily="2" charset="0"/>
                <a:ea typeface="Century Gothic"/>
                <a:cs typeface="Century Gothic"/>
                <a:sym typeface="Century Gothic"/>
              </a:rPr>
              <a:t>, Right-skewed</a:t>
            </a:r>
            <a:endParaRPr lang="en-US" sz="12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a:t>
            </a:r>
            <a:r>
              <a:rPr lang="en-US" sz="1200">
                <a:solidFill>
                  <a:schemeClr val="dk1"/>
                </a:solidFill>
                <a:latin typeface="Nunito" pitchFamily="2" charset="0"/>
                <a:ea typeface="Century Gothic"/>
                <a:cs typeface="Century Gothic"/>
                <a:sym typeface="Century Gothic"/>
              </a:rPr>
              <a:t>/kurtosis.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710763" y="1808801"/>
            <a:ext cx="7613375" cy="3381765"/>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Tree>
    <p:extLst>
      <p:ext uri="{BB962C8B-B14F-4D97-AF65-F5344CB8AC3E}">
        <p14:creationId xmlns:p14="http://schemas.microsoft.com/office/powerpoint/2010/main" val="1777190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725562" y="775254"/>
            <a:ext cx="7954612" cy="3616977"/>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04800" y="91897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 CLAGE, and CLNO to understand how these variables behave at each stage. Other attributes like DEBTINC, DELINQ, DEROG, JOB, LOAN, MORTDUE, NINQ, REASON, VALUE, and YOJ are also available in the dataset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30F6E42A-2E01-2313-B9AF-A4E33B79B4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Statistics after Preprocessing:</a:t>
            </a:r>
            <a:endParaRPr sz="2200" b="1" i="0" u="none" strike="noStrike" cap="none">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202550" y="728051"/>
            <a:ext cx="8629800" cy="11436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endParaRPr/>
          </a:p>
        </p:txBody>
      </p:sp>
      <p:pic>
        <p:nvPicPr>
          <p:cNvPr id="212" name="Google Shape;212;p44"/>
          <p:cNvPicPr preferRelativeResize="0"/>
          <p:nvPr/>
        </p:nvPicPr>
        <p:blipFill rotWithShape="1">
          <a:blip r:embed="rId3">
            <a:alphaModFix/>
          </a:blip>
          <a:srcRect/>
          <a:stretch/>
        </p:blipFill>
        <p:spPr>
          <a:xfrm>
            <a:off x="514293" y="1934950"/>
            <a:ext cx="7721936" cy="3302461"/>
          </a:xfrm>
          <a:prstGeom prst="rect">
            <a:avLst/>
          </a:prstGeom>
          <a:noFill/>
          <a:ln>
            <a:noFill/>
          </a:ln>
        </p:spPr>
      </p:pic>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219711" y="614922"/>
            <a:ext cx="8321315" cy="3913656"/>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BAD_nom, CLAGE, and CLNO to understand how these variables behave after preprocessing. Other attributes like DEBTINC, DELINQ, DEROG, JOB_Mgr, JOB_Office, JOB_Other, JOB_ProfExe, JOB_Sales, JOB_Self, LOAN, MORTDUE, NINQ, REASON_DebtCon, REASON_HomeImp, VALUE, and YOJ are also available in the dataset -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C9E600A8-210F-81BB-8254-6DC42E39967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46852" y="801756"/>
            <a:ext cx="8411618" cy="3950181"/>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3CFD6D71-10EA-96E3-B3D8-D6D2984694B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49</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710</TotalTime>
  <Words>2250</Words>
  <Application>Microsoft Office PowerPoint</Application>
  <PresentationFormat>On-screen Show (16:9)</PresentationFormat>
  <Paragraphs>314</Paragraphs>
  <Slides>49</Slides>
  <Notes>46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49</vt:i4>
      </vt:variant>
    </vt:vector>
  </HeadingPairs>
  <TitlesOfParts>
    <vt:vector size="58"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137</cp:revision>
  <dcterms:modified xsi:type="dcterms:W3CDTF">2025-12-14T01:47:24Z</dcterms:modified>
</cp:coreProperties>
</file>